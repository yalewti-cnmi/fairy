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20" d="100"/>
          <a:sy n="120" d="100"/>
        </p:scale>
        <p:origin x="280"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012291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chapter is based on Anthropic's "Building Effective Agents". Seven tutorials, each adding exactly one idea on top of the previous one, all in the same blog/content domain so we can see how patterns compose. Throughout the talk, orange numbered badges on the left match highlighted lines in the code on the right, with real line numbers from the repo.</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chapter README frames this as a ladder. Each rung keeps everything from the one before and adds one capability: classification, concurrency, dynamic planning, self-critique, human oversight. The capstone, the Content Writer, composes all six. Tip from the README: prompt chaining solves more problems than you'd expect; each pattern adds complexity, so only climb when you need to.</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out once so the audience can read the rest fast. Every tutorial has a class with a single _call_llm wrapper, a run() that is the pattern itself, and a main() that is only a Rich terminal UI. The class never prints; it calls self._notify(event, data), which main() supplies. use_light toggles Sonnet (claude-sonnet-4-6) vs Haiku (claude-haiku-4-5). Signatures on this slide are condensed: the type hints are dropped to fit.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simplest pattern. Each step has one job and its own focused system prompt. Outliner and Editor use Sonnet because they need judgment; the Writer expands a structured outline, which is easier, so Haiku is enough, plus web search for grounding. Caveat from the README: errors compound. A bad outline produces a bad article no matter how good the writer prompt is, which is why we add gates between steps.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three highlighted outputs: outline feeds _step_write, draft feeds _step_edit. Each step method just formats one user-prompt template, e.g. WRITER_USER_PROMPT = "Write a full blog post from this outline: {outline}". The gate on line 175 is the cheapest possible validation; in production you might check structure, length, or run a classifier there. The notify events are why main() can show progress without the class ever printing.</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Cost optimization in practice: the most capable model only where it matters. Note a small README/code mismatch: the README shows max_uses 3, the current code sets max_uses 1. The loop in _run_agentic_loop collects web_search_tool_result blocks so main() can print the sources panel. Web search adds latency and non-determinism: the same topic can produce different articles.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tutorial needs prerequisites before steps; a news piece needs impact analysis; a concept explainer needs an analogy. One generic prompt cannot produce all three structures well. Considerations from the README: classification accuracy is critical, keep routes distinct (if two overlap heavily, merge them), and the classifier needs unambiguous category definitions.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trick recurs through the whole chapter: define a tool schema that is really an output schema, then force the model to call it. The same technique appears again as create_research_plan in tutorial 04, evaluate_draft in 05, and pick_best_title in 07. Classification runs on Haiku with max_tokens 256: it is a cheap, fast call. If no tool_use block comes back, the method raises on line 175.</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routing logic itself is three lines: classify, look up, call. All the specialization lives in the per-route chains and their prompts. Experiment suggested by the README: add a fourth route, for example Opinion/Editorial, with its own structure. Each route adds its own chain of LLM calls, so token cost scales with route complexity.</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flavors of parallelization in one script. Sectioning: one blog post goes to three specialist writers at the same time, each with its own focused system prompt, and the results are aggregated into a promo pack. Voting: the same task three times at different temperatures. Low temperature gives safe titles, high gives creative ones; more variety in means a better selection out. Watch rate limits: more concurrent calls means higher burst usage.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Compare with route-dispatch: same dictionary of name to method, but here every entry runs. The futures dict maps each future back to its writer name so we know which one finished. Errors are stored as text in results, so the promo pack still gets written with the two writers that succeeded. Experiment from the README: rewrite this with asyncio and anthropic.AsyncAnthropic.</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Voting is parallelization where every branch does the same job. The evaluator here returns free text ("Output only the number and the winning title"). In the capstone, tutorial 07, this judge is upgraded to a forced tool call, pick_best_title, so the winner comes back as structured data. Note the cost controls: titles see only the first 500 characters, the judge only 300.</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pattern behind most "AI agent" products. You define the worker's capability (research a topic in depth), not the specific task. "Compare Bun vs Node.js" might be split into performance, npm compatibility, debugging, deployment, community. Workers run on Haiku with web search. Caveats: the plan quality caps the output quality; workers cannot see each other's findings; more subtopics means more calls, so the prompt limits it to 2 to 4.</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Compare this schema with routing's CLASSIFY_TOOLS: the shape of the trick is identical, only the payload grew. Instead of one enum label we get a list of title plus research_prompt objects, plus free-text instructions for how to combine them. The orchestrator itself uses Sonnet, since plan quality determines output quality.</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Structurally, lines 203 to 214 are the same fan-out loop we saw in tutorial 03. The difference is where the list comes from: tutorial 03 hardcodes three writers, here the list is whatever the orchestrator returned. A failed worker is logged and skipped, so synthesis proceeds with the rest. Workers are independent and cannot reference each other's findings; the synthesizer is where cross-references happen.</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Separation of concerns: writer, evaluator and refiner have different goals, and merging them in one prompt creates conflicting incentives. Cost design: web search injects roughly 25 to 35 thousand input tokens per search, so it is isolated to the research phase; writing and refining stay lean. Haiku does research, writing and grading; Sonnet is reserved for refinement, where writing quality matters most. Diminishing returns are real: most improvement happens in the first refinement.</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rubric gives the grader anchors (9-10 means crystal clear, 5-6 requires effort), which reduces score drift. The prompt even shows a good versus bad feedback example. The schema then turns grading into five bounded integers plus two string lists. The README warns that evaluators can be too generous or too harsh, so calibrate the 7.0 threshold for your domain. Grading runs on Haiku via a forced evaluate_draft tool call.</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subtle point worth calling out: with MAX_REFINEMENTS = 2 this loop evaluates at most twice and refines at most once, because the refine is guarded by iteration less than MAX_REFINEMENTS. If the second evaluation still fails, it emits max_iterations and returns the last draft. Each phase sends only the context it needs; there is no accumulated message history, which keeps tokens flat across iterations.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Design checkpoints for maximum error prevention, not maximum coverage. Too many checkpoints and the human does all the work; too few and the agent makes uncorrectable mistakes. In production these are asynchronous: a Slack message, a UI approval, a webhook, not terminal input. The revision loop is capped by MAX_REVISIONS = 2 to bound cost.</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agent never knows how the human is reached. The signature on line 46 is (title, content, question) returning (approved, feedback). That tuple encodes all three modes: True with empty string means approve, True with text means the human edited and the text replaces the draft, False with text means reject and that text is the feedback for the revision. Line 80's default auto-approves, which is exactly what you want in tests. Code shows the lambda shortened; the original is lambda _t, _c, _q: (True, "").</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only place keystrokes exist. Everything the agent sees is the tuple from the table on the left. Notice the design choice in mode 2: edit is encoded as approved=True with non-empty text, which is why run() checks "approved and feedback" to return the human's replacement verbatim. For a test suite you would pass lambda t, c, q: (True, "") and never touch input().</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capstone composes everything into one production-style pipeline. Read the table as a map: each row's method is a direct descendant of a tutorial we just walked through. Notably, the quality-critical phases here use Sonnet, while high-volume, cost-sensitive phases (research workers, social writers, title candidates) use Haiku. Note: the code comments inside agent.py use an older tutorial numbering, for example "routing pattern from 03"; trust the README table.</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whole capstone on one screen. Between each line shown there is a yield of a typed event (PlanStartEvent, ResearchSectionDoneEvent, and so on). Two human checkpoints are wired in code: classification, where typing another type name overrides the route, and final review, which can loop back into refinement. The README also describes a research-plan checkpoint and agent.py has a _replan method, but in the current run_stream only the classification and final-review checkpoints are called. Social media and SEO only run if the human approved the final article.</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Tutorials 01 to 06 passed (event_name, dict) callbacks. The capstone upgrades both ends. Data: every structured LLM output becomes a Pydantic model, for example ClassificationResult(**data) in _classify. Events: run_stream is an async generator yielding one Pydantic class per stage, and the entry point uses Python 3.10 structural pattern matching to render each one. The agent has zero knowledge of Rich or the terminal.</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tenacity decorator wraps the single low-level API call, so every phase inherits the retry policy for free, the same "one wrapper" idea from the anatomy slide. Other cost bounds from the README: the research plan is capped at 2 to 3 subtopics, the evaluate-refine loop at 2 refinements, and social and SEO only run after human approval. Quality-critical phases (write, evaluate, revise) always receive full untruncated content.</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one-slide summary of the chapter. Each pattern adds latency, tokens and failure points, so the right default is the simplest pattern that solves the problem. Note how often the same three mechanisms reappear: a forced tool call for structure, a thread pool for concurrency, and a bounded loop for iteration.</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exercises from the tutorials, if people want homework: add a fourth step such as a fact-checker to the chain; add an Opinion route; port parallelization to asyncio with AsyncAnthropic; wire the content writer's unused _replan into a research-plan checkpoint. Run every script with different inputs before moving on.</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4F2EC"/>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782" y="1000665"/>
            <a:ext cx="10566436" cy="419064"/>
          </a:xfrm>
          <a:prstGeom prst="rect">
            <a:avLst/>
          </a:prstGeom>
          <a:noFill/>
          <a:ln/>
        </p:spPr>
        <p:txBody>
          <a:bodyPr wrap="square" lIns="0" tIns="0" rIns="0" bIns="0" rtlCol="0" anchor="t"/>
          <a:lstStyle>
            <a:lvl1pPr marL="0" indent="0" algn="l">
              <a:lnSpc>
                <a:spcPct val="115000"/>
              </a:lnSpc>
              <a:buNone/>
              <a:defRPr lang="en-US" sz="3000" dirty="0">
                <a:solidFill>
                  <a:srgbClr val="16212C"/>
                </a:solidFill>
                <a:latin typeface="IBM Plex Sans" pitchFamily="34" charset="0"/>
                <a:ea typeface="IBM Plex Sans" pitchFamily="34" charset="-122"/>
                <a:cs typeface="IBM Plex Sans" pitchFamily="34" charset="-120"/>
              </a:defRPr>
            </a:lvl1pPr>
          </a:lstStyle>
          <a:p>
            <a:pPr marL="0" indent="0" algn="l">
              <a:lnSpc>
                <a:spcPct val="115000"/>
              </a:lnSpc>
              <a:buNone/>
            </a:pPr>
            <a:endParaRPr lang="en-US" sz="3000" dirty="0"/>
          </a:p>
        </p:txBody>
      </p:sp>
      <p:sp>
        <p:nvSpPr>
          <p:cNvPr id="3" name="Text Placeholder 2"/>
          <p:cNvSpPr>
            <a:spLocks noGrp="1"/>
          </p:cNvSpPr>
          <p:nvPr>
            <p:ph type="body" idx="101"/>
          </p:nvPr>
        </p:nvSpPr>
        <p:spPr>
          <a:xfrm>
            <a:off x="812782" y="1724528"/>
            <a:ext cx="10566418" cy="4320672"/>
          </a:xfrm>
          <a:prstGeom prst="rect">
            <a:avLst/>
          </a:prstGeom>
          <a:noFill/>
          <a:ln/>
        </p:spPr>
        <p:txBody>
          <a:bodyPr wrap="square" lIns="0" tIns="0" rIns="0" bIns="0" rtlCol="0" anchor="t"/>
          <a:lstStyle>
            <a:lvl1pPr marL="0" indent="0" algn="l">
              <a:lnSpc>
                <a:spcPct val="140000"/>
              </a:lnSpc>
              <a:buNone/>
              <a:defRPr lang="en-US" sz="1600" dirty="0">
                <a:solidFill>
                  <a:srgbClr val="16212C"/>
                </a:solidFill>
                <a:latin typeface="JetBrains Mono" pitchFamily="34" charset="0"/>
                <a:ea typeface="JetBrains Mono" pitchFamily="34" charset="-122"/>
                <a:cs typeface="JetBrains Mono"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4F2EC"/>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782" y="1000665"/>
            <a:ext cx="10566436" cy="419064"/>
          </a:xfrm>
          <a:prstGeom prst="rect">
            <a:avLst/>
          </a:prstGeom>
          <a:noFill/>
          <a:ln/>
        </p:spPr>
        <p:txBody>
          <a:bodyPr wrap="square" lIns="0" tIns="0" rIns="0" bIns="0" rtlCol="0" anchor="t"/>
          <a:lstStyle>
            <a:lvl1pPr marL="0" indent="0" algn="l">
              <a:lnSpc>
                <a:spcPct val="115000"/>
              </a:lnSpc>
              <a:buNone/>
              <a:defRPr lang="en-US" sz="3000" dirty="0">
                <a:solidFill>
                  <a:srgbClr val="16212C"/>
                </a:solidFill>
                <a:latin typeface="IBM Plex Sans" pitchFamily="34" charset="0"/>
                <a:ea typeface="IBM Plex Sans" pitchFamily="34" charset="-122"/>
                <a:cs typeface="IBM Plex Sans" pitchFamily="34" charset="-120"/>
              </a:defRPr>
            </a:lvl1pPr>
          </a:lstStyle>
          <a:p>
            <a:pPr marL="0" indent="0" algn="l">
              <a:lnSpc>
                <a:spcPct val="115000"/>
              </a:lnSpc>
              <a:buNone/>
            </a:pPr>
            <a:endParaRPr lang="en-US" sz="3000" dirty="0"/>
          </a:p>
        </p:txBody>
      </p:sp>
      <p:sp>
        <p:nvSpPr>
          <p:cNvPr id="3" name="Text Placeholder 2"/>
          <p:cNvSpPr>
            <a:spLocks noGrp="1"/>
          </p:cNvSpPr>
          <p:nvPr>
            <p:ph type="body" idx="101"/>
          </p:nvPr>
        </p:nvSpPr>
        <p:spPr>
          <a:xfrm>
            <a:off x="812782" y="1724528"/>
            <a:ext cx="10566418" cy="4320672"/>
          </a:xfrm>
          <a:prstGeom prst="rect">
            <a:avLst/>
          </a:prstGeom>
          <a:noFill/>
          <a:ln/>
        </p:spPr>
        <p:txBody>
          <a:bodyPr wrap="square" lIns="0" tIns="0" rIns="0" bIns="0" rtlCol="0" anchor="t"/>
          <a:lstStyle>
            <a:lvl1pPr marL="0" indent="0" algn="l">
              <a:lnSpc>
                <a:spcPct val="140000"/>
              </a:lnSpc>
              <a:buNone/>
              <a:defRPr lang="en-US" sz="1600" dirty="0">
                <a:solidFill>
                  <a:srgbClr val="16212C"/>
                </a:solidFill>
                <a:latin typeface="JetBrains Mono" pitchFamily="34" charset="0"/>
                <a:ea typeface="JetBrains Mono" pitchFamily="34" charset="-122"/>
                <a:cs typeface="JetBrains Mono"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212C"/>
        </a:solidFill>
        <a:effectLst/>
      </p:bgPr>
    </p:bg>
    <p:spTree>
      <p:nvGrpSpPr>
        <p:cNvPr id="1" name=""/>
        <p:cNvGrpSpPr/>
        <p:nvPr/>
      </p:nvGrpSpPr>
      <p:grpSpPr>
        <a:xfrm>
          <a:off x="0" y="0"/>
          <a:ext cx="0" cy="0"/>
          <a:chOff x="0" y="0"/>
          <a:chExt cx="0" cy="0"/>
        </a:xfrm>
      </p:grpSpPr>
      <p:sp>
        <p:nvSpPr>
          <p:cNvPr id="2" name="Text 0"/>
          <p:cNvSpPr/>
          <p:nvPr/>
        </p:nvSpPr>
        <p:spPr>
          <a:xfrm>
            <a:off x="812782" y="812782"/>
            <a:ext cx="10883429" cy="274259"/>
          </a:xfrm>
          <a:prstGeom prst="rect">
            <a:avLst/>
          </a:prstGeom>
          <a:noFill/>
          <a:ln/>
        </p:spPr>
        <p:txBody>
          <a:bodyPr wrap="square" lIns="0" tIns="0" rIns="0" bIns="0" rtlCol="0" anchor="t">
            <a:normAutofit/>
          </a:bodyPr>
          <a:lstStyle/>
          <a:p>
            <a:pPr marL="0" indent="0" algn="l">
              <a:lnSpc>
                <a:spcPts val="1960"/>
              </a:lnSpc>
              <a:buNone/>
            </a:pPr>
            <a:r>
              <a:rPr lang="en-US" sz="1400" b="1" kern="0" spc="150" dirty="0">
                <a:solidFill>
                  <a:srgbClr val="F2A46B"/>
                </a:solidFill>
                <a:latin typeface="IBM Plex Sans" pitchFamily="34" charset="0"/>
                <a:ea typeface="IBM Plex Sans" pitchFamily="34" charset="-122"/>
                <a:cs typeface="IBM Plex Sans" pitchFamily="34" charset="-120"/>
              </a:rPr>
              <a:t>AGENTIC AI ENGINEERING · CHAPTER 2</a:t>
            </a:r>
            <a:endParaRPr lang="en-US" sz="1400" dirty="0"/>
          </a:p>
        </p:txBody>
      </p:sp>
      <p:sp>
        <p:nvSpPr>
          <p:cNvPr id="3" name="Text 1"/>
          <p:cNvSpPr>
            <a:spLocks noGrp="1"/>
          </p:cNvSpPr>
          <p:nvPr>
            <p:ph type="title"/>
          </p:nvPr>
        </p:nvSpPr>
        <p:spPr>
          <a:xfrm>
            <a:off x="812782" y="1214032"/>
            <a:ext cx="10883429" cy="878817"/>
          </a:xfrm>
          <a:prstGeom prst="rect">
            <a:avLst/>
          </a:prstGeom>
          <a:noFill/>
          <a:ln/>
        </p:spPr>
        <p:txBody>
          <a:bodyPr wrap="square" lIns="0" tIns="0" rIns="0" bIns="0" rtlCol="0" anchor="t">
            <a:normAutofit/>
          </a:bodyPr>
          <a:lstStyle/>
          <a:p>
            <a:pPr marL="0" indent="0" algn="l">
              <a:lnSpc>
                <a:spcPts val="6720"/>
              </a:lnSpc>
              <a:buNone/>
            </a:pPr>
            <a:r>
              <a:rPr lang="en-US" sz="6400" b="1" i="0" dirty="0">
                <a:solidFill>
                  <a:srgbClr val="F4F2EC"/>
                </a:solidFill>
                <a:latin typeface="IBM Plex Sans" pitchFamily="34" charset="0"/>
                <a:ea typeface="IBM Plex Sans" pitchFamily="34" charset="-122"/>
                <a:cs typeface="IBM Plex Sans" pitchFamily="34" charset="-120"/>
              </a:rPr>
              <a:t>Effective Agents Patterns</a:t>
            </a:r>
            <a:endParaRPr lang="en-US" sz="6400" dirty="0"/>
          </a:p>
        </p:txBody>
      </p:sp>
      <p:sp>
        <p:nvSpPr>
          <p:cNvPr id="4" name="Text 2"/>
          <p:cNvSpPr/>
          <p:nvPr/>
        </p:nvSpPr>
        <p:spPr>
          <a:xfrm>
            <a:off x="855314" y="2219839"/>
            <a:ext cx="8502650" cy="711182"/>
          </a:xfrm>
          <a:prstGeom prst="rect">
            <a:avLst/>
          </a:prstGeom>
          <a:noFill/>
          <a:ln/>
        </p:spPr>
        <p:txBody>
          <a:bodyPr wrap="square" lIns="0" tIns="0" rIns="0" bIns="0" rtlCol="0" anchor="t">
            <a:normAutofit/>
          </a:bodyPr>
          <a:lstStyle/>
          <a:p>
            <a:pPr marL="0" indent="0" algn="l">
              <a:lnSpc>
                <a:spcPts val="2700"/>
              </a:lnSpc>
              <a:buNone/>
            </a:pPr>
            <a:r>
              <a:rPr lang="en-US" sz="2000" dirty="0">
                <a:solidFill>
                  <a:srgbClr val="BFCAD6"/>
                </a:solidFill>
                <a:latin typeface="IBM Plex Sans" pitchFamily="34" charset="0"/>
                <a:ea typeface="IBM Plex Sans" pitchFamily="34" charset="-122"/>
                <a:cs typeface="IBM Plex Sans" pitchFamily="34" charset="-120"/>
              </a:rPr>
              <a:t>When to chain, route, parallelize, delegate, critique — and when to ask a human. Every idea traced to the line of Python that implements it.</a:t>
            </a:r>
            <a:endParaRPr lang="en-US" sz="2000" dirty="0"/>
          </a:p>
        </p:txBody>
      </p:sp>
      <p:sp>
        <p:nvSpPr>
          <p:cNvPr id="5" name="Text 3"/>
          <p:cNvSpPr/>
          <p:nvPr/>
        </p:nvSpPr>
        <p:spPr>
          <a:xfrm>
            <a:off x="812782" y="5263013"/>
            <a:ext cx="1010904" cy="340320"/>
          </a:xfrm>
          <a:prstGeom prst="roundRect">
            <a:avLst>
              <a:gd name="adj" fmla="val 44781"/>
            </a:avLst>
          </a:prstGeom>
          <a:solidFill>
            <a:srgbClr val="E8843F"/>
          </a:solidFill>
          <a:ln/>
        </p:spPr>
        <p:txBody>
          <a:bodyPr wrap="none" lIns="0" tIns="0" rIns="0" bIns="0" rtlCol="0" anchor="ctr">
            <a:normAutofit/>
          </a:bodyPr>
          <a:lstStyle/>
          <a:p>
            <a:pPr marL="0" indent="0" algn="ctr">
              <a:lnSpc>
                <a:spcPts val="1680"/>
              </a:lnSpc>
              <a:buNone/>
            </a:pPr>
            <a:r>
              <a:rPr lang="en-US" sz="1200" dirty="0">
                <a:solidFill>
                  <a:srgbClr val="16212C"/>
                </a:solidFill>
                <a:latin typeface="JetBrains Mono" pitchFamily="49" charset="0"/>
                <a:ea typeface="JetBrains Mono" pitchFamily="49" charset="-122"/>
                <a:cs typeface="JetBrains Mono" pitchFamily="49" charset="-120"/>
              </a:rPr>
              <a:t>01 chain</a:t>
            </a:r>
            <a:endParaRPr lang="en-US" sz="1200" dirty="0"/>
          </a:p>
        </p:txBody>
      </p:sp>
      <p:sp>
        <p:nvSpPr>
          <p:cNvPr id="6" name="Text 4"/>
          <p:cNvSpPr/>
          <p:nvPr/>
        </p:nvSpPr>
        <p:spPr>
          <a:xfrm>
            <a:off x="1925250" y="5263013"/>
            <a:ext cx="1010904" cy="340320"/>
          </a:xfrm>
          <a:prstGeom prst="roundRect">
            <a:avLst>
              <a:gd name="adj" fmla="val 44781"/>
            </a:avLst>
          </a:prstGeom>
          <a:solidFill>
            <a:srgbClr val="25333F"/>
          </a:solidFill>
          <a:ln/>
        </p:spPr>
        <p:txBody>
          <a:bodyPr wrap="none" lIns="0" tIns="0" rIns="0" bIns="0" rtlCol="0" anchor="ctr">
            <a:normAutofit/>
          </a:bodyPr>
          <a:lstStyle/>
          <a:p>
            <a:pPr marL="0" indent="0" algn="ctr">
              <a:lnSpc>
                <a:spcPts val="1680"/>
              </a:lnSpc>
              <a:buNone/>
            </a:pPr>
            <a:r>
              <a:rPr lang="en-US" sz="1200" dirty="0">
                <a:solidFill>
                  <a:srgbClr val="EEF1F4"/>
                </a:solidFill>
                <a:latin typeface="JetBrains Mono" pitchFamily="49" charset="0"/>
                <a:ea typeface="JetBrains Mono" pitchFamily="49" charset="-122"/>
                <a:cs typeface="JetBrains Mono" pitchFamily="49" charset="-120"/>
              </a:rPr>
              <a:t>02 route</a:t>
            </a:r>
            <a:endParaRPr lang="en-US" sz="1200" dirty="0"/>
          </a:p>
        </p:txBody>
      </p:sp>
      <p:sp>
        <p:nvSpPr>
          <p:cNvPr id="7" name="Text 5"/>
          <p:cNvSpPr/>
          <p:nvPr/>
        </p:nvSpPr>
        <p:spPr>
          <a:xfrm>
            <a:off x="3037717" y="5263013"/>
            <a:ext cx="1559538" cy="340320"/>
          </a:xfrm>
          <a:prstGeom prst="roundRect">
            <a:avLst>
              <a:gd name="adj" fmla="val 44781"/>
            </a:avLst>
          </a:prstGeom>
          <a:solidFill>
            <a:srgbClr val="25333F"/>
          </a:solidFill>
          <a:ln/>
        </p:spPr>
        <p:txBody>
          <a:bodyPr wrap="none" lIns="0" tIns="0" rIns="0" bIns="0" rtlCol="0" anchor="ctr">
            <a:normAutofit/>
          </a:bodyPr>
          <a:lstStyle/>
          <a:p>
            <a:pPr marL="0" indent="0" algn="ctr">
              <a:lnSpc>
                <a:spcPts val="1680"/>
              </a:lnSpc>
              <a:buNone/>
            </a:pPr>
            <a:r>
              <a:rPr lang="en-US" sz="1200" dirty="0">
                <a:solidFill>
                  <a:srgbClr val="EEF1F4"/>
                </a:solidFill>
                <a:latin typeface="JetBrains Mono" pitchFamily="49" charset="0"/>
                <a:ea typeface="JetBrains Mono" pitchFamily="49" charset="-122"/>
                <a:cs typeface="JetBrains Mono" pitchFamily="49" charset="-120"/>
              </a:rPr>
              <a:t>03 parallelize</a:t>
            </a:r>
            <a:endParaRPr lang="en-US" sz="1200" dirty="0"/>
          </a:p>
        </p:txBody>
      </p:sp>
      <p:sp>
        <p:nvSpPr>
          <p:cNvPr id="8" name="Text 6"/>
          <p:cNvSpPr/>
          <p:nvPr/>
        </p:nvSpPr>
        <p:spPr>
          <a:xfrm>
            <a:off x="4698819" y="5263013"/>
            <a:ext cx="1559538" cy="340320"/>
          </a:xfrm>
          <a:prstGeom prst="roundRect">
            <a:avLst>
              <a:gd name="adj" fmla="val 44781"/>
            </a:avLst>
          </a:prstGeom>
          <a:solidFill>
            <a:srgbClr val="25333F"/>
          </a:solidFill>
          <a:ln/>
        </p:spPr>
        <p:txBody>
          <a:bodyPr wrap="none" lIns="0" tIns="0" rIns="0" bIns="0" rtlCol="0" anchor="ctr">
            <a:normAutofit/>
          </a:bodyPr>
          <a:lstStyle/>
          <a:p>
            <a:pPr marL="0" indent="0" algn="ctr">
              <a:lnSpc>
                <a:spcPts val="1680"/>
              </a:lnSpc>
              <a:buNone/>
            </a:pPr>
            <a:r>
              <a:rPr lang="en-US" sz="1200" dirty="0">
                <a:solidFill>
                  <a:srgbClr val="EEF1F4"/>
                </a:solidFill>
                <a:latin typeface="JetBrains Mono" pitchFamily="49" charset="0"/>
                <a:ea typeface="JetBrains Mono" pitchFamily="49" charset="-122"/>
                <a:cs typeface="JetBrains Mono" pitchFamily="49" charset="-120"/>
              </a:rPr>
              <a:t>04 orchestrate</a:t>
            </a:r>
            <a:endParaRPr lang="en-US" sz="1200" dirty="0"/>
          </a:p>
        </p:txBody>
      </p:sp>
      <p:sp>
        <p:nvSpPr>
          <p:cNvPr id="9" name="Text 7"/>
          <p:cNvSpPr/>
          <p:nvPr/>
        </p:nvSpPr>
        <p:spPr>
          <a:xfrm>
            <a:off x="6359921" y="5263013"/>
            <a:ext cx="1285198" cy="340320"/>
          </a:xfrm>
          <a:prstGeom prst="roundRect">
            <a:avLst>
              <a:gd name="adj" fmla="val 44781"/>
            </a:avLst>
          </a:prstGeom>
          <a:solidFill>
            <a:srgbClr val="25333F"/>
          </a:solidFill>
          <a:ln/>
        </p:spPr>
        <p:txBody>
          <a:bodyPr wrap="none" lIns="0" tIns="0" rIns="0" bIns="0" rtlCol="0" anchor="ctr">
            <a:normAutofit/>
          </a:bodyPr>
          <a:lstStyle/>
          <a:p>
            <a:pPr marL="0" indent="0" algn="ctr">
              <a:lnSpc>
                <a:spcPts val="1680"/>
              </a:lnSpc>
              <a:buNone/>
            </a:pPr>
            <a:r>
              <a:rPr lang="en-US" sz="1200" dirty="0">
                <a:solidFill>
                  <a:srgbClr val="EEF1F4"/>
                </a:solidFill>
                <a:latin typeface="JetBrains Mono" pitchFamily="49" charset="0"/>
                <a:ea typeface="JetBrains Mono" pitchFamily="49" charset="-122"/>
                <a:cs typeface="JetBrains Mono" pitchFamily="49" charset="-120"/>
              </a:rPr>
              <a:t>05 evaluate</a:t>
            </a:r>
            <a:endParaRPr lang="en-US" sz="1200" dirty="0"/>
          </a:p>
        </p:txBody>
      </p:sp>
      <p:sp>
        <p:nvSpPr>
          <p:cNvPr id="10" name="Text 8"/>
          <p:cNvSpPr/>
          <p:nvPr/>
        </p:nvSpPr>
        <p:spPr>
          <a:xfrm>
            <a:off x="7746684" y="5263013"/>
            <a:ext cx="1742417" cy="340320"/>
          </a:xfrm>
          <a:prstGeom prst="roundRect">
            <a:avLst>
              <a:gd name="adj" fmla="val 44781"/>
            </a:avLst>
          </a:prstGeom>
          <a:solidFill>
            <a:srgbClr val="25333F"/>
          </a:solidFill>
          <a:ln/>
        </p:spPr>
        <p:txBody>
          <a:bodyPr wrap="none" lIns="0" tIns="0" rIns="0" bIns="0" rtlCol="0" anchor="ctr">
            <a:normAutofit/>
          </a:bodyPr>
          <a:lstStyle/>
          <a:p>
            <a:pPr marL="0" indent="0" algn="ctr">
              <a:lnSpc>
                <a:spcPts val="1680"/>
              </a:lnSpc>
              <a:buNone/>
            </a:pPr>
            <a:r>
              <a:rPr lang="en-US" sz="1200" dirty="0">
                <a:solidFill>
                  <a:srgbClr val="EEF1F4"/>
                </a:solidFill>
                <a:latin typeface="JetBrains Mono" pitchFamily="49" charset="0"/>
                <a:ea typeface="JetBrains Mono" pitchFamily="49" charset="-122"/>
                <a:cs typeface="JetBrains Mono" pitchFamily="49" charset="-120"/>
              </a:rPr>
              <a:t>06 human-in-loop</a:t>
            </a:r>
            <a:endParaRPr lang="en-US" sz="1200" dirty="0"/>
          </a:p>
        </p:txBody>
      </p:sp>
      <p:sp>
        <p:nvSpPr>
          <p:cNvPr id="11" name="Text 9"/>
          <p:cNvSpPr/>
          <p:nvPr/>
        </p:nvSpPr>
        <p:spPr>
          <a:xfrm>
            <a:off x="812782" y="5704898"/>
            <a:ext cx="1833833" cy="340320"/>
          </a:xfrm>
          <a:prstGeom prst="roundRect">
            <a:avLst>
              <a:gd name="adj" fmla="val 44781"/>
            </a:avLst>
          </a:prstGeom>
          <a:solidFill>
            <a:srgbClr val="25333F"/>
          </a:solidFill>
          <a:ln/>
        </p:spPr>
        <p:txBody>
          <a:bodyPr wrap="none" lIns="0" tIns="0" rIns="0" bIns="0" rtlCol="0" anchor="ctr">
            <a:normAutofit/>
          </a:bodyPr>
          <a:lstStyle/>
          <a:p>
            <a:pPr marL="0" indent="0" algn="ctr">
              <a:lnSpc>
                <a:spcPts val="1680"/>
              </a:lnSpc>
              <a:buNone/>
            </a:pPr>
            <a:r>
              <a:rPr lang="en-US" sz="1200" dirty="0">
                <a:solidFill>
                  <a:srgbClr val="EEF1F4"/>
                </a:solidFill>
                <a:latin typeface="JetBrains Mono" pitchFamily="49" charset="0"/>
                <a:ea typeface="JetBrains Mono" pitchFamily="49" charset="-122"/>
                <a:cs typeface="JetBrains Mono" pitchFamily="49" charset="-120"/>
              </a:rPr>
              <a:t>07 content writer</a:t>
            </a:r>
            <a:endParaRPr lang="en-US" sz="1200" dirty="0"/>
          </a:p>
        </p:txBody>
      </p:sp>
      <p:sp>
        <p:nvSpPr>
          <p:cNvPr id="12" name="Text 10"/>
          <p:cNvSpPr/>
          <p:nvPr/>
        </p:nvSpPr>
        <p:spPr>
          <a:xfrm>
            <a:off x="812782" y="6238289"/>
            <a:ext cx="967994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9AA9B8"/>
                </a:solidFill>
                <a:latin typeface="IBM Plex Sans" pitchFamily="34" charset="0"/>
                <a:ea typeface="IBM Plex Sans" pitchFamily="34" charset="-122"/>
                <a:cs typeface="IBM Plex Sans" pitchFamily="34" charset="-120"/>
              </a:rPr>
              <a:t>Presented by Xiaowei Ou · Source: github.com/agenticloops-ai/agentic-ai-engineering/02-effective-agents</a:t>
            </a:r>
            <a:endParaRPr lang="en-US" sz="1200" dirty="0"/>
          </a:p>
        </p:txBody>
      </p:sp>
      <p:sp>
        <p:nvSpPr>
          <p:cNvPr id="13" name="Text 11"/>
          <p:cNvSpPr/>
          <p:nvPr/>
        </p:nvSpPr>
        <p:spPr>
          <a:xfrm>
            <a:off x="10312418" y="6238289"/>
            <a:ext cx="1066800" cy="238720"/>
          </a:xfrm>
          <a:prstGeom prst="rect">
            <a:avLst/>
          </a:prstGeom>
          <a:noFill/>
          <a:ln/>
        </p:spPr>
        <p:txBody>
          <a:bodyPr wrap="square" lIns="0" tIns="0" rIns="0" bIns="0" rtlCol="0" anchor="t">
            <a:normAutofit/>
          </a:bodyPr>
          <a:lstStyle/>
          <a:p>
            <a:pPr marL="0" indent="0" algn="r">
              <a:lnSpc>
                <a:spcPts val="1680"/>
              </a:lnSpc>
              <a:buNone/>
            </a:pPr>
            <a:r>
              <a:rPr lang="en-US" sz="1200" b="1" dirty="0">
                <a:solidFill>
                  <a:srgbClr val="9AA9B8"/>
                </a:solidFill>
                <a:latin typeface="IBM Plex Sans" pitchFamily="34" charset="0"/>
                <a:ea typeface="IBM Plex Sans" pitchFamily="34" charset="-122"/>
                <a:cs typeface="IBM Plex Sans" pitchFamily="34" charset="-120"/>
              </a:rPr>
              <a:t>1 / 27</a:t>
            </a:r>
            <a:endParaRPr lang="en-US" sz="1200" dirty="0"/>
          </a:p>
        </p:txBody>
      </p:sp>
      <p:sp>
        <p:nvSpPr>
          <p:cNvPr id="14" name="TextBox 13">
            <a:extLst>
              <a:ext uri="{FF2B5EF4-FFF2-40B4-BE49-F238E27FC236}">
                <a16:creationId xmlns:a16="http://schemas.microsoft.com/office/drawing/2014/main" id="{1094BBF2-5AA1-A0DD-8A23-9492DB48A13D}"/>
              </a:ext>
            </a:extLst>
          </p:cNvPr>
          <p:cNvSpPr txBox="1"/>
          <p:nvPr/>
        </p:nvSpPr>
        <p:spPr>
          <a:xfrm>
            <a:off x="759620" y="3603814"/>
            <a:ext cx="5141451" cy="923330"/>
          </a:xfrm>
          <a:prstGeom prst="rect">
            <a:avLst/>
          </a:prstGeom>
          <a:noFill/>
        </p:spPr>
        <p:txBody>
          <a:bodyPr wrap="square" rtlCol="0">
            <a:spAutoFit/>
          </a:bodyPr>
          <a:lstStyle/>
          <a:p>
            <a:r>
              <a:rPr lang="en-CN" dirty="0">
                <a:solidFill>
                  <a:schemeClr val="bg2"/>
                </a:solidFill>
              </a:rPr>
              <a:t>Xiaowei Ou</a:t>
            </a:r>
          </a:p>
          <a:p>
            <a:r>
              <a:rPr lang="en-CN" dirty="0">
                <a:solidFill>
                  <a:schemeClr val="bg2"/>
                </a:solidFill>
              </a:rPr>
              <a:t>Yale Physics Department</a:t>
            </a:r>
          </a:p>
          <a:p>
            <a:r>
              <a:rPr lang="en-CN" dirty="0">
                <a:solidFill>
                  <a:schemeClr val="bg2"/>
                </a:solidFill>
              </a:rPr>
              <a:t>Oct 6,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2EC"/>
        </a:solidFill>
        <a:effectLst/>
      </p:bgPr>
    </p:bg>
    <p:spTree>
      <p:nvGrpSpPr>
        <p:cNvPr id="1" name=""/>
        <p:cNvGrpSpPr/>
        <p:nvPr/>
      </p:nvGrpSpPr>
      <p:grpSpPr>
        <a:xfrm>
          <a:off x="0" y="0"/>
          <a:ext cx="0" cy="0"/>
          <a:chOff x="0" y="0"/>
          <a:chExt cx="0" cy="0"/>
        </a:xfrm>
      </p:grpSpPr>
      <p:sp>
        <p:nvSpPr>
          <p:cNvPr id="2" name="Text 0"/>
          <p:cNvSpPr/>
          <p:nvPr/>
        </p:nvSpPr>
        <p:spPr>
          <a:xfrm>
            <a:off x="812782" y="711173"/>
            <a:ext cx="10883429"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04E17"/>
                </a:solidFill>
                <a:latin typeface="IBM Plex Sans" pitchFamily="34" charset="0"/>
                <a:ea typeface="IBM Plex Sans" pitchFamily="34" charset="-122"/>
                <a:cs typeface="IBM Plex Sans" pitchFamily="34" charset="-120"/>
              </a:rPr>
              <a:t>THE PROGRESSION PATH</a:t>
            </a:r>
            <a:endParaRPr lang="en-US" sz="1200" dirty="0"/>
          </a:p>
        </p:txBody>
      </p:sp>
      <p:sp>
        <p:nvSpPr>
          <p:cNvPr id="3" name="Text 1"/>
          <p:cNvSpPr>
            <a:spLocks noGrp="1"/>
          </p:cNvSpPr>
          <p:nvPr>
            <p:ph type="title"/>
          </p:nvPr>
        </p:nvSpPr>
        <p:spPr>
          <a:xfrm>
            <a:off x="812782" y="1000666"/>
            <a:ext cx="10883429" cy="444464"/>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6212C"/>
                </a:solidFill>
                <a:latin typeface="IBM Plex Sans" pitchFamily="34" charset="0"/>
                <a:ea typeface="IBM Plex Sans" pitchFamily="34" charset="-122"/>
                <a:cs typeface="IBM Plex Sans" pitchFamily="34" charset="-120"/>
              </a:rPr>
              <a:t>Each tutorial adds exactly one idea</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4327" y="1685275"/>
          <a:ext cx="10554890" cy="3078307"/>
        </p:xfrm>
        <a:graphic>
          <a:graphicData uri="http://schemas.openxmlformats.org/drawingml/2006/table">
            <a:tbl>
              <a:tblPr/>
              <a:tblGrid>
                <a:gridCol w="844391">
                  <a:extLst>
                    <a:ext uri="{9D8B030D-6E8A-4147-A177-3AD203B41FA5}">
                      <a16:colId xmlns:a16="http://schemas.microsoft.com/office/drawing/2014/main" val="20000"/>
                    </a:ext>
                  </a:extLst>
                </a:gridCol>
                <a:gridCol w="2533174">
                  <a:extLst>
                    <a:ext uri="{9D8B030D-6E8A-4147-A177-3AD203B41FA5}">
                      <a16:colId xmlns:a16="http://schemas.microsoft.com/office/drawing/2014/main" val="20001"/>
                    </a:ext>
                  </a:extLst>
                </a:gridCol>
                <a:gridCol w="3377565">
                  <a:extLst>
                    <a:ext uri="{9D8B030D-6E8A-4147-A177-3AD203B41FA5}">
                      <a16:colId xmlns:a16="http://schemas.microsoft.com/office/drawing/2014/main" val="20002"/>
                    </a:ext>
                  </a:extLst>
                </a:gridCol>
                <a:gridCol w="3799760">
                  <a:extLst>
                    <a:ext uri="{9D8B030D-6E8A-4147-A177-3AD203B41FA5}">
                      <a16:colId xmlns:a16="http://schemas.microsoft.com/office/drawing/2014/main" val="20003"/>
                    </a:ext>
                  </a:extLst>
                </a:gridCol>
              </a:tblGrid>
              <a:tr h="384788">
                <a:tc>
                  <a:txBody>
                    <a:bodyPr/>
                    <a:lstStyle/>
                    <a:p>
                      <a:pPr marL="0" indent="0">
                        <a:lnSpc>
                          <a:spcPts val="1960"/>
                        </a:lnSpc>
                        <a:buNone/>
                      </a:pPr>
                      <a:r>
                        <a:rPr lang="en-US" sz="1400" b="1" dirty="0">
                          <a:solidFill>
                            <a:srgbClr val="1A2633"/>
                          </a:solidFill>
                          <a:latin typeface="IBM Plex Sans" pitchFamily="34" charset="0"/>
                          <a:ea typeface="IBM Plex Sans" pitchFamily="34" charset="-122"/>
                          <a:cs typeface="IBM Plex Sans" pitchFamily="34" charset="-120"/>
                        </a:rPr>
                        <a:t>Step</a:t>
                      </a:r>
                      <a:endParaRPr lang="en-US" sz="1400" dirty="0">
                        <a:latin typeface="IBM Plex Sans" charset="0"/>
                        <a:ea typeface="IBM Plex Sans" charset="0"/>
                        <a:cs typeface="IBM Plex Sans" charset="0"/>
                      </a:endParaRPr>
                    </a:p>
                  </a:txBody>
                  <a:tcPr marL="62230" marR="62230" marT="62230" marB="62230">
                    <a:lnL w="12700" cap="flat" cmpd="sng" algn="ctr">
                      <a:solidFill>
                        <a:srgbClr val="C3C1BC"/>
                      </a:solidFill>
                      <a:prstDash val="solid"/>
                      <a:round/>
                      <a:headEnd type="none" w="med" len="med"/>
                      <a:tailEnd type="none" w="med" len="med"/>
                    </a:lnL>
                    <a:lnR w="12700" cap="flat" cmpd="sng" algn="ctr">
                      <a:solidFill>
                        <a:srgbClr val="B5B3AF"/>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B5B3AF"/>
                      </a:solidFill>
                      <a:prstDash val="solid"/>
                      <a:round/>
                      <a:headEnd type="none" w="med" len="med"/>
                      <a:tailEnd type="none" w="med" len="med"/>
                    </a:lnB>
                    <a:solidFill>
                      <a:srgbClr val="E2E0DB"/>
                    </a:solidFill>
                  </a:tcPr>
                </a:tc>
                <a:tc>
                  <a:txBody>
                    <a:bodyPr/>
                    <a:lstStyle/>
                    <a:p>
                      <a:pPr marL="0" indent="0">
                        <a:lnSpc>
                          <a:spcPts val="1960"/>
                        </a:lnSpc>
                        <a:buNone/>
                      </a:pPr>
                      <a:r>
                        <a:rPr lang="en-US" sz="1400" b="1" dirty="0">
                          <a:solidFill>
                            <a:srgbClr val="1A2633"/>
                          </a:solidFill>
                          <a:latin typeface="IBM Plex Sans" pitchFamily="34" charset="0"/>
                          <a:ea typeface="IBM Plex Sans" pitchFamily="34" charset="-122"/>
                          <a:cs typeface="IBM Plex Sans" pitchFamily="34" charset="-120"/>
                        </a:rPr>
                        <a:t>Pattern</a:t>
                      </a:r>
                      <a:endParaRPr lang="en-US" sz="1400" dirty="0">
                        <a:latin typeface="IBM Plex Sans" charset="0"/>
                        <a:ea typeface="IBM Plex Sans" charset="0"/>
                        <a:cs typeface="IBM Plex Sans" charset="0"/>
                      </a:endParaRPr>
                    </a:p>
                  </a:txBody>
                  <a:tcPr marL="62230" marR="62230" marT="62230" marB="62230">
                    <a:lnL w="12700" cap="flat" cmpd="sng" algn="ctr">
                      <a:solidFill>
                        <a:srgbClr val="B5B3AF"/>
                      </a:solidFill>
                      <a:prstDash val="solid"/>
                      <a:round/>
                      <a:headEnd type="none" w="med" len="med"/>
                      <a:tailEnd type="none" w="med" len="med"/>
                    </a:lnL>
                    <a:lnR w="12700" cap="flat" cmpd="sng" algn="ctr">
                      <a:solidFill>
                        <a:srgbClr val="B5B3AF"/>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B5B3AF"/>
                      </a:solidFill>
                      <a:prstDash val="solid"/>
                      <a:round/>
                      <a:headEnd type="none" w="med" len="med"/>
                      <a:tailEnd type="none" w="med" len="med"/>
                    </a:lnB>
                    <a:solidFill>
                      <a:srgbClr val="E2E0DB"/>
                    </a:solidFill>
                  </a:tcPr>
                </a:tc>
                <a:tc>
                  <a:txBody>
                    <a:bodyPr/>
                    <a:lstStyle/>
                    <a:p>
                      <a:pPr marL="0" indent="0">
                        <a:lnSpc>
                          <a:spcPts val="1960"/>
                        </a:lnSpc>
                        <a:buNone/>
                      </a:pPr>
                      <a:r>
                        <a:rPr lang="en-US" sz="1400" b="1" dirty="0">
                          <a:solidFill>
                            <a:srgbClr val="1A2633"/>
                          </a:solidFill>
                          <a:latin typeface="IBM Plex Sans" pitchFamily="34" charset="0"/>
                          <a:ea typeface="IBM Plex Sans" pitchFamily="34" charset="-122"/>
                          <a:cs typeface="IBM Plex Sans" pitchFamily="34" charset="-120"/>
                        </a:rPr>
                        <a:t>What it adds</a:t>
                      </a:r>
                      <a:endParaRPr lang="en-US" sz="1400" dirty="0">
                        <a:latin typeface="IBM Plex Sans" charset="0"/>
                        <a:ea typeface="IBM Plex Sans" charset="0"/>
                        <a:cs typeface="IBM Plex Sans" charset="0"/>
                      </a:endParaRPr>
                    </a:p>
                  </a:txBody>
                  <a:tcPr marL="62230" marR="62230" marT="62230" marB="62230">
                    <a:lnL w="12700" cap="flat" cmpd="sng" algn="ctr">
                      <a:solidFill>
                        <a:srgbClr val="B5B3AF"/>
                      </a:solidFill>
                      <a:prstDash val="solid"/>
                      <a:round/>
                      <a:headEnd type="none" w="med" len="med"/>
                      <a:tailEnd type="none" w="med" len="med"/>
                    </a:lnL>
                    <a:lnR w="12700" cap="flat" cmpd="sng" algn="ctr">
                      <a:solidFill>
                        <a:srgbClr val="B5B3AF"/>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B5B3AF"/>
                      </a:solidFill>
                      <a:prstDash val="solid"/>
                      <a:round/>
                      <a:headEnd type="none" w="med" len="med"/>
                      <a:tailEnd type="none" w="med" len="med"/>
                    </a:lnB>
                    <a:solidFill>
                      <a:srgbClr val="E2E0DB"/>
                    </a:solidFill>
                  </a:tcPr>
                </a:tc>
                <a:tc>
                  <a:txBody>
                    <a:bodyPr/>
                    <a:lstStyle/>
                    <a:p>
                      <a:pPr marL="0" indent="0">
                        <a:lnSpc>
                          <a:spcPts val="1960"/>
                        </a:lnSpc>
                        <a:buNone/>
                      </a:pPr>
                      <a:r>
                        <a:rPr lang="en-US" sz="1400" b="1" dirty="0">
                          <a:solidFill>
                            <a:srgbClr val="1A2633"/>
                          </a:solidFill>
                          <a:latin typeface="IBM Plex Sans" pitchFamily="34" charset="0"/>
                          <a:ea typeface="IBM Plex Sans" pitchFamily="34" charset="-122"/>
                          <a:cs typeface="IBM Plex Sans" pitchFamily="34" charset="-120"/>
                        </a:rPr>
                        <a:t>Script</a:t>
                      </a:r>
                      <a:endParaRPr lang="en-US" sz="1400" dirty="0">
                        <a:latin typeface="IBM Plex Sans" charset="0"/>
                        <a:ea typeface="IBM Plex Sans" charset="0"/>
                        <a:cs typeface="IBM Plex Sans" charset="0"/>
                      </a:endParaRPr>
                    </a:p>
                  </a:txBody>
                  <a:tcPr marL="62230" marR="62230" marT="62230" marB="62230">
                    <a:lnL w="12700" cap="flat" cmpd="sng" algn="ctr">
                      <a:solidFill>
                        <a:srgbClr val="B5B3AF"/>
                      </a:solidFill>
                      <a:prstDash val="solid"/>
                      <a:round/>
                      <a:headEnd type="none" w="med" len="med"/>
                      <a:tailEnd type="none" w="med" len="med"/>
                    </a:lnL>
                    <a:lnR w="12700" cap="flat" cmpd="sng" algn="ctr">
                      <a:solidFill>
                        <a:srgbClr val="B5B3AF"/>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B5B3AF"/>
                      </a:solidFill>
                      <a:prstDash val="solid"/>
                      <a:round/>
                      <a:headEnd type="none" w="med" len="med"/>
                      <a:tailEnd type="none" w="med" len="med"/>
                    </a:lnB>
                    <a:solidFill>
                      <a:srgbClr val="E2E0DB"/>
                    </a:solidFill>
                  </a:tcPr>
                </a:tc>
                <a:extLst>
                  <a:ext uri="{0D108BD9-81ED-4DB2-BD59-A6C34878D82A}">
                    <a16:rowId xmlns:a16="http://schemas.microsoft.com/office/drawing/2014/main" val="10000"/>
                  </a:ext>
                </a:extLst>
              </a:tr>
              <a:tr h="384788">
                <a:tc>
                  <a:txBody>
                    <a:bodyPr/>
                    <a:lstStyle/>
                    <a:p>
                      <a:pPr marL="0" indent="0">
                        <a:lnSpc>
                          <a:spcPts val="1960"/>
                        </a:lnSpc>
                        <a:buNone/>
                      </a:pPr>
                      <a:r>
                        <a:rPr lang="en-US" sz="1400" dirty="0">
                          <a:solidFill>
                            <a:srgbClr val="1A2633"/>
                          </a:solidFill>
                          <a:latin typeface="IBM Plex Sans" pitchFamily="34" charset="0"/>
                          <a:ea typeface="IBM Plex Sans" pitchFamily="34" charset="-122"/>
                          <a:cs typeface="IBM Plex Sans" pitchFamily="34" charset="-120"/>
                        </a:rPr>
                        <a:t>01</a:t>
                      </a:r>
                      <a:endParaRPr lang="en-US" sz="1400" dirty="0">
                        <a:latin typeface="IBM Plex Sans" charset="0"/>
                        <a:ea typeface="IBM Plex Sans" charset="0"/>
                        <a:cs typeface="IBM Plex Sans" charset="0"/>
                      </a:endParaRPr>
                    </a:p>
                  </a:txBody>
                  <a:tcPr marL="62230" marR="62230" marT="62230" marB="62230">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B5B3AF"/>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marL="0" indent="0">
                        <a:lnSpc>
                          <a:spcPts val="1960"/>
                        </a:lnSpc>
                        <a:buNone/>
                      </a:pPr>
                      <a:r>
                        <a:rPr lang="en-US" sz="1400" dirty="0">
                          <a:solidFill>
                            <a:srgbClr val="1A2633"/>
                          </a:solidFill>
                          <a:latin typeface="IBM Plex Sans" pitchFamily="34" charset="0"/>
                          <a:ea typeface="IBM Plex Sans" pitchFamily="34" charset="-122"/>
                          <a:cs typeface="IBM Plex Sans" pitchFamily="34" charset="-120"/>
                        </a:rPr>
                        <a:t>Prompt Chaining</a:t>
                      </a:r>
                      <a:endParaRPr lang="en-US" sz="1400" dirty="0">
                        <a:latin typeface="IBM Plex Sans" charset="0"/>
                        <a:ea typeface="IBM Plex Sans" charset="0"/>
                        <a:cs typeface="IBM Plex Sans" charset="0"/>
                      </a:endParaRPr>
                    </a:p>
                  </a:txBody>
                  <a:tcPr marL="62230" marR="62230" marT="62230" marB="62230">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B5B3AF"/>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marL="0" indent="0">
                        <a:lnSpc>
                          <a:spcPts val="1960"/>
                        </a:lnSpc>
                        <a:buNone/>
                      </a:pPr>
                      <a:r>
                        <a:rPr lang="en-US" sz="1400" dirty="0">
                          <a:solidFill>
                            <a:srgbClr val="1A2633"/>
                          </a:solidFill>
                          <a:latin typeface="IBM Plex Sans" pitchFamily="34" charset="0"/>
                          <a:ea typeface="IBM Plex Sans" pitchFamily="34" charset="-122"/>
                          <a:cs typeface="IBM Plex Sans" pitchFamily="34" charset="-120"/>
                        </a:rPr>
                        <a:t>Sequential steps</a:t>
                      </a:r>
                      <a:endParaRPr lang="en-US" sz="1400" dirty="0">
                        <a:latin typeface="IBM Plex Sans" charset="0"/>
                        <a:ea typeface="IBM Plex Sans" charset="0"/>
                        <a:cs typeface="IBM Plex Sans" charset="0"/>
                      </a:endParaRPr>
                    </a:p>
                  </a:txBody>
                  <a:tcPr marL="62230" marR="62230" marT="62230" marB="62230">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B5B3AF"/>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marL="0" indent="0">
                        <a:lnSpc>
                          <a:spcPts val="1960"/>
                        </a:lnSpc>
                        <a:buNone/>
                      </a:pPr>
                      <a:r>
                        <a:rPr lang="en-US" sz="1400" dirty="0">
                          <a:solidFill>
                            <a:srgbClr val="1A2633"/>
                          </a:solidFill>
                          <a:latin typeface="IBM Plex Sans" pitchFamily="34" charset="0"/>
                          <a:ea typeface="IBM Plex Sans" pitchFamily="34" charset="-122"/>
                          <a:cs typeface="IBM Plex Sans" pitchFamily="34" charset="-120"/>
                        </a:rPr>
                        <a:t>01_prompt_chaining.py</a:t>
                      </a:r>
                      <a:endParaRPr lang="en-US" sz="1400" dirty="0">
                        <a:latin typeface="IBM Plex Sans" charset="0"/>
                        <a:ea typeface="IBM Plex Sans" charset="0"/>
                        <a:cs typeface="IBM Plex Sans" charset="0"/>
                      </a:endParaRPr>
                    </a:p>
                  </a:txBody>
                  <a:tcPr marL="62230" marR="62230" marT="62230" marB="62230">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B5B3AF"/>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extLst>
                  <a:ext uri="{0D108BD9-81ED-4DB2-BD59-A6C34878D82A}">
                    <a16:rowId xmlns:a16="http://schemas.microsoft.com/office/drawing/2014/main" val="10001"/>
                  </a:ext>
                </a:extLst>
              </a:tr>
              <a:tr h="384788">
                <a:tc>
                  <a:txBody>
                    <a:bodyPr/>
                    <a:lstStyle/>
                    <a:p>
                      <a:pPr marL="0" indent="0">
                        <a:lnSpc>
                          <a:spcPts val="1960"/>
                        </a:lnSpc>
                        <a:buNone/>
                      </a:pPr>
                      <a:r>
                        <a:rPr lang="en-US" sz="1400" dirty="0">
                          <a:solidFill>
                            <a:srgbClr val="1A2633"/>
                          </a:solidFill>
                          <a:latin typeface="IBM Plex Sans" pitchFamily="34" charset="0"/>
                          <a:ea typeface="IBM Plex Sans" pitchFamily="34" charset="-122"/>
                          <a:cs typeface="IBM Plex Sans" pitchFamily="34" charset="-120"/>
                        </a:rPr>
                        <a:t>02</a:t>
                      </a:r>
                      <a:endParaRPr lang="en-US" sz="1400" dirty="0">
                        <a:latin typeface="IBM Plex Sans" charset="0"/>
                        <a:ea typeface="IBM Plex Sans" charset="0"/>
                        <a:cs typeface="IBM Plex Sans" charset="0"/>
                      </a:endParaRPr>
                    </a:p>
                  </a:txBody>
                  <a:tcPr marL="62230" marR="62230" marT="62230" marB="62230">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marL="0" indent="0">
                        <a:lnSpc>
                          <a:spcPts val="1960"/>
                        </a:lnSpc>
                        <a:buNone/>
                      </a:pPr>
                      <a:r>
                        <a:rPr lang="en-US" sz="1400" dirty="0">
                          <a:solidFill>
                            <a:srgbClr val="1A2633"/>
                          </a:solidFill>
                          <a:latin typeface="IBM Plex Sans" pitchFamily="34" charset="0"/>
                          <a:ea typeface="IBM Plex Sans" pitchFamily="34" charset="-122"/>
                          <a:cs typeface="IBM Plex Sans" pitchFamily="34" charset="-120"/>
                        </a:rPr>
                        <a:t>Routing</a:t>
                      </a:r>
                      <a:endParaRPr lang="en-US" sz="1400" dirty="0">
                        <a:latin typeface="IBM Plex Sans" charset="0"/>
                        <a:ea typeface="IBM Plex Sans" charset="0"/>
                        <a:cs typeface="IBM Plex Sans" charset="0"/>
                      </a:endParaRPr>
                    </a:p>
                  </a:txBody>
                  <a:tcPr marL="62230" marR="62230" marT="62230" marB="62230">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marL="0" indent="0">
                        <a:lnSpc>
                          <a:spcPts val="1960"/>
                        </a:lnSpc>
                        <a:buNone/>
                      </a:pPr>
                      <a:r>
                        <a:rPr lang="en-US" sz="1400" dirty="0">
                          <a:solidFill>
                            <a:srgbClr val="1A2633"/>
                          </a:solidFill>
                          <a:latin typeface="IBM Plex Sans" pitchFamily="34" charset="0"/>
                          <a:ea typeface="IBM Plex Sans" pitchFamily="34" charset="-122"/>
                          <a:cs typeface="IBM Plex Sans" pitchFamily="34" charset="-120"/>
                        </a:rPr>
                        <a:t>+ input classification</a:t>
                      </a:r>
                      <a:endParaRPr lang="en-US" sz="1400" dirty="0">
                        <a:latin typeface="IBM Plex Sans" charset="0"/>
                        <a:ea typeface="IBM Plex Sans" charset="0"/>
                        <a:cs typeface="IBM Plex Sans" charset="0"/>
                      </a:endParaRPr>
                    </a:p>
                  </a:txBody>
                  <a:tcPr marL="62230" marR="62230" marT="62230" marB="62230">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marL="0" indent="0">
                        <a:lnSpc>
                          <a:spcPts val="1960"/>
                        </a:lnSpc>
                        <a:buNone/>
                      </a:pPr>
                      <a:r>
                        <a:rPr lang="en-US" sz="1400" dirty="0">
                          <a:solidFill>
                            <a:srgbClr val="1A2633"/>
                          </a:solidFill>
                          <a:latin typeface="IBM Plex Sans" pitchFamily="34" charset="0"/>
                          <a:ea typeface="IBM Plex Sans" pitchFamily="34" charset="-122"/>
                          <a:cs typeface="IBM Plex Sans" pitchFamily="34" charset="-120"/>
                        </a:rPr>
                        <a:t>01_routing.py</a:t>
                      </a:r>
                      <a:endParaRPr lang="en-US" sz="1400" dirty="0">
                        <a:latin typeface="IBM Plex Sans" charset="0"/>
                        <a:ea typeface="IBM Plex Sans" charset="0"/>
                        <a:cs typeface="IBM Plex Sans" charset="0"/>
                      </a:endParaRPr>
                    </a:p>
                  </a:txBody>
                  <a:tcPr marL="62230" marR="62230" marT="62230" marB="62230">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extLst>
                  <a:ext uri="{0D108BD9-81ED-4DB2-BD59-A6C34878D82A}">
                    <a16:rowId xmlns:a16="http://schemas.microsoft.com/office/drawing/2014/main" val="10002"/>
                  </a:ext>
                </a:extLst>
              </a:tr>
              <a:tr h="384788">
                <a:tc>
                  <a:txBody>
                    <a:bodyPr/>
                    <a:lstStyle/>
                    <a:p>
                      <a:pPr marL="0" indent="0">
                        <a:lnSpc>
                          <a:spcPts val="1960"/>
                        </a:lnSpc>
                        <a:buNone/>
                      </a:pPr>
                      <a:r>
                        <a:rPr lang="en-US" sz="1400" dirty="0">
                          <a:solidFill>
                            <a:srgbClr val="1A2633"/>
                          </a:solidFill>
                          <a:latin typeface="IBM Plex Sans" pitchFamily="34" charset="0"/>
                          <a:ea typeface="IBM Plex Sans" pitchFamily="34" charset="-122"/>
                          <a:cs typeface="IBM Plex Sans" pitchFamily="34" charset="-120"/>
                        </a:rPr>
                        <a:t>03</a:t>
                      </a:r>
                      <a:endParaRPr lang="en-US" sz="1400" dirty="0">
                        <a:latin typeface="IBM Plex Sans" charset="0"/>
                        <a:ea typeface="IBM Plex Sans" charset="0"/>
                        <a:cs typeface="IBM Plex Sans" charset="0"/>
                      </a:endParaRPr>
                    </a:p>
                  </a:txBody>
                  <a:tcPr marL="62230" marR="62230" marT="62230" marB="62230">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marL="0" indent="0">
                        <a:lnSpc>
                          <a:spcPts val="1960"/>
                        </a:lnSpc>
                        <a:buNone/>
                      </a:pPr>
                      <a:r>
                        <a:rPr lang="en-US" sz="1400" dirty="0">
                          <a:solidFill>
                            <a:srgbClr val="1A2633"/>
                          </a:solidFill>
                          <a:latin typeface="IBM Plex Sans" pitchFamily="34" charset="0"/>
                          <a:ea typeface="IBM Plex Sans" pitchFamily="34" charset="-122"/>
                          <a:cs typeface="IBM Plex Sans" pitchFamily="34" charset="-120"/>
                        </a:rPr>
                        <a:t>Parallelization</a:t>
                      </a:r>
                      <a:endParaRPr lang="en-US" sz="1400" dirty="0">
                        <a:latin typeface="IBM Plex Sans" charset="0"/>
                        <a:ea typeface="IBM Plex Sans" charset="0"/>
                        <a:cs typeface="IBM Plex Sans" charset="0"/>
                      </a:endParaRPr>
                    </a:p>
                  </a:txBody>
                  <a:tcPr marL="62230" marR="62230" marT="62230" marB="62230">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marL="0" indent="0">
                        <a:lnSpc>
                          <a:spcPts val="1960"/>
                        </a:lnSpc>
                        <a:buNone/>
                      </a:pPr>
                      <a:r>
                        <a:rPr lang="en-US" sz="1400" dirty="0">
                          <a:solidFill>
                            <a:srgbClr val="1A2633"/>
                          </a:solidFill>
                          <a:latin typeface="IBM Plex Sans" pitchFamily="34" charset="0"/>
                          <a:ea typeface="IBM Plex Sans" pitchFamily="34" charset="-122"/>
                          <a:cs typeface="IBM Plex Sans" pitchFamily="34" charset="-120"/>
                        </a:rPr>
                        <a:t>+ concurrent execution</a:t>
                      </a:r>
                      <a:endParaRPr lang="en-US" sz="1400" dirty="0">
                        <a:latin typeface="IBM Plex Sans" charset="0"/>
                        <a:ea typeface="IBM Plex Sans" charset="0"/>
                        <a:cs typeface="IBM Plex Sans" charset="0"/>
                      </a:endParaRPr>
                    </a:p>
                  </a:txBody>
                  <a:tcPr marL="62230" marR="62230" marT="62230" marB="62230">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marL="0" indent="0">
                        <a:lnSpc>
                          <a:spcPts val="1960"/>
                        </a:lnSpc>
                        <a:buNone/>
                      </a:pPr>
                      <a:r>
                        <a:rPr lang="en-US" sz="1400" dirty="0">
                          <a:solidFill>
                            <a:srgbClr val="1A2633"/>
                          </a:solidFill>
                          <a:latin typeface="IBM Plex Sans" pitchFamily="34" charset="0"/>
                          <a:ea typeface="IBM Plex Sans" pitchFamily="34" charset="-122"/>
                          <a:cs typeface="IBM Plex Sans" pitchFamily="34" charset="-120"/>
                        </a:rPr>
                        <a:t>01_parallelization.py</a:t>
                      </a:r>
                      <a:endParaRPr lang="en-US" sz="1400" dirty="0">
                        <a:latin typeface="IBM Plex Sans" charset="0"/>
                        <a:ea typeface="IBM Plex Sans" charset="0"/>
                        <a:cs typeface="IBM Plex Sans" charset="0"/>
                      </a:endParaRPr>
                    </a:p>
                  </a:txBody>
                  <a:tcPr marL="62230" marR="62230" marT="62230" marB="62230">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extLst>
                  <a:ext uri="{0D108BD9-81ED-4DB2-BD59-A6C34878D82A}">
                    <a16:rowId xmlns:a16="http://schemas.microsoft.com/office/drawing/2014/main" val="10003"/>
                  </a:ext>
                </a:extLst>
              </a:tr>
              <a:tr h="384788">
                <a:tc>
                  <a:txBody>
                    <a:bodyPr/>
                    <a:lstStyle/>
                    <a:p>
                      <a:pPr marL="0" indent="0">
                        <a:lnSpc>
                          <a:spcPts val="1960"/>
                        </a:lnSpc>
                        <a:buNone/>
                      </a:pPr>
                      <a:r>
                        <a:rPr lang="en-US" sz="1400" dirty="0">
                          <a:solidFill>
                            <a:srgbClr val="1A2633"/>
                          </a:solidFill>
                          <a:latin typeface="IBM Plex Sans" pitchFamily="34" charset="0"/>
                          <a:ea typeface="IBM Plex Sans" pitchFamily="34" charset="-122"/>
                          <a:cs typeface="IBM Plex Sans" pitchFamily="34" charset="-120"/>
                        </a:rPr>
                        <a:t>04</a:t>
                      </a:r>
                      <a:endParaRPr lang="en-US" sz="1400" dirty="0">
                        <a:latin typeface="IBM Plex Sans" charset="0"/>
                        <a:ea typeface="IBM Plex Sans" charset="0"/>
                        <a:cs typeface="IBM Plex Sans" charset="0"/>
                      </a:endParaRPr>
                    </a:p>
                  </a:txBody>
                  <a:tcPr marL="62230" marR="62230" marT="62230" marB="62230">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marL="0" indent="0">
                        <a:lnSpc>
                          <a:spcPts val="1960"/>
                        </a:lnSpc>
                        <a:buNone/>
                      </a:pPr>
                      <a:r>
                        <a:rPr lang="en-US" sz="1400" dirty="0">
                          <a:solidFill>
                            <a:srgbClr val="1A2633"/>
                          </a:solidFill>
                          <a:latin typeface="IBM Plex Sans" pitchFamily="34" charset="0"/>
                          <a:ea typeface="IBM Plex Sans" pitchFamily="34" charset="-122"/>
                          <a:cs typeface="IBM Plex Sans" pitchFamily="34" charset="-120"/>
                        </a:rPr>
                        <a:t>Orchestrator-Workers</a:t>
                      </a:r>
                      <a:endParaRPr lang="en-US" sz="1400" dirty="0">
                        <a:latin typeface="IBM Plex Sans" charset="0"/>
                        <a:ea typeface="IBM Plex Sans" charset="0"/>
                        <a:cs typeface="IBM Plex Sans" charset="0"/>
                      </a:endParaRPr>
                    </a:p>
                  </a:txBody>
                  <a:tcPr marL="62230" marR="62230" marT="62230" marB="62230">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marL="0" indent="0">
                        <a:lnSpc>
                          <a:spcPts val="1960"/>
                        </a:lnSpc>
                        <a:buNone/>
                      </a:pPr>
                      <a:r>
                        <a:rPr lang="en-US" sz="1400" dirty="0">
                          <a:solidFill>
                            <a:srgbClr val="1A2633"/>
                          </a:solidFill>
                          <a:latin typeface="IBM Plex Sans" pitchFamily="34" charset="0"/>
                          <a:ea typeface="IBM Plex Sans" pitchFamily="34" charset="-122"/>
                          <a:cs typeface="IBM Plex Sans" pitchFamily="34" charset="-120"/>
                        </a:rPr>
                        <a:t>+ dynamic decomposition</a:t>
                      </a:r>
                      <a:endParaRPr lang="en-US" sz="1400" dirty="0">
                        <a:latin typeface="IBM Plex Sans" charset="0"/>
                        <a:ea typeface="IBM Plex Sans" charset="0"/>
                        <a:cs typeface="IBM Plex Sans" charset="0"/>
                      </a:endParaRPr>
                    </a:p>
                  </a:txBody>
                  <a:tcPr marL="62230" marR="62230" marT="62230" marB="62230">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marL="0" indent="0">
                        <a:lnSpc>
                          <a:spcPts val="1960"/>
                        </a:lnSpc>
                        <a:buNone/>
                      </a:pPr>
                      <a:r>
                        <a:rPr lang="en-US" sz="1400" dirty="0">
                          <a:solidFill>
                            <a:srgbClr val="1A2633"/>
                          </a:solidFill>
                          <a:latin typeface="IBM Plex Sans" pitchFamily="34" charset="0"/>
                          <a:ea typeface="IBM Plex Sans" pitchFamily="34" charset="-122"/>
                          <a:cs typeface="IBM Plex Sans" pitchFamily="34" charset="-120"/>
                        </a:rPr>
                        <a:t>01_orchestrator_workers.py</a:t>
                      </a:r>
                      <a:endParaRPr lang="en-US" sz="1400" dirty="0">
                        <a:latin typeface="IBM Plex Sans" charset="0"/>
                        <a:ea typeface="IBM Plex Sans" charset="0"/>
                        <a:cs typeface="IBM Plex Sans" charset="0"/>
                      </a:endParaRPr>
                    </a:p>
                  </a:txBody>
                  <a:tcPr marL="62230" marR="62230" marT="62230" marB="62230">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extLst>
                  <a:ext uri="{0D108BD9-81ED-4DB2-BD59-A6C34878D82A}">
                    <a16:rowId xmlns:a16="http://schemas.microsoft.com/office/drawing/2014/main" val="10004"/>
                  </a:ext>
                </a:extLst>
              </a:tr>
              <a:tr h="384788">
                <a:tc>
                  <a:txBody>
                    <a:bodyPr/>
                    <a:lstStyle/>
                    <a:p>
                      <a:pPr marL="0" indent="0">
                        <a:lnSpc>
                          <a:spcPts val="1960"/>
                        </a:lnSpc>
                        <a:buNone/>
                      </a:pPr>
                      <a:r>
                        <a:rPr lang="en-US" sz="1400" dirty="0">
                          <a:solidFill>
                            <a:srgbClr val="1A2633"/>
                          </a:solidFill>
                          <a:latin typeface="IBM Plex Sans" pitchFamily="34" charset="0"/>
                          <a:ea typeface="IBM Plex Sans" pitchFamily="34" charset="-122"/>
                          <a:cs typeface="IBM Plex Sans" pitchFamily="34" charset="-120"/>
                        </a:rPr>
                        <a:t>05</a:t>
                      </a:r>
                      <a:endParaRPr lang="en-US" sz="1400" dirty="0">
                        <a:latin typeface="IBM Plex Sans" charset="0"/>
                        <a:ea typeface="IBM Plex Sans" charset="0"/>
                        <a:cs typeface="IBM Plex Sans" charset="0"/>
                      </a:endParaRPr>
                    </a:p>
                  </a:txBody>
                  <a:tcPr marL="62230" marR="62230" marT="62230" marB="62230">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marL="0" indent="0">
                        <a:lnSpc>
                          <a:spcPts val="1960"/>
                        </a:lnSpc>
                        <a:buNone/>
                      </a:pPr>
                      <a:r>
                        <a:rPr lang="en-US" sz="1400" dirty="0">
                          <a:solidFill>
                            <a:srgbClr val="1A2633"/>
                          </a:solidFill>
                          <a:latin typeface="IBM Plex Sans" pitchFamily="34" charset="0"/>
                          <a:ea typeface="IBM Plex Sans" pitchFamily="34" charset="-122"/>
                          <a:cs typeface="IBM Plex Sans" pitchFamily="34" charset="-120"/>
                        </a:rPr>
                        <a:t>Evaluator-Optimizer</a:t>
                      </a:r>
                      <a:endParaRPr lang="en-US" sz="1400" dirty="0">
                        <a:latin typeface="IBM Plex Sans" charset="0"/>
                        <a:ea typeface="IBM Plex Sans" charset="0"/>
                        <a:cs typeface="IBM Plex Sans" charset="0"/>
                      </a:endParaRPr>
                    </a:p>
                  </a:txBody>
                  <a:tcPr marL="62230" marR="62230" marT="62230" marB="62230">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marL="0" indent="0">
                        <a:lnSpc>
                          <a:spcPts val="1960"/>
                        </a:lnSpc>
                        <a:buNone/>
                      </a:pPr>
                      <a:r>
                        <a:rPr lang="en-US" sz="1400" dirty="0">
                          <a:solidFill>
                            <a:srgbClr val="1A2633"/>
                          </a:solidFill>
                          <a:latin typeface="IBM Plex Sans" pitchFamily="34" charset="0"/>
                          <a:ea typeface="IBM Plex Sans" pitchFamily="34" charset="-122"/>
                          <a:cs typeface="IBM Plex Sans" pitchFamily="34" charset="-120"/>
                        </a:rPr>
                        <a:t>+ self-critique</a:t>
                      </a:r>
                      <a:endParaRPr lang="en-US" sz="1400" dirty="0">
                        <a:latin typeface="IBM Plex Sans" charset="0"/>
                        <a:ea typeface="IBM Plex Sans" charset="0"/>
                        <a:cs typeface="IBM Plex Sans" charset="0"/>
                      </a:endParaRPr>
                    </a:p>
                  </a:txBody>
                  <a:tcPr marL="62230" marR="62230" marT="62230" marB="62230">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marL="0" indent="0">
                        <a:lnSpc>
                          <a:spcPts val="1960"/>
                        </a:lnSpc>
                        <a:buNone/>
                      </a:pPr>
                      <a:r>
                        <a:rPr lang="en-US" sz="1400" dirty="0">
                          <a:solidFill>
                            <a:srgbClr val="1A2633"/>
                          </a:solidFill>
                          <a:latin typeface="IBM Plex Sans" pitchFamily="34" charset="0"/>
                          <a:ea typeface="IBM Plex Sans" pitchFamily="34" charset="-122"/>
                          <a:cs typeface="IBM Plex Sans" pitchFamily="34" charset="-120"/>
                        </a:rPr>
                        <a:t>01_evaluator_optimizer.py</a:t>
                      </a:r>
                      <a:endParaRPr lang="en-US" sz="1400" dirty="0">
                        <a:latin typeface="IBM Plex Sans" charset="0"/>
                        <a:ea typeface="IBM Plex Sans" charset="0"/>
                        <a:cs typeface="IBM Plex Sans" charset="0"/>
                      </a:endParaRPr>
                    </a:p>
                  </a:txBody>
                  <a:tcPr marL="62230" marR="62230" marT="62230" marB="62230">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extLst>
                  <a:ext uri="{0D108BD9-81ED-4DB2-BD59-A6C34878D82A}">
                    <a16:rowId xmlns:a16="http://schemas.microsoft.com/office/drawing/2014/main" val="10005"/>
                  </a:ext>
                </a:extLst>
              </a:tr>
              <a:tr h="384788">
                <a:tc>
                  <a:txBody>
                    <a:bodyPr/>
                    <a:lstStyle/>
                    <a:p>
                      <a:pPr marL="0" indent="0">
                        <a:lnSpc>
                          <a:spcPts val="1960"/>
                        </a:lnSpc>
                        <a:buNone/>
                      </a:pPr>
                      <a:r>
                        <a:rPr lang="en-US" sz="1400" dirty="0">
                          <a:solidFill>
                            <a:srgbClr val="1A2633"/>
                          </a:solidFill>
                          <a:latin typeface="IBM Plex Sans" pitchFamily="34" charset="0"/>
                          <a:ea typeface="IBM Plex Sans" pitchFamily="34" charset="-122"/>
                          <a:cs typeface="IBM Plex Sans" pitchFamily="34" charset="-120"/>
                        </a:rPr>
                        <a:t>06</a:t>
                      </a:r>
                      <a:endParaRPr lang="en-US" sz="1400" dirty="0">
                        <a:latin typeface="IBM Plex Sans" charset="0"/>
                        <a:ea typeface="IBM Plex Sans" charset="0"/>
                        <a:cs typeface="IBM Plex Sans" charset="0"/>
                      </a:endParaRPr>
                    </a:p>
                  </a:txBody>
                  <a:tcPr marL="62230" marR="62230" marT="62230" marB="62230">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marL="0" indent="0">
                        <a:lnSpc>
                          <a:spcPts val="1960"/>
                        </a:lnSpc>
                        <a:buNone/>
                      </a:pPr>
                      <a:r>
                        <a:rPr lang="en-US" sz="1400" dirty="0">
                          <a:solidFill>
                            <a:srgbClr val="1A2633"/>
                          </a:solidFill>
                          <a:latin typeface="IBM Plex Sans" pitchFamily="34" charset="0"/>
                          <a:ea typeface="IBM Plex Sans" pitchFamily="34" charset="-122"/>
                          <a:cs typeface="IBM Plex Sans" pitchFamily="34" charset="-120"/>
                        </a:rPr>
                        <a:t>Human-in-the-Loop</a:t>
                      </a:r>
                      <a:endParaRPr lang="en-US" sz="1400" dirty="0">
                        <a:latin typeface="IBM Plex Sans" charset="0"/>
                        <a:ea typeface="IBM Plex Sans" charset="0"/>
                        <a:cs typeface="IBM Plex Sans" charset="0"/>
                      </a:endParaRPr>
                    </a:p>
                  </a:txBody>
                  <a:tcPr marL="62230" marR="62230" marT="62230" marB="62230">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marL="0" indent="0">
                        <a:lnSpc>
                          <a:spcPts val="1960"/>
                        </a:lnSpc>
                        <a:buNone/>
                      </a:pPr>
                      <a:r>
                        <a:rPr lang="en-US" sz="1400" dirty="0">
                          <a:solidFill>
                            <a:srgbClr val="1A2633"/>
                          </a:solidFill>
                          <a:latin typeface="IBM Plex Sans" pitchFamily="34" charset="0"/>
                          <a:ea typeface="IBM Plex Sans" pitchFamily="34" charset="-122"/>
                          <a:cs typeface="IBM Plex Sans" pitchFamily="34" charset="-120"/>
                        </a:rPr>
                        <a:t>+ human oversight</a:t>
                      </a:r>
                      <a:endParaRPr lang="en-US" sz="1400" dirty="0">
                        <a:latin typeface="IBM Plex Sans" charset="0"/>
                        <a:ea typeface="IBM Plex Sans" charset="0"/>
                        <a:cs typeface="IBM Plex Sans" charset="0"/>
                      </a:endParaRPr>
                    </a:p>
                  </a:txBody>
                  <a:tcPr marL="62230" marR="62230" marT="62230" marB="62230">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marL="0" indent="0">
                        <a:lnSpc>
                          <a:spcPts val="1960"/>
                        </a:lnSpc>
                        <a:buNone/>
                      </a:pPr>
                      <a:r>
                        <a:rPr lang="en-US" sz="1400" dirty="0">
                          <a:solidFill>
                            <a:srgbClr val="1A2633"/>
                          </a:solidFill>
                          <a:latin typeface="IBM Plex Sans" pitchFamily="34" charset="0"/>
                          <a:ea typeface="IBM Plex Sans" pitchFamily="34" charset="-122"/>
                          <a:cs typeface="IBM Plex Sans" pitchFamily="34" charset="-120"/>
                        </a:rPr>
                        <a:t>01_human_in_the_loop.py</a:t>
                      </a:r>
                      <a:endParaRPr lang="en-US" sz="1400" dirty="0">
                        <a:latin typeface="IBM Plex Sans" charset="0"/>
                        <a:ea typeface="IBM Plex Sans" charset="0"/>
                        <a:cs typeface="IBM Plex Sans" charset="0"/>
                      </a:endParaRPr>
                    </a:p>
                  </a:txBody>
                  <a:tcPr marL="62230" marR="62230" marT="62230" marB="62230">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extLst>
                  <a:ext uri="{0D108BD9-81ED-4DB2-BD59-A6C34878D82A}">
                    <a16:rowId xmlns:a16="http://schemas.microsoft.com/office/drawing/2014/main" val="10006"/>
                  </a:ext>
                </a:extLst>
              </a:tr>
              <a:tr h="384788">
                <a:tc>
                  <a:txBody>
                    <a:bodyPr/>
                    <a:lstStyle/>
                    <a:p>
                      <a:pPr marL="0" indent="0">
                        <a:lnSpc>
                          <a:spcPts val="1960"/>
                        </a:lnSpc>
                        <a:buNone/>
                      </a:pPr>
                      <a:r>
                        <a:rPr lang="en-US" sz="1400" dirty="0">
                          <a:solidFill>
                            <a:srgbClr val="1A2633"/>
                          </a:solidFill>
                          <a:latin typeface="IBM Plex Sans" pitchFamily="34" charset="0"/>
                          <a:ea typeface="IBM Plex Sans" pitchFamily="34" charset="-122"/>
                          <a:cs typeface="IBM Plex Sans" pitchFamily="34" charset="-120"/>
                        </a:rPr>
                        <a:t>07</a:t>
                      </a:r>
                      <a:endParaRPr lang="en-US" sz="1400" dirty="0">
                        <a:latin typeface="IBM Plex Sans" charset="0"/>
                        <a:ea typeface="IBM Plex Sans" charset="0"/>
                        <a:cs typeface="IBM Plex Sans" charset="0"/>
                      </a:endParaRPr>
                    </a:p>
                  </a:txBody>
                  <a:tcPr marL="62230" marR="62230" marT="62230" marB="62230">
                    <a:lnL w="12700" cap="flat" cmpd="sng" algn="ctr">
                      <a:solidFill>
                        <a:srgbClr val="C3C1BC"/>
                      </a:solidFill>
                      <a:prstDash val="solid"/>
                      <a:round/>
                      <a:headEnd type="none" w="med" len="med"/>
                      <a:tailEnd type="none" w="med" len="med"/>
                    </a:lnL>
                    <a:lnR w="12700" cap="flat" cmpd="sng" algn="ctr">
                      <a:solidFill>
                        <a:srgbClr val="C5AE9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5AE9C"/>
                      </a:solidFill>
                      <a:prstDash val="solid"/>
                      <a:round/>
                      <a:headEnd type="none" w="med" len="med"/>
                      <a:tailEnd type="none" w="med" len="med"/>
                    </a:lnB>
                    <a:solidFill>
                      <a:srgbClr val="F7D9C2"/>
                    </a:solidFill>
                  </a:tcPr>
                </a:tc>
                <a:tc>
                  <a:txBody>
                    <a:bodyPr/>
                    <a:lstStyle/>
                    <a:p>
                      <a:pPr marL="0" indent="0">
                        <a:lnSpc>
                          <a:spcPts val="1960"/>
                        </a:lnSpc>
                        <a:buNone/>
                      </a:pPr>
                      <a:r>
                        <a:rPr lang="en-US" sz="1400" dirty="0">
                          <a:solidFill>
                            <a:srgbClr val="1A2633"/>
                          </a:solidFill>
                          <a:latin typeface="IBM Plex Sans" pitchFamily="34" charset="0"/>
                          <a:ea typeface="IBM Plex Sans" pitchFamily="34" charset="-122"/>
                          <a:cs typeface="IBM Plex Sans" pitchFamily="34" charset="-120"/>
                        </a:rPr>
                        <a:t>Content Writer</a:t>
                      </a:r>
                      <a:endParaRPr lang="en-US" sz="1400" dirty="0">
                        <a:latin typeface="IBM Plex Sans" charset="0"/>
                        <a:ea typeface="IBM Plex Sans" charset="0"/>
                        <a:cs typeface="IBM Plex Sans" charset="0"/>
                      </a:endParaRPr>
                    </a:p>
                  </a:txBody>
                  <a:tcPr marL="62230" marR="62230" marT="62230" marB="62230">
                    <a:lnL w="12700" cap="flat" cmpd="sng" algn="ctr">
                      <a:solidFill>
                        <a:srgbClr val="C5AE9C"/>
                      </a:solidFill>
                      <a:prstDash val="solid"/>
                      <a:round/>
                      <a:headEnd type="none" w="med" len="med"/>
                      <a:tailEnd type="none" w="med" len="med"/>
                    </a:lnL>
                    <a:lnR w="12700" cap="flat" cmpd="sng" algn="ctr">
                      <a:solidFill>
                        <a:srgbClr val="C5AE9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5AE9C"/>
                      </a:solidFill>
                      <a:prstDash val="solid"/>
                      <a:round/>
                      <a:headEnd type="none" w="med" len="med"/>
                      <a:tailEnd type="none" w="med" len="med"/>
                    </a:lnB>
                    <a:solidFill>
                      <a:srgbClr val="F7D9C2"/>
                    </a:solidFill>
                  </a:tcPr>
                </a:tc>
                <a:tc>
                  <a:txBody>
                    <a:bodyPr/>
                    <a:lstStyle/>
                    <a:p>
                      <a:pPr marL="0" indent="0">
                        <a:lnSpc>
                          <a:spcPts val="1960"/>
                        </a:lnSpc>
                        <a:buNone/>
                      </a:pPr>
                      <a:r>
                        <a:rPr lang="en-US" sz="1400" dirty="0">
                          <a:solidFill>
                            <a:srgbClr val="1A2633"/>
                          </a:solidFill>
                          <a:latin typeface="IBM Plex Sans" pitchFamily="34" charset="0"/>
                          <a:ea typeface="IBM Plex Sans" pitchFamily="34" charset="-122"/>
                          <a:cs typeface="IBM Plex Sans" pitchFamily="34" charset="-120"/>
                        </a:rPr>
                        <a:t>Combines all six</a:t>
                      </a:r>
                      <a:endParaRPr lang="en-US" sz="1400" dirty="0">
                        <a:latin typeface="IBM Plex Sans" charset="0"/>
                        <a:ea typeface="IBM Plex Sans" charset="0"/>
                        <a:cs typeface="IBM Plex Sans" charset="0"/>
                      </a:endParaRPr>
                    </a:p>
                  </a:txBody>
                  <a:tcPr marL="62230" marR="62230" marT="62230" marB="62230">
                    <a:lnL w="12700" cap="flat" cmpd="sng" algn="ctr">
                      <a:solidFill>
                        <a:srgbClr val="C5AE9C"/>
                      </a:solidFill>
                      <a:prstDash val="solid"/>
                      <a:round/>
                      <a:headEnd type="none" w="med" len="med"/>
                      <a:tailEnd type="none" w="med" len="med"/>
                    </a:lnL>
                    <a:lnR w="12700" cap="flat" cmpd="sng" algn="ctr">
                      <a:solidFill>
                        <a:srgbClr val="C5AE9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5AE9C"/>
                      </a:solidFill>
                      <a:prstDash val="solid"/>
                      <a:round/>
                      <a:headEnd type="none" w="med" len="med"/>
                      <a:tailEnd type="none" w="med" len="med"/>
                    </a:lnB>
                    <a:solidFill>
                      <a:srgbClr val="F7D9C2"/>
                    </a:solidFill>
                  </a:tcPr>
                </a:tc>
                <a:tc>
                  <a:txBody>
                    <a:bodyPr/>
                    <a:lstStyle/>
                    <a:p>
                      <a:pPr marL="0" indent="0">
                        <a:lnSpc>
                          <a:spcPts val="1960"/>
                        </a:lnSpc>
                        <a:buNone/>
                      </a:pPr>
                      <a:r>
                        <a:rPr lang="en-US" sz="1400" dirty="0">
                          <a:solidFill>
                            <a:srgbClr val="1A2633"/>
                          </a:solidFill>
                          <a:latin typeface="IBM Plex Sans" pitchFamily="34" charset="0"/>
                          <a:ea typeface="IBM Plex Sans" pitchFamily="34" charset="-122"/>
                          <a:cs typeface="IBM Plex Sans" pitchFamily="34" charset="-120"/>
                        </a:rPr>
                        <a:t>content_writer/agent.py</a:t>
                      </a:r>
                      <a:endParaRPr lang="en-US" sz="1400" dirty="0">
                        <a:latin typeface="IBM Plex Sans" charset="0"/>
                        <a:ea typeface="IBM Plex Sans" charset="0"/>
                        <a:cs typeface="IBM Plex Sans" charset="0"/>
                      </a:endParaRPr>
                    </a:p>
                  </a:txBody>
                  <a:tcPr marL="62230" marR="62230" marT="62230" marB="62230">
                    <a:lnL w="12700" cap="flat" cmpd="sng" algn="ctr">
                      <a:solidFill>
                        <a:srgbClr val="C5AE9C"/>
                      </a:solidFill>
                      <a:prstDash val="solid"/>
                      <a:round/>
                      <a:headEnd type="none" w="med" len="med"/>
                      <a:tailEnd type="none" w="med" len="med"/>
                    </a:lnL>
                    <a:lnR w="12700" cap="flat" cmpd="sng" algn="ctr">
                      <a:solidFill>
                        <a:srgbClr val="C5AE9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5AE9C"/>
                      </a:solidFill>
                      <a:prstDash val="solid"/>
                      <a:round/>
                      <a:headEnd type="none" w="med" len="med"/>
                      <a:tailEnd type="none" w="med" len="med"/>
                    </a:lnB>
                    <a:solidFill>
                      <a:srgbClr val="F7D9C2"/>
                    </a:solidFill>
                  </a:tcPr>
                </a:tc>
                <a:extLst>
                  <a:ext uri="{0D108BD9-81ED-4DB2-BD59-A6C34878D82A}">
                    <a16:rowId xmlns:a16="http://schemas.microsoft.com/office/drawing/2014/main" val="10007"/>
                  </a:ext>
                </a:extLst>
              </a:tr>
            </a:tbl>
          </a:graphicData>
        </a:graphic>
      </p:graphicFrame>
      <p:sp>
        <p:nvSpPr>
          <p:cNvPr id="5" name="Text 2"/>
          <p:cNvSpPr/>
          <p:nvPr/>
        </p:nvSpPr>
        <p:spPr>
          <a:xfrm>
            <a:off x="812782" y="5017582"/>
            <a:ext cx="10883429" cy="52311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D4A57"/>
                </a:solidFill>
                <a:latin typeface="IBM Plex Sans" pitchFamily="34" charset="0"/>
                <a:ea typeface="IBM Plex Sans" pitchFamily="34" charset="-122"/>
                <a:cs typeface="IBM Plex Sans" pitchFamily="34" charset="-120"/>
              </a:rPr>
              <a:t>Same blog/content domain throughout, so you can watch the patterns compose. Rule of thumb: </a:t>
            </a:r>
            <a:r>
              <a:rPr lang="en-US" sz="1400" b="1" dirty="0">
                <a:solidFill>
                  <a:srgbClr val="3D4A57"/>
                </a:solidFill>
                <a:latin typeface="IBM Plex Sans" pitchFamily="34" charset="0"/>
                <a:ea typeface="IBM Plex Sans" pitchFamily="34" charset="-122"/>
                <a:cs typeface="IBM Plex Sans" pitchFamily="34" charset="-120"/>
              </a:rPr>
              <a:t>start simple</a:t>
            </a:r>
            <a:r>
              <a:rPr lang="en-US" sz="1400" dirty="0">
                <a:solidFill>
                  <a:srgbClr val="3D4A57"/>
                </a:solidFill>
                <a:latin typeface="IBM Plex Sans" pitchFamily="34" charset="0"/>
                <a:ea typeface="IBM Plex Sans" pitchFamily="34" charset="-122"/>
                <a:cs typeface="IBM Plex Sans" pitchFamily="34" charset="-120"/>
              </a:rPr>
              <a:t> — reach for orchestration only when chaining isn't enough.</a:t>
            </a:r>
            <a:endParaRPr lang="en-US" sz="1400" dirty="0"/>
          </a:p>
        </p:txBody>
      </p:sp>
      <p:sp>
        <p:nvSpPr>
          <p:cNvPr id="6" name="Text 3"/>
          <p:cNvSpPr/>
          <p:nvPr/>
        </p:nvSpPr>
        <p:spPr>
          <a:xfrm>
            <a:off x="812782" y="6238289"/>
            <a:ext cx="967994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7684"/>
                </a:solidFill>
                <a:latin typeface="IBM Plex Sans" pitchFamily="34" charset="0"/>
                <a:ea typeface="IBM Plex Sans" pitchFamily="34" charset="-122"/>
                <a:cs typeface="IBM Plex Sans" pitchFamily="34" charset="-120"/>
              </a:rPr>
              <a:t>02-effective-agents/README.md</a:t>
            </a:r>
            <a:endParaRPr lang="en-US" sz="1200" dirty="0"/>
          </a:p>
        </p:txBody>
      </p:sp>
      <p:sp>
        <p:nvSpPr>
          <p:cNvPr id="7" name="Text 4"/>
          <p:cNvSpPr/>
          <p:nvPr/>
        </p:nvSpPr>
        <p:spPr>
          <a:xfrm>
            <a:off x="10312418" y="6238289"/>
            <a:ext cx="1066800" cy="238720"/>
          </a:xfrm>
          <a:prstGeom prst="rect">
            <a:avLst/>
          </a:prstGeom>
          <a:noFill/>
          <a:ln/>
        </p:spPr>
        <p:txBody>
          <a:bodyPr wrap="square" lIns="0" tIns="0" rIns="0" bIns="0" rtlCol="0" anchor="t">
            <a:normAutofit/>
          </a:bodyPr>
          <a:lstStyle/>
          <a:p>
            <a:pPr marL="0" indent="0" algn="r">
              <a:lnSpc>
                <a:spcPts val="1680"/>
              </a:lnSpc>
              <a:buNone/>
            </a:pPr>
            <a:r>
              <a:rPr lang="en-US" sz="1200" b="1" dirty="0">
                <a:solidFill>
                  <a:srgbClr val="6A7684"/>
                </a:solidFill>
                <a:latin typeface="IBM Plex Sans" pitchFamily="34" charset="0"/>
                <a:ea typeface="IBM Plex Sans" pitchFamily="34" charset="-122"/>
                <a:cs typeface="IBM Plex Sans" pitchFamily="34" charset="-120"/>
              </a:rPr>
              <a:t>2 / 27</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2EC"/>
        </a:solidFill>
        <a:effectLst/>
      </p:bgPr>
    </p:bg>
    <p:spTree>
      <p:nvGrpSpPr>
        <p:cNvPr id="1" name=""/>
        <p:cNvGrpSpPr/>
        <p:nvPr/>
      </p:nvGrpSpPr>
      <p:grpSpPr>
        <a:xfrm>
          <a:off x="0" y="0"/>
          <a:ext cx="0" cy="0"/>
          <a:chOff x="0" y="0"/>
          <a:chExt cx="0" cy="0"/>
        </a:xfrm>
      </p:grpSpPr>
      <p:sp>
        <p:nvSpPr>
          <p:cNvPr id="2" name="Text 0"/>
          <p:cNvSpPr/>
          <p:nvPr/>
        </p:nvSpPr>
        <p:spPr>
          <a:xfrm>
            <a:off x="812782" y="711172"/>
            <a:ext cx="10883429"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04E17"/>
                </a:solidFill>
                <a:latin typeface="IBM Plex Sans" pitchFamily="34" charset="0"/>
                <a:ea typeface="IBM Plex Sans" pitchFamily="34" charset="-122"/>
                <a:cs typeface="IBM Plex Sans" pitchFamily="34" charset="-120"/>
              </a:rPr>
              <a:t>BEFORE THE PATTERNS</a:t>
            </a:r>
            <a:endParaRPr lang="en-US" sz="1200" dirty="0"/>
          </a:p>
        </p:txBody>
      </p:sp>
      <p:sp>
        <p:nvSpPr>
          <p:cNvPr id="3" name="Text 1"/>
          <p:cNvSpPr>
            <a:spLocks noGrp="1"/>
          </p:cNvSpPr>
          <p:nvPr>
            <p:ph type="title"/>
          </p:nvPr>
        </p:nvSpPr>
        <p:spPr>
          <a:xfrm>
            <a:off x="812782" y="1000666"/>
            <a:ext cx="10883429" cy="444464"/>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6212C"/>
                </a:solidFill>
                <a:latin typeface="IBM Plex Sans" pitchFamily="34" charset="0"/>
                <a:ea typeface="IBM Plex Sans" pitchFamily="34" charset="-122"/>
                <a:cs typeface="IBM Plex Sans" pitchFamily="34" charset="-120"/>
              </a:rPr>
              <a:t>Every script shares one skeleton</a:t>
            </a:r>
            <a:endParaRPr lang="en-US" sz="3000" dirty="0"/>
          </a:p>
        </p:txBody>
      </p:sp>
      <p:sp>
        <p:nvSpPr>
          <p:cNvPr id="4" name="Text 2"/>
          <p:cNvSpPr/>
          <p:nvPr/>
        </p:nvSpPr>
        <p:spPr>
          <a:xfrm>
            <a:off x="812782" y="1673729"/>
            <a:ext cx="304782" cy="304782"/>
          </a:xfrm>
          <a:custGeom>
            <a:avLst/>
            <a:gdLst/>
            <a:ahLst/>
            <a:cxnLst/>
            <a:rect l="l" t="t" r="r" b="b"/>
            <a:pathLst>
              <a:path w="304782" h="304782">
                <a:moveTo>
                  <a:pt x="152391" y="0"/>
                </a:moveTo>
                <a:lnTo>
                  <a:pt x="152391" y="0"/>
                </a:lnTo>
                <a:arcTo wR="152391" hR="152391" stAng="16200000" swAng="5400000"/>
                <a:lnTo>
                  <a:pt x="304782" y="152391"/>
                </a:lnTo>
                <a:arcTo wR="152391" hR="152391" stAng="0" swAng="5400000"/>
                <a:lnTo>
                  <a:pt x="152391" y="304782"/>
                </a:lnTo>
                <a:arcTo wR="152391" hR="152391" stAng="5400000" swAng="5400000"/>
                <a:lnTo>
                  <a:pt x="0" y="152391"/>
                </a:lnTo>
                <a:arcTo wR="152391" hR="152391" stAng="10800000" swAng="5400000"/>
                <a:close/>
              </a:path>
            </a:pathLst>
          </a:custGeom>
          <a:solidFill>
            <a:srgbClr val="E8843F"/>
          </a:solidFill>
          <a:ln/>
        </p:spPr>
        <p:txBody>
          <a:bodyPr wrap="square" lIns="0" tIns="0" rIns="0" bIns="0" rtlCol="0" anchor="t">
            <a:normAutofit/>
          </a:bodyPr>
          <a:lstStyle/>
          <a:p>
            <a:pPr marL="0" indent="0" algn="ctr">
              <a:lnSpc>
                <a:spcPts val="2405"/>
              </a:lnSpc>
              <a:buNone/>
            </a:pPr>
            <a:r>
              <a:rPr lang="en-US" sz="1300" b="1" dirty="0">
                <a:solidFill>
                  <a:srgbClr val="16212C"/>
                </a:solidFill>
                <a:latin typeface="IBM Plex Sans" pitchFamily="34" charset="0"/>
                <a:ea typeface="IBM Plex Sans" pitchFamily="34" charset="-122"/>
                <a:cs typeface="IBM Plex Sans" pitchFamily="34" charset="-120"/>
              </a:rPr>
              <a:t>1</a:t>
            </a:r>
            <a:endParaRPr lang="en-US" sz="1300" dirty="0"/>
          </a:p>
        </p:txBody>
      </p:sp>
      <p:sp>
        <p:nvSpPr>
          <p:cNvPr id="5" name="Text 3"/>
          <p:cNvSpPr/>
          <p:nvPr/>
        </p:nvSpPr>
        <p:spPr>
          <a:xfrm>
            <a:off x="1244564" y="1673729"/>
            <a:ext cx="3479564" cy="253964"/>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6212C"/>
                </a:solidFill>
                <a:latin typeface="IBM Plex Sans" pitchFamily="34" charset="0"/>
                <a:ea typeface="IBM Plex Sans" pitchFamily="34" charset="-122"/>
                <a:cs typeface="IBM Plex Sans" pitchFamily="34" charset="-120"/>
              </a:rPr>
              <a:t>Callback, not print</a:t>
            </a:r>
            <a:endParaRPr lang="en-US" sz="1500" dirty="0"/>
          </a:p>
        </p:txBody>
      </p:sp>
      <p:sp>
        <p:nvSpPr>
          <p:cNvPr id="6" name="Text 4"/>
          <p:cNvSpPr/>
          <p:nvPr/>
        </p:nvSpPr>
        <p:spPr>
          <a:xfrm>
            <a:off x="1244564" y="1940358"/>
            <a:ext cx="3479564" cy="487669"/>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D4A57"/>
                </a:solidFill>
                <a:latin typeface="IBM Plex Sans" pitchFamily="34" charset="0"/>
                <a:ea typeface="IBM Plex Sans" pitchFamily="34" charset="-122"/>
                <a:cs typeface="IBM Plex Sans" pitchFamily="34" charset="-120"/>
              </a:rPr>
              <a:t>The agent emits (event, data); main() decides how to render it.</a:t>
            </a:r>
            <a:endParaRPr lang="en-US" sz="1300" dirty="0"/>
          </a:p>
        </p:txBody>
      </p:sp>
      <p:sp>
        <p:nvSpPr>
          <p:cNvPr id="7" name="Text 5"/>
          <p:cNvSpPr/>
          <p:nvPr/>
        </p:nvSpPr>
        <p:spPr>
          <a:xfrm>
            <a:off x="812782" y="2580408"/>
            <a:ext cx="304782" cy="304782"/>
          </a:xfrm>
          <a:custGeom>
            <a:avLst/>
            <a:gdLst/>
            <a:ahLst/>
            <a:cxnLst/>
            <a:rect l="l" t="t" r="r" b="b"/>
            <a:pathLst>
              <a:path w="304782" h="304782">
                <a:moveTo>
                  <a:pt x="152391" y="0"/>
                </a:moveTo>
                <a:lnTo>
                  <a:pt x="152391" y="0"/>
                </a:lnTo>
                <a:arcTo wR="152391" hR="152391" stAng="16200000" swAng="5400000"/>
                <a:lnTo>
                  <a:pt x="304782" y="152391"/>
                </a:lnTo>
                <a:arcTo wR="152391" hR="152391" stAng="0" swAng="5400000"/>
                <a:lnTo>
                  <a:pt x="152391" y="304782"/>
                </a:lnTo>
                <a:arcTo wR="152391" hR="152391" stAng="5400000" swAng="5400000"/>
                <a:lnTo>
                  <a:pt x="0" y="152391"/>
                </a:lnTo>
                <a:arcTo wR="152391" hR="152391" stAng="10800000" swAng="5400000"/>
                <a:close/>
              </a:path>
            </a:pathLst>
          </a:custGeom>
          <a:solidFill>
            <a:srgbClr val="E8843F"/>
          </a:solidFill>
          <a:ln/>
        </p:spPr>
        <p:txBody>
          <a:bodyPr wrap="square" lIns="0" tIns="0" rIns="0" bIns="0" rtlCol="0" anchor="t">
            <a:normAutofit/>
          </a:bodyPr>
          <a:lstStyle/>
          <a:p>
            <a:pPr marL="0" indent="0" algn="ctr">
              <a:lnSpc>
                <a:spcPts val="2405"/>
              </a:lnSpc>
              <a:buNone/>
            </a:pPr>
            <a:r>
              <a:rPr lang="en-US" sz="1300" b="1" dirty="0">
                <a:solidFill>
                  <a:srgbClr val="16212C"/>
                </a:solidFill>
                <a:latin typeface="IBM Plex Sans" pitchFamily="34" charset="0"/>
                <a:ea typeface="IBM Plex Sans" pitchFamily="34" charset="-122"/>
                <a:cs typeface="IBM Plex Sans" pitchFamily="34" charset="-120"/>
              </a:rPr>
              <a:t>2</a:t>
            </a:r>
            <a:endParaRPr lang="en-US" sz="1300" dirty="0"/>
          </a:p>
        </p:txBody>
      </p:sp>
      <p:sp>
        <p:nvSpPr>
          <p:cNvPr id="8" name="Text 6"/>
          <p:cNvSpPr/>
          <p:nvPr/>
        </p:nvSpPr>
        <p:spPr>
          <a:xfrm>
            <a:off x="1244564" y="2580408"/>
            <a:ext cx="3479564" cy="253964"/>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6212C"/>
                </a:solidFill>
                <a:latin typeface="IBM Plex Sans" pitchFamily="34" charset="0"/>
                <a:ea typeface="IBM Plex Sans" pitchFamily="34" charset="-122"/>
                <a:cs typeface="IBM Plex Sans" pitchFamily="34" charset="-120"/>
              </a:rPr>
              <a:t>One flag picks the model</a:t>
            </a:r>
            <a:endParaRPr lang="en-US" sz="1500" dirty="0"/>
          </a:p>
        </p:txBody>
      </p:sp>
      <p:sp>
        <p:nvSpPr>
          <p:cNvPr id="9" name="Text 7"/>
          <p:cNvSpPr/>
          <p:nvPr/>
        </p:nvSpPr>
        <p:spPr>
          <a:xfrm>
            <a:off x="1244564" y="2847037"/>
            <a:ext cx="3479564" cy="487669"/>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D4A57"/>
                </a:solidFill>
                <a:latin typeface="IBM Plex Sans" pitchFamily="34" charset="0"/>
                <a:ea typeface="IBM Plex Sans" pitchFamily="34" charset="-122"/>
                <a:cs typeface="IBM Plex Sans" pitchFamily="34" charset="-120"/>
              </a:rPr>
              <a:t>use_light swaps Sonnet for the cheaper Haiku per call.</a:t>
            </a:r>
            <a:endParaRPr lang="en-US" sz="1300" dirty="0"/>
          </a:p>
        </p:txBody>
      </p:sp>
      <p:sp>
        <p:nvSpPr>
          <p:cNvPr id="10" name="Text 8"/>
          <p:cNvSpPr/>
          <p:nvPr/>
        </p:nvSpPr>
        <p:spPr>
          <a:xfrm>
            <a:off x="812782" y="3487088"/>
            <a:ext cx="304782" cy="304782"/>
          </a:xfrm>
          <a:custGeom>
            <a:avLst/>
            <a:gdLst/>
            <a:ahLst/>
            <a:cxnLst/>
            <a:rect l="l" t="t" r="r" b="b"/>
            <a:pathLst>
              <a:path w="304782" h="304782">
                <a:moveTo>
                  <a:pt x="152391" y="0"/>
                </a:moveTo>
                <a:lnTo>
                  <a:pt x="152391" y="0"/>
                </a:lnTo>
                <a:arcTo wR="152391" hR="152391" stAng="16200000" swAng="5400000"/>
                <a:lnTo>
                  <a:pt x="304782" y="152391"/>
                </a:lnTo>
                <a:arcTo wR="152391" hR="152391" stAng="0" swAng="5400000"/>
                <a:lnTo>
                  <a:pt x="152391" y="304782"/>
                </a:lnTo>
                <a:arcTo wR="152391" hR="152391" stAng="5400000" swAng="5400000"/>
                <a:lnTo>
                  <a:pt x="0" y="152391"/>
                </a:lnTo>
                <a:arcTo wR="152391" hR="152391" stAng="10800000" swAng="5400000"/>
                <a:close/>
              </a:path>
            </a:pathLst>
          </a:custGeom>
          <a:solidFill>
            <a:srgbClr val="E8843F"/>
          </a:solidFill>
          <a:ln/>
        </p:spPr>
        <p:txBody>
          <a:bodyPr wrap="square" lIns="0" tIns="0" rIns="0" bIns="0" rtlCol="0" anchor="t">
            <a:normAutofit/>
          </a:bodyPr>
          <a:lstStyle/>
          <a:p>
            <a:pPr marL="0" indent="0" algn="ctr">
              <a:lnSpc>
                <a:spcPts val="2405"/>
              </a:lnSpc>
              <a:buNone/>
            </a:pPr>
            <a:r>
              <a:rPr lang="en-US" sz="1300" b="1" dirty="0">
                <a:solidFill>
                  <a:srgbClr val="16212C"/>
                </a:solidFill>
                <a:latin typeface="IBM Plex Sans" pitchFamily="34" charset="0"/>
                <a:ea typeface="IBM Plex Sans" pitchFamily="34" charset="-122"/>
                <a:cs typeface="IBM Plex Sans" pitchFamily="34" charset="-120"/>
              </a:rPr>
              <a:t>3</a:t>
            </a:r>
            <a:endParaRPr lang="en-US" sz="1300" dirty="0"/>
          </a:p>
        </p:txBody>
      </p:sp>
      <p:sp>
        <p:nvSpPr>
          <p:cNvPr id="11" name="Text 9"/>
          <p:cNvSpPr/>
          <p:nvPr/>
        </p:nvSpPr>
        <p:spPr>
          <a:xfrm>
            <a:off x="1244564" y="3487088"/>
            <a:ext cx="3479564" cy="253964"/>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6212C"/>
                </a:solidFill>
                <a:latin typeface="IBM Plex Sans" pitchFamily="34" charset="0"/>
                <a:ea typeface="IBM Plex Sans" pitchFamily="34" charset="-122"/>
                <a:cs typeface="IBM Plex Sans" pitchFamily="34" charset="-120"/>
              </a:rPr>
              <a:t>Every call is metered</a:t>
            </a:r>
            <a:endParaRPr lang="en-US" sz="1500" dirty="0"/>
          </a:p>
        </p:txBody>
      </p:sp>
      <p:sp>
        <p:nvSpPr>
          <p:cNvPr id="12" name="Text 10"/>
          <p:cNvSpPr/>
          <p:nvPr/>
        </p:nvSpPr>
        <p:spPr>
          <a:xfrm>
            <a:off x="1244564" y="3753715"/>
            <a:ext cx="3479564" cy="487669"/>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D4A57"/>
                </a:solidFill>
                <a:latin typeface="IBM Plex Sans" pitchFamily="34" charset="0"/>
                <a:ea typeface="IBM Plex Sans" pitchFamily="34" charset="-122"/>
                <a:cs typeface="IBM Plex Sans" pitchFamily="34" charset="-120"/>
              </a:rPr>
              <a:t>One wrapper, so token cost is tracked in one place.</a:t>
            </a:r>
            <a:endParaRPr lang="en-US" sz="1300" dirty="0"/>
          </a:p>
        </p:txBody>
      </p:sp>
      <p:sp>
        <p:nvSpPr>
          <p:cNvPr id="13" name="Text 11"/>
          <p:cNvSpPr/>
          <p:nvPr/>
        </p:nvSpPr>
        <p:spPr>
          <a:xfrm>
            <a:off x="812782" y="4393766"/>
            <a:ext cx="304782" cy="304782"/>
          </a:xfrm>
          <a:custGeom>
            <a:avLst/>
            <a:gdLst/>
            <a:ahLst/>
            <a:cxnLst/>
            <a:rect l="l" t="t" r="r" b="b"/>
            <a:pathLst>
              <a:path w="304782" h="304782">
                <a:moveTo>
                  <a:pt x="152391" y="0"/>
                </a:moveTo>
                <a:lnTo>
                  <a:pt x="152391" y="0"/>
                </a:lnTo>
                <a:arcTo wR="152391" hR="152391" stAng="16200000" swAng="5400000"/>
                <a:lnTo>
                  <a:pt x="304782" y="152391"/>
                </a:lnTo>
                <a:arcTo wR="152391" hR="152391" stAng="0" swAng="5400000"/>
                <a:lnTo>
                  <a:pt x="152391" y="304782"/>
                </a:lnTo>
                <a:arcTo wR="152391" hR="152391" stAng="5400000" swAng="5400000"/>
                <a:lnTo>
                  <a:pt x="0" y="152391"/>
                </a:lnTo>
                <a:arcTo wR="152391" hR="152391" stAng="10800000" swAng="5400000"/>
                <a:close/>
              </a:path>
            </a:pathLst>
          </a:custGeom>
          <a:solidFill>
            <a:srgbClr val="E8843F"/>
          </a:solidFill>
          <a:ln/>
        </p:spPr>
        <p:txBody>
          <a:bodyPr wrap="square" lIns="0" tIns="0" rIns="0" bIns="0" rtlCol="0" anchor="t">
            <a:normAutofit/>
          </a:bodyPr>
          <a:lstStyle/>
          <a:p>
            <a:pPr marL="0" indent="0" algn="ctr">
              <a:lnSpc>
                <a:spcPts val="2405"/>
              </a:lnSpc>
              <a:buNone/>
            </a:pPr>
            <a:r>
              <a:rPr lang="en-US" sz="1300" b="1" dirty="0">
                <a:solidFill>
                  <a:srgbClr val="16212C"/>
                </a:solidFill>
                <a:latin typeface="IBM Plex Sans" pitchFamily="34" charset="0"/>
                <a:ea typeface="IBM Plex Sans" pitchFamily="34" charset="-122"/>
                <a:cs typeface="IBM Plex Sans" pitchFamily="34" charset="-120"/>
              </a:rPr>
              <a:t>4</a:t>
            </a:r>
            <a:endParaRPr lang="en-US" sz="1300" dirty="0"/>
          </a:p>
        </p:txBody>
      </p:sp>
      <p:sp>
        <p:nvSpPr>
          <p:cNvPr id="14" name="Text 12"/>
          <p:cNvSpPr/>
          <p:nvPr/>
        </p:nvSpPr>
        <p:spPr>
          <a:xfrm>
            <a:off x="1244564" y="4393766"/>
            <a:ext cx="3479564" cy="253964"/>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6212C"/>
                </a:solidFill>
                <a:latin typeface="IBM Plex Sans" pitchFamily="34" charset="0"/>
                <a:ea typeface="IBM Plex Sans" pitchFamily="34" charset="-122"/>
                <a:cs typeface="IBM Plex Sans" pitchFamily="34" charset="-120"/>
              </a:rPr>
              <a:t>run() is the pattern</a:t>
            </a:r>
            <a:endParaRPr lang="en-US" sz="1500" dirty="0"/>
          </a:p>
        </p:txBody>
      </p:sp>
      <p:sp>
        <p:nvSpPr>
          <p:cNvPr id="15" name="Text 13"/>
          <p:cNvSpPr/>
          <p:nvPr/>
        </p:nvSpPr>
        <p:spPr>
          <a:xfrm>
            <a:off x="1244564" y="4660395"/>
            <a:ext cx="3479564" cy="256535"/>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D4A57"/>
                </a:solidFill>
                <a:latin typeface="IBM Plex Sans" pitchFamily="34" charset="0"/>
                <a:ea typeface="IBM Plex Sans" pitchFamily="34" charset="-122"/>
                <a:cs typeface="IBM Plex Sans" pitchFamily="34" charset="-120"/>
              </a:rPr>
              <a:t>Read run() in each file; the rest is plumbing.</a:t>
            </a:r>
            <a:endParaRPr lang="en-US" sz="1300" dirty="0"/>
          </a:p>
        </p:txBody>
      </p:sp>
      <p:sp>
        <p:nvSpPr>
          <p:cNvPr id="16" name="Shape 14"/>
          <p:cNvSpPr/>
          <p:nvPr/>
        </p:nvSpPr>
        <p:spPr>
          <a:xfrm>
            <a:off x="4927564" y="1673729"/>
            <a:ext cx="6451564" cy="3885451"/>
          </a:xfrm>
          <a:prstGeom prst="roundRect">
            <a:avLst>
              <a:gd name="adj" fmla="val 2615"/>
            </a:avLst>
          </a:prstGeom>
          <a:solidFill>
            <a:srgbClr val="16212C"/>
          </a:solidFill>
          <a:ln/>
        </p:spPr>
        <p:txBody>
          <a:bodyPr/>
          <a:lstStyle/>
          <a:p>
            <a:endParaRPr lang="en-CN"/>
          </a:p>
        </p:txBody>
      </p:sp>
      <p:sp>
        <p:nvSpPr>
          <p:cNvPr id="17" name="Text 15"/>
          <p:cNvSpPr/>
          <p:nvPr/>
        </p:nvSpPr>
        <p:spPr>
          <a:xfrm>
            <a:off x="5105364" y="1826121"/>
            <a:ext cx="6278842" cy="238693"/>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9AA9B8"/>
                </a:solidFill>
                <a:latin typeface="JetBrains Mono" pitchFamily="49" charset="0"/>
                <a:ea typeface="JetBrains Mono" pitchFamily="49" charset="-122"/>
                <a:cs typeface="JetBrains Mono" pitchFamily="49" charset="-120"/>
              </a:rPr>
              <a:t>01_prompt_chaining.py</a:t>
            </a:r>
            <a:endParaRPr lang="en-US" sz="1200" dirty="0"/>
          </a:p>
        </p:txBody>
      </p:sp>
      <p:sp>
        <p:nvSpPr>
          <p:cNvPr id="18" name="Text 16"/>
          <p:cNvSpPr/>
          <p:nvPr/>
        </p:nvSpPr>
        <p:spPr>
          <a:xfrm>
            <a:off x="4927564" y="2115614"/>
            <a:ext cx="6451564" cy="205698"/>
          </a:xfrm>
          <a:prstGeom prst="rect">
            <a:avLst/>
          </a:prstGeom>
          <a:solidFill>
            <a:srgbClr val="3A2B20"/>
          </a:solidFill>
          <a:ln/>
        </p:spPr>
        <p:txBody>
          <a:bodyPr wrap="none" lIns="177223" tIns="0" rIns="0" bIns="0" rtlCol="0" anchor="t">
            <a:normAutofit/>
          </a:bodyPr>
          <a:lstStyle/>
          <a:p>
            <a:pPr marL="0" indent="0" algn="l">
              <a:lnSpc>
                <a:spcPts val="1620"/>
              </a:lnSpc>
              <a:buNone/>
            </a:pPr>
            <a:r>
              <a:rPr lang="en-US" sz="1200" dirty="0">
                <a:solidFill>
                  <a:srgbClr val="7C8FA3"/>
                </a:solidFill>
                <a:latin typeface="JetBrains Mono" pitchFamily="49" charset="0"/>
                <a:ea typeface="JetBrains Mono" pitchFamily="49" charset="-122"/>
                <a:cs typeface="JetBrains Mono" pitchFamily="49" charset="-120"/>
              </a:rPr>
              <a:t>066</a:t>
            </a:r>
            <a:r>
              <a:rPr lang="en-US" sz="1200" dirty="0">
                <a:solidFill>
                  <a:srgbClr val="D6DDE5"/>
                </a:solidFill>
                <a:latin typeface="JetBrains Mono" pitchFamily="49" charset="0"/>
                <a:ea typeface="JetBrains Mono" pitchFamily="49" charset="-122"/>
                <a:cs typeface="JetBrains Mono" pitchFamily="49" charset="-120"/>
              </a:rPr>
              <a:t> ChainCallback = Callable[[str, dict], None] </a:t>
            </a:r>
            <a:r>
              <a:rPr lang="en-US" sz="1200" b="1" dirty="0">
                <a:solidFill>
                  <a:srgbClr val="F2A46B"/>
                </a:solidFill>
                <a:latin typeface="JetBrains Mono" pitchFamily="49" charset="0"/>
                <a:ea typeface="JetBrains Mono" pitchFamily="49" charset="-122"/>
                <a:cs typeface="JetBrains Mono" pitchFamily="49" charset="-120"/>
              </a:rPr>
              <a:t>← 1</a:t>
            </a:r>
            <a:endParaRPr lang="en-US" sz="1200" dirty="0"/>
          </a:p>
        </p:txBody>
      </p:sp>
      <p:sp>
        <p:nvSpPr>
          <p:cNvPr id="19" name="Shape 17"/>
          <p:cNvSpPr/>
          <p:nvPr/>
        </p:nvSpPr>
        <p:spPr>
          <a:xfrm>
            <a:off x="4946614" y="2115614"/>
            <a:ext cx="0" cy="205698"/>
          </a:xfrm>
          <a:prstGeom prst="line">
            <a:avLst/>
          </a:prstGeom>
          <a:noFill/>
          <a:ln w="38100">
            <a:solidFill>
              <a:srgbClr val="E8843F"/>
            </a:solidFill>
            <a:prstDash val="solid"/>
          </a:ln>
        </p:spPr>
        <p:txBody>
          <a:bodyPr/>
          <a:lstStyle/>
          <a:p>
            <a:endParaRPr lang="en-CN"/>
          </a:p>
        </p:txBody>
      </p:sp>
      <p:sp>
        <p:nvSpPr>
          <p:cNvPr id="20" name="Text 18"/>
          <p:cNvSpPr/>
          <p:nvPr/>
        </p:nvSpPr>
        <p:spPr>
          <a:xfrm>
            <a:off x="5105364" y="2321313"/>
            <a:ext cx="6278842" cy="231098"/>
          </a:xfrm>
          <a:prstGeom prst="rect">
            <a:avLst/>
          </a:prstGeom>
          <a:noFill/>
          <a:ln/>
        </p:spPr>
        <p:txBody>
          <a:bodyPr wrap="none" lIns="0" tIns="0" rIns="0" bIns="0" rtlCol="0" anchor="t">
            <a:normAutofit/>
          </a:bodyPr>
          <a:lstStyle/>
          <a:p>
            <a:pPr marL="0" indent="0" algn="l">
              <a:lnSpc>
                <a:spcPts val="1620"/>
              </a:lnSpc>
              <a:buNone/>
            </a:pPr>
            <a:r>
              <a:rPr lang="en-US" sz="1200" dirty="0">
                <a:solidFill>
                  <a:srgbClr val="7C8FA3"/>
                </a:solidFill>
                <a:latin typeface="JetBrains Mono" pitchFamily="49" charset="0"/>
                <a:ea typeface="JetBrains Mono" pitchFamily="49" charset="-122"/>
                <a:cs typeface="JetBrains Mono" pitchFamily="49" charset="-120"/>
              </a:rPr>
              <a:t>069</a:t>
            </a:r>
            <a:r>
              <a:rPr lang="en-US" sz="1200" dirty="0">
                <a:solidFill>
                  <a:srgbClr val="D6DDE5"/>
                </a:solidFill>
                <a:latin typeface="JetBrains Mono" pitchFamily="49" charset="0"/>
                <a:ea typeface="JetBrains Mono" pitchFamily="49" charset="-122"/>
                <a:cs typeface="JetBrains Mono" pitchFamily="49" charset="-120"/>
              </a:rPr>
              <a:t> class PromptChain:</a:t>
            </a:r>
            <a:endParaRPr lang="en-US" sz="1200" dirty="0"/>
          </a:p>
        </p:txBody>
      </p:sp>
      <p:sp>
        <p:nvSpPr>
          <p:cNvPr id="21" name="Text 19"/>
          <p:cNvSpPr/>
          <p:nvPr/>
        </p:nvSpPr>
        <p:spPr>
          <a:xfrm>
            <a:off x="5105364" y="2527010"/>
            <a:ext cx="6278842" cy="231098"/>
          </a:xfrm>
          <a:prstGeom prst="rect">
            <a:avLst/>
          </a:prstGeom>
          <a:noFill/>
          <a:ln/>
        </p:spPr>
        <p:txBody>
          <a:bodyPr wrap="none" lIns="0" tIns="0" rIns="0" bIns="0" rtlCol="0" anchor="t">
            <a:normAutofit/>
          </a:bodyPr>
          <a:lstStyle/>
          <a:p>
            <a:pPr marL="0" indent="0" algn="l">
              <a:lnSpc>
                <a:spcPts val="1620"/>
              </a:lnSpc>
              <a:buNone/>
            </a:pPr>
            <a:r>
              <a:rPr lang="en-US" sz="1200" dirty="0">
                <a:solidFill>
                  <a:srgbClr val="7C8FA3"/>
                </a:solidFill>
                <a:latin typeface="JetBrains Mono" pitchFamily="49" charset="0"/>
                <a:ea typeface="JetBrains Mono" pitchFamily="49" charset="-122"/>
                <a:cs typeface="JetBrains Mono" pitchFamily="49" charset="-120"/>
              </a:rPr>
              <a:t>079</a:t>
            </a:r>
            <a:r>
              <a:rPr lang="en-US" sz="1200" dirty="0">
                <a:solidFill>
                  <a:srgbClr val="D6DDE5"/>
                </a:solidFill>
                <a:latin typeface="JetBrains Mono" pitchFamily="49" charset="0"/>
                <a:ea typeface="JetBrains Mono" pitchFamily="49" charset="-122"/>
                <a:cs typeface="JetBrains Mono" pitchFamily="49" charset="-120"/>
              </a:rPr>
              <a:t>   def _call_llm(self, system, messages, *,</a:t>
            </a:r>
            <a:endParaRPr lang="en-US" sz="1200" dirty="0"/>
          </a:p>
        </p:txBody>
      </p:sp>
      <p:sp>
        <p:nvSpPr>
          <p:cNvPr id="22" name="Text 20"/>
          <p:cNvSpPr/>
          <p:nvPr/>
        </p:nvSpPr>
        <p:spPr>
          <a:xfrm>
            <a:off x="5105364" y="2732709"/>
            <a:ext cx="6278842" cy="231098"/>
          </a:xfrm>
          <a:prstGeom prst="rect">
            <a:avLst/>
          </a:prstGeom>
          <a:noFill/>
          <a:ln/>
        </p:spPr>
        <p:txBody>
          <a:bodyPr wrap="none" lIns="0" tIns="0" rIns="0" bIns="0" rtlCol="0" anchor="t">
            <a:normAutofit/>
          </a:bodyPr>
          <a:lstStyle/>
          <a:p>
            <a:pPr marL="0" indent="0" algn="l">
              <a:lnSpc>
                <a:spcPts val="1620"/>
              </a:lnSpc>
              <a:buNone/>
            </a:pPr>
            <a:r>
              <a:rPr lang="en-US" sz="1200" dirty="0">
                <a:solidFill>
                  <a:srgbClr val="7C8FA3"/>
                </a:solidFill>
                <a:latin typeface="JetBrains Mono" pitchFamily="49" charset="0"/>
                <a:ea typeface="JetBrains Mono" pitchFamily="49" charset="-122"/>
                <a:cs typeface="JetBrains Mono" pitchFamily="49" charset="-120"/>
              </a:rPr>
              <a:t>084</a:t>
            </a:r>
            <a:r>
              <a:rPr lang="en-US" sz="1200" dirty="0">
                <a:solidFill>
                  <a:srgbClr val="D6DDE5"/>
                </a:solidFill>
                <a:latin typeface="JetBrains Mono" pitchFamily="49" charset="0"/>
                <a:ea typeface="JetBrains Mono" pitchFamily="49" charset="-122"/>
                <a:cs typeface="JetBrains Mono" pitchFamily="49" charset="-120"/>
              </a:rPr>
              <a:t>       use_light=False, tools=None):</a:t>
            </a:r>
            <a:endParaRPr lang="en-US" sz="1200" dirty="0"/>
          </a:p>
        </p:txBody>
      </p:sp>
      <p:sp>
        <p:nvSpPr>
          <p:cNvPr id="23" name="Text 21"/>
          <p:cNvSpPr/>
          <p:nvPr/>
        </p:nvSpPr>
        <p:spPr>
          <a:xfrm>
            <a:off x="4927564" y="2938408"/>
            <a:ext cx="6451564" cy="205698"/>
          </a:xfrm>
          <a:prstGeom prst="rect">
            <a:avLst/>
          </a:prstGeom>
          <a:solidFill>
            <a:srgbClr val="3A2B20"/>
          </a:solidFill>
          <a:ln/>
        </p:spPr>
        <p:txBody>
          <a:bodyPr wrap="none" lIns="177223" tIns="0" rIns="0" bIns="0" rtlCol="0" anchor="t">
            <a:normAutofit/>
          </a:bodyPr>
          <a:lstStyle/>
          <a:p>
            <a:pPr marL="0" indent="0" algn="l">
              <a:lnSpc>
                <a:spcPts val="1620"/>
              </a:lnSpc>
              <a:buNone/>
            </a:pPr>
            <a:r>
              <a:rPr lang="en-US" sz="1200" dirty="0">
                <a:solidFill>
                  <a:srgbClr val="7C8FA3"/>
                </a:solidFill>
                <a:latin typeface="JetBrains Mono" pitchFamily="49" charset="0"/>
                <a:ea typeface="JetBrains Mono" pitchFamily="49" charset="-122"/>
                <a:cs typeface="JetBrains Mono" pitchFamily="49" charset="-120"/>
              </a:rPr>
              <a:t>089</a:t>
            </a:r>
            <a:r>
              <a:rPr lang="en-US" sz="1200" dirty="0">
                <a:solidFill>
                  <a:srgbClr val="D6DDE5"/>
                </a:solidFill>
                <a:latin typeface="JetBrains Mono" pitchFamily="49" charset="0"/>
                <a:ea typeface="JetBrains Mono" pitchFamily="49" charset="-122"/>
                <a:cs typeface="JetBrains Mono" pitchFamily="49" charset="-120"/>
              </a:rPr>
              <a:t>     model = self.light_model if use_light \ </a:t>
            </a:r>
            <a:r>
              <a:rPr lang="en-US" sz="1200" b="1" dirty="0">
                <a:solidFill>
                  <a:srgbClr val="F2A46B"/>
                </a:solidFill>
                <a:latin typeface="JetBrains Mono" pitchFamily="49" charset="0"/>
                <a:ea typeface="JetBrains Mono" pitchFamily="49" charset="-122"/>
                <a:cs typeface="JetBrains Mono" pitchFamily="49" charset="-120"/>
              </a:rPr>
              <a:t>← 2</a:t>
            </a:r>
            <a:endParaRPr lang="en-US" sz="1200" dirty="0"/>
          </a:p>
        </p:txBody>
      </p:sp>
      <p:sp>
        <p:nvSpPr>
          <p:cNvPr id="24" name="Shape 22"/>
          <p:cNvSpPr/>
          <p:nvPr/>
        </p:nvSpPr>
        <p:spPr>
          <a:xfrm>
            <a:off x="4946614" y="2938408"/>
            <a:ext cx="0" cy="205698"/>
          </a:xfrm>
          <a:prstGeom prst="line">
            <a:avLst/>
          </a:prstGeom>
          <a:noFill/>
          <a:ln w="38100">
            <a:solidFill>
              <a:srgbClr val="E8843F"/>
            </a:solidFill>
            <a:prstDash val="solid"/>
          </a:ln>
        </p:spPr>
        <p:txBody>
          <a:bodyPr/>
          <a:lstStyle/>
          <a:p>
            <a:endParaRPr lang="en-CN"/>
          </a:p>
        </p:txBody>
      </p:sp>
      <p:sp>
        <p:nvSpPr>
          <p:cNvPr id="25" name="Text 23"/>
          <p:cNvSpPr/>
          <p:nvPr/>
        </p:nvSpPr>
        <p:spPr>
          <a:xfrm>
            <a:off x="4927564" y="3144106"/>
            <a:ext cx="6451564" cy="205698"/>
          </a:xfrm>
          <a:prstGeom prst="rect">
            <a:avLst/>
          </a:prstGeom>
          <a:solidFill>
            <a:srgbClr val="3A2B20"/>
          </a:solidFill>
          <a:ln/>
        </p:spPr>
        <p:txBody>
          <a:bodyPr wrap="none" lIns="177223" tIns="0" rIns="0" bIns="0" rtlCol="0" anchor="t">
            <a:normAutofit/>
          </a:bodyPr>
          <a:lstStyle/>
          <a:p>
            <a:pPr marL="0" indent="0" algn="l">
              <a:lnSpc>
                <a:spcPts val="1620"/>
              </a:lnSpc>
              <a:buNone/>
            </a:pPr>
            <a:r>
              <a:rPr lang="en-US" sz="1200" dirty="0">
                <a:solidFill>
                  <a:srgbClr val="7C8FA3"/>
                </a:solidFill>
                <a:latin typeface="JetBrains Mono" pitchFamily="49" charset="0"/>
                <a:ea typeface="JetBrains Mono" pitchFamily="49" charset="-122"/>
                <a:cs typeface="JetBrains Mono" pitchFamily="49" charset="-120"/>
              </a:rPr>
              <a:t>   </a:t>
            </a:r>
            <a:r>
              <a:rPr lang="en-US" sz="1200" dirty="0">
                <a:solidFill>
                  <a:srgbClr val="D6DDE5"/>
                </a:solidFill>
                <a:latin typeface="JetBrains Mono" pitchFamily="49" charset="0"/>
                <a:ea typeface="JetBrains Mono" pitchFamily="49" charset="-122"/>
                <a:cs typeface="JetBrains Mono" pitchFamily="49" charset="-120"/>
              </a:rPr>
              <a:t>         else self.model</a:t>
            </a:r>
            <a:endParaRPr lang="en-US" sz="1200" dirty="0"/>
          </a:p>
        </p:txBody>
      </p:sp>
      <p:sp>
        <p:nvSpPr>
          <p:cNvPr id="26" name="Shape 24"/>
          <p:cNvSpPr/>
          <p:nvPr/>
        </p:nvSpPr>
        <p:spPr>
          <a:xfrm>
            <a:off x="4946614" y="3144106"/>
            <a:ext cx="0" cy="205698"/>
          </a:xfrm>
          <a:prstGeom prst="line">
            <a:avLst/>
          </a:prstGeom>
          <a:noFill/>
          <a:ln w="38100">
            <a:solidFill>
              <a:srgbClr val="E8843F"/>
            </a:solidFill>
            <a:prstDash val="solid"/>
          </a:ln>
        </p:spPr>
        <p:txBody>
          <a:bodyPr/>
          <a:lstStyle/>
          <a:p>
            <a:endParaRPr lang="en-CN"/>
          </a:p>
        </p:txBody>
      </p:sp>
      <p:sp>
        <p:nvSpPr>
          <p:cNvPr id="27" name="Text 25"/>
          <p:cNvSpPr/>
          <p:nvPr/>
        </p:nvSpPr>
        <p:spPr>
          <a:xfrm>
            <a:off x="5105364" y="3349805"/>
            <a:ext cx="6278842" cy="231098"/>
          </a:xfrm>
          <a:prstGeom prst="rect">
            <a:avLst/>
          </a:prstGeom>
          <a:noFill/>
          <a:ln/>
        </p:spPr>
        <p:txBody>
          <a:bodyPr wrap="none" lIns="0" tIns="0" rIns="0" bIns="0" rtlCol="0" anchor="t">
            <a:normAutofit/>
          </a:bodyPr>
          <a:lstStyle/>
          <a:p>
            <a:pPr marL="0" indent="0" algn="l">
              <a:lnSpc>
                <a:spcPts val="1620"/>
              </a:lnSpc>
              <a:buNone/>
            </a:pPr>
            <a:r>
              <a:rPr lang="en-US" sz="1200" dirty="0">
                <a:solidFill>
                  <a:srgbClr val="7C8FA3"/>
                </a:solidFill>
                <a:latin typeface="JetBrains Mono" pitchFamily="49" charset="0"/>
                <a:ea typeface="JetBrains Mono" pitchFamily="49" charset="-122"/>
                <a:cs typeface="JetBrains Mono" pitchFamily="49" charset="-120"/>
              </a:rPr>
              <a:t>096</a:t>
            </a:r>
            <a:r>
              <a:rPr lang="en-US" sz="1200" dirty="0">
                <a:solidFill>
                  <a:srgbClr val="D6DDE5"/>
                </a:solidFill>
                <a:latin typeface="JetBrains Mono" pitchFamily="49" charset="0"/>
                <a:ea typeface="JetBrains Mono" pitchFamily="49" charset="-122"/>
                <a:cs typeface="JetBrains Mono" pitchFamily="49" charset="-120"/>
              </a:rPr>
              <a:t>     response = self.client.messages.create(</a:t>
            </a:r>
            <a:endParaRPr lang="en-US" sz="1200" dirty="0"/>
          </a:p>
        </p:txBody>
      </p:sp>
      <p:sp>
        <p:nvSpPr>
          <p:cNvPr id="28" name="Text 26"/>
          <p:cNvSpPr/>
          <p:nvPr/>
        </p:nvSpPr>
        <p:spPr>
          <a:xfrm>
            <a:off x="5105364" y="3555504"/>
            <a:ext cx="6278842" cy="231098"/>
          </a:xfrm>
          <a:prstGeom prst="rect">
            <a:avLst/>
          </a:prstGeom>
          <a:noFill/>
          <a:ln/>
        </p:spPr>
        <p:txBody>
          <a:bodyPr wrap="none" lIns="0" tIns="0" rIns="0" bIns="0" rtlCol="0" anchor="t">
            <a:normAutofit/>
          </a:bodyPr>
          <a:lstStyle/>
          <a:p>
            <a:pPr marL="0" indent="0" algn="l">
              <a:lnSpc>
                <a:spcPts val="1620"/>
              </a:lnSpc>
              <a:buNone/>
            </a:pPr>
            <a:r>
              <a:rPr lang="en-US" sz="1200" dirty="0">
                <a:solidFill>
                  <a:srgbClr val="7C8FA3"/>
                </a:solidFill>
                <a:latin typeface="JetBrains Mono" pitchFamily="49" charset="0"/>
                <a:ea typeface="JetBrains Mono" pitchFamily="49" charset="-122"/>
                <a:cs typeface="JetBrains Mono" pitchFamily="49" charset="-120"/>
              </a:rPr>
              <a:t>097</a:t>
            </a:r>
            <a:r>
              <a:rPr lang="en-US" sz="1200" dirty="0">
                <a:solidFill>
                  <a:srgbClr val="D6DDE5"/>
                </a:solidFill>
                <a:latin typeface="JetBrains Mono" pitchFamily="49" charset="0"/>
                <a:ea typeface="JetBrains Mono" pitchFamily="49" charset="-122"/>
                <a:cs typeface="JetBrains Mono" pitchFamily="49" charset="-120"/>
              </a:rPr>
              <a:t>       model=model, max_tokens=max_tokens,</a:t>
            </a:r>
            <a:endParaRPr lang="en-US" sz="1200" dirty="0"/>
          </a:p>
        </p:txBody>
      </p:sp>
      <p:sp>
        <p:nvSpPr>
          <p:cNvPr id="29" name="Text 27"/>
          <p:cNvSpPr/>
          <p:nvPr/>
        </p:nvSpPr>
        <p:spPr>
          <a:xfrm>
            <a:off x="5105364" y="3761201"/>
            <a:ext cx="6278842" cy="231098"/>
          </a:xfrm>
          <a:prstGeom prst="rect">
            <a:avLst/>
          </a:prstGeom>
          <a:noFill/>
          <a:ln/>
        </p:spPr>
        <p:txBody>
          <a:bodyPr wrap="none" lIns="0" tIns="0" rIns="0" bIns="0" rtlCol="0" anchor="t">
            <a:normAutofit/>
          </a:bodyPr>
          <a:lstStyle/>
          <a:p>
            <a:pPr marL="0" indent="0" algn="l">
              <a:lnSpc>
                <a:spcPts val="1620"/>
              </a:lnSpc>
              <a:buNone/>
            </a:pPr>
            <a:r>
              <a:rPr lang="en-US" sz="1200" dirty="0">
                <a:solidFill>
                  <a:srgbClr val="7C8FA3"/>
                </a:solidFill>
                <a:latin typeface="JetBrains Mono" pitchFamily="49" charset="0"/>
                <a:ea typeface="JetBrains Mono" pitchFamily="49" charset="-122"/>
                <a:cs typeface="JetBrains Mono" pitchFamily="49" charset="-120"/>
              </a:rPr>
              <a:t>099</a:t>
            </a:r>
            <a:r>
              <a:rPr lang="en-US" sz="1200" dirty="0">
                <a:solidFill>
                  <a:srgbClr val="D6DDE5"/>
                </a:solidFill>
                <a:latin typeface="JetBrains Mono" pitchFamily="49" charset="0"/>
                <a:ea typeface="JetBrains Mono" pitchFamily="49" charset="-122"/>
                <a:cs typeface="JetBrains Mono" pitchFamily="49" charset="-120"/>
              </a:rPr>
              <a:t>       system=system, messages=messages,</a:t>
            </a:r>
            <a:endParaRPr lang="en-US" sz="1200" dirty="0"/>
          </a:p>
        </p:txBody>
      </p:sp>
      <p:sp>
        <p:nvSpPr>
          <p:cNvPr id="30" name="Text 28"/>
          <p:cNvSpPr/>
          <p:nvPr/>
        </p:nvSpPr>
        <p:spPr>
          <a:xfrm>
            <a:off x="5105364" y="3966901"/>
            <a:ext cx="6278842" cy="231098"/>
          </a:xfrm>
          <a:prstGeom prst="rect">
            <a:avLst/>
          </a:prstGeom>
          <a:noFill/>
          <a:ln/>
        </p:spPr>
        <p:txBody>
          <a:bodyPr wrap="none" lIns="0" tIns="0" rIns="0" bIns="0" rtlCol="0" anchor="t">
            <a:normAutofit/>
          </a:bodyPr>
          <a:lstStyle/>
          <a:p>
            <a:pPr marL="0" indent="0" algn="l">
              <a:lnSpc>
                <a:spcPts val="1620"/>
              </a:lnSpc>
              <a:buNone/>
            </a:pPr>
            <a:r>
              <a:rPr lang="en-US" sz="1200" dirty="0">
                <a:solidFill>
                  <a:srgbClr val="7C8FA3"/>
                </a:solidFill>
                <a:latin typeface="JetBrains Mono" pitchFamily="49" charset="0"/>
                <a:ea typeface="JetBrains Mono" pitchFamily="49" charset="-122"/>
                <a:cs typeface="JetBrains Mono" pitchFamily="49" charset="-120"/>
              </a:rPr>
              <a:t>101</a:t>
            </a:r>
            <a:r>
              <a:rPr lang="en-US" sz="1200" dirty="0">
                <a:solidFill>
                  <a:srgbClr val="D6DDE5"/>
                </a:solidFill>
                <a:latin typeface="JetBrains Mono" pitchFamily="49" charset="0"/>
                <a:ea typeface="JetBrains Mono" pitchFamily="49" charset="-122"/>
                <a:cs typeface="JetBrains Mono" pitchFamily="49" charset="-120"/>
              </a:rPr>
              <a:t>       **kwargs)</a:t>
            </a:r>
            <a:endParaRPr lang="en-US" sz="1200" dirty="0"/>
          </a:p>
        </p:txBody>
      </p:sp>
      <p:sp>
        <p:nvSpPr>
          <p:cNvPr id="31" name="Text 29"/>
          <p:cNvSpPr/>
          <p:nvPr/>
        </p:nvSpPr>
        <p:spPr>
          <a:xfrm>
            <a:off x="4927564" y="4172598"/>
            <a:ext cx="6451564" cy="205698"/>
          </a:xfrm>
          <a:prstGeom prst="rect">
            <a:avLst/>
          </a:prstGeom>
          <a:solidFill>
            <a:srgbClr val="3A2B20"/>
          </a:solidFill>
          <a:ln/>
        </p:spPr>
        <p:txBody>
          <a:bodyPr wrap="none" lIns="177223" tIns="0" rIns="0" bIns="0" rtlCol="0" anchor="t">
            <a:normAutofit/>
          </a:bodyPr>
          <a:lstStyle/>
          <a:p>
            <a:pPr marL="0" indent="0" algn="l">
              <a:lnSpc>
                <a:spcPts val="1620"/>
              </a:lnSpc>
              <a:buNone/>
            </a:pPr>
            <a:r>
              <a:rPr lang="en-US" sz="1200" dirty="0">
                <a:solidFill>
                  <a:srgbClr val="7C8FA3"/>
                </a:solidFill>
                <a:latin typeface="JetBrains Mono" pitchFamily="49" charset="0"/>
                <a:ea typeface="JetBrains Mono" pitchFamily="49" charset="-122"/>
                <a:cs typeface="JetBrains Mono" pitchFamily="49" charset="-120"/>
              </a:rPr>
              <a:t>103</a:t>
            </a:r>
            <a:r>
              <a:rPr lang="en-US" sz="1200" dirty="0">
                <a:solidFill>
                  <a:srgbClr val="D6DDE5"/>
                </a:solidFill>
                <a:latin typeface="JetBrains Mono" pitchFamily="49" charset="0"/>
                <a:ea typeface="JetBrains Mono" pitchFamily="49" charset="-122"/>
                <a:cs typeface="JetBrains Mono" pitchFamily="49" charset="-120"/>
              </a:rPr>
              <a:t>     self.token_tracker.track(response.usage) </a:t>
            </a:r>
            <a:r>
              <a:rPr lang="en-US" sz="1200" b="1" dirty="0">
                <a:solidFill>
                  <a:srgbClr val="F2A46B"/>
                </a:solidFill>
                <a:latin typeface="JetBrains Mono" pitchFamily="49" charset="0"/>
                <a:ea typeface="JetBrains Mono" pitchFamily="49" charset="-122"/>
                <a:cs typeface="JetBrains Mono" pitchFamily="49" charset="-120"/>
              </a:rPr>
              <a:t>← 3</a:t>
            </a:r>
            <a:endParaRPr lang="en-US" sz="1200" dirty="0"/>
          </a:p>
        </p:txBody>
      </p:sp>
      <p:sp>
        <p:nvSpPr>
          <p:cNvPr id="32" name="Shape 30"/>
          <p:cNvSpPr/>
          <p:nvPr/>
        </p:nvSpPr>
        <p:spPr>
          <a:xfrm>
            <a:off x="4946614" y="4172598"/>
            <a:ext cx="0" cy="205698"/>
          </a:xfrm>
          <a:prstGeom prst="line">
            <a:avLst/>
          </a:prstGeom>
          <a:noFill/>
          <a:ln w="38100">
            <a:solidFill>
              <a:srgbClr val="E8843F"/>
            </a:solidFill>
            <a:prstDash val="solid"/>
          </a:ln>
        </p:spPr>
        <p:txBody>
          <a:bodyPr/>
          <a:lstStyle/>
          <a:p>
            <a:endParaRPr lang="en-CN"/>
          </a:p>
        </p:txBody>
      </p:sp>
      <p:sp>
        <p:nvSpPr>
          <p:cNvPr id="33" name="Text 31"/>
          <p:cNvSpPr/>
          <p:nvPr/>
        </p:nvSpPr>
        <p:spPr>
          <a:xfrm>
            <a:off x="5105364" y="4378297"/>
            <a:ext cx="6278842" cy="231098"/>
          </a:xfrm>
          <a:prstGeom prst="rect">
            <a:avLst/>
          </a:prstGeom>
          <a:noFill/>
          <a:ln/>
        </p:spPr>
        <p:txBody>
          <a:bodyPr wrap="none" lIns="0" tIns="0" rIns="0" bIns="0" rtlCol="0" anchor="t">
            <a:normAutofit/>
          </a:bodyPr>
          <a:lstStyle/>
          <a:p>
            <a:pPr marL="0" indent="0" algn="l">
              <a:lnSpc>
                <a:spcPts val="1620"/>
              </a:lnSpc>
              <a:buNone/>
            </a:pPr>
            <a:r>
              <a:rPr lang="en-US" sz="1200" dirty="0">
                <a:solidFill>
                  <a:srgbClr val="7C8FA3"/>
                </a:solidFill>
                <a:latin typeface="JetBrains Mono" pitchFamily="49" charset="0"/>
                <a:ea typeface="JetBrains Mono" pitchFamily="49" charset="-122"/>
                <a:cs typeface="JetBrains Mono" pitchFamily="49" charset="-120"/>
              </a:rPr>
              <a:t>104</a:t>
            </a:r>
            <a:r>
              <a:rPr lang="en-US" sz="1200" dirty="0">
                <a:solidFill>
                  <a:srgbClr val="D6DDE5"/>
                </a:solidFill>
                <a:latin typeface="JetBrains Mono" pitchFamily="49" charset="0"/>
                <a:ea typeface="JetBrains Mono" pitchFamily="49" charset="-122"/>
                <a:cs typeface="JetBrains Mono" pitchFamily="49" charset="-120"/>
              </a:rPr>
              <a:t>     return response</a:t>
            </a:r>
            <a:endParaRPr lang="en-US" sz="1200" dirty="0"/>
          </a:p>
        </p:txBody>
      </p:sp>
      <p:sp>
        <p:nvSpPr>
          <p:cNvPr id="34" name="Text 32"/>
          <p:cNvSpPr/>
          <p:nvPr/>
        </p:nvSpPr>
        <p:spPr>
          <a:xfrm>
            <a:off x="5105364" y="4583996"/>
            <a:ext cx="6278842" cy="231098"/>
          </a:xfrm>
          <a:prstGeom prst="rect">
            <a:avLst/>
          </a:prstGeom>
          <a:noFill/>
          <a:ln/>
        </p:spPr>
        <p:txBody>
          <a:bodyPr wrap="none" lIns="0" tIns="0" rIns="0" bIns="0" rtlCol="0" anchor="t">
            <a:normAutofit/>
          </a:bodyPr>
          <a:lstStyle/>
          <a:p>
            <a:pPr marL="0" indent="0" algn="l">
              <a:lnSpc>
                <a:spcPts val="1620"/>
              </a:lnSpc>
              <a:buNone/>
            </a:pPr>
            <a:r>
              <a:rPr lang="en-US" sz="1200" dirty="0">
                <a:solidFill>
                  <a:srgbClr val="7C8FA3"/>
                </a:solidFill>
                <a:latin typeface="JetBrains Mono" pitchFamily="49" charset="0"/>
                <a:ea typeface="JetBrains Mono" pitchFamily="49" charset="-122"/>
                <a:cs typeface="JetBrains Mono" pitchFamily="49" charset="-120"/>
              </a:rPr>
              <a:t>    ⋮</a:t>
            </a:r>
            <a:endParaRPr lang="en-US" sz="1200" dirty="0"/>
          </a:p>
        </p:txBody>
      </p:sp>
      <p:sp>
        <p:nvSpPr>
          <p:cNvPr id="35" name="Text 33"/>
          <p:cNvSpPr/>
          <p:nvPr/>
        </p:nvSpPr>
        <p:spPr>
          <a:xfrm>
            <a:off x="4927564" y="4789694"/>
            <a:ext cx="6451564" cy="205698"/>
          </a:xfrm>
          <a:prstGeom prst="rect">
            <a:avLst/>
          </a:prstGeom>
          <a:solidFill>
            <a:srgbClr val="3A2B20"/>
          </a:solidFill>
          <a:ln/>
        </p:spPr>
        <p:txBody>
          <a:bodyPr wrap="none" lIns="177223" tIns="0" rIns="0" bIns="0" rtlCol="0" anchor="t">
            <a:normAutofit/>
          </a:bodyPr>
          <a:lstStyle/>
          <a:p>
            <a:pPr marL="0" indent="0" algn="l">
              <a:lnSpc>
                <a:spcPts val="1620"/>
              </a:lnSpc>
              <a:buNone/>
            </a:pPr>
            <a:r>
              <a:rPr lang="en-US" sz="1200" dirty="0">
                <a:solidFill>
                  <a:srgbClr val="7C8FA3"/>
                </a:solidFill>
                <a:latin typeface="JetBrains Mono" pitchFamily="49" charset="0"/>
                <a:ea typeface="JetBrains Mono" pitchFamily="49" charset="-122"/>
                <a:cs typeface="JetBrains Mono" pitchFamily="49" charset="-120"/>
              </a:rPr>
              <a:t>168</a:t>
            </a:r>
            <a:r>
              <a:rPr lang="en-US" sz="1200" dirty="0">
                <a:solidFill>
                  <a:srgbClr val="D6DDE5"/>
                </a:solidFill>
                <a:latin typeface="JetBrains Mono" pitchFamily="49" charset="0"/>
                <a:ea typeface="JetBrains Mono" pitchFamily="49" charset="-122"/>
                <a:cs typeface="JetBrains Mono" pitchFamily="49" charset="-120"/>
              </a:rPr>
              <a:t>   def run(self, topic, on_event=None): </a:t>
            </a:r>
            <a:r>
              <a:rPr lang="en-US" sz="1200" b="1" dirty="0">
                <a:solidFill>
                  <a:srgbClr val="F2A46B"/>
                </a:solidFill>
                <a:latin typeface="JetBrains Mono" pitchFamily="49" charset="0"/>
                <a:ea typeface="JetBrains Mono" pitchFamily="49" charset="-122"/>
                <a:cs typeface="JetBrains Mono" pitchFamily="49" charset="-120"/>
              </a:rPr>
              <a:t>← 4</a:t>
            </a:r>
            <a:endParaRPr lang="en-US" sz="1200" dirty="0"/>
          </a:p>
        </p:txBody>
      </p:sp>
      <p:sp>
        <p:nvSpPr>
          <p:cNvPr id="36" name="Shape 34"/>
          <p:cNvSpPr/>
          <p:nvPr/>
        </p:nvSpPr>
        <p:spPr>
          <a:xfrm>
            <a:off x="4946614" y="4789694"/>
            <a:ext cx="0" cy="205698"/>
          </a:xfrm>
          <a:prstGeom prst="line">
            <a:avLst/>
          </a:prstGeom>
          <a:noFill/>
          <a:ln w="38100">
            <a:solidFill>
              <a:srgbClr val="E8843F"/>
            </a:solidFill>
            <a:prstDash val="solid"/>
          </a:ln>
        </p:spPr>
        <p:txBody>
          <a:bodyPr/>
          <a:lstStyle/>
          <a:p>
            <a:endParaRPr lang="en-CN"/>
          </a:p>
        </p:txBody>
      </p:sp>
      <p:sp>
        <p:nvSpPr>
          <p:cNvPr id="37" name="Text 35"/>
          <p:cNvSpPr/>
          <p:nvPr/>
        </p:nvSpPr>
        <p:spPr>
          <a:xfrm>
            <a:off x="4927564" y="4995393"/>
            <a:ext cx="6451564" cy="205698"/>
          </a:xfrm>
          <a:prstGeom prst="rect">
            <a:avLst/>
          </a:prstGeom>
          <a:solidFill>
            <a:srgbClr val="3A2B20"/>
          </a:solidFill>
          <a:ln/>
        </p:spPr>
        <p:txBody>
          <a:bodyPr wrap="none" lIns="177223" tIns="0" rIns="0" bIns="0" rtlCol="0" anchor="t">
            <a:normAutofit/>
          </a:bodyPr>
          <a:lstStyle/>
          <a:p>
            <a:pPr marL="0" indent="0" algn="l">
              <a:lnSpc>
                <a:spcPts val="1620"/>
              </a:lnSpc>
              <a:buNone/>
            </a:pPr>
            <a:r>
              <a:rPr lang="en-US" sz="1200" dirty="0">
                <a:solidFill>
                  <a:srgbClr val="7C8FA3"/>
                </a:solidFill>
                <a:latin typeface="JetBrains Mono" pitchFamily="49" charset="0"/>
                <a:ea typeface="JetBrains Mono" pitchFamily="49" charset="-122"/>
                <a:cs typeface="JetBrains Mono" pitchFamily="49" charset="-120"/>
              </a:rPr>
              <a:t>170</a:t>
            </a:r>
            <a:r>
              <a:rPr lang="en-US" sz="1200" dirty="0">
                <a:solidFill>
                  <a:srgbClr val="D6DDE5"/>
                </a:solidFill>
                <a:latin typeface="JetBrains Mono" pitchFamily="49" charset="0"/>
                <a:ea typeface="JetBrains Mono" pitchFamily="49" charset="-122"/>
                <a:cs typeface="JetBrains Mono" pitchFamily="49" charset="-120"/>
              </a:rPr>
              <a:t>     self._notify = on_event or (lambda e, d: None)</a:t>
            </a:r>
            <a:endParaRPr lang="en-US" sz="1200" dirty="0"/>
          </a:p>
        </p:txBody>
      </p:sp>
      <p:sp>
        <p:nvSpPr>
          <p:cNvPr id="38" name="Shape 36"/>
          <p:cNvSpPr/>
          <p:nvPr/>
        </p:nvSpPr>
        <p:spPr>
          <a:xfrm>
            <a:off x="4946614" y="4995393"/>
            <a:ext cx="0" cy="205698"/>
          </a:xfrm>
          <a:prstGeom prst="line">
            <a:avLst/>
          </a:prstGeom>
          <a:noFill/>
          <a:ln w="38100">
            <a:solidFill>
              <a:srgbClr val="E8843F"/>
            </a:solidFill>
            <a:prstDash val="solid"/>
          </a:ln>
        </p:spPr>
        <p:txBody>
          <a:bodyPr/>
          <a:lstStyle/>
          <a:p>
            <a:endParaRPr lang="en-CN"/>
          </a:p>
        </p:txBody>
      </p:sp>
      <p:sp>
        <p:nvSpPr>
          <p:cNvPr id="39" name="Text 37"/>
          <p:cNvSpPr/>
          <p:nvPr/>
        </p:nvSpPr>
        <p:spPr>
          <a:xfrm>
            <a:off x="5105364" y="5201092"/>
            <a:ext cx="6278842" cy="231098"/>
          </a:xfrm>
          <a:prstGeom prst="rect">
            <a:avLst/>
          </a:prstGeom>
          <a:noFill/>
          <a:ln/>
        </p:spPr>
        <p:txBody>
          <a:bodyPr wrap="none" lIns="0" tIns="0" rIns="0" bIns="0" rtlCol="0" anchor="t">
            <a:normAutofit/>
          </a:bodyPr>
          <a:lstStyle/>
          <a:p>
            <a:pPr marL="0" indent="0" algn="l">
              <a:lnSpc>
                <a:spcPts val="1620"/>
              </a:lnSpc>
              <a:buNone/>
            </a:pPr>
            <a:r>
              <a:rPr lang="en-US" sz="1200" dirty="0">
                <a:solidFill>
                  <a:srgbClr val="7C8FA3"/>
                </a:solidFill>
                <a:latin typeface="JetBrains Mono" pitchFamily="49" charset="0"/>
                <a:ea typeface="JetBrains Mono" pitchFamily="49" charset="-122"/>
                <a:cs typeface="JetBrains Mono" pitchFamily="49" charset="-120"/>
              </a:rPr>
              <a:t>197</a:t>
            </a:r>
            <a:r>
              <a:rPr lang="en-US" sz="1200" dirty="0">
                <a:solidFill>
                  <a:srgbClr val="D6DDE5"/>
                </a:solidFill>
                <a:latin typeface="JetBrains Mono" pitchFamily="49" charset="0"/>
                <a:ea typeface="JetBrains Mono" pitchFamily="49" charset="-122"/>
                <a:cs typeface="JetBrains Mono" pitchFamily="49" charset="-120"/>
              </a:rPr>
              <a:t> def main(): </a:t>
            </a:r>
            <a:r>
              <a:rPr lang="en-US" sz="1200" dirty="0">
                <a:solidFill>
                  <a:srgbClr val="8798AA"/>
                </a:solidFill>
                <a:latin typeface="JetBrains Mono" pitchFamily="49" charset="0"/>
                <a:ea typeface="JetBrains Mono" pitchFamily="49" charset="-122"/>
                <a:cs typeface="JetBrains Mono" pitchFamily="49" charset="-120"/>
              </a:rPr>
              <a:t># UI only: Rich menus</a:t>
            </a:r>
            <a:endParaRPr lang="en-US" sz="1200" dirty="0"/>
          </a:p>
        </p:txBody>
      </p:sp>
      <p:sp>
        <p:nvSpPr>
          <p:cNvPr id="40" name="Text 38"/>
          <p:cNvSpPr/>
          <p:nvPr/>
        </p:nvSpPr>
        <p:spPr>
          <a:xfrm>
            <a:off x="812782" y="6238287"/>
            <a:ext cx="967994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7684"/>
                </a:solidFill>
                <a:latin typeface="IBM Plex Sans" pitchFamily="34" charset="0"/>
                <a:ea typeface="IBM Plex Sans" pitchFamily="34" charset="-122"/>
                <a:cs typeface="IBM Plex Sans" pitchFamily="34" charset="-120"/>
              </a:rPr>
              <a:t>01-prompt-chaining/01_prompt_chaining.py · same shape in every tutorial · lines condensed</a:t>
            </a:r>
            <a:endParaRPr lang="en-US" sz="1200" dirty="0"/>
          </a:p>
        </p:txBody>
      </p:sp>
      <p:sp>
        <p:nvSpPr>
          <p:cNvPr id="41" name="Text 39"/>
          <p:cNvSpPr/>
          <p:nvPr/>
        </p:nvSpPr>
        <p:spPr>
          <a:xfrm>
            <a:off x="10312418" y="6238287"/>
            <a:ext cx="1066800" cy="238720"/>
          </a:xfrm>
          <a:prstGeom prst="rect">
            <a:avLst/>
          </a:prstGeom>
          <a:noFill/>
          <a:ln/>
        </p:spPr>
        <p:txBody>
          <a:bodyPr wrap="square" lIns="0" tIns="0" rIns="0" bIns="0" rtlCol="0" anchor="t">
            <a:normAutofit/>
          </a:bodyPr>
          <a:lstStyle/>
          <a:p>
            <a:pPr marL="0" indent="0" algn="r">
              <a:lnSpc>
                <a:spcPts val="1680"/>
              </a:lnSpc>
              <a:buNone/>
            </a:pPr>
            <a:r>
              <a:rPr lang="en-US" sz="1200" b="1" dirty="0">
                <a:solidFill>
                  <a:srgbClr val="6A7684"/>
                </a:solidFill>
                <a:latin typeface="IBM Plex Sans" pitchFamily="34" charset="0"/>
                <a:ea typeface="IBM Plex Sans" pitchFamily="34" charset="-122"/>
                <a:cs typeface="IBM Plex Sans" pitchFamily="34" charset="-120"/>
              </a:rPr>
              <a:t>3 / 27</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6212C"/>
        </a:solidFill>
        <a:effectLst/>
      </p:bgPr>
    </p:bg>
    <p:spTree>
      <p:nvGrpSpPr>
        <p:cNvPr id="1" name=""/>
        <p:cNvGrpSpPr/>
        <p:nvPr/>
      </p:nvGrpSpPr>
      <p:grpSpPr>
        <a:xfrm>
          <a:off x="0" y="0"/>
          <a:ext cx="0" cy="0"/>
          <a:chOff x="0" y="0"/>
          <a:chExt cx="0" cy="0"/>
        </a:xfrm>
      </p:grpSpPr>
      <p:sp>
        <p:nvSpPr>
          <p:cNvPr id="2" name="Text 0"/>
          <p:cNvSpPr/>
          <p:nvPr/>
        </p:nvSpPr>
        <p:spPr>
          <a:xfrm>
            <a:off x="812782" y="711172"/>
            <a:ext cx="10883429"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F2A46B"/>
                </a:solidFill>
                <a:latin typeface="IBM Plex Sans" pitchFamily="34" charset="0"/>
                <a:ea typeface="IBM Plex Sans" pitchFamily="34" charset="-122"/>
                <a:cs typeface="IBM Plex Sans" pitchFamily="34" charset="-120"/>
              </a:rPr>
              <a:t>01 · PROMPT CHAINING</a:t>
            </a:r>
            <a:endParaRPr lang="en-US" sz="1200" dirty="0"/>
          </a:p>
        </p:txBody>
      </p:sp>
      <p:sp>
        <p:nvSpPr>
          <p:cNvPr id="3" name="Text 1"/>
          <p:cNvSpPr>
            <a:spLocks noGrp="1"/>
          </p:cNvSpPr>
          <p:nvPr>
            <p:ph type="title"/>
          </p:nvPr>
        </p:nvSpPr>
        <p:spPr>
          <a:xfrm>
            <a:off x="812782" y="1000666"/>
            <a:ext cx="10883429" cy="444464"/>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F4F2EC"/>
                </a:solidFill>
                <a:latin typeface="IBM Plex Sans" pitchFamily="34" charset="0"/>
                <a:ea typeface="IBM Plex Sans" pitchFamily="34" charset="-122"/>
                <a:cs typeface="IBM Plex Sans" pitchFamily="34" charset="-120"/>
              </a:rPr>
              <a:t>A fixed assembly line: each output feeds the next</a:t>
            </a:r>
            <a:endParaRPr lang="en-US" sz="3000" dirty="0"/>
          </a:p>
        </p:txBody>
      </p:sp>
      <p:sp>
        <p:nvSpPr>
          <p:cNvPr id="4" name="Shape 2"/>
          <p:cNvSpPr/>
          <p:nvPr/>
        </p:nvSpPr>
        <p:spPr>
          <a:xfrm>
            <a:off x="819132" y="1862913"/>
            <a:ext cx="1694223" cy="823128"/>
          </a:xfrm>
          <a:prstGeom prst="roundRect">
            <a:avLst>
              <a:gd name="adj" fmla="val 10029"/>
            </a:avLst>
          </a:prstGeom>
          <a:solidFill>
            <a:srgbClr val="22303E"/>
          </a:solidFill>
          <a:ln w="12700">
            <a:solidFill>
              <a:srgbClr val="3A4B5C"/>
            </a:solidFill>
            <a:prstDash val="solid"/>
          </a:ln>
        </p:spPr>
        <p:txBody>
          <a:bodyPr/>
          <a:lstStyle/>
          <a:p>
            <a:endParaRPr lang="en-CN"/>
          </a:p>
        </p:txBody>
      </p:sp>
      <p:sp>
        <p:nvSpPr>
          <p:cNvPr id="5" name="Text 3"/>
          <p:cNvSpPr/>
          <p:nvPr/>
        </p:nvSpPr>
        <p:spPr>
          <a:xfrm>
            <a:off x="976718" y="2020498"/>
            <a:ext cx="1429850" cy="269253"/>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4F2EC"/>
                </a:solidFill>
                <a:latin typeface="IBM Plex Sans" pitchFamily="34" charset="0"/>
                <a:ea typeface="IBM Plex Sans" pitchFamily="34" charset="-122"/>
                <a:cs typeface="IBM Plex Sans" pitchFamily="34" charset="-120"/>
              </a:rPr>
              <a:t>Topic</a:t>
            </a:r>
            <a:endParaRPr lang="en-US" sz="1600" dirty="0"/>
          </a:p>
        </p:txBody>
      </p:sp>
      <p:sp>
        <p:nvSpPr>
          <p:cNvPr id="6" name="Text 4"/>
          <p:cNvSpPr/>
          <p:nvPr/>
        </p:nvSpPr>
        <p:spPr>
          <a:xfrm>
            <a:off x="976718" y="2315133"/>
            <a:ext cx="14298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FCAD6"/>
                </a:solidFill>
                <a:latin typeface="IBM Plex Sans" pitchFamily="34" charset="0"/>
                <a:ea typeface="IBM Plex Sans" pitchFamily="34" charset="-122"/>
                <a:cs typeface="IBM Plex Sans" pitchFamily="34" charset="-120"/>
              </a:rPr>
              <a:t>user input</a:t>
            </a:r>
            <a:endParaRPr lang="en-US" sz="1200" dirty="0"/>
          </a:p>
        </p:txBody>
      </p:sp>
      <p:pic>
        <p:nvPicPr>
          <p:cNvPr id="7" name="Image 0" descr="arrow-right"/>
          <p:cNvPicPr>
            <a:picLocks noChangeAspect="1"/>
          </p:cNvPicPr>
          <p:nvPr/>
        </p:nvPicPr>
        <p:blipFill>
          <a:blip r:embed="rId3"/>
          <a:srcRect/>
          <a:stretch/>
        </p:blipFill>
        <p:spPr>
          <a:xfrm>
            <a:off x="2621269" y="2198281"/>
            <a:ext cx="304782" cy="152391"/>
          </a:xfrm>
          <a:prstGeom prst="rect">
            <a:avLst/>
          </a:prstGeom>
        </p:spPr>
      </p:pic>
      <p:sp>
        <p:nvSpPr>
          <p:cNvPr id="8" name="Shape 5"/>
          <p:cNvSpPr/>
          <p:nvPr/>
        </p:nvSpPr>
        <p:spPr>
          <a:xfrm>
            <a:off x="3033965" y="1730862"/>
            <a:ext cx="1694268" cy="1087230"/>
          </a:xfrm>
          <a:prstGeom prst="roundRect">
            <a:avLst>
              <a:gd name="adj" fmla="val 7593"/>
            </a:avLst>
          </a:prstGeom>
          <a:solidFill>
            <a:srgbClr val="22303E"/>
          </a:solidFill>
          <a:ln w="12700">
            <a:solidFill>
              <a:srgbClr val="3A4B5C"/>
            </a:solidFill>
            <a:prstDash val="solid"/>
          </a:ln>
        </p:spPr>
        <p:txBody>
          <a:bodyPr/>
          <a:lstStyle/>
          <a:p>
            <a:endParaRPr lang="en-CN"/>
          </a:p>
        </p:txBody>
      </p:sp>
      <p:sp>
        <p:nvSpPr>
          <p:cNvPr id="9" name="Text 6"/>
          <p:cNvSpPr/>
          <p:nvPr/>
        </p:nvSpPr>
        <p:spPr>
          <a:xfrm>
            <a:off x="3191551" y="1888448"/>
            <a:ext cx="1429895" cy="269253"/>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4F2EC"/>
                </a:solidFill>
                <a:latin typeface="IBM Plex Sans" pitchFamily="34" charset="0"/>
                <a:ea typeface="IBM Plex Sans" pitchFamily="34" charset="-122"/>
                <a:cs typeface="IBM Plex Sans" pitchFamily="34" charset="-120"/>
              </a:rPr>
              <a:t>Outliner</a:t>
            </a:r>
            <a:endParaRPr lang="en-US" sz="1600" dirty="0"/>
          </a:p>
        </p:txBody>
      </p:sp>
      <p:sp>
        <p:nvSpPr>
          <p:cNvPr id="10" name="Text 7"/>
          <p:cNvSpPr/>
          <p:nvPr/>
        </p:nvSpPr>
        <p:spPr>
          <a:xfrm>
            <a:off x="3191551" y="2183082"/>
            <a:ext cx="1429895"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FCAD6"/>
                </a:solidFill>
                <a:latin typeface="IBM Plex Sans" pitchFamily="34" charset="0"/>
                <a:ea typeface="IBM Plex Sans" pitchFamily="34" charset="-122"/>
                <a:cs typeface="IBM Plex Sans" pitchFamily="34" charset="-120"/>
              </a:rPr>
              <a:t>Sonnet</a:t>
            </a:r>
            <a:endParaRPr lang="en-US" sz="1200" dirty="0"/>
          </a:p>
        </p:txBody>
      </p:sp>
      <p:sp>
        <p:nvSpPr>
          <p:cNvPr id="11" name="Text 8"/>
          <p:cNvSpPr/>
          <p:nvPr/>
        </p:nvSpPr>
        <p:spPr>
          <a:xfrm>
            <a:off x="3191551" y="2447184"/>
            <a:ext cx="1429895"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2A46B"/>
                </a:solidFill>
                <a:latin typeface="JetBrains Mono" pitchFamily="49" charset="0"/>
                <a:ea typeface="JetBrains Mono" pitchFamily="49" charset="-122"/>
                <a:cs typeface="JetBrains Mono" pitchFamily="49" charset="-120"/>
              </a:rPr>
              <a:t>_step_outline</a:t>
            </a:r>
            <a:endParaRPr lang="en-US" sz="1200" dirty="0"/>
          </a:p>
        </p:txBody>
      </p:sp>
      <p:pic>
        <p:nvPicPr>
          <p:cNvPr id="12" name="Image 1" descr="arrow-right"/>
          <p:cNvPicPr>
            <a:picLocks noChangeAspect="1"/>
          </p:cNvPicPr>
          <p:nvPr/>
        </p:nvPicPr>
        <p:blipFill>
          <a:blip r:embed="rId3"/>
          <a:srcRect/>
          <a:stretch/>
        </p:blipFill>
        <p:spPr>
          <a:xfrm>
            <a:off x="4836147" y="2198281"/>
            <a:ext cx="304782" cy="152391"/>
          </a:xfrm>
          <a:prstGeom prst="rect">
            <a:avLst/>
          </a:prstGeom>
        </p:spPr>
      </p:pic>
      <p:sp>
        <p:nvSpPr>
          <p:cNvPr id="13" name="Shape 9"/>
          <p:cNvSpPr/>
          <p:nvPr/>
        </p:nvSpPr>
        <p:spPr>
          <a:xfrm>
            <a:off x="5248843" y="1730862"/>
            <a:ext cx="1694268" cy="1087230"/>
          </a:xfrm>
          <a:prstGeom prst="roundRect">
            <a:avLst>
              <a:gd name="adj" fmla="val 7593"/>
            </a:avLst>
          </a:prstGeom>
          <a:solidFill>
            <a:srgbClr val="22303E"/>
          </a:solidFill>
          <a:ln w="12700">
            <a:solidFill>
              <a:srgbClr val="3A4B5C"/>
            </a:solidFill>
            <a:prstDash val="solid"/>
          </a:ln>
        </p:spPr>
        <p:txBody>
          <a:bodyPr/>
          <a:lstStyle/>
          <a:p>
            <a:endParaRPr lang="en-CN"/>
          </a:p>
        </p:txBody>
      </p:sp>
      <p:sp>
        <p:nvSpPr>
          <p:cNvPr id="14" name="Text 10"/>
          <p:cNvSpPr/>
          <p:nvPr/>
        </p:nvSpPr>
        <p:spPr>
          <a:xfrm>
            <a:off x="5406430" y="1888448"/>
            <a:ext cx="1429895" cy="269253"/>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4F2EC"/>
                </a:solidFill>
                <a:latin typeface="IBM Plex Sans" pitchFamily="34" charset="0"/>
                <a:ea typeface="IBM Plex Sans" pitchFamily="34" charset="-122"/>
                <a:cs typeface="IBM Plex Sans" pitchFamily="34" charset="-120"/>
              </a:rPr>
              <a:t>Writer</a:t>
            </a:r>
            <a:endParaRPr lang="en-US" sz="1600" dirty="0"/>
          </a:p>
        </p:txBody>
      </p:sp>
      <p:sp>
        <p:nvSpPr>
          <p:cNvPr id="15" name="Text 11"/>
          <p:cNvSpPr/>
          <p:nvPr/>
        </p:nvSpPr>
        <p:spPr>
          <a:xfrm>
            <a:off x="5406430" y="2183082"/>
            <a:ext cx="1429895"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FCAD6"/>
                </a:solidFill>
                <a:latin typeface="IBM Plex Sans" pitchFamily="34" charset="0"/>
                <a:ea typeface="IBM Plex Sans" pitchFamily="34" charset="-122"/>
                <a:cs typeface="IBM Plex Sans" pitchFamily="34" charset="-120"/>
              </a:rPr>
              <a:t>Haiku + web search</a:t>
            </a:r>
            <a:endParaRPr lang="en-US" sz="1200" dirty="0"/>
          </a:p>
        </p:txBody>
      </p:sp>
      <p:sp>
        <p:nvSpPr>
          <p:cNvPr id="16" name="Text 12"/>
          <p:cNvSpPr/>
          <p:nvPr/>
        </p:nvSpPr>
        <p:spPr>
          <a:xfrm>
            <a:off x="5406430" y="2447184"/>
            <a:ext cx="1429895"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2A46B"/>
                </a:solidFill>
                <a:latin typeface="JetBrains Mono" pitchFamily="49" charset="0"/>
                <a:ea typeface="JetBrains Mono" pitchFamily="49" charset="-122"/>
                <a:cs typeface="JetBrains Mono" pitchFamily="49" charset="-120"/>
              </a:rPr>
              <a:t>_step_write</a:t>
            </a:r>
            <a:endParaRPr lang="en-US" sz="1200" dirty="0"/>
          </a:p>
        </p:txBody>
      </p:sp>
      <p:pic>
        <p:nvPicPr>
          <p:cNvPr id="17" name="Image 2" descr="arrow-right"/>
          <p:cNvPicPr>
            <a:picLocks noChangeAspect="1"/>
          </p:cNvPicPr>
          <p:nvPr/>
        </p:nvPicPr>
        <p:blipFill>
          <a:blip r:embed="rId3"/>
          <a:srcRect/>
          <a:stretch/>
        </p:blipFill>
        <p:spPr>
          <a:xfrm>
            <a:off x="7051025" y="2198281"/>
            <a:ext cx="304782" cy="152391"/>
          </a:xfrm>
          <a:prstGeom prst="rect">
            <a:avLst/>
          </a:prstGeom>
        </p:spPr>
      </p:pic>
      <p:sp>
        <p:nvSpPr>
          <p:cNvPr id="18" name="Shape 13"/>
          <p:cNvSpPr/>
          <p:nvPr/>
        </p:nvSpPr>
        <p:spPr>
          <a:xfrm>
            <a:off x="7463721" y="1730862"/>
            <a:ext cx="1694268" cy="1087230"/>
          </a:xfrm>
          <a:prstGeom prst="roundRect">
            <a:avLst>
              <a:gd name="adj" fmla="val 7593"/>
            </a:avLst>
          </a:prstGeom>
          <a:solidFill>
            <a:srgbClr val="22303E"/>
          </a:solidFill>
          <a:ln w="12700">
            <a:solidFill>
              <a:srgbClr val="3A4B5C"/>
            </a:solidFill>
            <a:prstDash val="solid"/>
          </a:ln>
        </p:spPr>
        <p:txBody>
          <a:bodyPr/>
          <a:lstStyle/>
          <a:p>
            <a:endParaRPr lang="en-CN"/>
          </a:p>
        </p:txBody>
      </p:sp>
      <p:sp>
        <p:nvSpPr>
          <p:cNvPr id="19" name="Text 14"/>
          <p:cNvSpPr/>
          <p:nvPr/>
        </p:nvSpPr>
        <p:spPr>
          <a:xfrm>
            <a:off x="7621308" y="1888448"/>
            <a:ext cx="1429895" cy="269253"/>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4F2EC"/>
                </a:solidFill>
                <a:latin typeface="IBM Plex Sans" pitchFamily="34" charset="0"/>
                <a:ea typeface="IBM Plex Sans" pitchFamily="34" charset="-122"/>
                <a:cs typeface="IBM Plex Sans" pitchFamily="34" charset="-120"/>
              </a:rPr>
              <a:t>Editor</a:t>
            </a:r>
            <a:endParaRPr lang="en-US" sz="1600" dirty="0"/>
          </a:p>
        </p:txBody>
      </p:sp>
      <p:sp>
        <p:nvSpPr>
          <p:cNvPr id="20" name="Text 15"/>
          <p:cNvSpPr/>
          <p:nvPr/>
        </p:nvSpPr>
        <p:spPr>
          <a:xfrm>
            <a:off x="7621308" y="2183082"/>
            <a:ext cx="1429895"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FCAD6"/>
                </a:solidFill>
                <a:latin typeface="IBM Plex Sans" pitchFamily="34" charset="0"/>
                <a:ea typeface="IBM Plex Sans" pitchFamily="34" charset="-122"/>
                <a:cs typeface="IBM Plex Sans" pitchFamily="34" charset="-120"/>
              </a:rPr>
              <a:t>Sonnet</a:t>
            </a:r>
            <a:endParaRPr lang="en-US" sz="1200" dirty="0"/>
          </a:p>
        </p:txBody>
      </p:sp>
      <p:sp>
        <p:nvSpPr>
          <p:cNvPr id="21" name="Text 16"/>
          <p:cNvSpPr/>
          <p:nvPr/>
        </p:nvSpPr>
        <p:spPr>
          <a:xfrm>
            <a:off x="7621308" y="2447184"/>
            <a:ext cx="1429895"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2A46B"/>
                </a:solidFill>
                <a:latin typeface="JetBrains Mono" pitchFamily="49" charset="0"/>
                <a:ea typeface="JetBrains Mono" pitchFamily="49" charset="-122"/>
                <a:cs typeface="JetBrains Mono" pitchFamily="49" charset="-120"/>
              </a:rPr>
              <a:t>_step_edit</a:t>
            </a:r>
            <a:endParaRPr lang="en-US" sz="1200" dirty="0"/>
          </a:p>
        </p:txBody>
      </p:sp>
      <p:pic>
        <p:nvPicPr>
          <p:cNvPr id="22" name="Image 3" descr="arrow-right"/>
          <p:cNvPicPr>
            <a:picLocks noChangeAspect="1"/>
          </p:cNvPicPr>
          <p:nvPr/>
        </p:nvPicPr>
        <p:blipFill>
          <a:blip r:embed="rId3"/>
          <a:srcRect/>
          <a:stretch/>
        </p:blipFill>
        <p:spPr>
          <a:xfrm>
            <a:off x="9265903" y="2198281"/>
            <a:ext cx="304782" cy="152391"/>
          </a:xfrm>
          <a:prstGeom prst="rect">
            <a:avLst/>
          </a:prstGeom>
        </p:spPr>
      </p:pic>
      <p:sp>
        <p:nvSpPr>
          <p:cNvPr id="23" name="Shape 17"/>
          <p:cNvSpPr/>
          <p:nvPr/>
        </p:nvSpPr>
        <p:spPr>
          <a:xfrm>
            <a:off x="9678599" y="1862913"/>
            <a:ext cx="1694268" cy="823128"/>
          </a:xfrm>
          <a:prstGeom prst="roundRect">
            <a:avLst>
              <a:gd name="adj" fmla="val 10029"/>
            </a:avLst>
          </a:prstGeom>
          <a:solidFill>
            <a:srgbClr val="22303E"/>
          </a:solidFill>
          <a:ln w="12700">
            <a:solidFill>
              <a:srgbClr val="3A4B5C"/>
            </a:solidFill>
            <a:prstDash val="solid"/>
          </a:ln>
        </p:spPr>
        <p:txBody>
          <a:bodyPr/>
          <a:lstStyle/>
          <a:p>
            <a:endParaRPr lang="en-CN"/>
          </a:p>
        </p:txBody>
      </p:sp>
      <p:sp>
        <p:nvSpPr>
          <p:cNvPr id="24" name="Text 18"/>
          <p:cNvSpPr/>
          <p:nvPr/>
        </p:nvSpPr>
        <p:spPr>
          <a:xfrm>
            <a:off x="9836186" y="2020498"/>
            <a:ext cx="1429895" cy="269253"/>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4F2EC"/>
                </a:solidFill>
                <a:latin typeface="IBM Plex Sans" pitchFamily="34" charset="0"/>
                <a:ea typeface="IBM Plex Sans" pitchFamily="34" charset="-122"/>
                <a:cs typeface="IBM Plex Sans" pitchFamily="34" charset="-120"/>
              </a:rPr>
              <a:t>Final post</a:t>
            </a:r>
            <a:endParaRPr lang="en-US" sz="1600" dirty="0"/>
          </a:p>
        </p:txBody>
      </p:sp>
      <p:sp>
        <p:nvSpPr>
          <p:cNvPr id="25" name="Text 19"/>
          <p:cNvSpPr/>
          <p:nvPr/>
        </p:nvSpPr>
        <p:spPr>
          <a:xfrm>
            <a:off x="9836186" y="2315133"/>
            <a:ext cx="1429895"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FCAD6"/>
                </a:solidFill>
                <a:latin typeface="IBM Plex Sans" pitchFamily="34" charset="0"/>
                <a:ea typeface="IBM Plex Sans" pitchFamily="34" charset="-122"/>
                <a:cs typeface="IBM Plex Sans" pitchFamily="34" charset="-120"/>
              </a:rPr>
              <a:t>+ Key Takeaways</a:t>
            </a:r>
            <a:endParaRPr lang="en-US" sz="1200" dirty="0"/>
          </a:p>
        </p:txBody>
      </p:sp>
      <p:sp>
        <p:nvSpPr>
          <p:cNvPr id="26" name="Shape 20"/>
          <p:cNvSpPr/>
          <p:nvPr/>
        </p:nvSpPr>
        <p:spPr>
          <a:xfrm>
            <a:off x="812782" y="3129223"/>
            <a:ext cx="5181609" cy="1472947"/>
          </a:xfrm>
          <a:prstGeom prst="roundRect">
            <a:avLst>
              <a:gd name="adj" fmla="val 6036"/>
            </a:avLst>
          </a:prstGeom>
          <a:solidFill>
            <a:srgbClr val="1E2B38"/>
          </a:solidFill>
          <a:ln/>
        </p:spPr>
        <p:txBody>
          <a:bodyPr/>
          <a:lstStyle/>
          <a:p>
            <a:endParaRPr lang="en-CN"/>
          </a:p>
        </p:txBody>
      </p:sp>
      <p:sp>
        <p:nvSpPr>
          <p:cNvPr id="27" name="Text 21"/>
          <p:cNvSpPr/>
          <p:nvPr/>
        </p:nvSpPr>
        <p:spPr>
          <a:xfrm>
            <a:off x="1015955" y="3332397"/>
            <a:ext cx="4918521" cy="269253"/>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2A46B"/>
                </a:solidFill>
                <a:latin typeface="IBM Plex Sans" pitchFamily="34" charset="0"/>
                <a:ea typeface="IBM Plex Sans" pitchFamily="34" charset="-122"/>
                <a:cs typeface="IBM Plex Sans" pitchFamily="34" charset="-120"/>
              </a:rPr>
              <a:t>Chain when…</a:t>
            </a:r>
            <a:endParaRPr lang="en-US" sz="1600" dirty="0"/>
          </a:p>
        </p:txBody>
      </p:sp>
      <p:sp>
        <p:nvSpPr>
          <p:cNvPr id="28" name="Text 22"/>
          <p:cNvSpPr/>
          <p:nvPr/>
        </p:nvSpPr>
        <p:spPr>
          <a:xfrm>
            <a:off x="1015955" y="3652422"/>
            <a:ext cx="4918521" cy="771976"/>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D6DDE5"/>
                </a:solidFill>
                <a:latin typeface="IBM Plex Sans" pitchFamily="34" charset="0"/>
                <a:ea typeface="IBM Plex Sans" pitchFamily="34" charset="-122"/>
                <a:cs typeface="IBM Plex Sans" pitchFamily="34" charset="-120"/>
              </a:rPr>
              <a:t>steps need different models, tools or settings; you want to validate intermediate output; you need to debug each stage.</a:t>
            </a:r>
            <a:endParaRPr lang="en-US" sz="1400" dirty="0"/>
          </a:p>
        </p:txBody>
      </p:sp>
      <p:sp>
        <p:nvSpPr>
          <p:cNvPr id="29" name="Shape 23"/>
          <p:cNvSpPr/>
          <p:nvPr/>
        </p:nvSpPr>
        <p:spPr>
          <a:xfrm>
            <a:off x="6197564" y="3129223"/>
            <a:ext cx="5181654" cy="1472947"/>
          </a:xfrm>
          <a:prstGeom prst="roundRect">
            <a:avLst>
              <a:gd name="adj" fmla="val 6036"/>
            </a:avLst>
          </a:prstGeom>
          <a:solidFill>
            <a:srgbClr val="1E2B38"/>
          </a:solidFill>
          <a:ln/>
        </p:spPr>
        <p:txBody>
          <a:bodyPr/>
          <a:lstStyle/>
          <a:p>
            <a:endParaRPr lang="en-CN"/>
          </a:p>
        </p:txBody>
      </p:sp>
      <p:sp>
        <p:nvSpPr>
          <p:cNvPr id="30" name="Text 24"/>
          <p:cNvSpPr/>
          <p:nvPr/>
        </p:nvSpPr>
        <p:spPr>
          <a:xfrm>
            <a:off x="6400737" y="3332397"/>
            <a:ext cx="4918567" cy="269253"/>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BFCAD6"/>
                </a:solidFill>
                <a:latin typeface="IBM Plex Sans" pitchFamily="34" charset="0"/>
                <a:ea typeface="IBM Plex Sans" pitchFamily="34" charset="-122"/>
                <a:cs typeface="IBM Plex Sans" pitchFamily="34" charset="-120"/>
              </a:rPr>
              <a:t>One prompt when…</a:t>
            </a:r>
            <a:endParaRPr lang="en-US" sz="1600" dirty="0"/>
          </a:p>
        </p:txBody>
      </p:sp>
      <p:sp>
        <p:nvSpPr>
          <p:cNvPr id="31" name="Text 25"/>
          <p:cNvSpPr/>
          <p:nvPr/>
        </p:nvSpPr>
        <p:spPr>
          <a:xfrm>
            <a:off x="6400737" y="3652422"/>
            <a:ext cx="4918567" cy="52311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D6DDE5"/>
                </a:solidFill>
                <a:latin typeface="IBM Plex Sans" pitchFamily="34" charset="0"/>
                <a:ea typeface="IBM Plex Sans" pitchFamily="34" charset="-122"/>
                <a:cs typeface="IBM Plex Sans" pitchFamily="34" charset="-120"/>
              </a:rPr>
              <a:t>one well-crafted prompt handles it reliably. Extra steps only add latency, cost and failure points.</a:t>
            </a:r>
            <a:endParaRPr lang="en-US" sz="1400" dirty="0"/>
          </a:p>
        </p:txBody>
      </p:sp>
      <p:sp>
        <p:nvSpPr>
          <p:cNvPr id="32" name="Text 26"/>
          <p:cNvSpPr/>
          <p:nvPr/>
        </p:nvSpPr>
        <p:spPr>
          <a:xfrm>
            <a:off x="812782" y="6238289"/>
            <a:ext cx="967994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9AA9B8"/>
                </a:solidFill>
                <a:latin typeface="IBM Plex Sans" pitchFamily="34" charset="0"/>
                <a:ea typeface="IBM Plex Sans" pitchFamily="34" charset="-122"/>
                <a:cs typeface="IBM Plex Sans" pitchFamily="34" charset="-120"/>
              </a:rPr>
              <a:t>01-prompt-chaining/README.md · method names in orange are in 01_prompt_chaining.py</a:t>
            </a:r>
            <a:endParaRPr lang="en-US" sz="1200" dirty="0"/>
          </a:p>
        </p:txBody>
      </p:sp>
      <p:sp>
        <p:nvSpPr>
          <p:cNvPr id="33" name="Text 27"/>
          <p:cNvSpPr/>
          <p:nvPr/>
        </p:nvSpPr>
        <p:spPr>
          <a:xfrm>
            <a:off x="10312418" y="6238289"/>
            <a:ext cx="1066800" cy="238720"/>
          </a:xfrm>
          <a:prstGeom prst="rect">
            <a:avLst/>
          </a:prstGeom>
          <a:noFill/>
          <a:ln/>
        </p:spPr>
        <p:txBody>
          <a:bodyPr wrap="square" lIns="0" tIns="0" rIns="0" bIns="0" rtlCol="0" anchor="t">
            <a:normAutofit/>
          </a:bodyPr>
          <a:lstStyle/>
          <a:p>
            <a:pPr marL="0" indent="0" algn="r">
              <a:lnSpc>
                <a:spcPts val="1680"/>
              </a:lnSpc>
              <a:buNone/>
            </a:pPr>
            <a:r>
              <a:rPr lang="en-US" sz="1200" b="1" dirty="0">
                <a:solidFill>
                  <a:srgbClr val="9AA9B8"/>
                </a:solidFill>
                <a:latin typeface="IBM Plex Sans" pitchFamily="34" charset="0"/>
                <a:ea typeface="IBM Plex Sans" pitchFamily="34" charset="-122"/>
                <a:cs typeface="IBM Plex Sans" pitchFamily="34" charset="-120"/>
              </a:rPr>
              <a:t>4 / 27</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2EC"/>
        </a:solidFill>
        <a:effectLst/>
      </p:bgPr>
    </p:bg>
    <p:spTree>
      <p:nvGrpSpPr>
        <p:cNvPr id="1" name=""/>
        <p:cNvGrpSpPr/>
        <p:nvPr/>
      </p:nvGrpSpPr>
      <p:grpSpPr>
        <a:xfrm>
          <a:off x="0" y="0"/>
          <a:ext cx="0" cy="0"/>
          <a:chOff x="0" y="0"/>
          <a:chExt cx="0" cy="0"/>
        </a:xfrm>
      </p:grpSpPr>
      <p:sp>
        <p:nvSpPr>
          <p:cNvPr id="2" name="Text 0"/>
          <p:cNvSpPr/>
          <p:nvPr/>
        </p:nvSpPr>
        <p:spPr>
          <a:xfrm>
            <a:off x="812782" y="711172"/>
            <a:ext cx="10883429"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04E17"/>
                </a:solidFill>
                <a:latin typeface="IBM Plex Sans" pitchFamily="34" charset="0"/>
                <a:ea typeface="IBM Plex Sans" pitchFamily="34" charset="-122"/>
                <a:cs typeface="IBM Plex Sans" pitchFamily="34" charset="-120"/>
              </a:rPr>
              <a:t>01 · PROMPT CHAINING · IN CODE</a:t>
            </a:r>
            <a:endParaRPr lang="en-US" sz="1200" dirty="0"/>
          </a:p>
        </p:txBody>
      </p:sp>
      <p:sp>
        <p:nvSpPr>
          <p:cNvPr id="3" name="Text 1"/>
          <p:cNvSpPr>
            <a:spLocks noGrp="1"/>
          </p:cNvSpPr>
          <p:nvPr>
            <p:ph type="title"/>
          </p:nvPr>
        </p:nvSpPr>
        <p:spPr>
          <a:xfrm>
            <a:off x="812782" y="1000665"/>
            <a:ext cx="10883429" cy="444464"/>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6212C"/>
                </a:solidFill>
                <a:latin typeface="IBM Plex Sans" pitchFamily="34" charset="0"/>
                <a:ea typeface="IBM Plex Sans" pitchFamily="34" charset="-122"/>
                <a:cs typeface="IBM Plex Sans" pitchFamily="34" charset="-120"/>
              </a:rPr>
              <a:t>run() is the chain, read top to bottom</a:t>
            </a:r>
            <a:endParaRPr lang="en-US" sz="3000" dirty="0"/>
          </a:p>
        </p:txBody>
      </p:sp>
      <p:sp>
        <p:nvSpPr>
          <p:cNvPr id="4" name="Text 2"/>
          <p:cNvSpPr/>
          <p:nvPr/>
        </p:nvSpPr>
        <p:spPr>
          <a:xfrm>
            <a:off x="812782" y="1673730"/>
            <a:ext cx="304782" cy="304782"/>
          </a:xfrm>
          <a:custGeom>
            <a:avLst/>
            <a:gdLst/>
            <a:ahLst/>
            <a:cxnLst/>
            <a:rect l="l" t="t" r="r" b="b"/>
            <a:pathLst>
              <a:path w="304782" h="304782">
                <a:moveTo>
                  <a:pt x="152391" y="0"/>
                </a:moveTo>
                <a:lnTo>
                  <a:pt x="152391" y="0"/>
                </a:lnTo>
                <a:arcTo wR="152391" hR="152391" stAng="16200000" swAng="5400000"/>
                <a:lnTo>
                  <a:pt x="304782" y="152391"/>
                </a:lnTo>
                <a:arcTo wR="152391" hR="152391" stAng="0" swAng="5400000"/>
                <a:lnTo>
                  <a:pt x="152391" y="304782"/>
                </a:lnTo>
                <a:arcTo wR="152391" hR="152391" stAng="5400000" swAng="5400000"/>
                <a:lnTo>
                  <a:pt x="0" y="152391"/>
                </a:lnTo>
                <a:arcTo wR="152391" hR="152391" stAng="10800000" swAng="5400000"/>
                <a:close/>
              </a:path>
            </a:pathLst>
          </a:custGeom>
          <a:solidFill>
            <a:srgbClr val="E8843F"/>
          </a:solidFill>
          <a:ln/>
        </p:spPr>
        <p:txBody>
          <a:bodyPr wrap="square" lIns="0" tIns="0" rIns="0" bIns="0" rtlCol="0" anchor="t">
            <a:normAutofit/>
          </a:bodyPr>
          <a:lstStyle/>
          <a:p>
            <a:pPr marL="0" indent="0" algn="ctr">
              <a:lnSpc>
                <a:spcPts val="2405"/>
              </a:lnSpc>
              <a:buNone/>
            </a:pPr>
            <a:r>
              <a:rPr lang="en-US" sz="1300" b="1" dirty="0">
                <a:solidFill>
                  <a:srgbClr val="16212C"/>
                </a:solidFill>
                <a:latin typeface="IBM Plex Sans" pitchFamily="34" charset="0"/>
                <a:ea typeface="IBM Plex Sans" pitchFamily="34" charset="-122"/>
                <a:cs typeface="IBM Plex Sans" pitchFamily="34" charset="-120"/>
              </a:rPr>
              <a:t>1</a:t>
            </a:r>
            <a:endParaRPr lang="en-US" sz="1300" dirty="0"/>
          </a:p>
        </p:txBody>
      </p:sp>
      <p:sp>
        <p:nvSpPr>
          <p:cNvPr id="5" name="Text 3"/>
          <p:cNvSpPr/>
          <p:nvPr/>
        </p:nvSpPr>
        <p:spPr>
          <a:xfrm>
            <a:off x="1244564" y="1673730"/>
            <a:ext cx="3479564" cy="253964"/>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6212C"/>
                </a:solidFill>
                <a:latin typeface="IBM Plex Sans" pitchFamily="34" charset="0"/>
                <a:ea typeface="IBM Plex Sans" pitchFamily="34" charset="-122"/>
                <a:cs typeface="IBM Plex Sans" pitchFamily="34" charset="-120"/>
              </a:rPr>
              <a:t>Output becomes input</a:t>
            </a:r>
            <a:endParaRPr lang="en-US" sz="1500" dirty="0"/>
          </a:p>
        </p:txBody>
      </p:sp>
      <p:sp>
        <p:nvSpPr>
          <p:cNvPr id="6" name="Text 4"/>
          <p:cNvSpPr/>
          <p:nvPr/>
        </p:nvSpPr>
        <p:spPr>
          <a:xfrm>
            <a:off x="1244564" y="1940356"/>
            <a:ext cx="3479564" cy="487669"/>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D4A57"/>
                </a:solidFill>
                <a:latin typeface="IBM Plex Sans" pitchFamily="34" charset="0"/>
                <a:ea typeface="IBM Plex Sans" pitchFamily="34" charset="-122"/>
                <a:cs typeface="IBM Plex Sans" pitchFamily="34" charset="-120"/>
              </a:rPr>
              <a:t>topic → outline → draft → final. Each step is a plain variable handed to the next call.</a:t>
            </a:r>
            <a:endParaRPr lang="en-US" sz="1300" dirty="0"/>
          </a:p>
        </p:txBody>
      </p:sp>
      <p:sp>
        <p:nvSpPr>
          <p:cNvPr id="7" name="Text 5"/>
          <p:cNvSpPr/>
          <p:nvPr/>
        </p:nvSpPr>
        <p:spPr>
          <a:xfrm>
            <a:off x="812782" y="2605798"/>
            <a:ext cx="304782" cy="304782"/>
          </a:xfrm>
          <a:custGeom>
            <a:avLst/>
            <a:gdLst/>
            <a:ahLst/>
            <a:cxnLst/>
            <a:rect l="l" t="t" r="r" b="b"/>
            <a:pathLst>
              <a:path w="304782" h="304782">
                <a:moveTo>
                  <a:pt x="152391" y="0"/>
                </a:moveTo>
                <a:lnTo>
                  <a:pt x="152391" y="0"/>
                </a:lnTo>
                <a:arcTo wR="152391" hR="152391" stAng="16200000" swAng="5400000"/>
                <a:lnTo>
                  <a:pt x="304782" y="152391"/>
                </a:lnTo>
                <a:arcTo wR="152391" hR="152391" stAng="0" swAng="5400000"/>
                <a:lnTo>
                  <a:pt x="152391" y="304782"/>
                </a:lnTo>
                <a:arcTo wR="152391" hR="152391" stAng="5400000" swAng="5400000"/>
                <a:lnTo>
                  <a:pt x="0" y="152391"/>
                </a:lnTo>
                <a:arcTo wR="152391" hR="152391" stAng="10800000" swAng="5400000"/>
                <a:close/>
              </a:path>
            </a:pathLst>
          </a:custGeom>
          <a:solidFill>
            <a:srgbClr val="E8843F"/>
          </a:solidFill>
          <a:ln/>
        </p:spPr>
        <p:txBody>
          <a:bodyPr wrap="square" lIns="0" tIns="0" rIns="0" bIns="0" rtlCol="0" anchor="t">
            <a:normAutofit/>
          </a:bodyPr>
          <a:lstStyle/>
          <a:p>
            <a:pPr marL="0" indent="0" algn="ctr">
              <a:lnSpc>
                <a:spcPts val="2405"/>
              </a:lnSpc>
              <a:buNone/>
            </a:pPr>
            <a:r>
              <a:rPr lang="en-US" sz="1300" b="1" dirty="0">
                <a:solidFill>
                  <a:srgbClr val="16212C"/>
                </a:solidFill>
                <a:latin typeface="IBM Plex Sans" pitchFamily="34" charset="0"/>
                <a:ea typeface="IBM Plex Sans" pitchFamily="34" charset="-122"/>
                <a:cs typeface="IBM Plex Sans" pitchFamily="34" charset="-120"/>
              </a:rPr>
              <a:t>2</a:t>
            </a:r>
            <a:endParaRPr lang="en-US" sz="1300" dirty="0"/>
          </a:p>
        </p:txBody>
      </p:sp>
      <p:sp>
        <p:nvSpPr>
          <p:cNvPr id="8" name="Text 6"/>
          <p:cNvSpPr/>
          <p:nvPr/>
        </p:nvSpPr>
        <p:spPr>
          <a:xfrm>
            <a:off x="1244564" y="2605798"/>
            <a:ext cx="3479564" cy="253964"/>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6212C"/>
                </a:solidFill>
                <a:latin typeface="IBM Plex Sans" pitchFamily="34" charset="0"/>
                <a:ea typeface="IBM Plex Sans" pitchFamily="34" charset="-122"/>
                <a:cs typeface="IBM Plex Sans" pitchFamily="34" charset="-120"/>
              </a:rPr>
              <a:t>Quality gate</a:t>
            </a:r>
            <a:endParaRPr lang="en-US" sz="1500" dirty="0"/>
          </a:p>
        </p:txBody>
      </p:sp>
      <p:sp>
        <p:nvSpPr>
          <p:cNvPr id="9" name="Text 7"/>
          <p:cNvSpPr/>
          <p:nvPr/>
        </p:nvSpPr>
        <p:spPr>
          <a:xfrm>
            <a:off x="1244564" y="2872426"/>
            <a:ext cx="3479564" cy="487669"/>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D4A57"/>
                </a:solidFill>
                <a:latin typeface="IBM Plex Sans" pitchFamily="34" charset="0"/>
                <a:ea typeface="IBM Plex Sans" pitchFamily="34" charset="-122"/>
                <a:cs typeface="IBM Plex Sans" pitchFamily="34" charset="-120"/>
              </a:rPr>
              <a:t>An empty outline aborts the chain instead of sending garbage downstream.</a:t>
            </a:r>
            <a:endParaRPr lang="en-US" sz="1300" dirty="0"/>
          </a:p>
        </p:txBody>
      </p:sp>
      <p:sp>
        <p:nvSpPr>
          <p:cNvPr id="10" name="Text 8"/>
          <p:cNvSpPr/>
          <p:nvPr/>
        </p:nvSpPr>
        <p:spPr>
          <a:xfrm>
            <a:off x="812782" y="3537868"/>
            <a:ext cx="304782" cy="304782"/>
          </a:xfrm>
          <a:custGeom>
            <a:avLst/>
            <a:gdLst/>
            <a:ahLst/>
            <a:cxnLst/>
            <a:rect l="l" t="t" r="r" b="b"/>
            <a:pathLst>
              <a:path w="304782" h="304782">
                <a:moveTo>
                  <a:pt x="152391" y="0"/>
                </a:moveTo>
                <a:lnTo>
                  <a:pt x="152391" y="0"/>
                </a:lnTo>
                <a:arcTo wR="152391" hR="152391" stAng="16200000" swAng="5400000"/>
                <a:lnTo>
                  <a:pt x="304782" y="152391"/>
                </a:lnTo>
                <a:arcTo wR="152391" hR="152391" stAng="0" swAng="5400000"/>
                <a:lnTo>
                  <a:pt x="152391" y="304782"/>
                </a:lnTo>
                <a:arcTo wR="152391" hR="152391" stAng="5400000" swAng="5400000"/>
                <a:lnTo>
                  <a:pt x="0" y="152391"/>
                </a:lnTo>
                <a:arcTo wR="152391" hR="152391" stAng="10800000" swAng="5400000"/>
                <a:close/>
              </a:path>
            </a:pathLst>
          </a:custGeom>
          <a:solidFill>
            <a:srgbClr val="E8843F"/>
          </a:solidFill>
          <a:ln/>
        </p:spPr>
        <p:txBody>
          <a:bodyPr wrap="square" lIns="0" tIns="0" rIns="0" bIns="0" rtlCol="0" anchor="t">
            <a:normAutofit/>
          </a:bodyPr>
          <a:lstStyle/>
          <a:p>
            <a:pPr marL="0" indent="0" algn="ctr">
              <a:lnSpc>
                <a:spcPts val="2405"/>
              </a:lnSpc>
              <a:buNone/>
            </a:pPr>
            <a:r>
              <a:rPr lang="en-US" sz="1300" b="1" dirty="0">
                <a:solidFill>
                  <a:srgbClr val="16212C"/>
                </a:solidFill>
                <a:latin typeface="IBM Plex Sans" pitchFamily="34" charset="0"/>
                <a:ea typeface="IBM Plex Sans" pitchFamily="34" charset="-122"/>
                <a:cs typeface="IBM Plex Sans" pitchFamily="34" charset="-120"/>
              </a:rPr>
              <a:t>3</a:t>
            </a:r>
            <a:endParaRPr lang="en-US" sz="1300" dirty="0"/>
          </a:p>
        </p:txBody>
      </p:sp>
      <p:sp>
        <p:nvSpPr>
          <p:cNvPr id="11" name="Text 9"/>
          <p:cNvSpPr/>
          <p:nvPr/>
        </p:nvSpPr>
        <p:spPr>
          <a:xfrm>
            <a:off x="1244564" y="3537868"/>
            <a:ext cx="3479564" cy="253964"/>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6212C"/>
                </a:solidFill>
                <a:latin typeface="IBM Plex Sans" pitchFamily="34" charset="0"/>
                <a:ea typeface="IBM Plex Sans" pitchFamily="34" charset="-122"/>
                <a:cs typeface="IBM Plex Sans" pitchFamily="34" charset="-120"/>
              </a:rPr>
              <a:t>Traceable steps</a:t>
            </a:r>
            <a:endParaRPr lang="en-US" sz="1500" dirty="0"/>
          </a:p>
        </p:txBody>
      </p:sp>
      <p:sp>
        <p:nvSpPr>
          <p:cNvPr id="12" name="Text 10"/>
          <p:cNvSpPr/>
          <p:nvPr/>
        </p:nvSpPr>
        <p:spPr>
          <a:xfrm>
            <a:off x="1244564" y="3804496"/>
            <a:ext cx="3479564" cy="487669"/>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D4A57"/>
                </a:solidFill>
                <a:latin typeface="IBM Plex Sans" pitchFamily="34" charset="0"/>
                <a:ea typeface="IBM Plex Sans" pitchFamily="34" charset="-122"/>
                <a:cs typeface="IBM Plex Sans" pitchFamily="34" charset="-120"/>
              </a:rPr>
              <a:t>step_start / step_complete events give per-stage visibility.</a:t>
            </a:r>
            <a:endParaRPr lang="en-US" sz="1300" dirty="0"/>
          </a:p>
        </p:txBody>
      </p:sp>
      <p:sp>
        <p:nvSpPr>
          <p:cNvPr id="13" name="Shape 11"/>
          <p:cNvSpPr/>
          <p:nvPr/>
        </p:nvSpPr>
        <p:spPr>
          <a:xfrm>
            <a:off x="4927564" y="1673730"/>
            <a:ext cx="6451564" cy="3474054"/>
          </a:xfrm>
          <a:prstGeom prst="roundRect">
            <a:avLst>
              <a:gd name="adj" fmla="val 2925"/>
            </a:avLst>
          </a:prstGeom>
          <a:solidFill>
            <a:srgbClr val="16212C"/>
          </a:solidFill>
          <a:ln/>
        </p:spPr>
        <p:txBody>
          <a:bodyPr/>
          <a:lstStyle/>
          <a:p>
            <a:endParaRPr lang="en-CN"/>
          </a:p>
        </p:txBody>
      </p:sp>
      <p:sp>
        <p:nvSpPr>
          <p:cNvPr id="14" name="Text 12"/>
          <p:cNvSpPr/>
          <p:nvPr/>
        </p:nvSpPr>
        <p:spPr>
          <a:xfrm>
            <a:off x="5105364" y="1826121"/>
            <a:ext cx="6278842" cy="238693"/>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9AA9B8"/>
                </a:solidFill>
                <a:latin typeface="JetBrains Mono" pitchFamily="49" charset="0"/>
                <a:ea typeface="JetBrains Mono" pitchFamily="49" charset="-122"/>
                <a:cs typeface="JetBrains Mono" pitchFamily="49" charset="-120"/>
              </a:rPr>
              <a:t>01_prompt_chaining.py · PromptChain.run</a:t>
            </a:r>
            <a:endParaRPr lang="en-US" sz="1200" dirty="0"/>
          </a:p>
        </p:txBody>
      </p:sp>
      <p:sp>
        <p:nvSpPr>
          <p:cNvPr id="15" name="Text 13"/>
          <p:cNvSpPr/>
          <p:nvPr/>
        </p:nvSpPr>
        <p:spPr>
          <a:xfrm>
            <a:off x="5105364" y="2115614"/>
            <a:ext cx="6278842" cy="231098"/>
          </a:xfrm>
          <a:prstGeom prst="rect">
            <a:avLst/>
          </a:prstGeom>
          <a:noFill/>
          <a:ln/>
        </p:spPr>
        <p:txBody>
          <a:bodyPr wrap="none" lIns="0" tIns="0" rIns="0" bIns="0" rtlCol="0" anchor="t">
            <a:normAutofit/>
          </a:bodyPr>
          <a:lstStyle/>
          <a:p>
            <a:pPr marL="0" indent="0" algn="l">
              <a:lnSpc>
                <a:spcPts val="1620"/>
              </a:lnSpc>
              <a:buNone/>
            </a:pPr>
            <a:r>
              <a:rPr lang="en-US" sz="1200" dirty="0">
                <a:solidFill>
                  <a:srgbClr val="7C8FA3"/>
                </a:solidFill>
                <a:latin typeface="JetBrains Mono" pitchFamily="49" charset="0"/>
                <a:ea typeface="JetBrains Mono" pitchFamily="49" charset="-122"/>
                <a:cs typeface="JetBrains Mono" pitchFamily="49" charset="-120"/>
              </a:rPr>
              <a:t>168</a:t>
            </a:r>
            <a:r>
              <a:rPr lang="en-US" sz="1200" dirty="0">
                <a:solidFill>
                  <a:srgbClr val="D6DDE5"/>
                </a:solidFill>
                <a:latin typeface="JetBrains Mono" pitchFamily="49" charset="0"/>
                <a:ea typeface="JetBrains Mono" pitchFamily="49" charset="-122"/>
                <a:cs typeface="JetBrains Mono" pitchFamily="49" charset="-120"/>
              </a:rPr>
              <a:t> def run(self, topic, on_event=None) -&gt; str:</a:t>
            </a:r>
            <a:endParaRPr lang="en-US" sz="1200" dirty="0"/>
          </a:p>
        </p:txBody>
      </p:sp>
      <p:sp>
        <p:nvSpPr>
          <p:cNvPr id="16" name="Text 14"/>
          <p:cNvSpPr/>
          <p:nvPr/>
        </p:nvSpPr>
        <p:spPr>
          <a:xfrm>
            <a:off x="5105364" y="2321313"/>
            <a:ext cx="6278842" cy="231098"/>
          </a:xfrm>
          <a:prstGeom prst="rect">
            <a:avLst/>
          </a:prstGeom>
          <a:noFill/>
          <a:ln/>
        </p:spPr>
        <p:txBody>
          <a:bodyPr wrap="none" lIns="0" tIns="0" rIns="0" bIns="0" rtlCol="0" anchor="t">
            <a:normAutofit/>
          </a:bodyPr>
          <a:lstStyle/>
          <a:p>
            <a:pPr marL="0" indent="0" algn="l">
              <a:lnSpc>
                <a:spcPts val="1620"/>
              </a:lnSpc>
              <a:buNone/>
            </a:pPr>
            <a:r>
              <a:rPr lang="en-US" sz="1200" dirty="0">
                <a:solidFill>
                  <a:srgbClr val="7C8FA3"/>
                </a:solidFill>
                <a:latin typeface="JetBrains Mono" pitchFamily="49" charset="0"/>
                <a:ea typeface="JetBrains Mono" pitchFamily="49" charset="-122"/>
                <a:cs typeface="JetBrains Mono" pitchFamily="49" charset="-120"/>
              </a:rPr>
              <a:t>172</a:t>
            </a:r>
            <a:r>
              <a:rPr lang="en-US" sz="1200" dirty="0">
                <a:solidFill>
                  <a:srgbClr val="D6DDE5"/>
                </a:solidFill>
                <a:latin typeface="JetBrains Mono" pitchFamily="49" charset="0"/>
                <a:ea typeface="JetBrains Mono" pitchFamily="49" charset="-122"/>
                <a:cs typeface="JetBrains Mono" pitchFamily="49" charset="-120"/>
              </a:rPr>
              <a:t>   </a:t>
            </a:r>
            <a:r>
              <a:rPr lang="en-US" sz="1200" dirty="0">
                <a:solidFill>
                  <a:srgbClr val="8798AA"/>
                </a:solidFill>
                <a:latin typeface="JetBrains Mono" pitchFamily="49" charset="0"/>
                <a:ea typeface="JetBrains Mono" pitchFamily="49" charset="-122"/>
                <a:cs typeface="JetBrains Mono" pitchFamily="49" charset="-120"/>
              </a:rPr>
              <a:t># Step 1: Outline</a:t>
            </a:r>
            <a:endParaRPr lang="en-US" sz="1200" dirty="0"/>
          </a:p>
        </p:txBody>
      </p:sp>
      <p:sp>
        <p:nvSpPr>
          <p:cNvPr id="17" name="Text 15"/>
          <p:cNvSpPr/>
          <p:nvPr/>
        </p:nvSpPr>
        <p:spPr>
          <a:xfrm>
            <a:off x="4927564" y="2527012"/>
            <a:ext cx="6451564" cy="205698"/>
          </a:xfrm>
          <a:prstGeom prst="rect">
            <a:avLst/>
          </a:prstGeom>
          <a:solidFill>
            <a:srgbClr val="3A2B20"/>
          </a:solidFill>
          <a:ln/>
        </p:spPr>
        <p:txBody>
          <a:bodyPr wrap="none" lIns="177223" tIns="0" rIns="0" bIns="0" rtlCol="0" anchor="t">
            <a:normAutofit/>
          </a:bodyPr>
          <a:lstStyle/>
          <a:p>
            <a:pPr marL="0" indent="0" algn="l">
              <a:lnSpc>
                <a:spcPts val="1620"/>
              </a:lnSpc>
              <a:buNone/>
            </a:pPr>
            <a:r>
              <a:rPr lang="en-US" sz="1200" dirty="0">
                <a:solidFill>
                  <a:srgbClr val="7C8FA3"/>
                </a:solidFill>
                <a:latin typeface="JetBrains Mono" pitchFamily="49" charset="0"/>
                <a:ea typeface="JetBrains Mono" pitchFamily="49" charset="-122"/>
                <a:cs typeface="JetBrains Mono" pitchFamily="49" charset="-120"/>
              </a:rPr>
              <a:t>173</a:t>
            </a:r>
            <a:r>
              <a:rPr lang="en-US" sz="1200" dirty="0">
                <a:solidFill>
                  <a:srgbClr val="D6DDE5"/>
                </a:solidFill>
                <a:latin typeface="JetBrains Mono" pitchFamily="49" charset="0"/>
                <a:ea typeface="JetBrains Mono" pitchFamily="49" charset="-122"/>
                <a:cs typeface="JetBrains Mono" pitchFamily="49" charset="-120"/>
              </a:rPr>
              <a:t>   self._notify("step_start", {"name": "Outline"}) </a:t>
            </a:r>
            <a:r>
              <a:rPr lang="en-US" sz="1200" b="1" dirty="0">
                <a:solidFill>
                  <a:srgbClr val="F2A46B"/>
                </a:solidFill>
                <a:latin typeface="JetBrains Mono" pitchFamily="49" charset="0"/>
                <a:ea typeface="JetBrains Mono" pitchFamily="49" charset="-122"/>
                <a:cs typeface="JetBrains Mono" pitchFamily="49" charset="-120"/>
              </a:rPr>
              <a:t>← 3</a:t>
            </a:r>
            <a:endParaRPr lang="en-US" sz="1200" dirty="0"/>
          </a:p>
        </p:txBody>
      </p:sp>
      <p:sp>
        <p:nvSpPr>
          <p:cNvPr id="18" name="Shape 16"/>
          <p:cNvSpPr/>
          <p:nvPr/>
        </p:nvSpPr>
        <p:spPr>
          <a:xfrm>
            <a:off x="4946614" y="2527012"/>
            <a:ext cx="0" cy="205698"/>
          </a:xfrm>
          <a:prstGeom prst="line">
            <a:avLst/>
          </a:prstGeom>
          <a:noFill/>
          <a:ln w="38100">
            <a:solidFill>
              <a:srgbClr val="E8843F"/>
            </a:solidFill>
            <a:prstDash val="solid"/>
          </a:ln>
        </p:spPr>
        <p:txBody>
          <a:bodyPr/>
          <a:lstStyle/>
          <a:p>
            <a:endParaRPr lang="en-CN"/>
          </a:p>
        </p:txBody>
      </p:sp>
      <p:sp>
        <p:nvSpPr>
          <p:cNvPr id="19" name="Text 17"/>
          <p:cNvSpPr/>
          <p:nvPr/>
        </p:nvSpPr>
        <p:spPr>
          <a:xfrm>
            <a:off x="4927564" y="2732708"/>
            <a:ext cx="6451564" cy="205698"/>
          </a:xfrm>
          <a:prstGeom prst="rect">
            <a:avLst/>
          </a:prstGeom>
          <a:solidFill>
            <a:srgbClr val="3A2B20"/>
          </a:solidFill>
          <a:ln/>
        </p:spPr>
        <p:txBody>
          <a:bodyPr wrap="none" lIns="177223" tIns="0" rIns="0" bIns="0" rtlCol="0" anchor="t">
            <a:normAutofit/>
          </a:bodyPr>
          <a:lstStyle/>
          <a:p>
            <a:pPr marL="0" indent="0" algn="l">
              <a:lnSpc>
                <a:spcPts val="1620"/>
              </a:lnSpc>
              <a:buNone/>
            </a:pPr>
            <a:r>
              <a:rPr lang="en-US" sz="1200" dirty="0">
                <a:solidFill>
                  <a:srgbClr val="7C8FA3"/>
                </a:solidFill>
                <a:latin typeface="JetBrains Mono" pitchFamily="49" charset="0"/>
                <a:ea typeface="JetBrains Mono" pitchFamily="49" charset="-122"/>
                <a:cs typeface="JetBrains Mono" pitchFamily="49" charset="-120"/>
              </a:rPr>
              <a:t>174</a:t>
            </a:r>
            <a:r>
              <a:rPr lang="en-US" sz="1200" dirty="0">
                <a:solidFill>
                  <a:srgbClr val="D6DDE5"/>
                </a:solidFill>
                <a:latin typeface="JetBrains Mono" pitchFamily="49" charset="0"/>
                <a:ea typeface="JetBrains Mono" pitchFamily="49" charset="-122"/>
                <a:cs typeface="JetBrains Mono" pitchFamily="49" charset="-120"/>
              </a:rPr>
              <a:t>   outline = self._step_outline(topic) </a:t>
            </a:r>
            <a:r>
              <a:rPr lang="en-US" sz="1200" b="1" dirty="0">
                <a:solidFill>
                  <a:srgbClr val="F2A46B"/>
                </a:solidFill>
                <a:latin typeface="JetBrains Mono" pitchFamily="49" charset="0"/>
                <a:ea typeface="JetBrains Mono" pitchFamily="49" charset="-122"/>
                <a:cs typeface="JetBrains Mono" pitchFamily="49" charset="-120"/>
              </a:rPr>
              <a:t>← 1</a:t>
            </a:r>
            <a:endParaRPr lang="en-US" sz="1200" dirty="0"/>
          </a:p>
        </p:txBody>
      </p:sp>
      <p:sp>
        <p:nvSpPr>
          <p:cNvPr id="20" name="Shape 18"/>
          <p:cNvSpPr/>
          <p:nvPr/>
        </p:nvSpPr>
        <p:spPr>
          <a:xfrm>
            <a:off x="4946614" y="2732708"/>
            <a:ext cx="0" cy="205698"/>
          </a:xfrm>
          <a:prstGeom prst="line">
            <a:avLst/>
          </a:prstGeom>
          <a:noFill/>
          <a:ln w="38100">
            <a:solidFill>
              <a:srgbClr val="E8843F"/>
            </a:solidFill>
            <a:prstDash val="solid"/>
          </a:ln>
        </p:spPr>
        <p:txBody>
          <a:bodyPr/>
          <a:lstStyle/>
          <a:p>
            <a:endParaRPr lang="en-CN"/>
          </a:p>
        </p:txBody>
      </p:sp>
      <p:sp>
        <p:nvSpPr>
          <p:cNvPr id="21" name="Text 19"/>
          <p:cNvSpPr/>
          <p:nvPr/>
        </p:nvSpPr>
        <p:spPr>
          <a:xfrm>
            <a:off x="4927564" y="2938407"/>
            <a:ext cx="6451564" cy="205698"/>
          </a:xfrm>
          <a:prstGeom prst="rect">
            <a:avLst/>
          </a:prstGeom>
          <a:solidFill>
            <a:srgbClr val="3A2B20"/>
          </a:solidFill>
          <a:ln/>
        </p:spPr>
        <p:txBody>
          <a:bodyPr wrap="none" lIns="177223" tIns="0" rIns="0" bIns="0" rtlCol="0" anchor="t">
            <a:normAutofit/>
          </a:bodyPr>
          <a:lstStyle/>
          <a:p>
            <a:pPr marL="0" indent="0" algn="l">
              <a:lnSpc>
                <a:spcPts val="1620"/>
              </a:lnSpc>
              <a:buNone/>
            </a:pPr>
            <a:r>
              <a:rPr lang="en-US" sz="1200" dirty="0">
                <a:solidFill>
                  <a:srgbClr val="7C8FA3"/>
                </a:solidFill>
                <a:latin typeface="JetBrains Mono" pitchFamily="49" charset="0"/>
                <a:ea typeface="JetBrains Mono" pitchFamily="49" charset="-122"/>
                <a:cs typeface="JetBrains Mono" pitchFamily="49" charset="-120"/>
              </a:rPr>
              <a:t>175</a:t>
            </a:r>
            <a:r>
              <a:rPr lang="en-US" sz="1200" dirty="0">
                <a:solidFill>
                  <a:srgbClr val="D6DDE5"/>
                </a:solidFill>
                <a:latin typeface="JetBrains Mono" pitchFamily="49" charset="0"/>
                <a:ea typeface="JetBrains Mono" pitchFamily="49" charset="-122"/>
                <a:cs typeface="JetBrains Mono" pitchFamily="49" charset="-120"/>
              </a:rPr>
              <a:t>   if not outline.strip(): </a:t>
            </a:r>
            <a:r>
              <a:rPr lang="en-US" sz="1200" b="1" dirty="0">
                <a:solidFill>
                  <a:srgbClr val="F2A46B"/>
                </a:solidFill>
                <a:latin typeface="JetBrains Mono" pitchFamily="49" charset="0"/>
                <a:ea typeface="JetBrains Mono" pitchFamily="49" charset="-122"/>
                <a:cs typeface="JetBrains Mono" pitchFamily="49" charset="-120"/>
              </a:rPr>
              <a:t>← 2</a:t>
            </a:r>
            <a:endParaRPr lang="en-US" sz="1200" dirty="0"/>
          </a:p>
        </p:txBody>
      </p:sp>
      <p:sp>
        <p:nvSpPr>
          <p:cNvPr id="22" name="Shape 20"/>
          <p:cNvSpPr/>
          <p:nvPr/>
        </p:nvSpPr>
        <p:spPr>
          <a:xfrm>
            <a:off x="4946614" y="2938407"/>
            <a:ext cx="0" cy="205698"/>
          </a:xfrm>
          <a:prstGeom prst="line">
            <a:avLst/>
          </a:prstGeom>
          <a:noFill/>
          <a:ln w="38100">
            <a:solidFill>
              <a:srgbClr val="E8843F"/>
            </a:solidFill>
            <a:prstDash val="solid"/>
          </a:ln>
        </p:spPr>
        <p:txBody>
          <a:bodyPr/>
          <a:lstStyle/>
          <a:p>
            <a:endParaRPr lang="en-CN"/>
          </a:p>
        </p:txBody>
      </p:sp>
      <p:sp>
        <p:nvSpPr>
          <p:cNvPr id="23" name="Text 21"/>
          <p:cNvSpPr/>
          <p:nvPr/>
        </p:nvSpPr>
        <p:spPr>
          <a:xfrm>
            <a:off x="4927564" y="3144106"/>
            <a:ext cx="6451564" cy="205698"/>
          </a:xfrm>
          <a:prstGeom prst="rect">
            <a:avLst/>
          </a:prstGeom>
          <a:solidFill>
            <a:srgbClr val="3A2B20"/>
          </a:solidFill>
          <a:ln/>
        </p:spPr>
        <p:txBody>
          <a:bodyPr wrap="none" lIns="177223" tIns="0" rIns="0" bIns="0" rtlCol="0" anchor="t">
            <a:normAutofit/>
          </a:bodyPr>
          <a:lstStyle/>
          <a:p>
            <a:pPr marL="0" indent="0" algn="l">
              <a:lnSpc>
                <a:spcPts val="1620"/>
              </a:lnSpc>
              <a:buNone/>
            </a:pPr>
            <a:r>
              <a:rPr lang="en-US" sz="1200" dirty="0">
                <a:solidFill>
                  <a:srgbClr val="7C8FA3"/>
                </a:solidFill>
                <a:latin typeface="JetBrains Mono" pitchFamily="49" charset="0"/>
                <a:ea typeface="JetBrains Mono" pitchFamily="49" charset="-122"/>
                <a:cs typeface="JetBrains Mono" pitchFamily="49" charset="-120"/>
              </a:rPr>
              <a:t>176</a:t>
            </a:r>
            <a:r>
              <a:rPr lang="en-US" sz="1200" dirty="0">
                <a:solidFill>
                  <a:srgbClr val="D6DDE5"/>
                </a:solidFill>
                <a:latin typeface="JetBrains Mono" pitchFamily="49" charset="0"/>
                <a:ea typeface="JetBrains Mono" pitchFamily="49" charset="-122"/>
                <a:cs typeface="JetBrains Mono" pitchFamily="49" charset="-120"/>
              </a:rPr>
              <a:t>     raise ValueError(</a:t>
            </a:r>
            <a:r>
              <a:rPr lang="en-US" sz="1200" dirty="0">
                <a:solidFill>
                  <a:srgbClr val="A9CF8C"/>
                </a:solidFill>
                <a:latin typeface="JetBrains Mono" pitchFamily="49" charset="0"/>
                <a:ea typeface="JetBrains Mono" pitchFamily="49" charset="-122"/>
                <a:cs typeface="JetBrains Mono" pitchFamily="49" charset="-120"/>
              </a:rPr>
              <a:t>"Outliner produced empty…"</a:t>
            </a:r>
            <a:r>
              <a:rPr lang="en-US" sz="1200" dirty="0">
                <a:solidFill>
                  <a:srgbClr val="D6DDE5"/>
                </a:solidFill>
                <a:latin typeface="JetBrains Mono" pitchFamily="49" charset="0"/>
                <a:ea typeface="JetBrains Mono" pitchFamily="49" charset="-122"/>
                <a:cs typeface="JetBrains Mono" pitchFamily="49" charset="-120"/>
              </a:rPr>
              <a:t>)</a:t>
            </a:r>
            <a:endParaRPr lang="en-US" sz="1200" dirty="0"/>
          </a:p>
        </p:txBody>
      </p:sp>
      <p:sp>
        <p:nvSpPr>
          <p:cNvPr id="24" name="Shape 22"/>
          <p:cNvSpPr/>
          <p:nvPr/>
        </p:nvSpPr>
        <p:spPr>
          <a:xfrm>
            <a:off x="4946614" y="3144106"/>
            <a:ext cx="0" cy="205698"/>
          </a:xfrm>
          <a:prstGeom prst="line">
            <a:avLst/>
          </a:prstGeom>
          <a:noFill/>
          <a:ln w="38100">
            <a:solidFill>
              <a:srgbClr val="E8843F"/>
            </a:solidFill>
            <a:prstDash val="solid"/>
          </a:ln>
        </p:spPr>
        <p:txBody>
          <a:bodyPr/>
          <a:lstStyle/>
          <a:p>
            <a:endParaRPr lang="en-CN"/>
          </a:p>
        </p:txBody>
      </p:sp>
      <p:sp>
        <p:nvSpPr>
          <p:cNvPr id="25" name="Text 23"/>
          <p:cNvSpPr/>
          <p:nvPr/>
        </p:nvSpPr>
        <p:spPr>
          <a:xfrm>
            <a:off x="5105364" y="3349805"/>
            <a:ext cx="6278842" cy="231098"/>
          </a:xfrm>
          <a:prstGeom prst="rect">
            <a:avLst/>
          </a:prstGeom>
          <a:noFill/>
          <a:ln/>
        </p:spPr>
        <p:txBody>
          <a:bodyPr wrap="none" lIns="0" tIns="0" rIns="0" bIns="0" rtlCol="0" anchor="t">
            <a:normAutofit/>
          </a:bodyPr>
          <a:lstStyle/>
          <a:p>
            <a:pPr marL="0" indent="0" algn="l">
              <a:lnSpc>
                <a:spcPts val="1620"/>
              </a:lnSpc>
              <a:buNone/>
            </a:pPr>
            <a:r>
              <a:rPr lang="en-US" sz="1200" dirty="0">
                <a:solidFill>
                  <a:srgbClr val="7C8FA3"/>
                </a:solidFill>
                <a:latin typeface="JetBrains Mono" pitchFamily="49" charset="0"/>
                <a:ea typeface="JetBrains Mono" pitchFamily="49" charset="-122"/>
                <a:cs typeface="JetBrains Mono" pitchFamily="49" charset="-120"/>
              </a:rPr>
              <a:t>178</a:t>
            </a:r>
            <a:r>
              <a:rPr lang="en-US" sz="1200" dirty="0">
                <a:solidFill>
                  <a:srgbClr val="D6DDE5"/>
                </a:solidFill>
                <a:latin typeface="JetBrains Mono" pitchFamily="49" charset="0"/>
                <a:ea typeface="JetBrains Mono" pitchFamily="49" charset="-122"/>
                <a:cs typeface="JetBrains Mono" pitchFamily="49" charset="-120"/>
              </a:rPr>
              <a:t>   self._notify("step_complete", {"name": "Outline", …})</a:t>
            </a:r>
            <a:endParaRPr lang="en-US" sz="1200" dirty="0"/>
          </a:p>
        </p:txBody>
      </p:sp>
      <p:sp>
        <p:nvSpPr>
          <p:cNvPr id="26" name="Text 24"/>
          <p:cNvSpPr/>
          <p:nvPr/>
        </p:nvSpPr>
        <p:spPr>
          <a:xfrm>
            <a:off x="5105364" y="3555504"/>
            <a:ext cx="6278842" cy="231098"/>
          </a:xfrm>
          <a:prstGeom prst="rect">
            <a:avLst/>
          </a:prstGeom>
          <a:noFill/>
          <a:ln/>
        </p:spPr>
        <p:txBody>
          <a:bodyPr wrap="none" lIns="0" tIns="0" rIns="0" bIns="0" rtlCol="0" anchor="t">
            <a:normAutofit/>
          </a:bodyPr>
          <a:lstStyle/>
          <a:p>
            <a:pPr marL="0" indent="0" algn="l">
              <a:lnSpc>
                <a:spcPts val="1620"/>
              </a:lnSpc>
              <a:buNone/>
            </a:pPr>
            <a:r>
              <a:rPr lang="en-US" sz="1200" dirty="0">
                <a:solidFill>
                  <a:srgbClr val="7C8FA3"/>
                </a:solidFill>
                <a:latin typeface="JetBrains Mono" pitchFamily="49" charset="0"/>
                <a:ea typeface="JetBrains Mono" pitchFamily="49" charset="-122"/>
                <a:cs typeface="JetBrains Mono" pitchFamily="49" charset="-120"/>
              </a:rPr>
              <a:t>180</a:t>
            </a:r>
            <a:r>
              <a:rPr lang="en-US" sz="1200" dirty="0">
                <a:solidFill>
                  <a:srgbClr val="D6DDE5"/>
                </a:solidFill>
                <a:latin typeface="JetBrains Mono" pitchFamily="49" charset="0"/>
                <a:ea typeface="JetBrains Mono" pitchFamily="49" charset="-122"/>
                <a:cs typeface="JetBrains Mono" pitchFamily="49" charset="-120"/>
              </a:rPr>
              <a:t>   </a:t>
            </a:r>
            <a:r>
              <a:rPr lang="en-US" sz="1200" dirty="0">
                <a:solidFill>
                  <a:srgbClr val="8798AA"/>
                </a:solidFill>
                <a:latin typeface="JetBrains Mono" pitchFamily="49" charset="0"/>
                <a:ea typeface="JetBrains Mono" pitchFamily="49" charset="-122"/>
                <a:cs typeface="JetBrains Mono" pitchFamily="49" charset="-120"/>
              </a:rPr>
              <a:t># Step 2: Write</a:t>
            </a:r>
            <a:endParaRPr lang="en-US" sz="1200" dirty="0"/>
          </a:p>
        </p:txBody>
      </p:sp>
      <p:sp>
        <p:nvSpPr>
          <p:cNvPr id="27" name="Text 25"/>
          <p:cNvSpPr/>
          <p:nvPr/>
        </p:nvSpPr>
        <p:spPr>
          <a:xfrm>
            <a:off x="4927564" y="3761200"/>
            <a:ext cx="6451564" cy="205698"/>
          </a:xfrm>
          <a:prstGeom prst="rect">
            <a:avLst/>
          </a:prstGeom>
          <a:solidFill>
            <a:srgbClr val="3A2B20"/>
          </a:solidFill>
          <a:ln/>
        </p:spPr>
        <p:txBody>
          <a:bodyPr wrap="none" lIns="177223" tIns="0" rIns="0" bIns="0" rtlCol="0" anchor="t">
            <a:normAutofit/>
          </a:bodyPr>
          <a:lstStyle/>
          <a:p>
            <a:pPr marL="0" indent="0" algn="l">
              <a:lnSpc>
                <a:spcPts val="1620"/>
              </a:lnSpc>
              <a:buNone/>
            </a:pPr>
            <a:r>
              <a:rPr lang="en-US" sz="1200" dirty="0">
                <a:solidFill>
                  <a:srgbClr val="7C8FA3"/>
                </a:solidFill>
                <a:latin typeface="JetBrains Mono" pitchFamily="49" charset="0"/>
                <a:ea typeface="JetBrains Mono" pitchFamily="49" charset="-122"/>
                <a:cs typeface="JetBrains Mono" pitchFamily="49" charset="-120"/>
              </a:rPr>
              <a:t>183</a:t>
            </a:r>
            <a:r>
              <a:rPr lang="en-US" sz="1200" dirty="0">
                <a:solidFill>
                  <a:srgbClr val="D6DDE5"/>
                </a:solidFill>
                <a:latin typeface="JetBrains Mono" pitchFamily="49" charset="0"/>
                <a:ea typeface="JetBrains Mono" pitchFamily="49" charset="-122"/>
                <a:cs typeface="JetBrains Mono" pitchFamily="49" charset="-120"/>
              </a:rPr>
              <a:t>   draft, searches = self._step_write(outline) </a:t>
            </a:r>
            <a:r>
              <a:rPr lang="en-US" sz="1200" b="1" dirty="0">
                <a:solidFill>
                  <a:srgbClr val="F2A46B"/>
                </a:solidFill>
                <a:latin typeface="JetBrains Mono" pitchFamily="49" charset="0"/>
                <a:ea typeface="JetBrains Mono" pitchFamily="49" charset="-122"/>
                <a:cs typeface="JetBrains Mono" pitchFamily="49" charset="-120"/>
              </a:rPr>
              <a:t>← 1</a:t>
            </a:r>
            <a:endParaRPr lang="en-US" sz="1200" dirty="0"/>
          </a:p>
        </p:txBody>
      </p:sp>
      <p:sp>
        <p:nvSpPr>
          <p:cNvPr id="28" name="Shape 26"/>
          <p:cNvSpPr/>
          <p:nvPr/>
        </p:nvSpPr>
        <p:spPr>
          <a:xfrm>
            <a:off x="4946614" y="3761200"/>
            <a:ext cx="0" cy="205698"/>
          </a:xfrm>
          <a:prstGeom prst="line">
            <a:avLst/>
          </a:prstGeom>
          <a:noFill/>
          <a:ln w="38100">
            <a:solidFill>
              <a:srgbClr val="E8843F"/>
            </a:solidFill>
            <a:prstDash val="solid"/>
          </a:ln>
        </p:spPr>
        <p:txBody>
          <a:bodyPr/>
          <a:lstStyle/>
          <a:p>
            <a:endParaRPr lang="en-CN"/>
          </a:p>
        </p:txBody>
      </p:sp>
      <p:sp>
        <p:nvSpPr>
          <p:cNvPr id="29" name="Text 27"/>
          <p:cNvSpPr/>
          <p:nvPr/>
        </p:nvSpPr>
        <p:spPr>
          <a:xfrm>
            <a:off x="5105364" y="3966899"/>
            <a:ext cx="6278842" cy="231098"/>
          </a:xfrm>
          <a:prstGeom prst="rect">
            <a:avLst/>
          </a:prstGeom>
          <a:noFill/>
          <a:ln/>
        </p:spPr>
        <p:txBody>
          <a:bodyPr wrap="none" lIns="0" tIns="0" rIns="0" bIns="0" rtlCol="0" anchor="t">
            <a:normAutofit/>
          </a:bodyPr>
          <a:lstStyle/>
          <a:p>
            <a:pPr marL="0" indent="0" algn="l">
              <a:lnSpc>
                <a:spcPts val="1620"/>
              </a:lnSpc>
              <a:buNone/>
            </a:pPr>
            <a:r>
              <a:rPr lang="en-US" sz="1200" dirty="0">
                <a:solidFill>
                  <a:srgbClr val="7C8FA3"/>
                </a:solidFill>
                <a:latin typeface="JetBrains Mono" pitchFamily="49" charset="0"/>
                <a:ea typeface="JetBrains Mono" pitchFamily="49" charset="-122"/>
                <a:cs typeface="JetBrains Mono" pitchFamily="49" charset="-120"/>
              </a:rPr>
              <a:t>185</a:t>
            </a:r>
            <a:r>
              <a:rPr lang="en-US" sz="1200" dirty="0">
                <a:solidFill>
                  <a:srgbClr val="D6DDE5"/>
                </a:solidFill>
                <a:latin typeface="JetBrains Mono" pitchFamily="49" charset="0"/>
                <a:ea typeface="JetBrains Mono" pitchFamily="49" charset="-122"/>
                <a:cs typeface="JetBrains Mono" pitchFamily="49" charset="-120"/>
              </a:rPr>
              <a:t>   self._notify("step_complete", {"name": "Write", …})</a:t>
            </a:r>
            <a:endParaRPr lang="en-US" sz="1200" dirty="0"/>
          </a:p>
        </p:txBody>
      </p:sp>
      <p:sp>
        <p:nvSpPr>
          <p:cNvPr id="30" name="Text 28"/>
          <p:cNvSpPr/>
          <p:nvPr/>
        </p:nvSpPr>
        <p:spPr>
          <a:xfrm>
            <a:off x="5105364" y="4172598"/>
            <a:ext cx="6278842" cy="231098"/>
          </a:xfrm>
          <a:prstGeom prst="rect">
            <a:avLst/>
          </a:prstGeom>
          <a:noFill/>
          <a:ln/>
        </p:spPr>
        <p:txBody>
          <a:bodyPr wrap="none" lIns="0" tIns="0" rIns="0" bIns="0" rtlCol="0" anchor="t">
            <a:normAutofit/>
          </a:bodyPr>
          <a:lstStyle/>
          <a:p>
            <a:pPr marL="0" indent="0" algn="l">
              <a:lnSpc>
                <a:spcPts val="1620"/>
              </a:lnSpc>
              <a:buNone/>
            </a:pPr>
            <a:r>
              <a:rPr lang="en-US" sz="1200" dirty="0">
                <a:solidFill>
                  <a:srgbClr val="7C8FA3"/>
                </a:solidFill>
                <a:latin typeface="JetBrains Mono" pitchFamily="49" charset="0"/>
                <a:ea typeface="JetBrains Mono" pitchFamily="49" charset="-122"/>
                <a:cs typeface="JetBrains Mono" pitchFamily="49" charset="-120"/>
              </a:rPr>
              <a:t>187</a:t>
            </a:r>
            <a:r>
              <a:rPr lang="en-US" sz="1200" dirty="0">
                <a:solidFill>
                  <a:srgbClr val="D6DDE5"/>
                </a:solidFill>
                <a:latin typeface="JetBrains Mono" pitchFamily="49" charset="0"/>
                <a:ea typeface="JetBrains Mono" pitchFamily="49" charset="-122"/>
                <a:cs typeface="JetBrains Mono" pitchFamily="49" charset="-120"/>
              </a:rPr>
              <a:t>   </a:t>
            </a:r>
            <a:r>
              <a:rPr lang="en-US" sz="1200" dirty="0">
                <a:solidFill>
                  <a:srgbClr val="8798AA"/>
                </a:solidFill>
                <a:latin typeface="JetBrains Mono" pitchFamily="49" charset="0"/>
                <a:ea typeface="JetBrains Mono" pitchFamily="49" charset="-122"/>
                <a:cs typeface="JetBrains Mono" pitchFamily="49" charset="-120"/>
              </a:rPr>
              <a:t># Step 3: Edit</a:t>
            </a:r>
            <a:endParaRPr lang="en-US" sz="1200" dirty="0"/>
          </a:p>
        </p:txBody>
      </p:sp>
      <p:sp>
        <p:nvSpPr>
          <p:cNvPr id="31" name="Text 29"/>
          <p:cNvSpPr/>
          <p:nvPr/>
        </p:nvSpPr>
        <p:spPr>
          <a:xfrm>
            <a:off x="4927564" y="4378297"/>
            <a:ext cx="6451564" cy="205698"/>
          </a:xfrm>
          <a:prstGeom prst="rect">
            <a:avLst/>
          </a:prstGeom>
          <a:solidFill>
            <a:srgbClr val="3A2B20"/>
          </a:solidFill>
          <a:ln/>
        </p:spPr>
        <p:txBody>
          <a:bodyPr wrap="none" lIns="177223" tIns="0" rIns="0" bIns="0" rtlCol="0" anchor="t">
            <a:normAutofit/>
          </a:bodyPr>
          <a:lstStyle/>
          <a:p>
            <a:pPr marL="0" indent="0" algn="l">
              <a:lnSpc>
                <a:spcPts val="1620"/>
              </a:lnSpc>
              <a:buNone/>
            </a:pPr>
            <a:r>
              <a:rPr lang="en-US" sz="1200" dirty="0">
                <a:solidFill>
                  <a:srgbClr val="7C8FA3"/>
                </a:solidFill>
                <a:latin typeface="JetBrains Mono" pitchFamily="49" charset="0"/>
                <a:ea typeface="JetBrains Mono" pitchFamily="49" charset="-122"/>
                <a:cs typeface="JetBrains Mono" pitchFamily="49" charset="-120"/>
              </a:rPr>
              <a:t>189</a:t>
            </a:r>
            <a:r>
              <a:rPr lang="en-US" sz="1200" dirty="0">
                <a:solidFill>
                  <a:srgbClr val="D6DDE5"/>
                </a:solidFill>
                <a:latin typeface="JetBrains Mono" pitchFamily="49" charset="0"/>
                <a:ea typeface="JetBrains Mono" pitchFamily="49" charset="-122"/>
                <a:cs typeface="JetBrains Mono" pitchFamily="49" charset="-120"/>
              </a:rPr>
              <a:t>   final = self._step_edit(draft) </a:t>
            </a:r>
            <a:r>
              <a:rPr lang="en-US" sz="1200" b="1" dirty="0">
                <a:solidFill>
                  <a:srgbClr val="F2A46B"/>
                </a:solidFill>
                <a:latin typeface="JetBrains Mono" pitchFamily="49" charset="0"/>
                <a:ea typeface="JetBrains Mono" pitchFamily="49" charset="-122"/>
                <a:cs typeface="JetBrains Mono" pitchFamily="49" charset="-120"/>
              </a:rPr>
              <a:t>← 1</a:t>
            </a:r>
            <a:endParaRPr lang="en-US" sz="1200" dirty="0"/>
          </a:p>
        </p:txBody>
      </p:sp>
      <p:sp>
        <p:nvSpPr>
          <p:cNvPr id="32" name="Shape 30"/>
          <p:cNvSpPr/>
          <p:nvPr/>
        </p:nvSpPr>
        <p:spPr>
          <a:xfrm>
            <a:off x="4946614" y="4378297"/>
            <a:ext cx="0" cy="205698"/>
          </a:xfrm>
          <a:prstGeom prst="line">
            <a:avLst/>
          </a:prstGeom>
          <a:noFill/>
          <a:ln w="38100">
            <a:solidFill>
              <a:srgbClr val="E8843F"/>
            </a:solidFill>
            <a:prstDash val="solid"/>
          </a:ln>
        </p:spPr>
        <p:txBody>
          <a:bodyPr/>
          <a:lstStyle/>
          <a:p>
            <a:endParaRPr lang="en-CN"/>
          </a:p>
        </p:txBody>
      </p:sp>
      <p:sp>
        <p:nvSpPr>
          <p:cNvPr id="33" name="Text 31"/>
          <p:cNvSpPr/>
          <p:nvPr/>
        </p:nvSpPr>
        <p:spPr>
          <a:xfrm>
            <a:off x="5105364" y="4583996"/>
            <a:ext cx="6278842" cy="231098"/>
          </a:xfrm>
          <a:prstGeom prst="rect">
            <a:avLst/>
          </a:prstGeom>
          <a:noFill/>
          <a:ln/>
        </p:spPr>
        <p:txBody>
          <a:bodyPr wrap="none" lIns="0" tIns="0" rIns="0" bIns="0" rtlCol="0" anchor="t">
            <a:normAutofit/>
          </a:bodyPr>
          <a:lstStyle/>
          <a:p>
            <a:pPr marL="0" indent="0" algn="l">
              <a:lnSpc>
                <a:spcPts val="1620"/>
              </a:lnSpc>
              <a:buNone/>
            </a:pPr>
            <a:r>
              <a:rPr lang="en-US" sz="1200" dirty="0">
                <a:solidFill>
                  <a:srgbClr val="7C8FA3"/>
                </a:solidFill>
                <a:latin typeface="JetBrains Mono" pitchFamily="49" charset="0"/>
                <a:ea typeface="JetBrains Mono" pitchFamily="49" charset="-122"/>
                <a:cs typeface="JetBrains Mono" pitchFamily="49" charset="-120"/>
              </a:rPr>
              <a:t>193</a:t>
            </a:r>
            <a:r>
              <a:rPr lang="en-US" sz="1200" dirty="0">
                <a:solidFill>
                  <a:srgbClr val="D6DDE5"/>
                </a:solidFill>
                <a:latin typeface="JetBrains Mono" pitchFamily="49" charset="0"/>
                <a:ea typeface="JetBrains Mono" pitchFamily="49" charset="-122"/>
                <a:cs typeface="JetBrains Mono" pitchFamily="49" charset="-120"/>
              </a:rPr>
              <a:t>   self._notify("chain_complete", {})</a:t>
            </a:r>
            <a:endParaRPr lang="en-US" sz="1200" dirty="0"/>
          </a:p>
        </p:txBody>
      </p:sp>
      <p:sp>
        <p:nvSpPr>
          <p:cNvPr id="34" name="Text 32"/>
          <p:cNvSpPr/>
          <p:nvPr/>
        </p:nvSpPr>
        <p:spPr>
          <a:xfrm>
            <a:off x="5105364" y="4789695"/>
            <a:ext cx="6278842" cy="231098"/>
          </a:xfrm>
          <a:prstGeom prst="rect">
            <a:avLst/>
          </a:prstGeom>
          <a:noFill/>
          <a:ln/>
        </p:spPr>
        <p:txBody>
          <a:bodyPr wrap="none" lIns="0" tIns="0" rIns="0" bIns="0" rtlCol="0" anchor="t">
            <a:normAutofit/>
          </a:bodyPr>
          <a:lstStyle/>
          <a:p>
            <a:pPr marL="0" indent="0" algn="l">
              <a:lnSpc>
                <a:spcPts val="1620"/>
              </a:lnSpc>
              <a:buNone/>
            </a:pPr>
            <a:r>
              <a:rPr lang="en-US" sz="1200" dirty="0">
                <a:solidFill>
                  <a:srgbClr val="7C8FA3"/>
                </a:solidFill>
                <a:latin typeface="JetBrains Mono" pitchFamily="49" charset="0"/>
                <a:ea typeface="JetBrains Mono" pitchFamily="49" charset="-122"/>
                <a:cs typeface="JetBrains Mono" pitchFamily="49" charset="-120"/>
              </a:rPr>
              <a:t>194</a:t>
            </a:r>
            <a:r>
              <a:rPr lang="en-US" sz="1200" dirty="0">
                <a:solidFill>
                  <a:srgbClr val="D6DDE5"/>
                </a:solidFill>
                <a:latin typeface="JetBrains Mono" pitchFamily="49" charset="0"/>
                <a:ea typeface="JetBrains Mono" pitchFamily="49" charset="-122"/>
                <a:cs typeface="JetBrains Mono" pitchFamily="49" charset="-120"/>
              </a:rPr>
              <a:t>   return final</a:t>
            </a:r>
            <a:endParaRPr lang="en-US" sz="1200" dirty="0"/>
          </a:p>
        </p:txBody>
      </p:sp>
      <p:sp>
        <p:nvSpPr>
          <p:cNvPr id="35" name="Text 33"/>
          <p:cNvSpPr/>
          <p:nvPr/>
        </p:nvSpPr>
        <p:spPr>
          <a:xfrm>
            <a:off x="812782" y="6238289"/>
            <a:ext cx="967994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7684"/>
                </a:solidFill>
                <a:latin typeface="IBM Plex Sans" pitchFamily="34" charset="0"/>
                <a:ea typeface="IBM Plex Sans" pitchFamily="34" charset="-122"/>
                <a:cs typeface="IBM Plex Sans" pitchFamily="34" charset="-120"/>
              </a:rPr>
              <a:t>01-prompt-chaining/01_prompt_chaining.py L168–194 · token_tracker.report() lines omitted</a:t>
            </a:r>
            <a:endParaRPr lang="en-US" sz="1200" dirty="0"/>
          </a:p>
        </p:txBody>
      </p:sp>
      <p:sp>
        <p:nvSpPr>
          <p:cNvPr id="36" name="Text 34"/>
          <p:cNvSpPr/>
          <p:nvPr/>
        </p:nvSpPr>
        <p:spPr>
          <a:xfrm>
            <a:off x="10312418" y="6238289"/>
            <a:ext cx="1066800" cy="238720"/>
          </a:xfrm>
          <a:prstGeom prst="rect">
            <a:avLst/>
          </a:prstGeom>
          <a:noFill/>
          <a:ln/>
        </p:spPr>
        <p:txBody>
          <a:bodyPr wrap="square" lIns="0" tIns="0" rIns="0" bIns="0" rtlCol="0" anchor="t">
            <a:normAutofit/>
          </a:bodyPr>
          <a:lstStyle/>
          <a:p>
            <a:pPr marL="0" indent="0" algn="r">
              <a:lnSpc>
                <a:spcPts val="1680"/>
              </a:lnSpc>
              <a:buNone/>
            </a:pPr>
            <a:r>
              <a:rPr lang="en-US" sz="1200" b="1" dirty="0">
                <a:solidFill>
                  <a:srgbClr val="6A7684"/>
                </a:solidFill>
                <a:latin typeface="IBM Plex Sans" pitchFamily="34" charset="0"/>
                <a:ea typeface="IBM Plex Sans" pitchFamily="34" charset="-122"/>
                <a:cs typeface="IBM Plex Sans" pitchFamily="34" charset="-120"/>
              </a:rPr>
              <a:t>5 / 27</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2EC"/>
        </a:solidFill>
        <a:effectLst/>
      </p:bgPr>
    </p:bg>
    <p:spTree>
      <p:nvGrpSpPr>
        <p:cNvPr id="1" name=""/>
        <p:cNvGrpSpPr/>
        <p:nvPr/>
      </p:nvGrpSpPr>
      <p:grpSpPr>
        <a:xfrm>
          <a:off x="0" y="0"/>
          <a:ext cx="0" cy="0"/>
          <a:chOff x="0" y="0"/>
          <a:chExt cx="0" cy="0"/>
        </a:xfrm>
      </p:grpSpPr>
      <p:sp>
        <p:nvSpPr>
          <p:cNvPr id="2" name="Text 0"/>
          <p:cNvSpPr/>
          <p:nvPr/>
        </p:nvSpPr>
        <p:spPr>
          <a:xfrm>
            <a:off x="812782" y="711172"/>
            <a:ext cx="10883429"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04E17"/>
                </a:solidFill>
                <a:latin typeface="IBM Plex Sans" pitchFamily="34" charset="0"/>
                <a:ea typeface="IBM Plex Sans" pitchFamily="34" charset="-122"/>
                <a:cs typeface="IBM Plex Sans" pitchFamily="34" charset="-120"/>
              </a:rPr>
              <a:t>01 · PROMPT CHAINING · IN CODE</a:t>
            </a:r>
            <a:endParaRPr lang="en-US" sz="1200" dirty="0"/>
          </a:p>
        </p:txBody>
      </p:sp>
      <p:sp>
        <p:nvSpPr>
          <p:cNvPr id="3" name="Text 1"/>
          <p:cNvSpPr>
            <a:spLocks noGrp="1"/>
          </p:cNvSpPr>
          <p:nvPr>
            <p:ph type="title"/>
          </p:nvPr>
        </p:nvSpPr>
        <p:spPr>
          <a:xfrm>
            <a:off x="812782" y="1000665"/>
            <a:ext cx="10883429" cy="444464"/>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6212C"/>
                </a:solidFill>
                <a:latin typeface="IBM Plex Sans" pitchFamily="34" charset="0"/>
                <a:ea typeface="IBM Plex Sans" pitchFamily="34" charset="-122"/>
                <a:cs typeface="IBM Plex Sans" pitchFamily="34" charset="-120"/>
              </a:rPr>
              <a:t>Each step gets its own model and tools</a:t>
            </a:r>
            <a:endParaRPr lang="en-US" sz="3000" dirty="0"/>
          </a:p>
        </p:txBody>
      </p:sp>
      <p:sp>
        <p:nvSpPr>
          <p:cNvPr id="4" name="Text 2"/>
          <p:cNvSpPr/>
          <p:nvPr/>
        </p:nvSpPr>
        <p:spPr>
          <a:xfrm>
            <a:off x="812782" y="1673727"/>
            <a:ext cx="304782" cy="304782"/>
          </a:xfrm>
          <a:custGeom>
            <a:avLst/>
            <a:gdLst/>
            <a:ahLst/>
            <a:cxnLst/>
            <a:rect l="l" t="t" r="r" b="b"/>
            <a:pathLst>
              <a:path w="304782" h="304782">
                <a:moveTo>
                  <a:pt x="152391" y="0"/>
                </a:moveTo>
                <a:lnTo>
                  <a:pt x="152391" y="0"/>
                </a:lnTo>
                <a:arcTo wR="152391" hR="152391" stAng="16200000" swAng="5400000"/>
                <a:lnTo>
                  <a:pt x="304782" y="152391"/>
                </a:lnTo>
                <a:arcTo wR="152391" hR="152391" stAng="0" swAng="5400000"/>
                <a:lnTo>
                  <a:pt x="152391" y="304782"/>
                </a:lnTo>
                <a:arcTo wR="152391" hR="152391" stAng="5400000" swAng="5400000"/>
                <a:lnTo>
                  <a:pt x="0" y="152391"/>
                </a:lnTo>
                <a:arcTo wR="152391" hR="152391" stAng="10800000" swAng="5400000"/>
                <a:close/>
              </a:path>
            </a:pathLst>
          </a:custGeom>
          <a:solidFill>
            <a:srgbClr val="E8843F"/>
          </a:solidFill>
          <a:ln/>
        </p:spPr>
        <p:txBody>
          <a:bodyPr wrap="square" lIns="0" tIns="0" rIns="0" bIns="0" rtlCol="0" anchor="t">
            <a:normAutofit/>
          </a:bodyPr>
          <a:lstStyle/>
          <a:p>
            <a:pPr marL="0" indent="0" algn="ctr">
              <a:lnSpc>
                <a:spcPts val="2405"/>
              </a:lnSpc>
              <a:buNone/>
            </a:pPr>
            <a:r>
              <a:rPr lang="en-US" sz="1300" b="1" dirty="0">
                <a:solidFill>
                  <a:srgbClr val="16212C"/>
                </a:solidFill>
                <a:latin typeface="IBM Plex Sans" pitchFamily="34" charset="0"/>
                <a:ea typeface="IBM Plex Sans" pitchFamily="34" charset="-122"/>
                <a:cs typeface="IBM Plex Sans" pitchFamily="34" charset="-120"/>
              </a:rPr>
              <a:t>1</a:t>
            </a:r>
            <a:endParaRPr lang="en-US" sz="1300" dirty="0"/>
          </a:p>
        </p:txBody>
      </p:sp>
      <p:sp>
        <p:nvSpPr>
          <p:cNvPr id="5" name="Text 3"/>
          <p:cNvSpPr/>
          <p:nvPr/>
        </p:nvSpPr>
        <p:spPr>
          <a:xfrm>
            <a:off x="1244564" y="1673727"/>
            <a:ext cx="3479564" cy="253964"/>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6212C"/>
                </a:solidFill>
                <a:latin typeface="IBM Plex Sans" pitchFamily="34" charset="0"/>
                <a:ea typeface="IBM Plex Sans" pitchFamily="34" charset="-122"/>
                <a:cs typeface="IBM Plex Sans" pitchFamily="34" charset="-120"/>
              </a:rPr>
              <a:t>Dual-model strategy</a:t>
            </a:r>
            <a:endParaRPr lang="en-US" sz="1500" dirty="0"/>
          </a:p>
        </p:txBody>
      </p:sp>
      <p:sp>
        <p:nvSpPr>
          <p:cNvPr id="6" name="Text 4"/>
          <p:cNvSpPr/>
          <p:nvPr/>
        </p:nvSpPr>
        <p:spPr>
          <a:xfrm>
            <a:off x="1244564" y="1940356"/>
            <a:ext cx="3479564" cy="487669"/>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D4A57"/>
                </a:solidFill>
                <a:latin typeface="IBM Plex Sans" pitchFamily="34" charset="0"/>
                <a:ea typeface="IBM Plex Sans" pitchFamily="34" charset="-122"/>
                <a:cs typeface="IBM Plex Sans" pitchFamily="34" charset="-120"/>
              </a:rPr>
              <a:t>Sonnet where judgment matters, Haiku for straightforward expansion.</a:t>
            </a:r>
            <a:endParaRPr lang="en-US" sz="1300" dirty="0"/>
          </a:p>
        </p:txBody>
      </p:sp>
      <p:sp>
        <p:nvSpPr>
          <p:cNvPr id="7" name="Text 5"/>
          <p:cNvSpPr/>
          <p:nvPr/>
        </p:nvSpPr>
        <p:spPr>
          <a:xfrm>
            <a:off x="812782" y="2567688"/>
            <a:ext cx="304782" cy="304782"/>
          </a:xfrm>
          <a:custGeom>
            <a:avLst/>
            <a:gdLst/>
            <a:ahLst/>
            <a:cxnLst/>
            <a:rect l="l" t="t" r="r" b="b"/>
            <a:pathLst>
              <a:path w="304782" h="304782">
                <a:moveTo>
                  <a:pt x="152391" y="0"/>
                </a:moveTo>
                <a:lnTo>
                  <a:pt x="152391" y="0"/>
                </a:lnTo>
                <a:arcTo wR="152391" hR="152391" stAng="16200000" swAng="5400000"/>
                <a:lnTo>
                  <a:pt x="304782" y="152391"/>
                </a:lnTo>
                <a:arcTo wR="152391" hR="152391" stAng="0" swAng="5400000"/>
                <a:lnTo>
                  <a:pt x="152391" y="304782"/>
                </a:lnTo>
                <a:arcTo wR="152391" hR="152391" stAng="5400000" swAng="5400000"/>
                <a:lnTo>
                  <a:pt x="0" y="152391"/>
                </a:lnTo>
                <a:arcTo wR="152391" hR="152391" stAng="10800000" swAng="5400000"/>
                <a:close/>
              </a:path>
            </a:pathLst>
          </a:custGeom>
          <a:solidFill>
            <a:srgbClr val="E8843F"/>
          </a:solidFill>
          <a:ln/>
        </p:spPr>
        <p:txBody>
          <a:bodyPr wrap="square" lIns="0" tIns="0" rIns="0" bIns="0" rtlCol="0" anchor="t">
            <a:normAutofit/>
          </a:bodyPr>
          <a:lstStyle/>
          <a:p>
            <a:pPr marL="0" indent="0" algn="ctr">
              <a:lnSpc>
                <a:spcPts val="2405"/>
              </a:lnSpc>
              <a:buNone/>
            </a:pPr>
            <a:r>
              <a:rPr lang="en-US" sz="1300" b="1" dirty="0">
                <a:solidFill>
                  <a:srgbClr val="16212C"/>
                </a:solidFill>
                <a:latin typeface="IBM Plex Sans" pitchFamily="34" charset="0"/>
                <a:ea typeface="IBM Plex Sans" pitchFamily="34" charset="-122"/>
                <a:cs typeface="IBM Plex Sans" pitchFamily="34" charset="-120"/>
              </a:rPr>
              <a:t>2</a:t>
            </a:r>
            <a:endParaRPr lang="en-US" sz="1300" dirty="0"/>
          </a:p>
        </p:txBody>
      </p:sp>
      <p:sp>
        <p:nvSpPr>
          <p:cNvPr id="8" name="Text 6"/>
          <p:cNvSpPr/>
          <p:nvPr/>
        </p:nvSpPr>
        <p:spPr>
          <a:xfrm>
            <a:off x="1244564" y="2567688"/>
            <a:ext cx="3479564" cy="253964"/>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6212C"/>
                </a:solidFill>
                <a:latin typeface="IBM Plex Sans" pitchFamily="34" charset="0"/>
                <a:ea typeface="IBM Plex Sans" pitchFamily="34" charset="-122"/>
                <a:cs typeface="IBM Plex Sans" pitchFamily="34" charset="-120"/>
              </a:rPr>
              <a:t>Server-side web search</a:t>
            </a:r>
            <a:endParaRPr lang="en-US" sz="1500" dirty="0"/>
          </a:p>
        </p:txBody>
      </p:sp>
      <p:sp>
        <p:nvSpPr>
          <p:cNvPr id="9" name="Text 7"/>
          <p:cNvSpPr/>
          <p:nvPr/>
        </p:nvSpPr>
        <p:spPr>
          <a:xfrm>
            <a:off x="1244564" y="2834317"/>
            <a:ext cx="3479564" cy="487669"/>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D4A57"/>
                </a:solidFill>
                <a:latin typeface="IBM Plex Sans" pitchFamily="34" charset="0"/>
                <a:ea typeface="IBM Plex Sans" pitchFamily="34" charset="-122"/>
                <a:cs typeface="IBM Plex Sans" pitchFamily="34" charset="-120"/>
              </a:rPr>
              <a:t>A built-in tool; Claude decides when to search, capped by max_uses.</a:t>
            </a:r>
            <a:endParaRPr lang="en-US" sz="1300" dirty="0"/>
          </a:p>
        </p:txBody>
      </p:sp>
      <p:sp>
        <p:nvSpPr>
          <p:cNvPr id="10" name="Text 8"/>
          <p:cNvSpPr/>
          <p:nvPr/>
        </p:nvSpPr>
        <p:spPr>
          <a:xfrm>
            <a:off x="812782" y="3461649"/>
            <a:ext cx="304782" cy="304782"/>
          </a:xfrm>
          <a:custGeom>
            <a:avLst/>
            <a:gdLst/>
            <a:ahLst/>
            <a:cxnLst/>
            <a:rect l="l" t="t" r="r" b="b"/>
            <a:pathLst>
              <a:path w="304782" h="304782">
                <a:moveTo>
                  <a:pt x="152391" y="0"/>
                </a:moveTo>
                <a:lnTo>
                  <a:pt x="152391" y="0"/>
                </a:lnTo>
                <a:arcTo wR="152391" hR="152391" stAng="16200000" swAng="5400000"/>
                <a:lnTo>
                  <a:pt x="304782" y="152391"/>
                </a:lnTo>
                <a:arcTo wR="152391" hR="152391" stAng="0" swAng="5400000"/>
                <a:lnTo>
                  <a:pt x="152391" y="304782"/>
                </a:lnTo>
                <a:arcTo wR="152391" hR="152391" stAng="5400000" swAng="5400000"/>
                <a:lnTo>
                  <a:pt x="0" y="152391"/>
                </a:lnTo>
                <a:arcTo wR="152391" hR="152391" stAng="10800000" swAng="5400000"/>
                <a:close/>
              </a:path>
            </a:pathLst>
          </a:custGeom>
          <a:solidFill>
            <a:srgbClr val="E8843F"/>
          </a:solidFill>
          <a:ln/>
        </p:spPr>
        <p:txBody>
          <a:bodyPr wrap="square" lIns="0" tIns="0" rIns="0" bIns="0" rtlCol="0" anchor="t">
            <a:normAutofit/>
          </a:bodyPr>
          <a:lstStyle/>
          <a:p>
            <a:pPr marL="0" indent="0" algn="ctr">
              <a:lnSpc>
                <a:spcPts val="2405"/>
              </a:lnSpc>
              <a:buNone/>
            </a:pPr>
            <a:r>
              <a:rPr lang="en-US" sz="1300" b="1" dirty="0">
                <a:solidFill>
                  <a:srgbClr val="16212C"/>
                </a:solidFill>
                <a:latin typeface="IBM Plex Sans" pitchFamily="34" charset="0"/>
                <a:ea typeface="IBM Plex Sans" pitchFamily="34" charset="-122"/>
                <a:cs typeface="IBM Plex Sans" pitchFamily="34" charset="-120"/>
              </a:rPr>
              <a:t>3</a:t>
            </a:r>
            <a:endParaRPr lang="en-US" sz="1300" dirty="0"/>
          </a:p>
        </p:txBody>
      </p:sp>
      <p:sp>
        <p:nvSpPr>
          <p:cNvPr id="11" name="Text 9"/>
          <p:cNvSpPr/>
          <p:nvPr/>
        </p:nvSpPr>
        <p:spPr>
          <a:xfrm>
            <a:off x="1244564" y="3461649"/>
            <a:ext cx="3479564" cy="253964"/>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6212C"/>
                </a:solidFill>
                <a:latin typeface="IBM Plex Sans" pitchFamily="34" charset="0"/>
                <a:ea typeface="IBM Plex Sans" pitchFamily="34" charset="-122"/>
                <a:cs typeface="IBM Plex Sans" pitchFamily="34" charset="-120"/>
              </a:rPr>
              <a:t>Only the writer is tooled</a:t>
            </a:r>
            <a:endParaRPr lang="en-US" sz="1500" dirty="0"/>
          </a:p>
        </p:txBody>
      </p:sp>
      <p:sp>
        <p:nvSpPr>
          <p:cNvPr id="12" name="Text 10"/>
          <p:cNvSpPr/>
          <p:nvPr/>
        </p:nvSpPr>
        <p:spPr>
          <a:xfrm>
            <a:off x="1244564" y="3728278"/>
            <a:ext cx="3479564" cy="256535"/>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D4A57"/>
                </a:solidFill>
                <a:latin typeface="IBM Plex Sans" pitchFamily="34" charset="0"/>
                <a:ea typeface="IBM Plex Sans" pitchFamily="34" charset="-122"/>
                <a:cs typeface="IBM Plex Sans" pitchFamily="34" charset="-120"/>
              </a:rPr>
              <a:t>Light model + search on step 2 alone.</a:t>
            </a:r>
            <a:endParaRPr lang="en-US" sz="1300" dirty="0"/>
          </a:p>
        </p:txBody>
      </p:sp>
      <p:sp>
        <p:nvSpPr>
          <p:cNvPr id="13" name="Text 11"/>
          <p:cNvSpPr/>
          <p:nvPr/>
        </p:nvSpPr>
        <p:spPr>
          <a:xfrm>
            <a:off x="812782" y="4124477"/>
            <a:ext cx="304782" cy="304782"/>
          </a:xfrm>
          <a:custGeom>
            <a:avLst/>
            <a:gdLst/>
            <a:ahLst/>
            <a:cxnLst/>
            <a:rect l="l" t="t" r="r" b="b"/>
            <a:pathLst>
              <a:path w="304782" h="304782">
                <a:moveTo>
                  <a:pt x="152391" y="0"/>
                </a:moveTo>
                <a:lnTo>
                  <a:pt x="152391" y="0"/>
                </a:lnTo>
                <a:arcTo wR="152391" hR="152391" stAng="16200000" swAng="5400000"/>
                <a:lnTo>
                  <a:pt x="304782" y="152391"/>
                </a:lnTo>
                <a:arcTo wR="152391" hR="152391" stAng="0" swAng="5400000"/>
                <a:lnTo>
                  <a:pt x="152391" y="304782"/>
                </a:lnTo>
                <a:arcTo wR="152391" hR="152391" stAng="5400000" swAng="5400000"/>
                <a:lnTo>
                  <a:pt x="0" y="152391"/>
                </a:lnTo>
                <a:arcTo wR="152391" hR="152391" stAng="10800000" swAng="5400000"/>
                <a:close/>
              </a:path>
            </a:pathLst>
          </a:custGeom>
          <a:solidFill>
            <a:srgbClr val="E8843F"/>
          </a:solidFill>
          <a:ln/>
        </p:spPr>
        <p:txBody>
          <a:bodyPr wrap="square" lIns="0" tIns="0" rIns="0" bIns="0" rtlCol="0" anchor="t">
            <a:normAutofit/>
          </a:bodyPr>
          <a:lstStyle/>
          <a:p>
            <a:pPr marL="0" indent="0" algn="ctr">
              <a:lnSpc>
                <a:spcPts val="2405"/>
              </a:lnSpc>
              <a:buNone/>
            </a:pPr>
            <a:r>
              <a:rPr lang="en-US" sz="1300" b="1" dirty="0">
                <a:solidFill>
                  <a:srgbClr val="16212C"/>
                </a:solidFill>
                <a:latin typeface="IBM Plex Sans" pitchFamily="34" charset="0"/>
                <a:ea typeface="IBM Plex Sans" pitchFamily="34" charset="-122"/>
                <a:cs typeface="IBM Plex Sans" pitchFamily="34" charset="-120"/>
              </a:rPr>
              <a:t>4</a:t>
            </a:r>
            <a:endParaRPr lang="en-US" sz="1300" dirty="0"/>
          </a:p>
        </p:txBody>
      </p:sp>
      <p:sp>
        <p:nvSpPr>
          <p:cNvPr id="14" name="Text 12"/>
          <p:cNvSpPr/>
          <p:nvPr/>
        </p:nvSpPr>
        <p:spPr>
          <a:xfrm>
            <a:off x="1244564" y="4124477"/>
            <a:ext cx="3479564" cy="253964"/>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6212C"/>
                </a:solidFill>
                <a:latin typeface="IBM Plex Sans" pitchFamily="34" charset="0"/>
                <a:ea typeface="IBM Plex Sans" pitchFamily="34" charset="-122"/>
                <a:cs typeface="IBM Plex Sans" pitchFamily="34" charset="-120"/>
              </a:rPr>
              <a:t>A mini agentic loop</a:t>
            </a:r>
            <a:endParaRPr lang="en-US" sz="1500" dirty="0"/>
          </a:p>
        </p:txBody>
      </p:sp>
      <p:sp>
        <p:nvSpPr>
          <p:cNvPr id="15" name="Text 13"/>
          <p:cNvSpPr/>
          <p:nvPr/>
        </p:nvSpPr>
        <p:spPr>
          <a:xfrm>
            <a:off x="1244564" y="4391106"/>
            <a:ext cx="3479564" cy="487669"/>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D4A57"/>
                </a:solidFill>
                <a:latin typeface="IBM Plex Sans" pitchFamily="34" charset="0"/>
                <a:ea typeface="IBM Plex Sans" pitchFamily="34" charset="-122"/>
                <a:cs typeface="IBM Plex Sans" pitchFamily="34" charset="-120"/>
              </a:rPr>
              <a:t>Keep calling until stop_reason is end_turn (at most 4 more turns).</a:t>
            </a:r>
            <a:endParaRPr lang="en-US" sz="1300" dirty="0"/>
          </a:p>
        </p:txBody>
      </p:sp>
      <p:sp>
        <p:nvSpPr>
          <p:cNvPr id="16" name="Shape 14"/>
          <p:cNvSpPr/>
          <p:nvPr/>
        </p:nvSpPr>
        <p:spPr>
          <a:xfrm>
            <a:off x="4927564" y="1673727"/>
            <a:ext cx="6451564" cy="3885451"/>
          </a:xfrm>
          <a:prstGeom prst="roundRect">
            <a:avLst>
              <a:gd name="adj" fmla="val 2615"/>
            </a:avLst>
          </a:prstGeom>
          <a:solidFill>
            <a:srgbClr val="16212C"/>
          </a:solidFill>
          <a:ln/>
        </p:spPr>
        <p:txBody>
          <a:bodyPr/>
          <a:lstStyle/>
          <a:p>
            <a:endParaRPr lang="en-CN"/>
          </a:p>
        </p:txBody>
      </p:sp>
      <p:sp>
        <p:nvSpPr>
          <p:cNvPr id="17" name="Text 15"/>
          <p:cNvSpPr/>
          <p:nvPr/>
        </p:nvSpPr>
        <p:spPr>
          <a:xfrm>
            <a:off x="5105364" y="1826121"/>
            <a:ext cx="6278842" cy="238693"/>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9AA9B8"/>
                </a:solidFill>
                <a:latin typeface="JetBrains Mono" pitchFamily="49" charset="0"/>
                <a:ea typeface="JetBrains Mono" pitchFamily="49" charset="-122"/>
                <a:cs typeface="JetBrains Mono" pitchFamily="49" charset="-120"/>
              </a:rPr>
              <a:t>01_prompt_chaining.py</a:t>
            </a:r>
            <a:endParaRPr lang="en-US" sz="1200" dirty="0"/>
          </a:p>
        </p:txBody>
      </p:sp>
      <p:sp>
        <p:nvSpPr>
          <p:cNvPr id="18" name="Text 16"/>
          <p:cNvSpPr/>
          <p:nvPr/>
        </p:nvSpPr>
        <p:spPr>
          <a:xfrm>
            <a:off x="4927564" y="2115614"/>
            <a:ext cx="6451564" cy="205698"/>
          </a:xfrm>
          <a:prstGeom prst="rect">
            <a:avLst/>
          </a:prstGeom>
          <a:solidFill>
            <a:srgbClr val="3A2B20"/>
          </a:solidFill>
          <a:ln/>
        </p:spPr>
        <p:txBody>
          <a:bodyPr wrap="none" lIns="177223" tIns="0" rIns="0" bIns="0" rtlCol="0" anchor="t">
            <a:normAutofit/>
          </a:bodyPr>
          <a:lstStyle/>
          <a:p>
            <a:pPr marL="0" indent="0" algn="l">
              <a:lnSpc>
                <a:spcPts val="1620"/>
              </a:lnSpc>
              <a:buNone/>
            </a:pPr>
            <a:r>
              <a:rPr lang="en-US" sz="1200" dirty="0">
                <a:solidFill>
                  <a:srgbClr val="7C8FA3"/>
                </a:solidFill>
                <a:latin typeface="JetBrains Mono" pitchFamily="49" charset="0"/>
                <a:ea typeface="JetBrains Mono" pitchFamily="49" charset="-122"/>
                <a:cs typeface="JetBrains Mono" pitchFamily="49" charset="-120"/>
              </a:rPr>
              <a:t>024</a:t>
            </a:r>
            <a:r>
              <a:rPr lang="en-US" sz="1200" dirty="0">
                <a:solidFill>
                  <a:srgbClr val="D6DDE5"/>
                </a:solidFill>
                <a:latin typeface="JetBrains Mono" pitchFamily="49" charset="0"/>
                <a:ea typeface="JetBrains Mono" pitchFamily="49" charset="-122"/>
                <a:cs typeface="JetBrains Mono" pitchFamily="49" charset="-120"/>
              </a:rPr>
              <a:t> MODEL = </a:t>
            </a:r>
            <a:r>
              <a:rPr lang="en-US" sz="1200" dirty="0">
                <a:solidFill>
                  <a:srgbClr val="A9CF8C"/>
                </a:solidFill>
                <a:latin typeface="JetBrains Mono" pitchFamily="49" charset="0"/>
                <a:ea typeface="JetBrains Mono" pitchFamily="49" charset="-122"/>
                <a:cs typeface="JetBrains Mono" pitchFamily="49" charset="-120"/>
              </a:rPr>
              <a:t>"claude-sonnet-4-6"</a:t>
            </a:r>
            <a:r>
              <a:rPr lang="en-US" sz="1200" dirty="0">
                <a:solidFill>
                  <a:srgbClr val="D6DDE5"/>
                </a:solidFill>
                <a:latin typeface="JetBrains Mono" pitchFamily="49" charset="0"/>
                <a:ea typeface="JetBrains Mono" pitchFamily="49" charset="-122"/>
                <a:cs typeface="JetBrains Mono" pitchFamily="49" charset="-120"/>
              </a:rPr>
              <a:t> </a:t>
            </a:r>
            <a:r>
              <a:rPr lang="en-US" sz="1200" b="1" dirty="0">
                <a:solidFill>
                  <a:srgbClr val="F2A46B"/>
                </a:solidFill>
                <a:latin typeface="JetBrains Mono" pitchFamily="49" charset="0"/>
                <a:ea typeface="JetBrains Mono" pitchFamily="49" charset="-122"/>
                <a:cs typeface="JetBrains Mono" pitchFamily="49" charset="-120"/>
              </a:rPr>
              <a:t>← 1</a:t>
            </a:r>
            <a:endParaRPr lang="en-US" sz="1200" dirty="0"/>
          </a:p>
        </p:txBody>
      </p:sp>
      <p:sp>
        <p:nvSpPr>
          <p:cNvPr id="19" name="Shape 17"/>
          <p:cNvSpPr/>
          <p:nvPr/>
        </p:nvSpPr>
        <p:spPr>
          <a:xfrm>
            <a:off x="4946614" y="2115614"/>
            <a:ext cx="0" cy="205698"/>
          </a:xfrm>
          <a:prstGeom prst="line">
            <a:avLst/>
          </a:prstGeom>
          <a:noFill/>
          <a:ln w="38100">
            <a:solidFill>
              <a:srgbClr val="E8843F"/>
            </a:solidFill>
            <a:prstDash val="solid"/>
          </a:ln>
        </p:spPr>
        <p:txBody>
          <a:bodyPr/>
          <a:lstStyle/>
          <a:p>
            <a:endParaRPr lang="en-CN"/>
          </a:p>
        </p:txBody>
      </p:sp>
      <p:sp>
        <p:nvSpPr>
          <p:cNvPr id="20" name="Text 18"/>
          <p:cNvSpPr/>
          <p:nvPr/>
        </p:nvSpPr>
        <p:spPr>
          <a:xfrm>
            <a:off x="4927564" y="2321313"/>
            <a:ext cx="6451564" cy="205698"/>
          </a:xfrm>
          <a:prstGeom prst="rect">
            <a:avLst/>
          </a:prstGeom>
          <a:solidFill>
            <a:srgbClr val="3A2B20"/>
          </a:solidFill>
          <a:ln/>
        </p:spPr>
        <p:txBody>
          <a:bodyPr wrap="none" lIns="177223" tIns="0" rIns="0" bIns="0" rtlCol="0" anchor="t">
            <a:normAutofit/>
          </a:bodyPr>
          <a:lstStyle/>
          <a:p>
            <a:pPr marL="0" indent="0" algn="l">
              <a:lnSpc>
                <a:spcPts val="1620"/>
              </a:lnSpc>
              <a:buNone/>
            </a:pPr>
            <a:r>
              <a:rPr lang="en-US" sz="1200" dirty="0">
                <a:solidFill>
                  <a:srgbClr val="7C8FA3"/>
                </a:solidFill>
                <a:latin typeface="JetBrains Mono" pitchFamily="49" charset="0"/>
                <a:ea typeface="JetBrains Mono" pitchFamily="49" charset="-122"/>
                <a:cs typeface="JetBrains Mono" pitchFamily="49" charset="-120"/>
              </a:rPr>
              <a:t>025</a:t>
            </a:r>
            <a:r>
              <a:rPr lang="en-US" sz="1200" dirty="0">
                <a:solidFill>
                  <a:srgbClr val="D6DDE5"/>
                </a:solidFill>
                <a:latin typeface="JetBrains Mono" pitchFamily="49" charset="0"/>
                <a:ea typeface="JetBrains Mono" pitchFamily="49" charset="-122"/>
                <a:cs typeface="JetBrains Mono" pitchFamily="49" charset="-120"/>
              </a:rPr>
              <a:t> LIGHT_MODEL = </a:t>
            </a:r>
            <a:r>
              <a:rPr lang="en-US" sz="1200" dirty="0">
                <a:solidFill>
                  <a:srgbClr val="A9CF8C"/>
                </a:solidFill>
                <a:latin typeface="JetBrains Mono" pitchFamily="49" charset="0"/>
                <a:ea typeface="JetBrains Mono" pitchFamily="49" charset="-122"/>
                <a:cs typeface="JetBrains Mono" pitchFamily="49" charset="-120"/>
              </a:rPr>
              <a:t>"claude-haiku-4-5-20251001"</a:t>
            </a:r>
            <a:endParaRPr lang="en-US" sz="1200" dirty="0"/>
          </a:p>
        </p:txBody>
      </p:sp>
      <p:sp>
        <p:nvSpPr>
          <p:cNvPr id="21" name="Shape 19"/>
          <p:cNvSpPr/>
          <p:nvPr/>
        </p:nvSpPr>
        <p:spPr>
          <a:xfrm>
            <a:off x="4946614" y="2321313"/>
            <a:ext cx="0" cy="205698"/>
          </a:xfrm>
          <a:prstGeom prst="line">
            <a:avLst/>
          </a:prstGeom>
          <a:noFill/>
          <a:ln w="38100">
            <a:solidFill>
              <a:srgbClr val="E8843F"/>
            </a:solidFill>
            <a:prstDash val="solid"/>
          </a:ln>
        </p:spPr>
        <p:txBody>
          <a:bodyPr/>
          <a:lstStyle/>
          <a:p>
            <a:endParaRPr lang="en-CN"/>
          </a:p>
        </p:txBody>
      </p:sp>
      <p:sp>
        <p:nvSpPr>
          <p:cNvPr id="22" name="Text 20"/>
          <p:cNvSpPr/>
          <p:nvPr/>
        </p:nvSpPr>
        <p:spPr>
          <a:xfrm>
            <a:off x="4927564" y="2527009"/>
            <a:ext cx="6451564" cy="205698"/>
          </a:xfrm>
          <a:prstGeom prst="rect">
            <a:avLst/>
          </a:prstGeom>
          <a:solidFill>
            <a:srgbClr val="3A2B20"/>
          </a:solidFill>
          <a:ln/>
        </p:spPr>
        <p:txBody>
          <a:bodyPr wrap="none" lIns="177223" tIns="0" rIns="0" bIns="0" rtlCol="0" anchor="t">
            <a:normAutofit/>
          </a:bodyPr>
          <a:lstStyle/>
          <a:p>
            <a:pPr marL="0" indent="0" algn="l">
              <a:lnSpc>
                <a:spcPts val="1620"/>
              </a:lnSpc>
              <a:buNone/>
            </a:pPr>
            <a:r>
              <a:rPr lang="en-US" sz="1200" dirty="0">
                <a:solidFill>
                  <a:srgbClr val="7C8FA3"/>
                </a:solidFill>
                <a:latin typeface="JetBrains Mono" pitchFamily="49" charset="0"/>
                <a:ea typeface="JetBrains Mono" pitchFamily="49" charset="-122"/>
                <a:cs typeface="JetBrains Mono" pitchFamily="49" charset="-120"/>
              </a:rPr>
              <a:t>028</a:t>
            </a:r>
            <a:r>
              <a:rPr lang="en-US" sz="1200" dirty="0">
                <a:solidFill>
                  <a:srgbClr val="D6DDE5"/>
                </a:solidFill>
                <a:latin typeface="JetBrains Mono" pitchFamily="49" charset="0"/>
                <a:ea typeface="JetBrains Mono" pitchFamily="49" charset="-122"/>
                <a:cs typeface="JetBrains Mono" pitchFamily="49" charset="-120"/>
              </a:rPr>
              <a:t> WEB_SEARCH_TOOL = {"type": </a:t>
            </a:r>
            <a:r>
              <a:rPr lang="en-US" sz="1200" dirty="0">
                <a:solidFill>
                  <a:srgbClr val="A9CF8C"/>
                </a:solidFill>
                <a:latin typeface="JetBrains Mono" pitchFamily="49" charset="0"/>
                <a:ea typeface="JetBrains Mono" pitchFamily="49" charset="-122"/>
                <a:cs typeface="JetBrains Mono" pitchFamily="49" charset="-120"/>
              </a:rPr>
              <a:t>"web_search_20250305"</a:t>
            </a:r>
            <a:r>
              <a:rPr lang="en-US" sz="1200" dirty="0">
                <a:solidFill>
                  <a:srgbClr val="D6DDE5"/>
                </a:solidFill>
                <a:latin typeface="JetBrains Mono" pitchFamily="49" charset="0"/>
                <a:ea typeface="JetBrains Mono" pitchFamily="49" charset="-122"/>
                <a:cs typeface="JetBrains Mono" pitchFamily="49" charset="-120"/>
              </a:rPr>
              <a:t>, </a:t>
            </a:r>
            <a:r>
              <a:rPr lang="en-US" sz="1200" b="1" dirty="0">
                <a:solidFill>
                  <a:srgbClr val="F2A46B"/>
                </a:solidFill>
                <a:latin typeface="JetBrains Mono" pitchFamily="49" charset="0"/>
                <a:ea typeface="JetBrains Mono" pitchFamily="49" charset="-122"/>
                <a:cs typeface="JetBrains Mono" pitchFamily="49" charset="-120"/>
              </a:rPr>
              <a:t>← 2</a:t>
            </a:r>
            <a:endParaRPr lang="en-US" sz="1200" dirty="0"/>
          </a:p>
        </p:txBody>
      </p:sp>
      <p:sp>
        <p:nvSpPr>
          <p:cNvPr id="23" name="Shape 21"/>
          <p:cNvSpPr/>
          <p:nvPr/>
        </p:nvSpPr>
        <p:spPr>
          <a:xfrm>
            <a:off x="4946614" y="2527009"/>
            <a:ext cx="0" cy="205698"/>
          </a:xfrm>
          <a:prstGeom prst="line">
            <a:avLst/>
          </a:prstGeom>
          <a:noFill/>
          <a:ln w="38100">
            <a:solidFill>
              <a:srgbClr val="E8843F"/>
            </a:solidFill>
            <a:prstDash val="solid"/>
          </a:ln>
        </p:spPr>
        <p:txBody>
          <a:bodyPr/>
          <a:lstStyle/>
          <a:p>
            <a:endParaRPr lang="en-CN"/>
          </a:p>
        </p:txBody>
      </p:sp>
      <p:sp>
        <p:nvSpPr>
          <p:cNvPr id="24" name="Text 22"/>
          <p:cNvSpPr/>
          <p:nvPr/>
        </p:nvSpPr>
        <p:spPr>
          <a:xfrm>
            <a:off x="4927564" y="2732708"/>
            <a:ext cx="6451564" cy="205698"/>
          </a:xfrm>
          <a:prstGeom prst="rect">
            <a:avLst/>
          </a:prstGeom>
          <a:solidFill>
            <a:srgbClr val="3A2B20"/>
          </a:solidFill>
          <a:ln/>
        </p:spPr>
        <p:txBody>
          <a:bodyPr wrap="none" lIns="177223" tIns="0" rIns="0" bIns="0" rtlCol="0" anchor="t">
            <a:normAutofit/>
          </a:bodyPr>
          <a:lstStyle/>
          <a:p>
            <a:pPr marL="0" indent="0" algn="l">
              <a:lnSpc>
                <a:spcPts val="1620"/>
              </a:lnSpc>
              <a:buNone/>
            </a:pPr>
            <a:r>
              <a:rPr lang="en-US" sz="1200" dirty="0">
                <a:solidFill>
                  <a:srgbClr val="7C8FA3"/>
                </a:solidFill>
                <a:latin typeface="JetBrains Mono" pitchFamily="49" charset="0"/>
                <a:ea typeface="JetBrains Mono" pitchFamily="49" charset="-122"/>
                <a:cs typeface="JetBrains Mono" pitchFamily="49" charset="-120"/>
              </a:rPr>
              <a:t>   </a:t>
            </a:r>
            <a:r>
              <a:rPr lang="en-US" sz="1200" dirty="0">
                <a:solidFill>
                  <a:srgbClr val="D6DDE5"/>
                </a:solidFill>
                <a:latin typeface="JetBrains Mono" pitchFamily="49" charset="0"/>
                <a:ea typeface="JetBrains Mono" pitchFamily="49" charset="-122"/>
                <a:cs typeface="JetBrains Mono" pitchFamily="49" charset="-120"/>
              </a:rPr>
              <a:t>   "name": "web_search", "max_uses": 1}</a:t>
            </a:r>
            <a:endParaRPr lang="en-US" sz="1200" dirty="0"/>
          </a:p>
        </p:txBody>
      </p:sp>
      <p:sp>
        <p:nvSpPr>
          <p:cNvPr id="25" name="Shape 23"/>
          <p:cNvSpPr/>
          <p:nvPr/>
        </p:nvSpPr>
        <p:spPr>
          <a:xfrm>
            <a:off x="4946614" y="2732708"/>
            <a:ext cx="0" cy="205698"/>
          </a:xfrm>
          <a:prstGeom prst="line">
            <a:avLst/>
          </a:prstGeom>
          <a:noFill/>
          <a:ln w="38100">
            <a:solidFill>
              <a:srgbClr val="E8843F"/>
            </a:solidFill>
            <a:prstDash val="solid"/>
          </a:ln>
        </p:spPr>
        <p:txBody>
          <a:bodyPr/>
          <a:lstStyle/>
          <a:p>
            <a:endParaRPr lang="en-CN"/>
          </a:p>
        </p:txBody>
      </p:sp>
      <p:sp>
        <p:nvSpPr>
          <p:cNvPr id="26" name="Text 24"/>
          <p:cNvSpPr/>
          <p:nvPr/>
        </p:nvSpPr>
        <p:spPr>
          <a:xfrm>
            <a:off x="5105364" y="2938407"/>
            <a:ext cx="6278842" cy="231098"/>
          </a:xfrm>
          <a:prstGeom prst="rect">
            <a:avLst/>
          </a:prstGeom>
          <a:noFill/>
          <a:ln/>
        </p:spPr>
        <p:txBody>
          <a:bodyPr wrap="none" lIns="0" tIns="0" rIns="0" bIns="0" rtlCol="0" anchor="t">
            <a:normAutofit/>
          </a:bodyPr>
          <a:lstStyle/>
          <a:p>
            <a:pPr marL="0" indent="0" algn="l">
              <a:lnSpc>
                <a:spcPts val="1620"/>
              </a:lnSpc>
              <a:buNone/>
            </a:pPr>
            <a:r>
              <a:rPr lang="en-US" sz="1200" dirty="0">
                <a:solidFill>
                  <a:srgbClr val="7C8FA3"/>
                </a:solidFill>
                <a:latin typeface="JetBrains Mono" pitchFamily="49" charset="0"/>
                <a:ea typeface="JetBrains Mono" pitchFamily="49" charset="-122"/>
                <a:cs typeface="JetBrains Mono" pitchFamily="49" charset="-120"/>
              </a:rPr>
              <a:t>    ⋮ </a:t>
            </a:r>
            <a:r>
              <a:rPr lang="en-US" sz="1200" dirty="0">
                <a:solidFill>
                  <a:srgbClr val="8798AA"/>
                </a:solidFill>
                <a:latin typeface="JetBrains Mono" pitchFamily="49" charset="0"/>
                <a:ea typeface="JetBrains Mono" pitchFamily="49" charset="-122"/>
                <a:cs typeface="JetBrains Mono" pitchFamily="49" charset="-120"/>
              </a:rPr>
              <a:t># _run_agentic_loop</a:t>
            </a:r>
            <a:endParaRPr lang="en-US" sz="1200" dirty="0"/>
          </a:p>
        </p:txBody>
      </p:sp>
      <p:sp>
        <p:nvSpPr>
          <p:cNvPr id="27" name="Text 25"/>
          <p:cNvSpPr/>
          <p:nvPr/>
        </p:nvSpPr>
        <p:spPr>
          <a:xfrm>
            <a:off x="4927564" y="3144106"/>
            <a:ext cx="6451564" cy="205698"/>
          </a:xfrm>
          <a:prstGeom prst="rect">
            <a:avLst/>
          </a:prstGeom>
          <a:solidFill>
            <a:srgbClr val="3A2B20"/>
          </a:solidFill>
          <a:ln/>
        </p:spPr>
        <p:txBody>
          <a:bodyPr wrap="none" lIns="177223" tIns="0" rIns="0" bIns="0" rtlCol="0" anchor="t">
            <a:normAutofit/>
          </a:bodyPr>
          <a:lstStyle/>
          <a:p>
            <a:pPr marL="0" indent="0" algn="l">
              <a:lnSpc>
                <a:spcPts val="1620"/>
              </a:lnSpc>
              <a:buNone/>
            </a:pPr>
            <a:r>
              <a:rPr lang="en-US" sz="1200" dirty="0">
                <a:solidFill>
                  <a:srgbClr val="7C8FA3"/>
                </a:solidFill>
                <a:latin typeface="JetBrains Mono" pitchFamily="49" charset="0"/>
                <a:ea typeface="JetBrains Mono" pitchFamily="49" charset="-122"/>
                <a:cs typeface="JetBrains Mono" pitchFamily="49" charset="-120"/>
              </a:rPr>
              <a:t>125</a:t>
            </a:r>
            <a:r>
              <a:rPr lang="en-US" sz="1200" dirty="0">
                <a:solidFill>
                  <a:srgbClr val="D6DDE5"/>
                </a:solidFill>
                <a:latin typeface="JetBrains Mono" pitchFamily="49" charset="0"/>
                <a:ea typeface="JetBrains Mono" pitchFamily="49" charset="-122"/>
                <a:cs typeface="JetBrains Mono" pitchFamily="49" charset="-120"/>
              </a:rPr>
              <a:t>   for _ in range(4): </a:t>
            </a:r>
            <a:r>
              <a:rPr lang="en-US" sz="1200" b="1" dirty="0">
                <a:solidFill>
                  <a:srgbClr val="F2A46B"/>
                </a:solidFill>
                <a:latin typeface="JetBrains Mono" pitchFamily="49" charset="0"/>
                <a:ea typeface="JetBrains Mono" pitchFamily="49" charset="-122"/>
                <a:cs typeface="JetBrains Mono" pitchFamily="49" charset="-120"/>
              </a:rPr>
              <a:t>← 4</a:t>
            </a:r>
            <a:endParaRPr lang="en-US" sz="1200" dirty="0"/>
          </a:p>
        </p:txBody>
      </p:sp>
      <p:sp>
        <p:nvSpPr>
          <p:cNvPr id="28" name="Shape 26"/>
          <p:cNvSpPr/>
          <p:nvPr/>
        </p:nvSpPr>
        <p:spPr>
          <a:xfrm>
            <a:off x="4946614" y="3144106"/>
            <a:ext cx="0" cy="205698"/>
          </a:xfrm>
          <a:prstGeom prst="line">
            <a:avLst/>
          </a:prstGeom>
          <a:noFill/>
          <a:ln w="38100">
            <a:solidFill>
              <a:srgbClr val="E8843F"/>
            </a:solidFill>
            <a:prstDash val="solid"/>
          </a:ln>
        </p:spPr>
        <p:txBody>
          <a:bodyPr/>
          <a:lstStyle/>
          <a:p>
            <a:endParaRPr lang="en-CN"/>
          </a:p>
        </p:txBody>
      </p:sp>
      <p:sp>
        <p:nvSpPr>
          <p:cNvPr id="29" name="Text 27"/>
          <p:cNvSpPr/>
          <p:nvPr/>
        </p:nvSpPr>
        <p:spPr>
          <a:xfrm>
            <a:off x="4927564" y="3349805"/>
            <a:ext cx="6451564" cy="205698"/>
          </a:xfrm>
          <a:prstGeom prst="rect">
            <a:avLst/>
          </a:prstGeom>
          <a:solidFill>
            <a:srgbClr val="3A2B20"/>
          </a:solidFill>
          <a:ln/>
        </p:spPr>
        <p:txBody>
          <a:bodyPr wrap="none" lIns="177223" tIns="0" rIns="0" bIns="0" rtlCol="0" anchor="t">
            <a:normAutofit/>
          </a:bodyPr>
          <a:lstStyle/>
          <a:p>
            <a:pPr marL="0" indent="0" algn="l">
              <a:lnSpc>
                <a:spcPts val="1620"/>
              </a:lnSpc>
              <a:buNone/>
            </a:pPr>
            <a:r>
              <a:rPr lang="en-US" sz="1200" dirty="0">
                <a:solidFill>
                  <a:srgbClr val="7C8FA3"/>
                </a:solidFill>
                <a:latin typeface="JetBrains Mono" pitchFamily="49" charset="0"/>
                <a:ea typeface="JetBrains Mono" pitchFamily="49" charset="-122"/>
                <a:cs typeface="JetBrains Mono" pitchFamily="49" charset="-120"/>
              </a:rPr>
              <a:t>132</a:t>
            </a:r>
            <a:r>
              <a:rPr lang="en-US" sz="1200" dirty="0">
                <a:solidFill>
                  <a:srgbClr val="D6DDE5"/>
                </a:solidFill>
                <a:latin typeface="JetBrains Mono" pitchFamily="49" charset="0"/>
                <a:ea typeface="JetBrains Mono" pitchFamily="49" charset="-122"/>
                <a:cs typeface="JetBrains Mono" pitchFamily="49" charset="-120"/>
              </a:rPr>
              <a:t>     if response.stop_reason == "end_turn": break</a:t>
            </a:r>
            <a:endParaRPr lang="en-US" sz="1200" dirty="0"/>
          </a:p>
        </p:txBody>
      </p:sp>
      <p:sp>
        <p:nvSpPr>
          <p:cNvPr id="30" name="Shape 28"/>
          <p:cNvSpPr/>
          <p:nvPr/>
        </p:nvSpPr>
        <p:spPr>
          <a:xfrm>
            <a:off x="4946614" y="3349805"/>
            <a:ext cx="0" cy="205698"/>
          </a:xfrm>
          <a:prstGeom prst="line">
            <a:avLst/>
          </a:prstGeom>
          <a:noFill/>
          <a:ln w="38100">
            <a:solidFill>
              <a:srgbClr val="E8843F"/>
            </a:solidFill>
            <a:prstDash val="solid"/>
          </a:ln>
        </p:spPr>
        <p:txBody>
          <a:bodyPr/>
          <a:lstStyle/>
          <a:p>
            <a:endParaRPr lang="en-CN"/>
          </a:p>
        </p:txBody>
      </p:sp>
      <p:sp>
        <p:nvSpPr>
          <p:cNvPr id="31" name="Text 29"/>
          <p:cNvSpPr/>
          <p:nvPr/>
        </p:nvSpPr>
        <p:spPr>
          <a:xfrm>
            <a:off x="5105364" y="3555504"/>
            <a:ext cx="6278842" cy="231098"/>
          </a:xfrm>
          <a:prstGeom prst="rect">
            <a:avLst/>
          </a:prstGeom>
          <a:noFill/>
          <a:ln/>
        </p:spPr>
        <p:txBody>
          <a:bodyPr wrap="none" lIns="0" tIns="0" rIns="0" bIns="0" rtlCol="0" anchor="t">
            <a:normAutofit/>
          </a:bodyPr>
          <a:lstStyle/>
          <a:p>
            <a:pPr marL="0" indent="0" algn="l">
              <a:lnSpc>
                <a:spcPts val="1620"/>
              </a:lnSpc>
              <a:buNone/>
            </a:pPr>
            <a:r>
              <a:rPr lang="en-US" sz="1200" dirty="0">
                <a:solidFill>
                  <a:srgbClr val="7C8FA3"/>
                </a:solidFill>
                <a:latin typeface="JetBrains Mono" pitchFamily="49" charset="0"/>
                <a:ea typeface="JetBrains Mono" pitchFamily="49" charset="-122"/>
                <a:cs typeface="JetBrains Mono" pitchFamily="49" charset="-120"/>
              </a:rPr>
              <a:t>136</a:t>
            </a:r>
            <a:r>
              <a:rPr lang="en-US" sz="1200" dirty="0">
                <a:solidFill>
                  <a:srgbClr val="D6DDE5"/>
                </a:solidFill>
                <a:latin typeface="JetBrains Mono" pitchFamily="49" charset="0"/>
                <a:ea typeface="JetBrains Mono" pitchFamily="49" charset="-122"/>
                <a:cs typeface="JetBrains Mono" pitchFamily="49" charset="-120"/>
              </a:rPr>
              <a:t>     messages.append({"role": "assistant", …})</a:t>
            </a:r>
            <a:endParaRPr lang="en-US" sz="1200" dirty="0"/>
          </a:p>
        </p:txBody>
      </p:sp>
      <p:sp>
        <p:nvSpPr>
          <p:cNvPr id="32" name="Text 30"/>
          <p:cNvSpPr/>
          <p:nvPr/>
        </p:nvSpPr>
        <p:spPr>
          <a:xfrm>
            <a:off x="5105364" y="3761200"/>
            <a:ext cx="6278842" cy="231098"/>
          </a:xfrm>
          <a:prstGeom prst="rect">
            <a:avLst/>
          </a:prstGeom>
          <a:noFill/>
          <a:ln/>
        </p:spPr>
        <p:txBody>
          <a:bodyPr wrap="none" lIns="0" tIns="0" rIns="0" bIns="0" rtlCol="0" anchor="t">
            <a:normAutofit/>
          </a:bodyPr>
          <a:lstStyle/>
          <a:p>
            <a:pPr marL="0" indent="0" algn="l">
              <a:lnSpc>
                <a:spcPts val="1620"/>
              </a:lnSpc>
              <a:buNone/>
            </a:pPr>
            <a:r>
              <a:rPr lang="en-US" sz="1200" dirty="0">
                <a:solidFill>
                  <a:srgbClr val="7C8FA3"/>
                </a:solidFill>
                <a:latin typeface="JetBrains Mono" pitchFamily="49" charset="0"/>
                <a:ea typeface="JetBrains Mono" pitchFamily="49" charset="-122"/>
                <a:cs typeface="JetBrains Mono" pitchFamily="49" charset="-120"/>
              </a:rPr>
              <a:t>144</a:t>
            </a:r>
            <a:r>
              <a:rPr lang="en-US" sz="1200" dirty="0">
                <a:solidFill>
                  <a:srgbClr val="D6DDE5"/>
                </a:solidFill>
                <a:latin typeface="JetBrains Mono" pitchFamily="49" charset="0"/>
                <a:ea typeface="JetBrains Mono" pitchFamily="49" charset="-122"/>
                <a:cs typeface="JetBrains Mono" pitchFamily="49" charset="-120"/>
              </a:rPr>
              <a:t>     messages.append({"role": "user", …})</a:t>
            </a:r>
            <a:endParaRPr lang="en-US" sz="1200" dirty="0"/>
          </a:p>
        </p:txBody>
      </p:sp>
      <p:sp>
        <p:nvSpPr>
          <p:cNvPr id="33" name="Text 31"/>
          <p:cNvSpPr/>
          <p:nvPr/>
        </p:nvSpPr>
        <p:spPr>
          <a:xfrm>
            <a:off x="5105364" y="3966899"/>
            <a:ext cx="6278842" cy="231098"/>
          </a:xfrm>
          <a:prstGeom prst="rect">
            <a:avLst/>
          </a:prstGeom>
          <a:noFill/>
          <a:ln/>
        </p:spPr>
        <p:txBody>
          <a:bodyPr wrap="none" lIns="0" tIns="0" rIns="0" bIns="0" rtlCol="0" anchor="t">
            <a:normAutofit/>
          </a:bodyPr>
          <a:lstStyle/>
          <a:p>
            <a:pPr marL="0" indent="0" algn="l">
              <a:lnSpc>
                <a:spcPts val="1620"/>
              </a:lnSpc>
              <a:buNone/>
            </a:pPr>
            <a:r>
              <a:rPr lang="en-US" sz="1200" dirty="0">
                <a:solidFill>
                  <a:srgbClr val="7C8FA3"/>
                </a:solidFill>
                <a:latin typeface="JetBrains Mono" pitchFamily="49" charset="0"/>
                <a:ea typeface="JetBrains Mono" pitchFamily="49" charset="-122"/>
                <a:cs typeface="JetBrains Mono" pitchFamily="49" charset="-120"/>
              </a:rPr>
              <a:t>146</a:t>
            </a:r>
            <a:r>
              <a:rPr lang="en-US" sz="1200" dirty="0">
                <a:solidFill>
                  <a:srgbClr val="D6DDE5"/>
                </a:solidFill>
                <a:latin typeface="JetBrains Mono" pitchFamily="49" charset="0"/>
                <a:ea typeface="JetBrains Mono" pitchFamily="49" charset="-122"/>
                <a:cs typeface="JetBrains Mono" pitchFamily="49" charset="-120"/>
              </a:rPr>
              <a:t>     response = self._call_llm(…)</a:t>
            </a:r>
            <a:endParaRPr lang="en-US" sz="1200" dirty="0"/>
          </a:p>
        </p:txBody>
      </p:sp>
      <p:sp>
        <p:nvSpPr>
          <p:cNvPr id="34" name="Text 32"/>
          <p:cNvSpPr/>
          <p:nvPr/>
        </p:nvSpPr>
        <p:spPr>
          <a:xfrm>
            <a:off x="5105364" y="4172598"/>
            <a:ext cx="6278842" cy="231098"/>
          </a:xfrm>
          <a:prstGeom prst="rect">
            <a:avLst/>
          </a:prstGeom>
          <a:noFill/>
          <a:ln/>
        </p:spPr>
        <p:txBody>
          <a:bodyPr wrap="none" lIns="0" tIns="0" rIns="0" bIns="0" rtlCol="0" anchor="t">
            <a:normAutofit/>
          </a:bodyPr>
          <a:lstStyle/>
          <a:p>
            <a:pPr marL="0" indent="0" algn="l">
              <a:lnSpc>
                <a:spcPts val="1620"/>
              </a:lnSpc>
              <a:buNone/>
            </a:pPr>
            <a:r>
              <a:rPr lang="en-US" sz="1200" dirty="0">
                <a:solidFill>
                  <a:srgbClr val="7C8FA3"/>
                </a:solidFill>
                <a:latin typeface="JetBrains Mono" pitchFamily="49" charset="0"/>
                <a:ea typeface="JetBrains Mono" pitchFamily="49" charset="-122"/>
                <a:cs typeface="JetBrains Mono" pitchFamily="49" charset="-120"/>
              </a:rPr>
              <a:t>    ⋮</a:t>
            </a:r>
            <a:endParaRPr lang="en-US" sz="1200" dirty="0"/>
          </a:p>
        </p:txBody>
      </p:sp>
      <p:sp>
        <p:nvSpPr>
          <p:cNvPr id="35" name="Text 33"/>
          <p:cNvSpPr/>
          <p:nvPr/>
        </p:nvSpPr>
        <p:spPr>
          <a:xfrm>
            <a:off x="5105364" y="4378297"/>
            <a:ext cx="6278842" cy="231098"/>
          </a:xfrm>
          <a:prstGeom prst="rect">
            <a:avLst/>
          </a:prstGeom>
          <a:noFill/>
          <a:ln/>
        </p:spPr>
        <p:txBody>
          <a:bodyPr wrap="none" lIns="0" tIns="0" rIns="0" bIns="0" rtlCol="0" anchor="t">
            <a:normAutofit/>
          </a:bodyPr>
          <a:lstStyle/>
          <a:p>
            <a:pPr marL="0" indent="0" algn="l">
              <a:lnSpc>
                <a:spcPts val="1620"/>
              </a:lnSpc>
              <a:buNone/>
            </a:pPr>
            <a:r>
              <a:rPr lang="en-US" sz="1200" dirty="0">
                <a:solidFill>
                  <a:srgbClr val="7C8FA3"/>
                </a:solidFill>
                <a:latin typeface="JetBrains Mono" pitchFamily="49" charset="0"/>
                <a:ea typeface="JetBrains Mono" pitchFamily="49" charset="-122"/>
                <a:cs typeface="JetBrains Mono" pitchFamily="49" charset="-120"/>
              </a:rPr>
              <a:t>155</a:t>
            </a:r>
            <a:r>
              <a:rPr lang="en-US" sz="1200" dirty="0">
                <a:solidFill>
                  <a:srgbClr val="D6DDE5"/>
                </a:solidFill>
                <a:latin typeface="JetBrains Mono" pitchFamily="49" charset="0"/>
                <a:ea typeface="JetBrains Mono" pitchFamily="49" charset="-122"/>
                <a:cs typeface="JetBrains Mono" pitchFamily="49" charset="-120"/>
              </a:rPr>
              <a:t> def _step_write(self, outline):</a:t>
            </a:r>
            <a:endParaRPr lang="en-US" sz="1200" dirty="0"/>
          </a:p>
        </p:txBody>
      </p:sp>
      <p:sp>
        <p:nvSpPr>
          <p:cNvPr id="36" name="Text 34"/>
          <p:cNvSpPr/>
          <p:nvPr/>
        </p:nvSpPr>
        <p:spPr>
          <a:xfrm>
            <a:off x="5105364" y="4583996"/>
            <a:ext cx="6278842" cy="231098"/>
          </a:xfrm>
          <a:prstGeom prst="rect">
            <a:avLst/>
          </a:prstGeom>
          <a:noFill/>
          <a:ln/>
        </p:spPr>
        <p:txBody>
          <a:bodyPr wrap="none" lIns="0" tIns="0" rIns="0" bIns="0" rtlCol="0" anchor="t">
            <a:normAutofit/>
          </a:bodyPr>
          <a:lstStyle/>
          <a:p>
            <a:pPr marL="0" indent="0" algn="l">
              <a:lnSpc>
                <a:spcPts val="1620"/>
              </a:lnSpc>
              <a:buNone/>
            </a:pPr>
            <a:r>
              <a:rPr lang="en-US" sz="1200" dirty="0">
                <a:solidFill>
                  <a:srgbClr val="7C8FA3"/>
                </a:solidFill>
                <a:latin typeface="JetBrains Mono" pitchFamily="49" charset="0"/>
                <a:ea typeface="JetBrains Mono" pitchFamily="49" charset="-122"/>
                <a:cs typeface="JetBrains Mono" pitchFamily="49" charset="-120"/>
              </a:rPr>
              <a:t>157</a:t>
            </a:r>
            <a:r>
              <a:rPr lang="en-US" sz="1200" dirty="0">
                <a:solidFill>
                  <a:srgbClr val="D6DDE5"/>
                </a:solidFill>
                <a:latin typeface="JetBrains Mono" pitchFamily="49" charset="0"/>
                <a:ea typeface="JetBrains Mono" pitchFamily="49" charset="-122"/>
                <a:cs typeface="JetBrains Mono" pitchFamily="49" charset="-120"/>
              </a:rPr>
              <a:t>   return self._run_agentic_loop(</a:t>
            </a:r>
            <a:endParaRPr lang="en-US" sz="1200" dirty="0"/>
          </a:p>
        </p:txBody>
      </p:sp>
      <p:sp>
        <p:nvSpPr>
          <p:cNvPr id="37" name="Text 35"/>
          <p:cNvSpPr/>
          <p:nvPr/>
        </p:nvSpPr>
        <p:spPr>
          <a:xfrm>
            <a:off x="5105364" y="4789692"/>
            <a:ext cx="6278842" cy="231098"/>
          </a:xfrm>
          <a:prstGeom prst="rect">
            <a:avLst/>
          </a:prstGeom>
          <a:noFill/>
          <a:ln/>
        </p:spPr>
        <p:txBody>
          <a:bodyPr wrap="none" lIns="0" tIns="0" rIns="0" bIns="0" rtlCol="0" anchor="t">
            <a:normAutofit/>
          </a:bodyPr>
          <a:lstStyle/>
          <a:p>
            <a:pPr marL="0" indent="0" algn="l">
              <a:lnSpc>
                <a:spcPts val="1620"/>
              </a:lnSpc>
              <a:buNone/>
            </a:pPr>
            <a:r>
              <a:rPr lang="en-US" sz="1200" dirty="0">
                <a:solidFill>
                  <a:srgbClr val="7C8FA3"/>
                </a:solidFill>
                <a:latin typeface="JetBrains Mono" pitchFamily="49" charset="0"/>
                <a:ea typeface="JetBrains Mono" pitchFamily="49" charset="-122"/>
                <a:cs typeface="JetBrains Mono" pitchFamily="49" charset="-120"/>
              </a:rPr>
              <a:t>159</a:t>
            </a:r>
            <a:r>
              <a:rPr lang="en-US" sz="1200" dirty="0">
                <a:solidFill>
                  <a:srgbClr val="D6DDE5"/>
                </a:solidFill>
                <a:latin typeface="JetBrains Mono" pitchFamily="49" charset="0"/>
                <a:ea typeface="JetBrains Mono" pitchFamily="49" charset="-122"/>
                <a:cs typeface="JetBrains Mono" pitchFamily="49" charset="-120"/>
              </a:rPr>
              <a:t>     WRITER_USER_PROMPT.format(outline=outline),</a:t>
            </a:r>
            <a:endParaRPr lang="en-US" sz="1200" dirty="0"/>
          </a:p>
        </p:txBody>
      </p:sp>
      <p:sp>
        <p:nvSpPr>
          <p:cNvPr id="38" name="Text 36"/>
          <p:cNvSpPr/>
          <p:nvPr/>
        </p:nvSpPr>
        <p:spPr>
          <a:xfrm>
            <a:off x="4927564" y="4995391"/>
            <a:ext cx="6451564" cy="205698"/>
          </a:xfrm>
          <a:prstGeom prst="rect">
            <a:avLst/>
          </a:prstGeom>
          <a:solidFill>
            <a:srgbClr val="3A2B20"/>
          </a:solidFill>
          <a:ln/>
        </p:spPr>
        <p:txBody>
          <a:bodyPr wrap="none" lIns="177223" tIns="0" rIns="0" bIns="0" rtlCol="0" anchor="t">
            <a:normAutofit/>
          </a:bodyPr>
          <a:lstStyle/>
          <a:p>
            <a:pPr marL="0" indent="0" algn="l">
              <a:lnSpc>
                <a:spcPts val="1620"/>
              </a:lnSpc>
              <a:buNone/>
            </a:pPr>
            <a:r>
              <a:rPr lang="en-US" sz="1200" dirty="0">
                <a:solidFill>
                  <a:srgbClr val="7C8FA3"/>
                </a:solidFill>
                <a:latin typeface="JetBrains Mono" pitchFamily="49" charset="0"/>
                <a:ea typeface="JetBrains Mono" pitchFamily="49" charset="-122"/>
                <a:cs typeface="JetBrains Mono" pitchFamily="49" charset="-120"/>
              </a:rPr>
              <a:t>160</a:t>
            </a:r>
            <a:r>
              <a:rPr lang="en-US" sz="1200" dirty="0">
                <a:solidFill>
                  <a:srgbClr val="D6DDE5"/>
                </a:solidFill>
                <a:latin typeface="JetBrains Mono" pitchFamily="49" charset="0"/>
                <a:ea typeface="JetBrains Mono" pitchFamily="49" charset="-122"/>
                <a:cs typeface="JetBrains Mono" pitchFamily="49" charset="-120"/>
              </a:rPr>
              <a:t>     use_light=True, </a:t>
            </a:r>
            <a:r>
              <a:rPr lang="en-US" sz="1200" b="1" dirty="0">
                <a:solidFill>
                  <a:srgbClr val="F2A46B"/>
                </a:solidFill>
                <a:latin typeface="JetBrains Mono" pitchFamily="49" charset="0"/>
                <a:ea typeface="JetBrains Mono" pitchFamily="49" charset="-122"/>
                <a:cs typeface="JetBrains Mono" pitchFamily="49" charset="-120"/>
              </a:rPr>
              <a:t>← 3</a:t>
            </a:r>
            <a:endParaRPr lang="en-US" sz="1200" dirty="0"/>
          </a:p>
        </p:txBody>
      </p:sp>
      <p:sp>
        <p:nvSpPr>
          <p:cNvPr id="39" name="Shape 37"/>
          <p:cNvSpPr/>
          <p:nvPr/>
        </p:nvSpPr>
        <p:spPr>
          <a:xfrm>
            <a:off x="4946614" y="4995391"/>
            <a:ext cx="0" cy="205698"/>
          </a:xfrm>
          <a:prstGeom prst="line">
            <a:avLst/>
          </a:prstGeom>
          <a:noFill/>
          <a:ln w="38100">
            <a:solidFill>
              <a:srgbClr val="E8843F"/>
            </a:solidFill>
            <a:prstDash val="solid"/>
          </a:ln>
        </p:spPr>
        <p:txBody>
          <a:bodyPr/>
          <a:lstStyle/>
          <a:p>
            <a:endParaRPr lang="en-CN"/>
          </a:p>
        </p:txBody>
      </p:sp>
      <p:sp>
        <p:nvSpPr>
          <p:cNvPr id="40" name="Text 38"/>
          <p:cNvSpPr/>
          <p:nvPr/>
        </p:nvSpPr>
        <p:spPr>
          <a:xfrm>
            <a:off x="4927564" y="5201090"/>
            <a:ext cx="6451564" cy="205698"/>
          </a:xfrm>
          <a:prstGeom prst="rect">
            <a:avLst/>
          </a:prstGeom>
          <a:solidFill>
            <a:srgbClr val="3A2B20"/>
          </a:solidFill>
          <a:ln/>
        </p:spPr>
        <p:txBody>
          <a:bodyPr wrap="none" lIns="177223" tIns="0" rIns="0" bIns="0" rtlCol="0" anchor="t">
            <a:normAutofit/>
          </a:bodyPr>
          <a:lstStyle/>
          <a:p>
            <a:pPr marL="0" indent="0" algn="l">
              <a:lnSpc>
                <a:spcPts val="1620"/>
              </a:lnSpc>
              <a:buNone/>
            </a:pPr>
            <a:r>
              <a:rPr lang="en-US" sz="1200" dirty="0">
                <a:solidFill>
                  <a:srgbClr val="7C8FA3"/>
                </a:solidFill>
                <a:latin typeface="JetBrains Mono" pitchFamily="49" charset="0"/>
                <a:ea typeface="JetBrains Mono" pitchFamily="49" charset="-122"/>
                <a:cs typeface="JetBrains Mono" pitchFamily="49" charset="-120"/>
              </a:rPr>
              <a:t>161</a:t>
            </a:r>
            <a:r>
              <a:rPr lang="en-US" sz="1200" dirty="0">
                <a:solidFill>
                  <a:srgbClr val="D6DDE5"/>
                </a:solidFill>
                <a:latin typeface="JetBrains Mono" pitchFamily="49" charset="0"/>
                <a:ea typeface="JetBrains Mono" pitchFamily="49" charset="-122"/>
                <a:cs typeface="JetBrains Mono" pitchFamily="49" charset="-120"/>
              </a:rPr>
              <a:t>     tools=[WEB_SEARCH_TOOL])</a:t>
            </a:r>
            <a:endParaRPr lang="en-US" sz="1200" dirty="0"/>
          </a:p>
        </p:txBody>
      </p:sp>
      <p:sp>
        <p:nvSpPr>
          <p:cNvPr id="41" name="Shape 39"/>
          <p:cNvSpPr/>
          <p:nvPr/>
        </p:nvSpPr>
        <p:spPr>
          <a:xfrm>
            <a:off x="4946614" y="5201090"/>
            <a:ext cx="0" cy="205698"/>
          </a:xfrm>
          <a:prstGeom prst="line">
            <a:avLst/>
          </a:prstGeom>
          <a:noFill/>
          <a:ln w="38100">
            <a:solidFill>
              <a:srgbClr val="E8843F"/>
            </a:solidFill>
            <a:prstDash val="solid"/>
          </a:ln>
        </p:spPr>
        <p:txBody>
          <a:bodyPr/>
          <a:lstStyle/>
          <a:p>
            <a:endParaRPr lang="en-CN"/>
          </a:p>
        </p:txBody>
      </p:sp>
      <p:sp>
        <p:nvSpPr>
          <p:cNvPr id="42" name="Text 40"/>
          <p:cNvSpPr/>
          <p:nvPr/>
        </p:nvSpPr>
        <p:spPr>
          <a:xfrm>
            <a:off x="812782" y="6238286"/>
            <a:ext cx="967994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7684"/>
                </a:solidFill>
                <a:latin typeface="IBM Plex Sans" pitchFamily="34" charset="0"/>
                <a:ea typeface="IBM Plex Sans" pitchFamily="34" charset="-122"/>
                <a:cs typeface="IBM Plex Sans" pitchFamily="34" charset="-120"/>
              </a:rPr>
              <a:t>01-prompt-chaining/01_prompt_chaining.py · lines condensed</a:t>
            </a:r>
            <a:endParaRPr lang="en-US" sz="1200" dirty="0"/>
          </a:p>
        </p:txBody>
      </p:sp>
      <p:sp>
        <p:nvSpPr>
          <p:cNvPr id="43" name="Text 41"/>
          <p:cNvSpPr/>
          <p:nvPr/>
        </p:nvSpPr>
        <p:spPr>
          <a:xfrm>
            <a:off x="10312418" y="6238286"/>
            <a:ext cx="1066800" cy="238720"/>
          </a:xfrm>
          <a:prstGeom prst="rect">
            <a:avLst/>
          </a:prstGeom>
          <a:noFill/>
          <a:ln/>
        </p:spPr>
        <p:txBody>
          <a:bodyPr wrap="square" lIns="0" tIns="0" rIns="0" bIns="0" rtlCol="0" anchor="t">
            <a:normAutofit/>
          </a:bodyPr>
          <a:lstStyle/>
          <a:p>
            <a:pPr marL="0" indent="0" algn="r">
              <a:lnSpc>
                <a:spcPts val="1680"/>
              </a:lnSpc>
              <a:buNone/>
            </a:pPr>
            <a:r>
              <a:rPr lang="en-US" sz="1200" b="1" dirty="0">
                <a:solidFill>
                  <a:srgbClr val="6A7684"/>
                </a:solidFill>
                <a:latin typeface="IBM Plex Sans" pitchFamily="34" charset="0"/>
                <a:ea typeface="IBM Plex Sans" pitchFamily="34" charset="-122"/>
                <a:cs typeface="IBM Plex Sans" pitchFamily="34" charset="-120"/>
              </a:rPr>
              <a:t>6 / 27</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6212C"/>
        </a:solidFill>
        <a:effectLst/>
      </p:bgPr>
    </p:bg>
    <p:spTree>
      <p:nvGrpSpPr>
        <p:cNvPr id="1" name=""/>
        <p:cNvGrpSpPr/>
        <p:nvPr/>
      </p:nvGrpSpPr>
      <p:grpSpPr>
        <a:xfrm>
          <a:off x="0" y="0"/>
          <a:ext cx="0" cy="0"/>
          <a:chOff x="0" y="0"/>
          <a:chExt cx="0" cy="0"/>
        </a:xfrm>
      </p:grpSpPr>
      <p:sp>
        <p:nvSpPr>
          <p:cNvPr id="2" name="Text 0"/>
          <p:cNvSpPr/>
          <p:nvPr/>
        </p:nvSpPr>
        <p:spPr>
          <a:xfrm>
            <a:off x="812782" y="711172"/>
            <a:ext cx="10883429"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F2A46B"/>
                </a:solidFill>
                <a:latin typeface="IBM Plex Sans" pitchFamily="34" charset="0"/>
                <a:ea typeface="IBM Plex Sans" pitchFamily="34" charset="-122"/>
                <a:cs typeface="IBM Plex Sans" pitchFamily="34" charset="-120"/>
              </a:rPr>
              <a:t>02 · ROUTING</a:t>
            </a:r>
            <a:endParaRPr lang="en-US" sz="1200" dirty="0"/>
          </a:p>
        </p:txBody>
      </p:sp>
      <p:sp>
        <p:nvSpPr>
          <p:cNvPr id="3" name="Text 1"/>
          <p:cNvSpPr>
            <a:spLocks noGrp="1"/>
          </p:cNvSpPr>
          <p:nvPr>
            <p:ph type="title"/>
          </p:nvPr>
        </p:nvSpPr>
        <p:spPr>
          <a:xfrm>
            <a:off x="812782" y="1000665"/>
            <a:ext cx="10883429" cy="444464"/>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F4F2EC"/>
                </a:solidFill>
                <a:latin typeface="IBM Plex Sans" pitchFamily="34" charset="0"/>
                <a:ea typeface="IBM Plex Sans" pitchFamily="34" charset="-122"/>
                <a:cs typeface="IBM Plex Sans" pitchFamily="34" charset="-120"/>
              </a:rPr>
              <a:t>Classify first, then run the chain built for it</a:t>
            </a:r>
            <a:endParaRPr lang="en-US" sz="3000" dirty="0"/>
          </a:p>
        </p:txBody>
      </p:sp>
      <p:sp>
        <p:nvSpPr>
          <p:cNvPr id="4" name="Text 2"/>
          <p:cNvSpPr/>
          <p:nvPr/>
        </p:nvSpPr>
        <p:spPr>
          <a:xfrm>
            <a:off x="819132" y="2685976"/>
            <a:ext cx="1257300" cy="559025"/>
          </a:xfrm>
          <a:prstGeom prst="roundRect">
            <a:avLst>
              <a:gd name="adj" fmla="val 14767"/>
            </a:avLst>
          </a:prstGeom>
          <a:solidFill>
            <a:srgbClr val="22303E"/>
          </a:solidFill>
          <a:ln w="12700">
            <a:solidFill>
              <a:srgbClr val="3A4B5C"/>
            </a:solidFill>
            <a:prstDash val="solid"/>
          </a:ln>
        </p:spPr>
        <p:txBody>
          <a:bodyPr wrap="square" lIns="133408" tIns="133417" rIns="82608" bIns="107999" rtlCol="0" anchor="t">
            <a:normAutofit/>
          </a:bodyPr>
          <a:lstStyle/>
          <a:p>
            <a:pPr marL="0" indent="0" algn="l">
              <a:lnSpc>
                <a:spcPts val="1920"/>
              </a:lnSpc>
              <a:buNone/>
            </a:pPr>
            <a:r>
              <a:rPr lang="en-US" sz="1600" b="1" dirty="0">
                <a:solidFill>
                  <a:srgbClr val="F4F2EC"/>
                </a:solidFill>
                <a:latin typeface="IBM Plex Sans" pitchFamily="34" charset="0"/>
                <a:ea typeface="IBM Plex Sans" pitchFamily="34" charset="-122"/>
                <a:cs typeface="IBM Plex Sans" pitchFamily="34" charset="-120"/>
              </a:rPr>
              <a:t>Topic</a:t>
            </a:r>
            <a:endParaRPr lang="en-US" sz="1600" dirty="0"/>
          </a:p>
        </p:txBody>
      </p:sp>
      <p:pic>
        <p:nvPicPr>
          <p:cNvPr id="5" name="Image 0" descr="arrow-right"/>
          <p:cNvPicPr>
            <a:picLocks noChangeAspect="1"/>
          </p:cNvPicPr>
          <p:nvPr/>
        </p:nvPicPr>
        <p:blipFill>
          <a:blip r:embed="rId3"/>
          <a:srcRect/>
          <a:stretch/>
        </p:blipFill>
        <p:spPr>
          <a:xfrm>
            <a:off x="2184346" y="2889293"/>
            <a:ext cx="304782" cy="152391"/>
          </a:xfrm>
          <a:prstGeom prst="rect">
            <a:avLst/>
          </a:prstGeom>
        </p:spPr>
      </p:pic>
      <p:sp>
        <p:nvSpPr>
          <p:cNvPr id="6" name="Shape 3"/>
          <p:cNvSpPr/>
          <p:nvPr/>
        </p:nvSpPr>
        <p:spPr>
          <a:xfrm>
            <a:off x="2597042" y="2421874"/>
            <a:ext cx="1892300" cy="1087230"/>
          </a:xfrm>
          <a:prstGeom prst="roundRect">
            <a:avLst>
              <a:gd name="adj" fmla="val 7593"/>
            </a:avLst>
          </a:prstGeom>
          <a:solidFill>
            <a:srgbClr val="22303E"/>
          </a:solidFill>
          <a:ln w="12700">
            <a:solidFill>
              <a:srgbClr val="3A4B5C"/>
            </a:solidFill>
            <a:prstDash val="solid"/>
          </a:ln>
        </p:spPr>
        <p:txBody>
          <a:bodyPr/>
          <a:lstStyle/>
          <a:p>
            <a:endParaRPr lang="en-CN"/>
          </a:p>
        </p:txBody>
      </p:sp>
      <p:sp>
        <p:nvSpPr>
          <p:cNvPr id="7" name="Text 4"/>
          <p:cNvSpPr/>
          <p:nvPr/>
        </p:nvSpPr>
        <p:spPr>
          <a:xfrm>
            <a:off x="2754628" y="2579461"/>
            <a:ext cx="1627927" cy="269253"/>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4F2EC"/>
                </a:solidFill>
                <a:latin typeface="IBM Plex Sans" pitchFamily="34" charset="0"/>
                <a:ea typeface="IBM Plex Sans" pitchFamily="34" charset="-122"/>
                <a:cs typeface="IBM Plex Sans" pitchFamily="34" charset="-120"/>
              </a:rPr>
              <a:t>Classify</a:t>
            </a:r>
            <a:endParaRPr lang="en-US" sz="1600" dirty="0"/>
          </a:p>
        </p:txBody>
      </p:sp>
      <p:sp>
        <p:nvSpPr>
          <p:cNvPr id="8" name="Text 5"/>
          <p:cNvSpPr/>
          <p:nvPr/>
        </p:nvSpPr>
        <p:spPr>
          <a:xfrm>
            <a:off x="2754628" y="2874094"/>
            <a:ext cx="1627927"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FCAD6"/>
                </a:solidFill>
                <a:latin typeface="IBM Plex Sans" pitchFamily="34" charset="0"/>
                <a:ea typeface="IBM Plex Sans" pitchFamily="34" charset="-122"/>
                <a:cs typeface="IBM Plex Sans" pitchFamily="34" charset="-120"/>
              </a:rPr>
              <a:t>Haiku, forced tool call</a:t>
            </a:r>
            <a:endParaRPr lang="en-US" sz="1200" dirty="0"/>
          </a:p>
        </p:txBody>
      </p:sp>
      <p:sp>
        <p:nvSpPr>
          <p:cNvPr id="9" name="Text 6"/>
          <p:cNvSpPr/>
          <p:nvPr/>
        </p:nvSpPr>
        <p:spPr>
          <a:xfrm>
            <a:off x="2754628" y="3138196"/>
            <a:ext cx="1627927"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2A46B"/>
                </a:solidFill>
                <a:latin typeface="JetBrains Mono" pitchFamily="49" charset="0"/>
                <a:ea typeface="JetBrains Mono" pitchFamily="49" charset="-122"/>
                <a:cs typeface="JetBrains Mono" pitchFamily="49" charset="-120"/>
              </a:rPr>
              <a:t>_classify</a:t>
            </a:r>
            <a:endParaRPr lang="en-US" sz="1200" dirty="0"/>
          </a:p>
        </p:txBody>
      </p:sp>
      <p:pic>
        <p:nvPicPr>
          <p:cNvPr id="10" name="Image 1" descr="arrow-right"/>
          <p:cNvPicPr>
            <a:picLocks noChangeAspect="1"/>
          </p:cNvPicPr>
          <p:nvPr/>
        </p:nvPicPr>
        <p:blipFill>
          <a:blip r:embed="rId3"/>
          <a:srcRect/>
          <a:stretch/>
        </p:blipFill>
        <p:spPr>
          <a:xfrm>
            <a:off x="4597255" y="2889293"/>
            <a:ext cx="304782" cy="152391"/>
          </a:xfrm>
          <a:prstGeom prst="rect">
            <a:avLst/>
          </a:prstGeom>
        </p:spPr>
      </p:pic>
      <p:sp>
        <p:nvSpPr>
          <p:cNvPr id="11" name="Shape 7"/>
          <p:cNvSpPr/>
          <p:nvPr/>
        </p:nvSpPr>
        <p:spPr>
          <a:xfrm>
            <a:off x="5009952" y="1730862"/>
            <a:ext cx="4585007" cy="746910"/>
          </a:xfrm>
          <a:prstGeom prst="roundRect">
            <a:avLst>
              <a:gd name="adj" fmla="val 11052"/>
            </a:avLst>
          </a:prstGeom>
          <a:solidFill>
            <a:srgbClr val="22303E"/>
          </a:solidFill>
          <a:ln w="12700">
            <a:solidFill>
              <a:srgbClr val="3A4B5C"/>
            </a:solidFill>
            <a:prstDash val="solid"/>
          </a:ln>
        </p:spPr>
        <p:txBody>
          <a:bodyPr/>
          <a:lstStyle/>
          <a:p>
            <a:endParaRPr lang="en-CN"/>
          </a:p>
        </p:txBody>
      </p:sp>
      <p:sp>
        <p:nvSpPr>
          <p:cNvPr id="12" name="Text 8"/>
          <p:cNvSpPr/>
          <p:nvPr/>
        </p:nvSpPr>
        <p:spPr>
          <a:xfrm>
            <a:off x="5167538" y="1863055"/>
            <a:ext cx="4397929"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F2A46B"/>
                </a:solidFill>
                <a:latin typeface="JetBrains Mono" pitchFamily="49" charset="0"/>
                <a:ea typeface="JetBrains Mono" pitchFamily="49" charset="-122"/>
                <a:cs typeface="JetBrains Mono" pitchFamily="49" charset="-120"/>
              </a:rPr>
              <a:t>tutorial</a:t>
            </a:r>
            <a:endParaRPr lang="en-US" sz="1400" dirty="0"/>
          </a:p>
        </p:txBody>
      </p:sp>
      <p:sp>
        <p:nvSpPr>
          <p:cNvPr id="13" name="Text 9"/>
          <p:cNvSpPr/>
          <p:nvPr/>
        </p:nvSpPr>
        <p:spPr>
          <a:xfrm>
            <a:off x="5167538" y="2114441"/>
            <a:ext cx="4397929" cy="256535"/>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D6DDE5"/>
                </a:solidFill>
                <a:latin typeface="IBM Plex Sans" pitchFamily="34" charset="0"/>
                <a:ea typeface="IBM Plex Sans" pitchFamily="34" charset="-122"/>
                <a:cs typeface="IBM Plex Sans" pitchFamily="34" charset="-120"/>
              </a:rPr>
              <a:t>Prerequisites → Steps → Troubleshooting</a:t>
            </a:r>
            <a:endParaRPr lang="en-US" sz="1300" dirty="0"/>
          </a:p>
        </p:txBody>
      </p:sp>
      <p:sp>
        <p:nvSpPr>
          <p:cNvPr id="14" name="Shape 10"/>
          <p:cNvSpPr/>
          <p:nvPr/>
        </p:nvSpPr>
        <p:spPr>
          <a:xfrm>
            <a:off x="5009952" y="2592034"/>
            <a:ext cx="4585007" cy="746910"/>
          </a:xfrm>
          <a:prstGeom prst="roundRect">
            <a:avLst>
              <a:gd name="adj" fmla="val 11052"/>
            </a:avLst>
          </a:prstGeom>
          <a:solidFill>
            <a:srgbClr val="22303E"/>
          </a:solidFill>
          <a:ln w="12700">
            <a:solidFill>
              <a:srgbClr val="3A4B5C"/>
            </a:solidFill>
            <a:prstDash val="solid"/>
          </a:ln>
        </p:spPr>
        <p:txBody>
          <a:bodyPr/>
          <a:lstStyle/>
          <a:p>
            <a:endParaRPr lang="en-CN"/>
          </a:p>
        </p:txBody>
      </p:sp>
      <p:sp>
        <p:nvSpPr>
          <p:cNvPr id="15" name="Text 11"/>
          <p:cNvSpPr/>
          <p:nvPr/>
        </p:nvSpPr>
        <p:spPr>
          <a:xfrm>
            <a:off x="5167538" y="2724231"/>
            <a:ext cx="4397929"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F2A46B"/>
                </a:solidFill>
                <a:latin typeface="JetBrains Mono" pitchFamily="49" charset="0"/>
                <a:ea typeface="JetBrains Mono" pitchFamily="49" charset="-122"/>
                <a:cs typeface="JetBrains Mono" pitchFamily="49" charset="-120"/>
              </a:rPr>
              <a:t>news</a:t>
            </a:r>
            <a:endParaRPr lang="en-US" sz="1400" dirty="0"/>
          </a:p>
        </p:txBody>
      </p:sp>
      <p:sp>
        <p:nvSpPr>
          <p:cNvPr id="16" name="Text 12"/>
          <p:cNvSpPr/>
          <p:nvPr/>
        </p:nvSpPr>
        <p:spPr>
          <a:xfrm>
            <a:off x="5167538" y="2975614"/>
            <a:ext cx="4397929" cy="256535"/>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D6DDE5"/>
                </a:solidFill>
                <a:latin typeface="IBM Plex Sans" pitchFamily="34" charset="0"/>
                <a:ea typeface="IBM Plex Sans" pitchFamily="34" charset="-122"/>
                <a:cs typeface="IBM Plex Sans" pitchFamily="34" charset="-120"/>
              </a:rPr>
              <a:t>Summary → Impact → Call to Action</a:t>
            </a:r>
            <a:endParaRPr lang="en-US" sz="1300" dirty="0"/>
          </a:p>
        </p:txBody>
      </p:sp>
      <p:sp>
        <p:nvSpPr>
          <p:cNvPr id="17" name="Shape 13"/>
          <p:cNvSpPr/>
          <p:nvPr/>
        </p:nvSpPr>
        <p:spPr>
          <a:xfrm>
            <a:off x="5009952" y="3453206"/>
            <a:ext cx="4585007" cy="746910"/>
          </a:xfrm>
          <a:prstGeom prst="roundRect">
            <a:avLst>
              <a:gd name="adj" fmla="val 11052"/>
            </a:avLst>
          </a:prstGeom>
          <a:solidFill>
            <a:srgbClr val="22303E"/>
          </a:solidFill>
          <a:ln w="12700">
            <a:solidFill>
              <a:srgbClr val="3A4B5C"/>
            </a:solidFill>
            <a:prstDash val="solid"/>
          </a:ln>
        </p:spPr>
        <p:txBody>
          <a:bodyPr/>
          <a:lstStyle/>
          <a:p>
            <a:endParaRPr lang="en-CN"/>
          </a:p>
        </p:txBody>
      </p:sp>
      <p:sp>
        <p:nvSpPr>
          <p:cNvPr id="18" name="Text 14"/>
          <p:cNvSpPr/>
          <p:nvPr/>
        </p:nvSpPr>
        <p:spPr>
          <a:xfrm>
            <a:off x="5167538" y="3585403"/>
            <a:ext cx="4397929"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F2A46B"/>
                </a:solidFill>
                <a:latin typeface="JetBrains Mono" pitchFamily="49" charset="0"/>
                <a:ea typeface="JetBrains Mono" pitchFamily="49" charset="-122"/>
                <a:cs typeface="JetBrains Mono" pitchFamily="49" charset="-120"/>
              </a:rPr>
              <a:t>concept</a:t>
            </a:r>
            <a:endParaRPr lang="en-US" sz="1400" dirty="0"/>
          </a:p>
        </p:txBody>
      </p:sp>
      <p:sp>
        <p:nvSpPr>
          <p:cNvPr id="19" name="Text 15"/>
          <p:cNvSpPr/>
          <p:nvPr/>
        </p:nvSpPr>
        <p:spPr>
          <a:xfrm>
            <a:off x="5167538" y="3836786"/>
            <a:ext cx="4397929" cy="256535"/>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D6DDE5"/>
                </a:solidFill>
                <a:latin typeface="IBM Plex Sans" pitchFamily="34" charset="0"/>
                <a:ea typeface="IBM Plex Sans" pitchFamily="34" charset="-122"/>
                <a:cs typeface="IBM Plex Sans" pitchFamily="34" charset="-120"/>
              </a:rPr>
              <a:t>Analogy → Architecture → Pros/Cons</a:t>
            </a:r>
            <a:endParaRPr lang="en-US" sz="1300" dirty="0"/>
          </a:p>
        </p:txBody>
      </p:sp>
      <p:pic>
        <p:nvPicPr>
          <p:cNvPr id="20" name="Image 2" descr="arrow-right"/>
          <p:cNvPicPr>
            <a:picLocks noChangeAspect="1"/>
          </p:cNvPicPr>
          <p:nvPr/>
        </p:nvPicPr>
        <p:blipFill>
          <a:blip r:embed="rId3"/>
          <a:srcRect/>
          <a:stretch/>
        </p:blipFill>
        <p:spPr>
          <a:xfrm>
            <a:off x="9702872" y="2889293"/>
            <a:ext cx="304782" cy="152391"/>
          </a:xfrm>
          <a:prstGeom prst="rect">
            <a:avLst/>
          </a:prstGeom>
        </p:spPr>
      </p:pic>
      <p:sp>
        <p:nvSpPr>
          <p:cNvPr id="21" name="Text 16"/>
          <p:cNvSpPr/>
          <p:nvPr/>
        </p:nvSpPr>
        <p:spPr>
          <a:xfrm>
            <a:off x="10115568" y="2685976"/>
            <a:ext cx="1257300" cy="559025"/>
          </a:xfrm>
          <a:prstGeom prst="roundRect">
            <a:avLst>
              <a:gd name="adj" fmla="val 14767"/>
            </a:avLst>
          </a:prstGeom>
          <a:solidFill>
            <a:srgbClr val="22303E"/>
          </a:solidFill>
          <a:ln w="12700">
            <a:solidFill>
              <a:srgbClr val="3A4B5C"/>
            </a:solidFill>
            <a:prstDash val="solid"/>
          </a:ln>
        </p:spPr>
        <p:txBody>
          <a:bodyPr wrap="square" lIns="133408" tIns="133417" rIns="82608" bIns="107999" rtlCol="0" anchor="t">
            <a:normAutofit/>
          </a:bodyPr>
          <a:lstStyle/>
          <a:p>
            <a:pPr marL="0" indent="0" algn="l">
              <a:lnSpc>
                <a:spcPts val="1920"/>
              </a:lnSpc>
              <a:buNone/>
            </a:pPr>
            <a:r>
              <a:rPr lang="en-US" sz="1600" b="1" dirty="0">
                <a:solidFill>
                  <a:srgbClr val="F4F2EC"/>
                </a:solidFill>
                <a:latin typeface="IBM Plex Sans" pitchFamily="34" charset="0"/>
                <a:ea typeface="IBM Plex Sans" pitchFamily="34" charset="-122"/>
                <a:cs typeface="IBM Plex Sans" pitchFamily="34" charset="-120"/>
              </a:rPr>
              <a:t>Article</a:t>
            </a:r>
            <a:endParaRPr lang="en-US" sz="1600" dirty="0"/>
          </a:p>
        </p:txBody>
      </p:sp>
      <p:sp>
        <p:nvSpPr>
          <p:cNvPr id="22" name="Text 17"/>
          <p:cNvSpPr/>
          <p:nvPr/>
        </p:nvSpPr>
        <p:spPr>
          <a:xfrm>
            <a:off x="812782" y="4511250"/>
            <a:ext cx="9810750" cy="594374"/>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D6DDE5"/>
                </a:solidFill>
                <a:latin typeface="IBM Plex Sans" pitchFamily="34" charset="0"/>
                <a:ea typeface="IBM Plex Sans" pitchFamily="34" charset="-122"/>
                <a:cs typeface="IBM Plex Sans" pitchFamily="34" charset="-120"/>
              </a:rPr>
              <a:t>Route when inputs need </a:t>
            </a:r>
            <a:r>
              <a:rPr lang="en-US" sz="1600" dirty="0">
                <a:solidFill>
                  <a:srgbClr val="F2A46B"/>
                </a:solidFill>
                <a:latin typeface="IBM Plex Sans" pitchFamily="34" charset="0"/>
                <a:ea typeface="IBM Plex Sans" pitchFamily="34" charset="-122"/>
                <a:cs typeface="IBM Plex Sans" pitchFamily="34" charset="-120"/>
              </a:rPr>
              <a:t>structurally different</a:t>
            </a:r>
            <a:r>
              <a:rPr lang="en-US" sz="1600" dirty="0">
                <a:solidFill>
                  <a:srgbClr val="D6DDE5"/>
                </a:solidFill>
                <a:latin typeface="IBM Plex Sans" pitchFamily="34" charset="0"/>
                <a:ea typeface="IBM Plex Sans" pitchFamily="34" charset="-122"/>
                <a:cs typeface="IBM Plex Sans" pitchFamily="34" charset="-120"/>
              </a:rPr>
              <a:t> processing, not just a different tone. Each route </a:t>
            </a:r>
            <a:r>
              <a:rPr lang="en-US" sz="1600" i="1" dirty="0">
                <a:solidFill>
                  <a:srgbClr val="D6DDE5"/>
                </a:solidFill>
                <a:latin typeface="IBM Plex Sans" pitchFamily="34" charset="0"/>
                <a:ea typeface="IBM Plex Sans" pitchFamily="34" charset="-122"/>
                <a:cs typeface="IBM Plex Sans" pitchFamily="34" charset="-120"/>
              </a:rPr>
              <a:t>is</a:t>
            </a:r>
            <a:r>
              <a:rPr lang="en-US" sz="1600" dirty="0">
                <a:solidFill>
                  <a:srgbClr val="D6DDE5"/>
                </a:solidFill>
                <a:latin typeface="IBM Plex Sans" pitchFamily="34" charset="0"/>
                <a:ea typeface="IBM Plex Sans" pitchFamily="34" charset="-122"/>
                <a:cs typeface="IBM Plex Sans" pitchFamily="34" charset="-120"/>
              </a:rPr>
              <a:t> a prompt chain from tutorial 01 — so a wrong route means the wrong output format entirely.</a:t>
            </a:r>
            <a:endParaRPr lang="en-US" sz="1600" dirty="0"/>
          </a:p>
        </p:txBody>
      </p:sp>
      <p:sp>
        <p:nvSpPr>
          <p:cNvPr id="23" name="Text 18"/>
          <p:cNvSpPr/>
          <p:nvPr/>
        </p:nvSpPr>
        <p:spPr>
          <a:xfrm>
            <a:off x="812782" y="6238286"/>
            <a:ext cx="967994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9AA9B8"/>
                </a:solidFill>
                <a:latin typeface="IBM Plex Sans" pitchFamily="34" charset="0"/>
                <a:ea typeface="IBM Plex Sans" pitchFamily="34" charset="-122"/>
                <a:cs typeface="IBM Plex Sans" pitchFamily="34" charset="-120"/>
              </a:rPr>
              <a:t>02-routing/README.md · ContentRouter in 01_routing.py</a:t>
            </a:r>
            <a:endParaRPr lang="en-US" sz="1200" dirty="0"/>
          </a:p>
        </p:txBody>
      </p:sp>
      <p:sp>
        <p:nvSpPr>
          <p:cNvPr id="24" name="Text 19"/>
          <p:cNvSpPr/>
          <p:nvPr/>
        </p:nvSpPr>
        <p:spPr>
          <a:xfrm>
            <a:off x="10312418" y="6238286"/>
            <a:ext cx="1066800" cy="238720"/>
          </a:xfrm>
          <a:prstGeom prst="rect">
            <a:avLst/>
          </a:prstGeom>
          <a:noFill/>
          <a:ln/>
        </p:spPr>
        <p:txBody>
          <a:bodyPr wrap="square" lIns="0" tIns="0" rIns="0" bIns="0" rtlCol="0" anchor="t">
            <a:normAutofit/>
          </a:bodyPr>
          <a:lstStyle/>
          <a:p>
            <a:pPr marL="0" indent="0" algn="r">
              <a:lnSpc>
                <a:spcPts val="1680"/>
              </a:lnSpc>
              <a:buNone/>
            </a:pPr>
            <a:r>
              <a:rPr lang="en-US" sz="1200" b="1" dirty="0">
                <a:solidFill>
                  <a:srgbClr val="9AA9B8"/>
                </a:solidFill>
                <a:latin typeface="IBM Plex Sans" pitchFamily="34" charset="0"/>
                <a:ea typeface="IBM Plex Sans" pitchFamily="34" charset="-122"/>
                <a:cs typeface="IBM Plex Sans" pitchFamily="34" charset="-120"/>
              </a:rPr>
              <a:t>7 / 27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2EC"/>
        </a:solidFill>
        <a:effectLst/>
      </p:bgPr>
    </p:bg>
    <p:spTree>
      <p:nvGrpSpPr>
        <p:cNvPr id="1" name=""/>
        <p:cNvGrpSpPr/>
        <p:nvPr/>
      </p:nvGrpSpPr>
      <p:grpSpPr>
        <a:xfrm>
          <a:off x="0" y="0"/>
          <a:ext cx="0" cy="0"/>
          <a:chOff x="0" y="0"/>
          <a:chExt cx="0" cy="0"/>
        </a:xfrm>
      </p:grpSpPr>
      <p:sp>
        <p:nvSpPr>
          <p:cNvPr id="2" name="Text 0"/>
          <p:cNvSpPr/>
          <p:nvPr/>
        </p:nvSpPr>
        <p:spPr>
          <a:xfrm>
            <a:off x="812782" y="711175"/>
            <a:ext cx="10883429"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04E17"/>
                </a:solidFill>
                <a:latin typeface="IBM Plex Sans" pitchFamily="34" charset="0"/>
                <a:ea typeface="IBM Plex Sans" pitchFamily="34" charset="-122"/>
                <a:cs typeface="IBM Plex Sans" pitchFamily="34" charset="-120"/>
              </a:rPr>
              <a:t>02 · ROUTING · IN CODE</a:t>
            </a:r>
            <a:endParaRPr lang="en-US" sz="1200" dirty="0"/>
          </a:p>
        </p:txBody>
      </p:sp>
      <p:sp>
        <p:nvSpPr>
          <p:cNvPr id="3" name="Text 1"/>
          <p:cNvSpPr>
            <a:spLocks noGrp="1"/>
          </p:cNvSpPr>
          <p:nvPr>
            <p:ph type="title"/>
          </p:nvPr>
        </p:nvSpPr>
        <p:spPr>
          <a:xfrm>
            <a:off x="812782" y="1000668"/>
            <a:ext cx="10883429" cy="444464"/>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6212C"/>
                </a:solidFill>
                <a:latin typeface="IBM Plex Sans" pitchFamily="34" charset="0"/>
                <a:ea typeface="IBM Plex Sans" pitchFamily="34" charset="-122"/>
                <a:cs typeface="IBM Plex Sans" pitchFamily="34" charset="-120"/>
              </a:rPr>
              <a:t>A forced tool call is a typed classifier</a:t>
            </a:r>
            <a:endParaRPr lang="en-US" sz="3000" dirty="0"/>
          </a:p>
        </p:txBody>
      </p:sp>
      <p:sp>
        <p:nvSpPr>
          <p:cNvPr id="4" name="Text 2"/>
          <p:cNvSpPr/>
          <p:nvPr/>
        </p:nvSpPr>
        <p:spPr>
          <a:xfrm>
            <a:off x="812782" y="1673730"/>
            <a:ext cx="304782" cy="304782"/>
          </a:xfrm>
          <a:custGeom>
            <a:avLst/>
            <a:gdLst/>
            <a:ahLst/>
            <a:cxnLst/>
            <a:rect l="l" t="t" r="r" b="b"/>
            <a:pathLst>
              <a:path w="304782" h="304782">
                <a:moveTo>
                  <a:pt x="152391" y="0"/>
                </a:moveTo>
                <a:lnTo>
                  <a:pt x="152391" y="0"/>
                </a:lnTo>
                <a:arcTo wR="152391" hR="152391" stAng="16200000" swAng="5400000"/>
                <a:lnTo>
                  <a:pt x="304782" y="152391"/>
                </a:lnTo>
                <a:arcTo wR="152391" hR="152391" stAng="0" swAng="5400000"/>
                <a:lnTo>
                  <a:pt x="152391" y="304782"/>
                </a:lnTo>
                <a:arcTo wR="152391" hR="152391" stAng="5400000" swAng="5400000"/>
                <a:lnTo>
                  <a:pt x="0" y="152391"/>
                </a:lnTo>
                <a:arcTo wR="152391" hR="152391" stAng="10800000" swAng="5400000"/>
                <a:close/>
              </a:path>
            </a:pathLst>
          </a:custGeom>
          <a:solidFill>
            <a:srgbClr val="E8843F"/>
          </a:solidFill>
          <a:ln/>
        </p:spPr>
        <p:txBody>
          <a:bodyPr wrap="square" lIns="0" tIns="0" rIns="0" bIns="0" rtlCol="0" anchor="t">
            <a:normAutofit/>
          </a:bodyPr>
          <a:lstStyle/>
          <a:p>
            <a:pPr marL="0" indent="0" algn="ctr">
              <a:lnSpc>
                <a:spcPts val="2405"/>
              </a:lnSpc>
              <a:buNone/>
            </a:pPr>
            <a:r>
              <a:rPr lang="en-US" sz="1300" b="1" dirty="0">
                <a:solidFill>
                  <a:srgbClr val="16212C"/>
                </a:solidFill>
                <a:latin typeface="IBM Plex Sans" pitchFamily="34" charset="0"/>
                <a:ea typeface="IBM Plex Sans" pitchFamily="34" charset="-122"/>
                <a:cs typeface="IBM Plex Sans" pitchFamily="34" charset="-120"/>
              </a:rPr>
              <a:t>1</a:t>
            </a:r>
            <a:endParaRPr lang="en-US" sz="1300" dirty="0"/>
          </a:p>
        </p:txBody>
      </p:sp>
      <p:sp>
        <p:nvSpPr>
          <p:cNvPr id="5" name="Text 3"/>
          <p:cNvSpPr/>
          <p:nvPr/>
        </p:nvSpPr>
        <p:spPr>
          <a:xfrm>
            <a:off x="1244564" y="1673730"/>
            <a:ext cx="3479564" cy="253964"/>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6212C"/>
                </a:solidFill>
                <a:latin typeface="IBM Plex Sans" pitchFamily="34" charset="0"/>
                <a:ea typeface="IBM Plex Sans" pitchFamily="34" charset="-122"/>
                <a:cs typeface="IBM Plex Sans" pitchFamily="34" charset="-120"/>
              </a:rPr>
              <a:t>An enum is the route list</a:t>
            </a:r>
            <a:endParaRPr lang="en-US" sz="1500" dirty="0"/>
          </a:p>
        </p:txBody>
      </p:sp>
      <p:sp>
        <p:nvSpPr>
          <p:cNvPr id="6" name="Text 4"/>
          <p:cNvSpPr/>
          <p:nvPr/>
        </p:nvSpPr>
        <p:spPr>
          <a:xfrm>
            <a:off x="1244564" y="1940359"/>
            <a:ext cx="3479564" cy="487669"/>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D4A57"/>
                </a:solidFill>
                <a:latin typeface="IBM Plex Sans" pitchFamily="34" charset="0"/>
                <a:ea typeface="IBM Plex Sans" pitchFamily="34" charset="-122"/>
                <a:cs typeface="IBM Plex Sans" pitchFamily="34" charset="-120"/>
              </a:rPr>
              <a:t>Three labels, each defined with an example in the description.</a:t>
            </a:r>
            <a:endParaRPr lang="en-US" sz="1300" dirty="0"/>
          </a:p>
        </p:txBody>
      </p:sp>
      <p:sp>
        <p:nvSpPr>
          <p:cNvPr id="7" name="Text 5"/>
          <p:cNvSpPr/>
          <p:nvPr/>
        </p:nvSpPr>
        <p:spPr>
          <a:xfrm>
            <a:off x="812782" y="2567691"/>
            <a:ext cx="304782" cy="304782"/>
          </a:xfrm>
          <a:custGeom>
            <a:avLst/>
            <a:gdLst/>
            <a:ahLst/>
            <a:cxnLst/>
            <a:rect l="l" t="t" r="r" b="b"/>
            <a:pathLst>
              <a:path w="304782" h="304782">
                <a:moveTo>
                  <a:pt x="152391" y="0"/>
                </a:moveTo>
                <a:lnTo>
                  <a:pt x="152391" y="0"/>
                </a:lnTo>
                <a:arcTo wR="152391" hR="152391" stAng="16200000" swAng="5400000"/>
                <a:lnTo>
                  <a:pt x="304782" y="152391"/>
                </a:lnTo>
                <a:arcTo wR="152391" hR="152391" stAng="0" swAng="5400000"/>
                <a:lnTo>
                  <a:pt x="152391" y="304782"/>
                </a:lnTo>
                <a:arcTo wR="152391" hR="152391" stAng="5400000" swAng="5400000"/>
                <a:lnTo>
                  <a:pt x="0" y="152391"/>
                </a:lnTo>
                <a:arcTo wR="152391" hR="152391" stAng="10800000" swAng="5400000"/>
                <a:close/>
              </a:path>
            </a:pathLst>
          </a:custGeom>
          <a:solidFill>
            <a:srgbClr val="E8843F"/>
          </a:solidFill>
          <a:ln/>
        </p:spPr>
        <p:txBody>
          <a:bodyPr wrap="square" lIns="0" tIns="0" rIns="0" bIns="0" rtlCol="0" anchor="t">
            <a:normAutofit/>
          </a:bodyPr>
          <a:lstStyle/>
          <a:p>
            <a:pPr marL="0" indent="0" algn="ctr">
              <a:lnSpc>
                <a:spcPts val="2405"/>
              </a:lnSpc>
              <a:buNone/>
            </a:pPr>
            <a:r>
              <a:rPr lang="en-US" sz="1300" b="1" dirty="0">
                <a:solidFill>
                  <a:srgbClr val="16212C"/>
                </a:solidFill>
                <a:latin typeface="IBM Plex Sans" pitchFamily="34" charset="0"/>
                <a:ea typeface="IBM Plex Sans" pitchFamily="34" charset="-122"/>
                <a:cs typeface="IBM Plex Sans" pitchFamily="34" charset="-120"/>
              </a:rPr>
              <a:t>2</a:t>
            </a:r>
            <a:endParaRPr lang="en-US" sz="1300" dirty="0"/>
          </a:p>
        </p:txBody>
      </p:sp>
      <p:sp>
        <p:nvSpPr>
          <p:cNvPr id="8" name="Text 6"/>
          <p:cNvSpPr/>
          <p:nvPr/>
        </p:nvSpPr>
        <p:spPr>
          <a:xfrm>
            <a:off x="1244564" y="2567691"/>
            <a:ext cx="3479564" cy="253964"/>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6212C"/>
                </a:solidFill>
                <a:latin typeface="IBM Plex Sans" pitchFamily="34" charset="0"/>
                <a:ea typeface="IBM Plex Sans" pitchFamily="34" charset="-122"/>
                <a:cs typeface="IBM Plex Sans" pitchFamily="34" charset="-120"/>
              </a:rPr>
              <a:t>tool_choice forces it</a:t>
            </a:r>
            <a:endParaRPr lang="en-US" sz="1500" dirty="0"/>
          </a:p>
        </p:txBody>
      </p:sp>
      <p:sp>
        <p:nvSpPr>
          <p:cNvPr id="9" name="Text 7"/>
          <p:cNvSpPr/>
          <p:nvPr/>
        </p:nvSpPr>
        <p:spPr>
          <a:xfrm>
            <a:off x="1244564" y="2834320"/>
            <a:ext cx="3479564" cy="487669"/>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D4A57"/>
                </a:solidFill>
                <a:latin typeface="IBM Plex Sans" pitchFamily="34" charset="0"/>
                <a:ea typeface="IBM Plex Sans" pitchFamily="34" charset="-122"/>
                <a:cs typeface="IBM Plex Sans" pitchFamily="34" charset="-120"/>
              </a:rPr>
              <a:t>The model must call classify_content: always valid JSON, no regex.</a:t>
            </a:r>
            <a:endParaRPr lang="en-US" sz="1300" dirty="0"/>
          </a:p>
        </p:txBody>
      </p:sp>
      <p:sp>
        <p:nvSpPr>
          <p:cNvPr id="10" name="Text 8"/>
          <p:cNvSpPr/>
          <p:nvPr/>
        </p:nvSpPr>
        <p:spPr>
          <a:xfrm>
            <a:off x="812782" y="3461652"/>
            <a:ext cx="304782" cy="304782"/>
          </a:xfrm>
          <a:custGeom>
            <a:avLst/>
            <a:gdLst/>
            <a:ahLst/>
            <a:cxnLst/>
            <a:rect l="l" t="t" r="r" b="b"/>
            <a:pathLst>
              <a:path w="304782" h="304782">
                <a:moveTo>
                  <a:pt x="152391" y="0"/>
                </a:moveTo>
                <a:lnTo>
                  <a:pt x="152391" y="0"/>
                </a:lnTo>
                <a:arcTo wR="152391" hR="152391" stAng="16200000" swAng="5400000"/>
                <a:lnTo>
                  <a:pt x="304782" y="152391"/>
                </a:lnTo>
                <a:arcTo wR="152391" hR="152391" stAng="0" swAng="5400000"/>
                <a:lnTo>
                  <a:pt x="152391" y="304782"/>
                </a:lnTo>
                <a:arcTo wR="152391" hR="152391" stAng="5400000" swAng="5400000"/>
                <a:lnTo>
                  <a:pt x="0" y="152391"/>
                </a:lnTo>
                <a:arcTo wR="152391" hR="152391" stAng="10800000" swAng="5400000"/>
                <a:close/>
              </a:path>
            </a:pathLst>
          </a:custGeom>
          <a:solidFill>
            <a:srgbClr val="E8843F"/>
          </a:solidFill>
          <a:ln/>
        </p:spPr>
        <p:txBody>
          <a:bodyPr wrap="square" lIns="0" tIns="0" rIns="0" bIns="0" rtlCol="0" anchor="t">
            <a:normAutofit/>
          </a:bodyPr>
          <a:lstStyle/>
          <a:p>
            <a:pPr marL="0" indent="0" algn="ctr">
              <a:lnSpc>
                <a:spcPts val="2405"/>
              </a:lnSpc>
              <a:buNone/>
            </a:pPr>
            <a:r>
              <a:rPr lang="en-US" sz="1300" b="1" dirty="0">
                <a:solidFill>
                  <a:srgbClr val="16212C"/>
                </a:solidFill>
                <a:latin typeface="IBM Plex Sans" pitchFamily="34" charset="0"/>
                <a:ea typeface="IBM Plex Sans" pitchFamily="34" charset="-122"/>
                <a:cs typeface="IBM Plex Sans" pitchFamily="34" charset="-120"/>
              </a:rPr>
              <a:t>3</a:t>
            </a:r>
            <a:endParaRPr lang="en-US" sz="1300" dirty="0"/>
          </a:p>
        </p:txBody>
      </p:sp>
      <p:sp>
        <p:nvSpPr>
          <p:cNvPr id="11" name="Text 9"/>
          <p:cNvSpPr/>
          <p:nvPr/>
        </p:nvSpPr>
        <p:spPr>
          <a:xfrm>
            <a:off x="1244564" y="3461652"/>
            <a:ext cx="3479564" cy="253964"/>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6212C"/>
                </a:solidFill>
                <a:latin typeface="IBM Plex Sans" pitchFamily="34" charset="0"/>
                <a:ea typeface="IBM Plex Sans" pitchFamily="34" charset="-122"/>
                <a:cs typeface="IBM Plex Sans" pitchFamily="34" charset="-120"/>
              </a:rPr>
              <a:t>Reasoning for transparency</a:t>
            </a:r>
            <a:endParaRPr lang="en-US" sz="1500" dirty="0"/>
          </a:p>
        </p:txBody>
      </p:sp>
      <p:sp>
        <p:nvSpPr>
          <p:cNvPr id="12" name="Text 10"/>
          <p:cNvSpPr/>
          <p:nvPr/>
        </p:nvSpPr>
        <p:spPr>
          <a:xfrm>
            <a:off x="1244564" y="3728281"/>
            <a:ext cx="3479564" cy="256535"/>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D4A57"/>
                </a:solidFill>
                <a:latin typeface="IBM Plex Sans" pitchFamily="34" charset="0"/>
                <a:ea typeface="IBM Plex Sans" pitchFamily="34" charset="-122"/>
                <a:cs typeface="IBM Plex Sans" pitchFamily="34" charset="-120"/>
              </a:rPr>
              <a:t>A required "why" field, shown in the UI.</a:t>
            </a:r>
            <a:endParaRPr lang="en-US" sz="1300" dirty="0"/>
          </a:p>
        </p:txBody>
      </p:sp>
      <p:sp>
        <p:nvSpPr>
          <p:cNvPr id="13" name="Text 11"/>
          <p:cNvSpPr/>
          <p:nvPr/>
        </p:nvSpPr>
        <p:spPr>
          <a:xfrm>
            <a:off x="812782" y="4124477"/>
            <a:ext cx="304782" cy="304782"/>
          </a:xfrm>
          <a:custGeom>
            <a:avLst/>
            <a:gdLst/>
            <a:ahLst/>
            <a:cxnLst/>
            <a:rect l="l" t="t" r="r" b="b"/>
            <a:pathLst>
              <a:path w="304782" h="304782">
                <a:moveTo>
                  <a:pt x="152391" y="0"/>
                </a:moveTo>
                <a:lnTo>
                  <a:pt x="152391" y="0"/>
                </a:lnTo>
                <a:arcTo wR="152391" hR="152391" stAng="16200000" swAng="5400000"/>
                <a:lnTo>
                  <a:pt x="304782" y="152391"/>
                </a:lnTo>
                <a:arcTo wR="152391" hR="152391" stAng="0" swAng="5400000"/>
                <a:lnTo>
                  <a:pt x="152391" y="304782"/>
                </a:lnTo>
                <a:arcTo wR="152391" hR="152391" stAng="5400000" swAng="5400000"/>
                <a:lnTo>
                  <a:pt x="0" y="152391"/>
                </a:lnTo>
                <a:arcTo wR="152391" hR="152391" stAng="10800000" swAng="5400000"/>
                <a:close/>
              </a:path>
            </a:pathLst>
          </a:custGeom>
          <a:solidFill>
            <a:srgbClr val="E8843F"/>
          </a:solidFill>
          <a:ln/>
        </p:spPr>
        <p:txBody>
          <a:bodyPr wrap="square" lIns="0" tIns="0" rIns="0" bIns="0" rtlCol="0" anchor="t">
            <a:normAutofit/>
          </a:bodyPr>
          <a:lstStyle/>
          <a:p>
            <a:pPr marL="0" indent="0" algn="ctr">
              <a:lnSpc>
                <a:spcPts val="2405"/>
              </a:lnSpc>
              <a:buNone/>
            </a:pPr>
            <a:r>
              <a:rPr lang="en-US" sz="1300" b="1" dirty="0">
                <a:solidFill>
                  <a:srgbClr val="16212C"/>
                </a:solidFill>
                <a:latin typeface="IBM Plex Sans" pitchFamily="34" charset="0"/>
                <a:ea typeface="IBM Plex Sans" pitchFamily="34" charset="-122"/>
                <a:cs typeface="IBM Plex Sans" pitchFamily="34" charset="-120"/>
              </a:rPr>
              <a:t>4</a:t>
            </a:r>
            <a:endParaRPr lang="en-US" sz="1300" dirty="0"/>
          </a:p>
        </p:txBody>
      </p:sp>
      <p:sp>
        <p:nvSpPr>
          <p:cNvPr id="14" name="Text 12"/>
          <p:cNvSpPr/>
          <p:nvPr/>
        </p:nvSpPr>
        <p:spPr>
          <a:xfrm>
            <a:off x="1244564" y="4124477"/>
            <a:ext cx="3479564" cy="253964"/>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6212C"/>
                </a:solidFill>
                <a:latin typeface="IBM Plex Sans" pitchFamily="34" charset="0"/>
                <a:ea typeface="IBM Plex Sans" pitchFamily="34" charset="-122"/>
                <a:cs typeface="IBM Plex Sans" pitchFamily="34" charset="-120"/>
              </a:rPr>
              <a:t>Read the dict directly</a:t>
            </a:r>
            <a:endParaRPr lang="en-US" sz="1500" dirty="0"/>
          </a:p>
        </p:txBody>
      </p:sp>
      <p:sp>
        <p:nvSpPr>
          <p:cNvPr id="15" name="Text 13"/>
          <p:cNvSpPr/>
          <p:nvPr/>
        </p:nvSpPr>
        <p:spPr>
          <a:xfrm>
            <a:off x="1244564" y="4391109"/>
            <a:ext cx="3479564" cy="256535"/>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D4A57"/>
                </a:solidFill>
                <a:latin typeface="IBM Plex Sans" pitchFamily="34" charset="0"/>
                <a:ea typeface="IBM Plex Sans" pitchFamily="34" charset="-122"/>
                <a:cs typeface="IBM Plex Sans" pitchFamily="34" charset="-120"/>
              </a:rPr>
              <a:t>block.input is already parsed.</a:t>
            </a:r>
            <a:endParaRPr lang="en-US" sz="1300" dirty="0"/>
          </a:p>
        </p:txBody>
      </p:sp>
      <p:sp>
        <p:nvSpPr>
          <p:cNvPr id="16" name="Shape 14"/>
          <p:cNvSpPr/>
          <p:nvPr/>
        </p:nvSpPr>
        <p:spPr>
          <a:xfrm>
            <a:off x="4927564" y="1673730"/>
            <a:ext cx="6451564" cy="4091150"/>
          </a:xfrm>
          <a:prstGeom prst="roundRect">
            <a:avLst>
              <a:gd name="adj" fmla="val 2483"/>
            </a:avLst>
          </a:prstGeom>
          <a:solidFill>
            <a:srgbClr val="16212C"/>
          </a:solidFill>
          <a:ln/>
        </p:spPr>
        <p:txBody>
          <a:bodyPr/>
          <a:lstStyle/>
          <a:p>
            <a:endParaRPr lang="en-CN"/>
          </a:p>
        </p:txBody>
      </p:sp>
      <p:sp>
        <p:nvSpPr>
          <p:cNvPr id="17" name="Text 15"/>
          <p:cNvSpPr/>
          <p:nvPr/>
        </p:nvSpPr>
        <p:spPr>
          <a:xfrm>
            <a:off x="5105364" y="1826121"/>
            <a:ext cx="6278842" cy="238693"/>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9AA9B8"/>
                </a:solidFill>
                <a:latin typeface="JetBrains Mono" pitchFamily="49" charset="0"/>
                <a:ea typeface="JetBrains Mono" pitchFamily="49" charset="-122"/>
                <a:cs typeface="JetBrains Mono" pitchFamily="49" charset="-120"/>
              </a:rPr>
              <a:t>01_routing.py</a:t>
            </a:r>
            <a:endParaRPr lang="en-US" sz="1200" dirty="0"/>
          </a:p>
        </p:txBody>
      </p:sp>
      <p:sp>
        <p:nvSpPr>
          <p:cNvPr id="18" name="Text 16"/>
          <p:cNvSpPr/>
          <p:nvPr/>
        </p:nvSpPr>
        <p:spPr>
          <a:xfrm>
            <a:off x="5105364" y="2115617"/>
            <a:ext cx="6278842" cy="231098"/>
          </a:xfrm>
          <a:prstGeom prst="rect">
            <a:avLst/>
          </a:prstGeom>
          <a:noFill/>
          <a:ln/>
        </p:spPr>
        <p:txBody>
          <a:bodyPr wrap="none" lIns="0" tIns="0" rIns="0" bIns="0" rtlCol="0" anchor="t">
            <a:normAutofit/>
          </a:bodyPr>
          <a:lstStyle/>
          <a:p>
            <a:pPr marL="0" indent="0" algn="l">
              <a:lnSpc>
                <a:spcPts val="1620"/>
              </a:lnSpc>
              <a:buNone/>
            </a:pPr>
            <a:r>
              <a:rPr lang="en-US" sz="1200" dirty="0">
                <a:solidFill>
                  <a:srgbClr val="7C8FA3"/>
                </a:solidFill>
                <a:latin typeface="JetBrains Mono" pitchFamily="49" charset="0"/>
                <a:ea typeface="JetBrains Mono" pitchFamily="49" charset="-122"/>
                <a:cs typeface="JetBrains Mono" pitchFamily="49" charset="-120"/>
              </a:rPr>
              <a:t>037</a:t>
            </a:r>
            <a:r>
              <a:rPr lang="en-US" sz="1200" dirty="0">
                <a:solidFill>
                  <a:srgbClr val="D6DDE5"/>
                </a:solidFill>
                <a:latin typeface="JetBrains Mono" pitchFamily="49" charset="0"/>
                <a:ea typeface="JetBrains Mono" pitchFamily="49" charset="-122"/>
                <a:cs typeface="JetBrains Mono" pitchFamily="49" charset="-120"/>
              </a:rPr>
              <a:t> CLASSIFY_TOOLS = [{"name": "classify_content",</a:t>
            </a:r>
            <a:endParaRPr lang="en-US" sz="1200" dirty="0"/>
          </a:p>
        </p:txBody>
      </p:sp>
      <p:sp>
        <p:nvSpPr>
          <p:cNvPr id="19" name="Text 17"/>
          <p:cNvSpPr/>
          <p:nvPr/>
        </p:nvSpPr>
        <p:spPr>
          <a:xfrm>
            <a:off x="5105364" y="2321316"/>
            <a:ext cx="6278842" cy="231098"/>
          </a:xfrm>
          <a:prstGeom prst="rect">
            <a:avLst/>
          </a:prstGeom>
          <a:noFill/>
          <a:ln/>
        </p:spPr>
        <p:txBody>
          <a:bodyPr wrap="none" lIns="0" tIns="0" rIns="0" bIns="0" rtlCol="0" anchor="t">
            <a:normAutofit/>
          </a:bodyPr>
          <a:lstStyle/>
          <a:p>
            <a:pPr marL="0" indent="0" algn="l">
              <a:lnSpc>
                <a:spcPts val="1620"/>
              </a:lnSpc>
              <a:buNone/>
            </a:pPr>
            <a:r>
              <a:rPr lang="en-US" sz="1200" dirty="0">
                <a:solidFill>
                  <a:srgbClr val="7C8FA3"/>
                </a:solidFill>
                <a:latin typeface="JetBrains Mono" pitchFamily="49" charset="0"/>
                <a:ea typeface="JetBrains Mono" pitchFamily="49" charset="-122"/>
                <a:cs typeface="JetBrains Mono" pitchFamily="49" charset="-120"/>
              </a:rPr>
              <a:t>041</a:t>
            </a:r>
            <a:r>
              <a:rPr lang="en-US" sz="1200" dirty="0">
                <a:solidFill>
                  <a:srgbClr val="D6DDE5"/>
                </a:solidFill>
                <a:latin typeface="JetBrains Mono" pitchFamily="49" charset="0"/>
                <a:ea typeface="JetBrains Mono" pitchFamily="49" charset="-122"/>
                <a:cs typeface="JetBrains Mono" pitchFamily="49" charset="-120"/>
              </a:rPr>
              <a:t>   "input_schema": {"type": "object", "properties": {</a:t>
            </a:r>
            <a:endParaRPr lang="en-US" sz="1200" dirty="0"/>
          </a:p>
        </p:txBody>
      </p:sp>
      <p:sp>
        <p:nvSpPr>
          <p:cNvPr id="20" name="Text 18"/>
          <p:cNvSpPr/>
          <p:nvPr/>
        </p:nvSpPr>
        <p:spPr>
          <a:xfrm>
            <a:off x="5105364" y="2527012"/>
            <a:ext cx="6278842" cy="231098"/>
          </a:xfrm>
          <a:prstGeom prst="rect">
            <a:avLst/>
          </a:prstGeom>
          <a:noFill/>
          <a:ln/>
        </p:spPr>
        <p:txBody>
          <a:bodyPr wrap="none" lIns="0" tIns="0" rIns="0" bIns="0" rtlCol="0" anchor="t">
            <a:normAutofit/>
          </a:bodyPr>
          <a:lstStyle/>
          <a:p>
            <a:pPr marL="0" indent="0" algn="l">
              <a:lnSpc>
                <a:spcPts val="1620"/>
              </a:lnSpc>
              <a:buNone/>
            </a:pPr>
            <a:r>
              <a:rPr lang="en-US" sz="1200" dirty="0">
                <a:solidFill>
                  <a:srgbClr val="7C8FA3"/>
                </a:solidFill>
                <a:latin typeface="JetBrains Mono" pitchFamily="49" charset="0"/>
                <a:ea typeface="JetBrains Mono" pitchFamily="49" charset="-122"/>
                <a:cs typeface="JetBrains Mono" pitchFamily="49" charset="-120"/>
              </a:rPr>
              <a:t>044</a:t>
            </a:r>
            <a:r>
              <a:rPr lang="en-US" sz="1200" dirty="0">
                <a:solidFill>
                  <a:srgbClr val="D6DDE5"/>
                </a:solidFill>
                <a:latin typeface="JetBrains Mono" pitchFamily="49" charset="0"/>
                <a:ea typeface="JetBrains Mono" pitchFamily="49" charset="-122"/>
                <a:cs typeface="JetBrains Mono" pitchFamily="49" charset="-120"/>
              </a:rPr>
              <a:t>     "content_type": {"type": "string",</a:t>
            </a:r>
            <a:endParaRPr lang="en-US" sz="1200" dirty="0"/>
          </a:p>
        </p:txBody>
      </p:sp>
      <p:sp>
        <p:nvSpPr>
          <p:cNvPr id="21" name="Text 19"/>
          <p:cNvSpPr/>
          <p:nvPr/>
        </p:nvSpPr>
        <p:spPr>
          <a:xfrm>
            <a:off x="4927564" y="2732711"/>
            <a:ext cx="6451564" cy="205698"/>
          </a:xfrm>
          <a:prstGeom prst="rect">
            <a:avLst/>
          </a:prstGeom>
          <a:solidFill>
            <a:srgbClr val="3A2B20"/>
          </a:solidFill>
          <a:ln/>
        </p:spPr>
        <p:txBody>
          <a:bodyPr wrap="none" lIns="177223" tIns="0" rIns="0" bIns="0" rtlCol="0" anchor="t">
            <a:normAutofit/>
          </a:bodyPr>
          <a:lstStyle/>
          <a:p>
            <a:pPr marL="0" indent="0" algn="l">
              <a:lnSpc>
                <a:spcPts val="1620"/>
              </a:lnSpc>
              <a:buNone/>
            </a:pPr>
            <a:r>
              <a:rPr lang="en-US" sz="1200" dirty="0">
                <a:solidFill>
                  <a:srgbClr val="7C8FA3"/>
                </a:solidFill>
                <a:latin typeface="JetBrains Mono" pitchFamily="49" charset="0"/>
                <a:ea typeface="JetBrains Mono" pitchFamily="49" charset="-122"/>
                <a:cs typeface="JetBrains Mono" pitchFamily="49" charset="-120"/>
              </a:rPr>
              <a:t>046</a:t>
            </a:r>
            <a:r>
              <a:rPr lang="en-US" sz="1200" dirty="0">
                <a:solidFill>
                  <a:srgbClr val="D6DDE5"/>
                </a:solidFill>
                <a:latin typeface="JetBrains Mono" pitchFamily="49" charset="0"/>
                <a:ea typeface="JetBrains Mono" pitchFamily="49" charset="-122"/>
                <a:cs typeface="JetBrains Mono" pitchFamily="49" charset="-120"/>
              </a:rPr>
              <a:t>       "enum": ["tutorial", "news", "concept"], </a:t>
            </a:r>
            <a:r>
              <a:rPr lang="en-US" sz="1200" b="1" dirty="0">
                <a:solidFill>
                  <a:srgbClr val="F2A46B"/>
                </a:solidFill>
                <a:latin typeface="JetBrains Mono" pitchFamily="49" charset="0"/>
                <a:ea typeface="JetBrains Mono" pitchFamily="49" charset="-122"/>
                <a:cs typeface="JetBrains Mono" pitchFamily="49" charset="-120"/>
              </a:rPr>
              <a:t>← 1</a:t>
            </a:r>
            <a:endParaRPr lang="en-US" sz="1200" dirty="0"/>
          </a:p>
        </p:txBody>
      </p:sp>
      <p:sp>
        <p:nvSpPr>
          <p:cNvPr id="22" name="Shape 20"/>
          <p:cNvSpPr/>
          <p:nvPr/>
        </p:nvSpPr>
        <p:spPr>
          <a:xfrm>
            <a:off x="4946614" y="2732711"/>
            <a:ext cx="0" cy="205698"/>
          </a:xfrm>
          <a:prstGeom prst="line">
            <a:avLst/>
          </a:prstGeom>
          <a:noFill/>
          <a:ln w="38100">
            <a:solidFill>
              <a:srgbClr val="E8843F"/>
            </a:solidFill>
            <a:prstDash val="solid"/>
          </a:ln>
        </p:spPr>
        <p:txBody>
          <a:bodyPr/>
          <a:lstStyle/>
          <a:p>
            <a:endParaRPr lang="en-CN"/>
          </a:p>
        </p:txBody>
      </p:sp>
      <p:sp>
        <p:nvSpPr>
          <p:cNvPr id="23" name="Text 21"/>
          <p:cNvSpPr/>
          <p:nvPr/>
        </p:nvSpPr>
        <p:spPr>
          <a:xfrm>
            <a:off x="4927564" y="2938410"/>
            <a:ext cx="6451564" cy="205698"/>
          </a:xfrm>
          <a:prstGeom prst="rect">
            <a:avLst/>
          </a:prstGeom>
          <a:solidFill>
            <a:srgbClr val="3A2B20"/>
          </a:solidFill>
          <a:ln/>
        </p:spPr>
        <p:txBody>
          <a:bodyPr wrap="none" lIns="177223" tIns="0" rIns="0" bIns="0" rtlCol="0" anchor="t">
            <a:normAutofit/>
          </a:bodyPr>
          <a:lstStyle/>
          <a:p>
            <a:pPr marL="0" indent="0" algn="l">
              <a:lnSpc>
                <a:spcPts val="1620"/>
              </a:lnSpc>
              <a:buNone/>
            </a:pPr>
            <a:r>
              <a:rPr lang="en-US" sz="1200" dirty="0">
                <a:solidFill>
                  <a:srgbClr val="7C8FA3"/>
                </a:solidFill>
                <a:latin typeface="JetBrains Mono" pitchFamily="49" charset="0"/>
                <a:ea typeface="JetBrains Mono" pitchFamily="49" charset="-122"/>
                <a:cs typeface="JetBrains Mono" pitchFamily="49" charset="-120"/>
              </a:rPr>
              <a:t>047</a:t>
            </a:r>
            <a:r>
              <a:rPr lang="en-US" sz="1200" dirty="0">
                <a:solidFill>
                  <a:srgbClr val="D6DDE5"/>
                </a:solidFill>
                <a:latin typeface="JetBrains Mono" pitchFamily="49" charset="0"/>
                <a:ea typeface="JetBrains Mono" pitchFamily="49" charset="-122"/>
                <a:cs typeface="JetBrains Mono" pitchFamily="49" charset="-120"/>
              </a:rPr>
              <a:t>       "description": </a:t>
            </a:r>
            <a:r>
              <a:rPr lang="en-US" sz="1200" dirty="0">
                <a:solidFill>
                  <a:srgbClr val="A9CF8C"/>
                </a:solidFill>
                <a:latin typeface="JetBrains Mono" pitchFamily="49" charset="0"/>
                <a:ea typeface="JetBrains Mono" pitchFamily="49" charset="-122"/>
                <a:cs typeface="JetBrains Mono" pitchFamily="49" charset="-120"/>
              </a:rPr>
              <a:t>"tutorial: how-to guides…"</a:t>
            </a:r>
            <a:r>
              <a:rPr lang="en-US" sz="1200" dirty="0">
                <a:solidFill>
                  <a:srgbClr val="D6DDE5"/>
                </a:solidFill>
                <a:latin typeface="JetBrains Mono" pitchFamily="49" charset="0"/>
                <a:ea typeface="JetBrains Mono" pitchFamily="49" charset="-122"/>
                <a:cs typeface="JetBrains Mono" pitchFamily="49" charset="-120"/>
              </a:rPr>
              <a:t>},</a:t>
            </a:r>
            <a:endParaRPr lang="en-US" sz="1200" dirty="0"/>
          </a:p>
        </p:txBody>
      </p:sp>
      <p:sp>
        <p:nvSpPr>
          <p:cNvPr id="24" name="Shape 22"/>
          <p:cNvSpPr/>
          <p:nvPr/>
        </p:nvSpPr>
        <p:spPr>
          <a:xfrm>
            <a:off x="4946614" y="2938410"/>
            <a:ext cx="0" cy="205698"/>
          </a:xfrm>
          <a:prstGeom prst="line">
            <a:avLst/>
          </a:prstGeom>
          <a:noFill/>
          <a:ln w="38100">
            <a:solidFill>
              <a:srgbClr val="E8843F"/>
            </a:solidFill>
            <a:prstDash val="solid"/>
          </a:ln>
        </p:spPr>
        <p:txBody>
          <a:bodyPr/>
          <a:lstStyle/>
          <a:p>
            <a:endParaRPr lang="en-CN"/>
          </a:p>
        </p:txBody>
      </p:sp>
      <p:sp>
        <p:nvSpPr>
          <p:cNvPr id="25" name="Text 23"/>
          <p:cNvSpPr/>
          <p:nvPr/>
        </p:nvSpPr>
        <p:spPr>
          <a:xfrm>
            <a:off x="4927564" y="3144109"/>
            <a:ext cx="6451564" cy="205698"/>
          </a:xfrm>
          <a:prstGeom prst="rect">
            <a:avLst/>
          </a:prstGeom>
          <a:solidFill>
            <a:srgbClr val="3A2B20"/>
          </a:solidFill>
          <a:ln/>
        </p:spPr>
        <p:txBody>
          <a:bodyPr wrap="none" lIns="177223" tIns="0" rIns="0" bIns="0" rtlCol="0" anchor="t">
            <a:normAutofit/>
          </a:bodyPr>
          <a:lstStyle/>
          <a:p>
            <a:pPr marL="0" indent="0" algn="l">
              <a:lnSpc>
                <a:spcPts val="1620"/>
              </a:lnSpc>
              <a:buNone/>
            </a:pPr>
            <a:r>
              <a:rPr lang="en-US" sz="1200" dirty="0">
                <a:solidFill>
                  <a:srgbClr val="7C8FA3"/>
                </a:solidFill>
                <a:latin typeface="JetBrains Mono" pitchFamily="49" charset="0"/>
                <a:ea typeface="JetBrains Mono" pitchFamily="49" charset="-122"/>
                <a:cs typeface="JetBrains Mono" pitchFamily="49" charset="-120"/>
              </a:rPr>
              <a:t>053</a:t>
            </a:r>
            <a:r>
              <a:rPr lang="en-US" sz="1200" dirty="0">
                <a:solidFill>
                  <a:srgbClr val="D6DDE5"/>
                </a:solidFill>
                <a:latin typeface="JetBrains Mono" pitchFamily="49" charset="0"/>
                <a:ea typeface="JetBrains Mono" pitchFamily="49" charset="-122"/>
                <a:cs typeface="JetBrains Mono" pitchFamily="49" charset="-120"/>
              </a:rPr>
              <a:t>     "reasoning": {"type": "string"}}, </a:t>
            </a:r>
            <a:r>
              <a:rPr lang="en-US" sz="1200" b="1" dirty="0">
                <a:solidFill>
                  <a:srgbClr val="F2A46B"/>
                </a:solidFill>
                <a:latin typeface="JetBrains Mono" pitchFamily="49" charset="0"/>
                <a:ea typeface="JetBrains Mono" pitchFamily="49" charset="-122"/>
                <a:cs typeface="JetBrains Mono" pitchFamily="49" charset="-120"/>
              </a:rPr>
              <a:t>← 3</a:t>
            </a:r>
            <a:endParaRPr lang="en-US" sz="1200" dirty="0"/>
          </a:p>
        </p:txBody>
      </p:sp>
      <p:sp>
        <p:nvSpPr>
          <p:cNvPr id="26" name="Shape 24"/>
          <p:cNvSpPr/>
          <p:nvPr/>
        </p:nvSpPr>
        <p:spPr>
          <a:xfrm>
            <a:off x="4946614" y="3144109"/>
            <a:ext cx="0" cy="205698"/>
          </a:xfrm>
          <a:prstGeom prst="line">
            <a:avLst/>
          </a:prstGeom>
          <a:noFill/>
          <a:ln w="38100">
            <a:solidFill>
              <a:srgbClr val="E8843F"/>
            </a:solidFill>
            <a:prstDash val="solid"/>
          </a:ln>
        </p:spPr>
        <p:txBody>
          <a:bodyPr/>
          <a:lstStyle/>
          <a:p>
            <a:endParaRPr lang="en-CN"/>
          </a:p>
        </p:txBody>
      </p:sp>
      <p:sp>
        <p:nvSpPr>
          <p:cNvPr id="27" name="Text 25"/>
          <p:cNvSpPr/>
          <p:nvPr/>
        </p:nvSpPr>
        <p:spPr>
          <a:xfrm>
            <a:off x="5105364" y="3349808"/>
            <a:ext cx="6278842" cy="231098"/>
          </a:xfrm>
          <a:prstGeom prst="rect">
            <a:avLst/>
          </a:prstGeom>
          <a:noFill/>
          <a:ln/>
        </p:spPr>
        <p:txBody>
          <a:bodyPr wrap="none" lIns="0" tIns="0" rIns="0" bIns="0" rtlCol="0" anchor="t">
            <a:normAutofit/>
          </a:bodyPr>
          <a:lstStyle/>
          <a:p>
            <a:pPr marL="0" indent="0" algn="l">
              <a:lnSpc>
                <a:spcPts val="1620"/>
              </a:lnSpc>
              <a:buNone/>
            </a:pPr>
            <a:r>
              <a:rPr lang="en-US" sz="1200" dirty="0">
                <a:solidFill>
                  <a:srgbClr val="7C8FA3"/>
                </a:solidFill>
                <a:latin typeface="JetBrains Mono" pitchFamily="49" charset="0"/>
                <a:ea typeface="JetBrains Mono" pitchFamily="49" charset="-122"/>
                <a:cs typeface="JetBrains Mono" pitchFamily="49" charset="-120"/>
              </a:rPr>
              <a:t>058</a:t>
            </a:r>
            <a:r>
              <a:rPr lang="en-US" sz="1200" dirty="0">
                <a:solidFill>
                  <a:srgbClr val="D6DDE5"/>
                </a:solidFill>
                <a:latin typeface="JetBrains Mono" pitchFamily="49" charset="0"/>
                <a:ea typeface="JetBrains Mono" pitchFamily="49" charset="-122"/>
                <a:cs typeface="JetBrains Mono" pitchFamily="49" charset="-120"/>
              </a:rPr>
              <a:t>   "required": ["content_type", "reasoning"]}}]</a:t>
            </a:r>
            <a:endParaRPr lang="en-US" sz="1200" dirty="0"/>
          </a:p>
        </p:txBody>
      </p:sp>
      <p:sp>
        <p:nvSpPr>
          <p:cNvPr id="28" name="Text 26"/>
          <p:cNvSpPr/>
          <p:nvPr/>
        </p:nvSpPr>
        <p:spPr>
          <a:xfrm>
            <a:off x="5105364" y="3555504"/>
            <a:ext cx="6278842" cy="231098"/>
          </a:xfrm>
          <a:prstGeom prst="rect">
            <a:avLst/>
          </a:prstGeom>
          <a:noFill/>
          <a:ln/>
        </p:spPr>
        <p:txBody>
          <a:bodyPr wrap="none" lIns="0" tIns="0" rIns="0" bIns="0" rtlCol="0" anchor="t">
            <a:normAutofit/>
          </a:bodyPr>
          <a:lstStyle/>
          <a:p>
            <a:pPr marL="0" indent="0" algn="l">
              <a:lnSpc>
                <a:spcPts val="1620"/>
              </a:lnSpc>
              <a:buNone/>
            </a:pPr>
            <a:r>
              <a:rPr lang="en-US" sz="1200" dirty="0">
                <a:solidFill>
                  <a:srgbClr val="7C8FA3"/>
                </a:solidFill>
                <a:latin typeface="JetBrains Mono" pitchFamily="49" charset="0"/>
                <a:ea typeface="JetBrains Mono" pitchFamily="49" charset="-122"/>
                <a:cs typeface="JetBrains Mono" pitchFamily="49" charset="-120"/>
              </a:rPr>
              <a:t>    ⋮</a:t>
            </a:r>
            <a:endParaRPr lang="en-US" sz="1200" dirty="0"/>
          </a:p>
        </p:txBody>
      </p:sp>
      <p:sp>
        <p:nvSpPr>
          <p:cNvPr id="29" name="Text 27"/>
          <p:cNvSpPr/>
          <p:nvPr/>
        </p:nvSpPr>
        <p:spPr>
          <a:xfrm>
            <a:off x="5105364" y="3761203"/>
            <a:ext cx="6278842" cy="231098"/>
          </a:xfrm>
          <a:prstGeom prst="rect">
            <a:avLst/>
          </a:prstGeom>
          <a:noFill/>
          <a:ln/>
        </p:spPr>
        <p:txBody>
          <a:bodyPr wrap="none" lIns="0" tIns="0" rIns="0" bIns="0" rtlCol="0" anchor="t">
            <a:normAutofit/>
          </a:bodyPr>
          <a:lstStyle/>
          <a:p>
            <a:pPr marL="0" indent="0" algn="l">
              <a:lnSpc>
                <a:spcPts val="1620"/>
              </a:lnSpc>
              <a:buNone/>
            </a:pPr>
            <a:r>
              <a:rPr lang="en-US" sz="1200" dirty="0">
                <a:solidFill>
                  <a:srgbClr val="7C8FA3"/>
                </a:solidFill>
                <a:latin typeface="JetBrains Mono" pitchFamily="49" charset="0"/>
                <a:ea typeface="JetBrains Mono" pitchFamily="49" charset="-122"/>
                <a:cs typeface="JetBrains Mono" pitchFamily="49" charset="-120"/>
              </a:rPr>
              <a:t>159</a:t>
            </a:r>
            <a:r>
              <a:rPr lang="en-US" sz="1200" dirty="0">
                <a:solidFill>
                  <a:srgbClr val="D6DDE5"/>
                </a:solidFill>
                <a:latin typeface="JetBrains Mono" pitchFamily="49" charset="0"/>
                <a:ea typeface="JetBrains Mono" pitchFamily="49" charset="-122"/>
                <a:cs typeface="JetBrains Mono" pitchFamily="49" charset="-120"/>
              </a:rPr>
              <a:t> def _classify(self, topic):</a:t>
            </a:r>
            <a:endParaRPr lang="en-US" sz="1200" dirty="0"/>
          </a:p>
        </p:txBody>
      </p:sp>
      <p:sp>
        <p:nvSpPr>
          <p:cNvPr id="30" name="Text 28"/>
          <p:cNvSpPr/>
          <p:nvPr/>
        </p:nvSpPr>
        <p:spPr>
          <a:xfrm>
            <a:off x="5105364" y="3966902"/>
            <a:ext cx="6278842" cy="231098"/>
          </a:xfrm>
          <a:prstGeom prst="rect">
            <a:avLst/>
          </a:prstGeom>
          <a:noFill/>
          <a:ln/>
        </p:spPr>
        <p:txBody>
          <a:bodyPr wrap="none" lIns="0" tIns="0" rIns="0" bIns="0" rtlCol="0" anchor="t">
            <a:normAutofit/>
          </a:bodyPr>
          <a:lstStyle/>
          <a:p>
            <a:pPr marL="0" indent="0" algn="l">
              <a:lnSpc>
                <a:spcPts val="1620"/>
              </a:lnSpc>
              <a:buNone/>
            </a:pPr>
            <a:r>
              <a:rPr lang="en-US" sz="1200" dirty="0">
                <a:solidFill>
                  <a:srgbClr val="7C8FA3"/>
                </a:solidFill>
                <a:latin typeface="JetBrains Mono" pitchFamily="49" charset="0"/>
                <a:ea typeface="JetBrains Mono" pitchFamily="49" charset="-122"/>
                <a:cs typeface="JetBrains Mono" pitchFamily="49" charset="-120"/>
              </a:rPr>
              <a:t>162</a:t>
            </a:r>
            <a:r>
              <a:rPr lang="en-US" sz="1200" dirty="0">
                <a:solidFill>
                  <a:srgbClr val="D6DDE5"/>
                </a:solidFill>
                <a:latin typeface="JetBrains Mono" pitchFamily="49" charset="0"/>
                <a:ea typeface="JetBrains Mono" pitchFamily="49" charset="-122"/>
                <a:cs typeface="JetBrains Mono" pitchFamily="49" charset="-120"/>
              </a:rPr>
              <a:t>   response = self._call_llm(CLASSIFY_SYSTEM_PROMPT,</a:t>
            </a:r>
            <a:endParaRPr lang="en-US" sz="1200" dirty="0"/>
          </a:p>
        </p:txBody>
      </p:sp>
      <p:sp>
        <p:nvSpPr>
          <p:cNvPr id="31" name="Text 29"/>
          <p:cNvSpPr/>
          <p:nvPr/>
        </p:nvSpPr>
        <p:spPr>
          <a:xfrm>
            <a:off x="5105364" y="4172598"/>
            <a:ext cx="6278842" cy="231098"/>
          </a:xfrm>
          <a:prstGeom prst="rect">
            <a:avLst/>
          </a:prstGeom>
          <a:noFill/>
          <a:ln/>
        </p:spPr>
        <p:txBody>
          <a:bodyPr wrap="none" lIns="0" tIns="0" rIns="0" bIns="0" rtlCol="0" anchor="t">
            <a:normAutofit/>
          </a:bodyPr>
          <a:lstStyle/>
          <a:p>
            <a:pPr marL="0" indent="0" algn="l">
              <a:lnSpc>
                <a:spcPts val="1620"/>
              </a:lnSpc>
              <a:buNone/>
            </a:pPr>
            <a:r>
              <a:rPr lang="en-US" sz="1200" dirty="0">
                <a:solidFill>
                  <a:srgbClr val="7C8FA3"/>
                </a:solidFill>
                <a:latin typeface="JetBrains Mono" pitchFamily="49" charset="0"/>
                <a:ea typeface="JetBrains Mono" pitchFamily="49" charset="-122"/>
                <a:cs typeface="JetBrains Mono" pitchFamily="49" charset="-120"/>
              </a:rPr>
              <a:t>165</a:t>
            </a:r>
            <a:r>
              <a:rPr lang="en-US" sz="1200" dirty="0">
                <a:solidFill>
                  <a:srgbClr val="D6DDE5"/>
                </a:solidFill>
                <a:latin typeface="JetBrains Mono" pitchFamily="49" charset="0"/>
                <a:ea typeface="JetBrains Mono" pitchFamily="49" charset="-122"/>
                <a:cs typeface="JetBrains Mono" pitchFamily="49" charset="-120"/>
              </a:rPr>
              <a:t>     messages, use_light=True, max_tokens=256,</a:t>
            </a:r>
            <a:endParaRPr lang="en-US" sz="1200" dirty="0"/>
          </a:p>
        </p:txBody>
      </p:sp>
      <p:sp>
        <p:nvSpPr>
          <p:cNvPr id="32" name="Text 30"/>
          <p:cNvSpPr/>
          <p:nvPr/>
        </p:nvSpPr>
        <p:spPr>
          <a:xfrm>
            <a:off x="4927564" y="4378297"/>
            <a:ext cx="6451564" cy="205698"/>
          </a:xfrm>
          <a:prstGeom prst="rect">
            <a:avLst/>
          </a:prstGeom>
          <a:solidFill>
            <a:srgbClr val="3A2B20"/>
          </a:solidFill>
          <a:ln/>
        </p:spPr>
        <p:txBody>
          <a:bodyPr wrap="none" lIns="177223" tIns="0" rIns="0" bIns="0" rtlCol="0" anchor="t">
            <a:normAutofit/>
          </a:bodyPr>
          <a:lstStyle/>
          <a:p>
            <a:pPr marL="0" indent="0" algn="l">
              <a:lnSpc>
                <a:spcPts val="1620"/>
              </a:lnSpc>
              <a:buNone/>
            </a:pPr>
            <a:r>
              <a:rPr lang="en-US" sz="1200" dirty="0">
                <a:solidFill>
                  <a:srgbClr val="7C8FA3"/>
                </a:solidFill>
                <a:latin typeface="JetBrains Mono" pitchFamily="49" charset="0"/>
                <a:ea typeface="JetBrains Mono" pitchFamily="49" charset="-122"/>
                <a:cs typeface="JetBrains Mono" pitchFamily="49" charset="-120"/>
              </a:rPr>
              <a:t>167</a:t>
            </a:r>
            <a:r>
              <a:rPr lang="en-US" sz="1200" dirty="0">
                <a:solidFill>
                  <a:srgbClr val="D6DDE5"/>
                </a:solidFill>
                <a:latin typeface="JetBrains Mono" pitchFamily="49" charset="0"/>
                <a:ea typeface="JetBrains Mono" pitchFamily="49" charset="-122"/>
                <a:cs typeface="JetBrains Mono" pitchFamily="49" charset="-120"/>
              </a:rPr>
              <a:t>     tools=CLASSIFY_TOOLS, </a:t>
            </a:r>
            <a:r>
              <a:rPr lang="en-US" sz="1200" b="1" dirty="0">
                <a:solidFill>
                  <a:srgbClr val="F2A46B"/>
                </a:solidFill>
                <a:latin typeface="JetBrains Mono" pitchFamily="49" charset="0"/>
                <a:ea typeface="JetBrains Mono" pitchFamily="49" charset="-122"/>
                <a:cs typeface="JetBrains Mono" pitchFamily="49" charset="-120"/>
              </a:rPr>
              <a:t>← 2</a:t>
            </a:r>
            <a:endParaRPr lang="en-US" sz="1200" dirty="0"/>
          </a:p>
        </p:txBody>
      </p:sp>
      <p:sp>
        <p:nvSpPr>
          <p:cNvPr id="33" name="Shape 31"/>
          <p:cNvSpPr/>
          <p:nvPr/>
        </p:nvSpPr>
        <p:spPr>
          <a:xfrm>
            <a:off x="4946614" y="4378297"/>
            <a:ext cx="0" cy="205698"/>
          </a:xfrm>
          <a:prstGeom prst="line">
            <a:avLst/>
          </a:prstGeom>
          <a:noFill/>
          <a:ln w="38100">
            <a:solidFill>
              <a:srgbClr val="E8843F"/>
            </a:solidFill>
            <a:prstDash val="solid"/>
          </a:ln>
        </p:spPr>
        <p:txBody>
          <a:bodyPr/>
          <a:lstStyle/>
          <a:p>
            <a:endParaRPr lang="en-CN"/>
          </a:p>
        </p:txBody>
      </p:sp>
      <p:sp>
        <p:nvSpPr>
          <p:cNvPr id="34" name="Text 32"/>
          <p:cNvSpPr/>
          <p:nvPr/>
        </p:nvSpPr>
        <p:spPr>
          <a:xfrm>
            <a:off x="4927564" y="4583996"/>
            <a:ext cx="6451564" cy="205698"/>
          </a:xfrm>
          <a:prstGeom prst="rect">
            <a:avLst/>
          </a:prstGeom>
          <a:solidFill>
            <a:srgbClr val="3A2B20"/>
          </a:solidFill>
          <a:ln/>
        </p:spPr>
        <p:txBody>
          <a:bodyPr wrap="none" lIns="177223" tIns="0" rIns="0" bIns="0" rtlCol="0" anchor="t">
            <a:normAutofit/>
          </a:bodyPr>
          <a:lstStyle/>
          <a:p>
            <a:pPr marL="0" indent="0" algn="l">
              <a:lnSpc>
                <a:spcPts val="1620"/>
              </a:lnSpc>
              <a:buNone/>
            </a:pPr>
            <a:r>
              <a:rPr lang="en-US" sz="1200" dirty="0">
                <a:solidFill>
                  <a:srgbClr val="7C8FA3"/>
                </a:solidFill>
                <a:latin typeface="JetBrains Mono" pitchFamily="49" charset="0"/>
                <a:ea typeface="JetBrains Mono" pitchFamily="49" charset="-122"/>
                <a:cs typeface="JetBrains Mono" pitchFamily="49" charset="-120"/>
              </a:rPr>
              <a:t>168</a:t>
            </a:r>
            <a:r>
              <a:rPr lang="en-US" sz="1200" dirty="0">
                <a:solidFill>
                  <a:srgbClr val="D6DDE5"/>
                </a:solidFill>
                <a:latin typeface="JetBrains Mono" pitchFamily="49" charset="0"/>
                <a:ea typeface="JetBrains Mono" pitchFamily="49" charset="-122"/>
                <a:cs typeface="JetBrains Mono" pitchFamily="49" charset="-120"/>
              </a:rPr>
              <a:t>     tool_choice={"type": "tool",</a:t>
            </a:r>
            <a:endParaRPr lang="en-US" sz="1200" dirty="0"/>
          </a:p>
        </p:txBody>
      </p:sp>
      <p:sp>
        <p:nvSpPr>
          <p:cNvPr id="35" name="Shape 33"/>
          <p:cNvSpPr/>
          <p:nvPr/>
        </p:nvSpPr>
        <p:spPr>
          <a:xfrm>
            <a:off x="4946614" y="4583996"/>
            <a:ext cx="0" cy="205698"/>
          </a:xfrm>
          <a:prstGeom prst="line">
            <a:avLst/>
          </a:prstGeom>
          <a:noFill/>
          <a:ln w="38100">
            <a:solidFill>
              <a:srgbClr val="E8843F"/>
            </a:solidFill>
            <a:prstDash val="solid"/>
          </a:ln>
        </p:spPr>
        <p:txBody>
          <a:bodyPr/>
          <a:lstStyle/>
          <a:p>
            <a:endParaRPr lang="en-CN"/>
          </a:p>
        </p:txBody>
      </p:sp>
      <p:sp>
        <p:nvSpPr>
          <p:cNvPr id="36" name="Text 34"/>
          <p:cNvSpPr/>
          <p:nvPr/>
        </p:nvSpPr>
        <p:spPr>
          <a:xfrm>
            <a:off x="4927564" y="4789695"/>
            <a:ext cx="6451564" cy="205698"/>
          </a:xfrm>
          <a:prstGeom prst="rect">
            <a:avLst/>
          </a:prstGeom>
          <a:solidFill>
            <a:srgbClr val="3A2B20"/>
          </a:solidFill>
          <a:ln/>
        </p:spPr>
        <p:txBody>
          <a:bodyPr wrap="none" lIns="177223" tIns="0" rIns="0" bIns="0" rtlCol="0" anchor="t">
            <a:normAutofit/>
          </a:bodyPr>
          <a:lstStyle/>
          <a:p>
            <a:pPr marL="0" indent="0" algn="l">
              <a:lnSpc>
                <a:spcPts val="1620"/>
              </a:lnSpc>
              <a:buNone/>
            </a:pPr>
            <a:r>
              <a:rPr lang="en-US" sz="1200" dirty="0">
                <a:solidFill>
                  <a:srgbClr val="7C8FA3"/>
                </a:solidFill>
                <a:latin typeface="JetBrains Mono" pitchFamily="49" charset="0"/>
                <a:ea typeface="JetBrains Mono" pitchFamily="49" charset="-122"/>
                <a:cs typeface="JetBrains Mono" pitchFamily="49" charset="-120"/>
              </a:rPr>
              <a:t>   </a:t>
            </a:r>
            <a:r>
              <a:rPr lang="en-US" sz="1200" dirty="0">
                <a:solidFill>
                  <a:srgbClr val="D6DDE5"/>
                </a:solidFill>
                <a:latin typeface="JetBrains Mono" pitchFamily="49" charset="0"/>
                <a:ea typeface="JetBrains Mono" pitchFamily="49" charset="-122"/>
                <a:cs typeface="JetBrains Mono" pitchFamily="49" charset="-120"/>
              </a:rPr>
              <a:t>       "name": "classify_content"})</a:t>
            </a:r>
            <a:endParaRPr lang="en-US" sz="1200" dirty="0"/>
          </a:p>
        </p:txBody>
      </p:sp>
      <p:sp>
        <p:nvSpPr>
          <p:cNvPr id="37" name="Shape 35"/>
          <p:cNvSpPr/>
          <p:nvPr/>
        </p:nvSpPr>
        <p:spPr>
          <a:xfrm>
            <a:off x="4946614" y="4789695"/>
            <a:ext cx="0" cy="205698"/>
          </a:xfrm>
          <a:prstGeom prst="line">
            <a:avLst/>
          </a:prstGeom>
          <a:noFill/>
          <a:ln w="38100">
            <a:solidFill>
              <a:srgbClr val="E8843F"/>
            </a:solidFill>
            <a:prstDash val="solid"/>
          </a:ln>
        </p:spPr>
        <p:txBody>
          <a:bodyPr/>
          <a:lstStyle/>
          <a:p>
            <a:endParaRPr lang="en-CN"/>
          </a:p>
        </p:txBody>
      </p:sp>
      <p:sp>
        <p:nvSpPr>
          <p:cNvPr id="38" name="Text 36"/>
          <p:cNvSpPr/>
          <p:nvPr/>
        </p:nvSpPr>
        <p:spPr>
          <a:xfrm>
            <a:off x="5105364" y="4995394"/>
            <a:ext cx="6278842" cy="231098"/>
          </a:xfrm>
          <a:prstGeom prst="rect">
            <a:avLst/>
          </a:prstGeom>
          <a:noFill/>
          <a:ln/>
        </p:spPr>
        <p:txBody>
          <a:bodyPr wrap="none" lIns="0" tIns="0" rIns="0" bIns="0" rtlCol="0" anchor="t">
            <a:normAutofit/>
          </a:bodyPr>
          <a:lstStyle/>
          <a:p>
            <a:pPr marL="0" indent="0" algn="l">
              <a:lnSpc>
                <a:spcPts val="1620"/>
              </a:lnSpc>
              <a:buNone/>
            </a:pPr>
            <a:r>
              <a:rPr lang="en-US" sz="1200" dirty="0">
                <a:solidFill>
                  <a:srgbClr val="7C8FA3"/>
                </a:solidFill>
                <a:latin typeface="JetBrains Mono" pitchFamily="49" charset="0"/>
                <a:ea typeface="JetBrains Mono" pitchFamily="49" charset="-122"/>
                <a:cs typeface="JetBrains Mono" pitchFamily="49" charset="-120"/>
              </a:rPr>
              <a:t>171</a:t>
            </a:r>
            <a:r>
              <a:rPr lang="en-US" sz="1200" dirty="0">
                <a:solidFill>
                  <a:srgbClr val="D6DDE5"/>
                </a:solidFill>
                <a:latin typeface="JetBrains Mono" pitchFamily="49" charset="0"/>
                <a:ea typeface="JetBrains Mono" pitchFamily="49" charset="-122"/>
                <a:cs typeface="JetBrains Mono" pitchFamily="49" charset="-120"/>
              </a:rPr>
              <a:t>   for block in response.content:</a:t>
            </a:r>
            <a:endParaRPr lang="en-US" sz="1200" dirty="0"/>
          </a:p>
        </p:txBody>
      </p:sp>
      <p:sp>
        <p:nvSpPr>
          <p:cNvPr id="39" name="Text 37"/>
          <p:cNvSpPr/>
          <p:nvPr/>
        </p:nvSpPr>
        <p:spPr>
          <a:xfrm>
            <a:off x="4927564" y="5201093"/>
            <a:ext cx="6451564" cy="205698"/>
          </a:xfrm>
          <a:prstGeom prst="rect">
            <a:avLst/>
          </a:prstGeom>
          <a:solidFill>
            <a:srgbClr val="3A2B20"/>
          </a:solidFill>
          <a:ln/>
        </p:spPr>
        <p:txBody>
          <a:bodyPr wrap="none" lIns="177223" tIns="0" rIns="0" bIns="0" rtlCol="0" anchor="t">
            <a:normAutofit/>
          </a:bodyPr>
          <a:lstStyle/>
          <a:p>
            <a:pPr marL="0" indent="0" algn="l">
              <a:lnSpc>
                <a:spcPts val="1620"/>
              </a:lnSpc>
              <a:buNone/>
            </a:pPr>
            <a:r>
              <a:rPr lang="en-US" sz="1200" dirty="0">
                <a:solidFill>
                  <a:srgbClr val="7C8FA3"/>
                </a:solidFill>
                <a:latin typeface="JetBrains Mono" pitchFamily="49" charset="0"/>
                <a:ea typeface="JetBrains Mono" pitchFamily="49" charset="-122"/>
                <a:cs typeface="JetBrains Mono" pitchFamily="49" charset="-120"/>
              </a:rPr>
              <a:t>172</a:t>
            </a:r>
            <a:r>
              <a:rPr lang="en-US" sz="1200" dirty="0">
                <a:solidFill>
                  <a:srgbClr val="D6DDE5"/>
                </a:solidFill>
                <a:latin typeface="JetBrains Mono" pitchFamily="49" charset="0"/>
                <a:ea typeface="JetBrains Mono" pitchFamily="49" charset="-122"/>
                <a:cs typeface="JetBrains Mono" pitchFamily="49" charset="-120"/>
              </a:rPr>
              <a:t>     if block.type == "tool_use": </a:t>
            </a:r>
            <a:r>
              <a:rPr lang="en-US" sz="1200" b="1" dirty="0">
                <a:solidFill>
                  <a:srgbClr val="F2A46B"/>
                </a:solidFill>
                <a:latin typeface="JetBrains Mono" pitchFamily="49" charset="0"/>
                <a:ea typeface="JetBrains Mono" pitchFamily="49" charset="-122"/>
                <a:cs typeface="JetBrains Mono" pitchFamily="49" charset="-120"/>
              </a:rPr>
              <a:t>← 4</a:t>
            </a:r>
            <a:endParaRPr lang="en-US" sz="1200" dirty="0"/>
          </a:p>
        </p:txBody>
      </p:sp>
      <p:sp>
        <p:nvSpPr>
          <p:cNvPr id="40" name="Shape 38"/>
          <p:cNvSpPr/>
          <p:nvPr/>
        </p:nvSpPr>
        <p:spPr>
          <a:xfrm>
            <a:off x="4946614" y="5201093"/>
            <a:ext cx="0" cy="205698"/>
          </a:xfrm>
          <a:prstGeom prst="line">
            <a:avLst/>
          </a:prstGeom>
          <a:noFill/>
          <a:ln w="38100">
            <a:solidFill>
              <a:srgbClr val="E8843F"/>
            </a:solidFill>
            <a:prstDash val="solid"/>
          </a:ln>
        </p:spPr>
        <p:txBody>
          <a:bodyPr/>
          <a:lstStyle/>
          <a:p>
            <a:endParaRPr lang="en-CN"/>
          </a:p>
        </p:txBody>
      </p:sp>
      <p:sp>
        <p:nvSpPr>
          <p:cNvPr id="41" name="Text 39"/>
          <p:cNvSpPr/>
          <p:nvPr/>
        </p:nvSpPr>
        <p:spPr>
          <a:xfrm>
            <a:off x="4927564" y="5406792"/>
            <a:ext cx="6451564" cy="205698"/>
          </a:xfrm>
          <a:prstGeom prst="rect">
            <a:avLst/>
          </a:prstGeom>
          <a:solidFill>
            <a:srgbClr val="3A2B20"/>
          </a:solidFill>
          <a:ln/>
        </p:spPr>
        <p:txBody>
          <a:bodyPr wrap="none" lIns="177223" tIns="0" rIns="0" bIns="0" rtlCol="0" anchor="t">
            <a:normAutofit/>
          </a:bodyPr>
          <a:lstStyle/>
          <a:p>
            <a:pPr marL="0" indent="0" algn="l">
              <a:lnSpc>
                <a:spcPts val="1620"/>
              </a:lnSpc>
              <a:buNone/>
            </a:pPr>
            <a:r>
              <a:rPr lang="en-US" sz="1200" dirty="0">
                <a:solidFill>
                  <a:srgbClr val="7C8FA3"/>
                </a:solidFill>
                <a:latin typeface="JetBrains Mono" pitchFamily="49" charset="0"/>
                <a:ea typeface="JetBrains Mono" pitchFamily="49" charset="-122"/>
                <a:cs typeface="JetBrains Mono" pitchFamily="49" charset="-120"/>
              </a:rPr>
              <a:t>173</a:t>
            </a:r>
            <a:r>
              <a:rPr lang="en-US" sz="1200" dirty="0">
                <a:solidFill>
                  <a:srgbClr val="D6DDE5"/>
                </a:solidFill>
                <a:latin typeface="JetBrains Mono" pitchFamily="49" charset="0"/>
                <a:ea typeface="JetBrains Mono" pitchFamily="49" charset="-122"/>
                <a:cs typeface="JetBrains Mono" pitchFamily="49" charset="-120"/>
              </a:rPr>
              <a:t>       return block.input</a:t>
            </a:r>
            <a:endParaRPr lang="en-US" sz="1200" dirty="0"/>
          </a:p>
        </p:txBody>
      </p:sp>
      <p:sp>
        <p:nvSpPr>
          <p:cNvPr id="42" name="Shape 40"/>
          <p:cNvSpPr/>
          <p:nvPr/>
        </p:nvSpPr>
        <p:spPr>
          <a:xfrm>
            <a:off x="4946614" y="5406792"/>
            <a:ext cx="0" cy="205698"/>
          </a:xfrm>
          <a:prstGeom prst="line">
            <a:avLst/>
          </a:prstGeom>
          <a:noFill/>
          <a:ln w="38100">
            <a:solidFill>
              <a:srgbClr val="E8843F"/>
            </a:solidFill>
            <a:prstDash val="solid"/>
          </a:ln>
        </p:spPr>
        <p:txBody>
          <a:bodyPr/>
          <a:lstStyle/>
          <a:p>
            <a:endParaRPr lang="en-CN"/>
          </a:p>
        </p:txBody>
      </p:sp>
      <p:sp>
        <p:nvSpPr>
          <p:cNvPr id="43" name="Text 41"/>
          <p:cNvSpPr/>
          <p:nvPr/>
        </p:nvSpPr>
        <p:spPr>
          <a:xfrm>
            <a:off x="812782" y="6238289"/>
            <a:ext cx="967994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7684"/>
                </a:solidFill>
                <a:latin typeface="IBM Plex Sans" pitchFamily="34" charset="0"/>
                <a:ea typeface="IBM Plex Sans" pitchFamily="34" charset="-122"/>
                <a:cs typeface="IBM Plex Sans" pitchFamily="34" charset="-120"/>
              </a:rPr>
              <a:t>02-routing/01_routing.py L37–175 · lines condensed</a:t>
            </a:r>
            <a:endParaRPr lang="en-US" sz="1200" dirty="0"/>
          </a:p>
        </p:txBody>
      </p:sp>
      <p:sp>
        <p:nvSpPr>
          <p:cNvPr id="44" name="Text 42"/>
          <p:cNvSpPr/>
          <p:nvPr/>
        </p:nvSpPr>
        <p:spPr>
          <a:xfrm>
            <a:off x="10312418" y="6238289"/>
            <a:ext cx="1066800" cy="238720"/>
          </a:xfrm>
          <a:prstGeom prst="rect">
            <a:avLst/>
          </a:prstGeom>
          <a:noFill/>
          <a:ln/>
        </p:spPr>
        <p:txBody>
          <a:bodyPr wrap="square" lIns="0" tIns="0" rIns="0" bIns="0" rtlCol="0" anchor="t">
            <a:normAutofit/>
          </a:bodyPr>
          <a:lstStyle/>
          <a:p>
            <a:pPr marL="0" indent="0" algn="r">
              <a:lnSpc>
                <a:spcPts val="1680"/>
              </a:lnSpc>
              <a:buNone/>
            </a:pPr>
            <a:r>
              <a:rPr lang="en-US" sz="1200" b="1" dirty="0">
                <a:solidFill>
                  <a:srgbClr val="6A7684"/>
                </a:solidFill>
                <a:latin typeface="IBM Plex Sans" pitchFamily="34" charset="0"/>
                <a:ea typeface="IBM Plex Sans" pitchFamily="34" charset="-122"/>
                <a:cs typeface="IBM Plex Sans" pitchFamily="34" charset="-120"/>
              </a:rPr>
              <a:t>8 / 27</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2EC"/>
        </a:solidFill>
        <a:effectLst/>
      </p:bgPr>
    </p:bg>
    <p:spTree>
      <p:nvGrpSpPr>
        <p:cNvPr id="1" name=""/>
        <p:cNvGrpSpPr/>
        <p:nvPr/>
      </p:nvGrpSpPr>
      <p:grpSpPr>
        <a:xfrm>
          <a:off x="0" y="0"/>
          <a:ext cx="0" cy="0"/>
          <a:chOff x="0" y="0"/>
          <a:chExt cx="0" cy="0"/>
        </a:xfrm>
      </p:grpSpPr>
      <p:sp>
        <p:nvSpPr>
          <p:cNvPr id="2" name="Text 0"/>
          <p:cNvSpPr/>
          <p:nvPr/>
        </p:nvSpPr>
        <p:spPr>
          <a:xfrm>
            <a:off x="812782" y="711169"/>
            <a:ext cx="10883429"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04E17"/>
                </a:solidFill>
                <a:latin typeface="IBM Plex Sans" pitchFamily="34" charset="0"/>
                <a:ea typeface="IBM Plex Sans" pitchFamily="34" charset="-122"/>
                <a:cs typeface="IBM Plex Sans" pitchFamily="34" charset="-120"/>
              </a:rPr>
              <a:t>02 · ROUTING · IN CODE</a:t>
            </a:r>
            <a:endParaRPr lang="en-US" sz="1200" dirty="0"/>
          </a:p>
        </p:txBody>
      </p:sp>
      <p:sp>
        <p:nvSpPr>
          <p:cNvPr id="3" name="Text 1"/>
          <p:cNvSpPr>
            <a:spLocks noGrp="1"/>
          </p:cNvSpPr>
          <p:nvPr>
            <p:ph type="title"/>
          </p:nvPr>
        </p:nvSpPr>
        <p:spPr>
          <a:xfrm>
            <a:off x="812782" y="1000665"/>
            <a:ext cx="10883429" cy="444464"/>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6212C"/>
                </a:solidFill>
                <a:latin typeface="IBM Plex Sans" pitchFamily="34" charset="0"/>
                <a:ea typeface="IBM Plex Sans" pitchFamily="34" charset="-122"/>
                <a:cs typeface="IBM Plex Sans" pitchFamily="34" charset="-120"/>
              </a:rPr>
              <a:t>The router is a dict; every route is a chain</a:t>
            </a:r>
            <a:endParaRPr lang="en-US" sz="3000" dirty="0"/>
          </a:p>
        </p:txBody>
      </p:sp>
      <p:sp>
        <p:nvSpPr>
          <p:cNvPr id="4" name="Text 2"/>
          <p:cNvSpPr/>
          <p:nvPr/>
        </p:nvSpPr>
        <p:spPr>
          <a:xfrm>
            <a:off x="812782" y="1673727"/>
            <a:ext cx="304782" cy="304782"/>
          </a:xfrm>
          <a:custGeom>
            <a:avLst/>
            <a:gdLst/>
            <a:ahLst/>
            <a:cxnLst/>
            <a:rect l="l" t="t" r="r" b="b"/>
            <a:pathLst>
              <a:path w="304782" h="304782">
                <a:moveTo>
                  <a:pt x="152391" y="0"/>
                </a:moveTo>
                <a:lnTo>
                  <a:pt x="152391" y="0"/>
                </a:lnTo>
                <a:arcTo wR="152391" hR="152391" stAng="16200000" swAng="5400000"/>
                <a:lnTo>
                  <a:pt x="304782" y="152391"/>
                </a:lnTo>
                <a:arcTo wR="152391" hR="152391" stAng="0" swAng="5400000"/>
                <a:lnTo>
                  <a:pt x="152391" y="304782"/>
                </a:lnTo>
                <a:arcTo wR="152391" hR="152391" stAng="5400000" swAng="5400000"/>
                <a:lnTo>
                  <a:pt x="0" y="152391"/>
                </a:lnTo>
                <a:arcTo wR="152391" hR="152391" stAng="10800000" swAng="5400000"/>
                <a:close/>
              </a:path>
            </a:pathLst>
          </a:custGeom>
          <a:solidFill>
            <a:srgbClr val="E8843F"/>
          </a:solidFill>
          <a:ln/>
        </p:spPr>
        <p:txBody>
          <a:bodyPr wrap="square" lIns="0" tIns="0" rIns="0" bIns="0" rtlCol="0" anchor="t">
            <a:normAutofit/>
          </a:bodyPr>
          <a:lstStyle/>
          <a:p>
            <a:pPr marL="0" indent="0" algn="ctr">
              <a:lnSpc>
                <a:spcPts val="2405"/>
              </a:lnSpc>
              <a:buNone/>
            </a:pPr>
            <a:r>
              <a:rPr lang="en-US" sz="1300" b="1" dirty="0">
                <a:solidFill>
                  <a:srgbClr val="16212C"/>
                </a:solidFill>
                <a:latin typeface="IBM Plex Sans" pitchFamily="34" charset="0"/>
                <a:ea typeface="IBM Plex Sans" pitchFamily="34" charset="-122"/>
                <a:cs typeface="IBM Plex Sans" pitchFamily="34" charset="-120"/>
              </a:rPr>
              <a:t>1</a:t>
            </a:r>
            <a:endParaRPr lang="en-US" sz="1300" dirty="0"/>
          </a:p>
        </p:txBody>
      </p:sp>
      <p:sp>
        <p:nvSpPr>
          <p:cNvPr id="5" name="Text 3"/>
          <p:cNvSpPr/>
          <p:nvPr/>
        </p:nvSpPr>
        <p:spPr>
          <a:xfrm>
            <a:off x="1244564" y="1673727"/>
            <a:ext cx="3479564" cy="253964"/>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6212C"/>
                </a:solidFill>
                <a:latin typeface="IBM Plex Sans" pitchFamily="34" charset="0"/>
                <a:ea typeface="IBM Plex Sans" pitchFamily="34" charset="-122"/>
                <a:cs typeface="IBM Plex Sans" pitchFamily="34" charset="-120"/>
              </a:rPr>
              <a:t>A dispatch table</a:t>
            </a:r>
            <a:endParaRPr lang="en-US" sz="1500" dirty="0"/>
          </a:p>
        </p:txBody>
      </p:sp>
      <p:sp>
        <p:nvSpPr>
          <p:cNvPr id="6" name="Text 4"/>
          <p:cNvSpPr/>
          <p:nvPr/>
        </p:nvSpPr>
        <p:spPr>
          <a:xfrm>
            <a:off x="1244564" y="1940353"/>
            <a:ext cx="3479564" cy="487669"/>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D4A57"/>
                </a:solidFill>
                <a:latin typeface="IBM Plex Sans" pitchFamily="34" charset="0"/>
                <a:ea typeface="IBM Plex Sans" pitchFamily="34" charset="-122"/>
                <a:cs typeface="IBM Plex Sans" pitchFamily="34" charset="-120"/>
              </a:rPr>
              <a:t>The classifier's label picks a method. Adding a route = one prompt set + one dict entry.</a:t>
            </a:r>
            <a:endParaRPr lang="en-US" sz="1300" dirty="0"/>
          </a:p>
        </p:txBody>
      </p:sp>
      <p:sp>
        <p:nvSpPr>
          <p:cNvPr id="7" name="Text 5"/>
          <p:cNvSpPr/>
          <p:nvPr/>
        </p:nvSpPr>
        <p:spPr>
          <a:xfrm>
            <a:off x="812782" y="2605801"/>
            <a:ext cx="304782" cy="304782"/>
          </a:xfrm>
          <a:custGeom>
            <a:avLst/>
            <a:gdLst/>
            <a:ahLst/>
            <a:cxnLst/>
            <a:rect l="l" t="t" r="r" b="b"/>
            <a:pathLst>
              <a:path w="304782" h="304782">
                <a:moveTo>
                  <a:pt x="152391" y="0"/>
                </a:moveTo>
                <a:lnTo>
                  <a:pt x="152391" y="0"/>
                </a:lnTo>
                <a:arcTo wR="152391" hR="152391" stAng="16200000" swAng="5400000"/>
                <a:lnTo>
                  <a:pt x="304782" y="152391"/>
                </a:lnTo>
                <a:arcTo wR="152391" hR="152391" stAng="0" swAng="5400000"/>
                <a:lnTo>
                  <a:pt x="152391" y="304782"/>
                </a:lnTo>
                <a:arcTo wR="152391" hR="152391" stAng="5400000" swAng="5400000"/>
                <a:lnTo>
                  <a:pt x="0" y="152391"/>
                </a:lnTo>
                <a:arcTo wR="152391" hR="152391" stAng="10800000" swAng="5400000"/>
                <a:close/>
              </a:path>
            </a:pathLst>
          </a:custGeom>
          <a:solidFill>
            <a:srgbClr val="E8843F"/>
          </a:solidFill>
          <a:ln/>
        </p:spPr>
        <p:txBody>
          <a:bodyPr wrap="square" lIns="0" tIns="0" rIns="0" bIns="0" rtlCol="0" anchor="t">
            <a:normAutofit/>
          </a:bodyPr>
          <a:lstStyle/>
          <a:p>
            <a:pPr marL="0" indent="0" algn="ctr">
              <a:lnSpc>
                <a:spcPts val="2405"/>
              </a:lnSpc>
              <a:buNone/>
            </a:pPr>
            <a:r>
              <a:rPr lang="en-US" sz="1300" b="1" dirty="0">
                <a:solidFill>
                  <a:srgbClr val="16212C"/>
                </a:solidFill>
                <a:latin typeface="IBM Plex Sans" pitchFamily="34" charset="0"/>
                <a:ea typeface="IBM Plex Sans" pitchFamily="34" charset="-122"/>
                <a:cs typeface="IBM Plex Sans" pitchFamily="34" charset="-120"/>
              </a:rPr>
              <a:t>2</a:t>
            </a:r>
            <a:endParaRPr lang="en-US" sz="1300" dirty="0"/>
          </a:p>
        </p:txBody>
      </p:sp>
      <p:sp>
        <p:nvSpPr>
          <p:cNvPr id="8" name="Text 6"/>
          <p:cNvSpPr/>
          <p:nvPr/>
        </p:nvSpPr>
        <p:spPr>
          <a:xfrm>
            <a:off x="1244564" y="2605801"/>
            <a:ext cx="3479564" cy="253964"/>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6212C"/>
                </a:solidFill>
                <a:latin typeface="IBM Plex Sans" pitchFamily="34" charset="0"/>
                <a:ea typeface="IBM Plex Sans" pitchFamily="34" charset="-122"/>
                <a:cs typeface="IBM Plex Sans" pitchFamily="34" charset="-120"/>
              </a:rPr>
              <a:t>Fail loudly</a:t>
            </a:r>
            <a:endParaRPr lang="en-US" sz="1500" dirty="0"/>
          </a:p>
        </p:txBody>
      </p:sp>
      <p:sp>
        <p:nvSpPr>
          <p:cNvPr id="9" name="Text 7"/>
          <p:cNvSpPr/>
          <p:nvPr/>
        </p:nvSpPr>
        <p:spPr>
          <a:xfrm>
            <a:off x="1244564" y="2872426"/>
            <a:ext cx="3683000" cy="256535"/>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D4A57"/>
                </a:solidFill>
                <a:latin typeface="IBM Plex Sans" pitchFamily="34" charset="0"/>
                <a:ea typeface="IBM Plex Sans" pitchFamily="34" charset="-122"/>
                <a:cs typeface="IBM Plex Sans" pitchFamily="34" charset="-120"/>
              </a:rPr>
              <a:t>An unknown label raises instead of guessing.</a:t>
            </a:r>
            <a:endParaRPr lang="en-US" sz="1300" dirty="0"/>
          </a:p>
        </p:txBody>
      </p:sp>
      <p:sp>
        <p:nvSpPr>
          <p:cNvPr id="10" name="Text 8"/>
          <p:cNvSpPr/>
          <p:nvPr/>
        </p:nvSpPr>
        <p:spPr>
          <a:xfrm>
            <a:off x="812782" y="3306731"/>
            <a:ext cx="304782" cy="304782"/>
          </a:xfrm>
          <a:custGeom>
            <a:avLst/>
            <a:gdLst/>
            <a:ahLst/>
            <a:cxnLst/>
            <a:rect l="l" t="t" r="r" b="b"/>
            <a:pathLst>
              <a:path w="304782" h="304782">
                <a:moveTo>
                  <a:pt x="152391" y="0"/>
                </a:moveTo>
                <a:lnTo>
                  <a:pt x="152391" y="0"/>
                </a:lnTo>
                <a:arcTo wR="152391" hR="152391" stAng="16200000" swAng="5400000"/>
                <a:lnTo>
                  <a:pt x="304782" y="152391"/>
                </a:lnTo>
                <a:arcTo wR="152391" hR="152391" stAng="0" swAng="5400000"/>
                <a:lnTo>
                  <a:pt x="152391" y="304782"/>
                </a:lnTo>
                <a:arcTo wR="152391" hR="152391" stAng="5400000" swAng="5400000"/>
                <a:lnTo>
                  <a:pt x="0" y="152391"/>
                </a:lnTo>
                <a:arcTo wR="152391" hR="152391" stAng="10800000" swAng="5400000"/>
                <a:close/>
              </a:path>
            </a:pathLst>
          </a:custGeom>
          <a:solidFill>
            <a:srgbClr val="E8843F"/>
          </a:solidFill>
          <a:ln/>
        </p:spPr>
        <p:txBody>
          <a:bodyPr wrap="square" lIns="0" tIns="0" rIns="0" bIns="0" rtlCol="0" anchor="t">
            <a:normAutofit/>
          </a:bodyPr>
          <a:lstStyle/>
          <a:p>
            <a:pPr marL="0" indent="0" algn="ctr">
              <a:lnSpc>
                <a:spcPts val="2405"/>
              </a:lnSpc>
              <a:buNone/>
            </a:pPr>
            <a:r>
              <a:rPr lang="en-US" sz="1300" b="1" dirty="0">
                <a:solidFill>
                  <a:srgbClr val="16212C"/>
                </a:solidFill>
                <a:latin typeface="IBM Plex Sans" pitchFamily="34" charset="0"/>
                <a:ea typeface="IBM Plex Sans" pitchFamily="34" charset="-122"/>
                <a:cs typeface="IBM Plex Sans" pitchFamily="34" charset="-120"/>
              </a:rPr>
              <a:t>3</a:t>
            </a:r>
            <a:endParaRPr lang="en-US" sz="1300" dirty="0"/>
          </a:p>
        </p:txBody>
      </p:sp>
      <p:sp>
        <p:nvSpPr>
          <p:cNvPr id="11" name="Text 9"/>
          <p:cNvSpPr/>
          <p:nvPr/>
        </p:nvSpPr>
        <p:spPr>
          <a:xfrm>
            <a:off x="1244564" y="3306731"/>
            <a:ext cx="3479564" cy="253964"/>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6212C"/>
                </a:solidFill>
                <a:latin typeface="IBM Plex Sans" pitchFamily="34" charset="0"/>
                <a:ea typeface="IBM Plex Sans" pitchFamily="34" charset="-122"/>
                <a:cs typeface="IBM Plex Sans" pitchFamily="34" charset="-120"/>
              </a:rPr>
              <a:t>Route = tutorial 01 again</a:t>
            </a:r>
            <a:endParaRPr lang="en-US" sz="1500" dirty="0"/>
          </a:p>
        </p:txBody>
      </p:sp>
      <p:sp>
        <p:nvSpPr>
          <p:cNvPr id="12" name="Text 10"/>
          <p:cNvSpPr/>
          <p:nvPr/>
        </p:nvSpPr>
        <p:spPr>
          <a:xfrm>
            <a:off x="1244564" y="3573363"/>
            <a:ext cx="3479564" cy="487669"/>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D4A57"/>
                </a:solidFill>
                <a:latin typeface="IBM Plex Sans" pitchFamily="34" charset="0"/>
                <a:ea typeface="IBM Plex Sans" pitchFamily="34" charset="-122"/>
                <a:cs typeface="IBM Plex Sans" pitchFamily="34" charset="-120"/>
              </a:rPr>
              <a:t>Three chained calls; the middle step runs on Haiku.</a:t>
            </a:r>
            <a:endParaRPr lang="en-US" sz="1300" dirty="0"/>
          </a:p>
        </p:txBody>
      </p:sp>
      <p:sp>
        <p:nvSpPr>
          <p:cNvPr id="13" name="Shape 11"/>
          <p:cNvSpPr/>
          <p:nvPr/>
        </p:nvSpPr>
        <p:spPr>
          <a:xfrm>
            <a:off x="4927564" y="1673727"/>
            <a:ext cx="6451564" cy="3885451"/>
          </a:xfrm>
          <a:prstGeom prst="roundRect">
            <a:avLst>
              <a:gd name="adj" fmla="val 2615"/>
            </a:avLst>
          </a:prstGeom>
          <a:solidFill>
            <a:srgbClr val="16212C"/>
          </a:solidFill>
          <a:ln/>
        </p:spPr>
        <p:txBody>
          <a:bodyPr/>
          <a:lstStyle/>
          <a:p>
            <a:endParaRPr lang="en-CN"/>
          </a:p>
        </p:txBody>
      </p:sp>
      <p:sp>
        <p:nvSpPr>
          <p:cNvPr id="14" name="Text 12"/>
          <p:cNvSpPr/>
          <p:nvPr/>
        </p:nvSpPr>
        <p:spPr>
          <a:xfrm>
            <a:off x="5105364" y="1826121"/>
            <a:ext cx="6278842" cy="238693"/>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9AA9B8"/>
                </a:solidFill>
                <a:latin typeface="JetBrains Mono" pitchFamily="49" charset="0"/>
                <a:ea typeface="JetBrains Mono" pitchFamily="49" charset="-122"/>
                <a:cs typeface="JetBrains Mono" pitchFamily="49" charset="-120"/>
              </a:rPr>
              <a:t>01_routing.py</a:t>
            </a:r>
            <a:endParaRPr lang="en-US" sz="1200" dirty="0"/>
          </a:p>
        </p:txBody>
      </p:sp>
      <p:sp>
        <p:nvSpPr>
          <p:cNvPr id="15" name="Text 13"/>
          <p:cNvSpPr/>
          <p:nvPr/>
        </p:nvSpPr>
        <p:spPr>
          <a:xfrm>
            <a:off x="4927564" y="2115610"/>
            <a:ext cx="6451564" cy="205698"/>
          </a:xfrm>
          <a:prstGeom prst="rect">
            <a:avLst/>
          </a:prstGeom>
          <a:solidFill>
            <a:srgbClr val="3A2B20"/>
          </a:solidFill>
          <a:ln/>
        </p:spPr>
        <p:txBody>
          <a:bodyPr wrap="none" lIns="177223" tIns="0" rIns="0" bIns="0" rtlCol="0" anchor="t">
            <a:normAutofit/>
          </a:bodyPr>
          <a:lstStyle/>
          <a:p>
            <a:pPr marL="0" indent="0" algn="l">
              <a:lnSpc>
                <a:spcPts val="1620"/>
              </a:lnSpc>
              <a:buNone/>
            </a:pPr>
            <a:r>
              <a:rPr lang="en-US" sz="1200" dirty="0">
                <a:solidFill>
                  <a:srgbClr val="7C8FA3"/>
                </a:solidFill>
                <a:latin typeface="JetBrains Mono" pitchFamily="49" charset="0"/>
                <a:ea typeface="JetBrains Mono" pitchFamily="49" charset="-122"/>
                <a:cs typeface="JetBrains Mono" pitchFamily="49" charset="-120"/>
              </a:rPr>
              <a:t>177</a:t>
            </a:r>
            <a:r>
              <a:rPr lang="en-US" sz="1200" dirty="0">
                <a:solidFill>
                  <a:srgbClr val="D6DDE5"/>
                </a:solidFill>
                <a:latin typeface="JetBrains Mono" pitchFamily="49" charset="0"/>
                <a:ea typeface="JetBrains Mono" pitchFamily="49" charset="-122"/>
                <a:cs typeface="JetBrains Mono" pitchFamily="49" charset="-120"/>
              </a:rPr>
              <a:t> def _chain_tutorial(self, topic): </a:t>
            </a:r>
            <a:r>
              <a:rPr lang="en-US" sz="1200" b="1" dirty="0">
                <a:solidFill>
                  <a:srgbClr val="F2A46B"/>
                </a:solidFill>
                <a:latin typeface="JetBrains Mono" pitchFamily="49" charset="0"/>
                <a:ea typeface="JetBrains Mono" pitchFamily="49" charset="-122"/>
                <a:cs typeface="JetBrains Mono" pitchFamily="49" charset="-120"/>
              </a:rPr>
              <a:t>← 3</a:t>
            </a:r>
            <a:endParaRPr lang="en-US" sz="1200" dirty="0"/>
          </a:p>
        </p:txBody>
      </p:sp>
      <p:sp>
        <p:nvSpPr>
          <p:cNvPr id="16" name="Shape 14"/>
          <p:cNvSpPr/>
          <p:nvPr/>
        </p:nvSpPr>
        <p:spPr>
          <a:xfrm>
            <a:off x="4946614" y="2115610"/>
            <a:ext cx="0" cy="205698"/>
          </a:xfrm>
          <a:prstGeom prst="line">
            <a:avLst/>
          </a:prstGeom>
          <a:noFill/>
          <a:ln w="38100">
            <a:solidFill>
              <a:srgbClr val="E8843F"/>
            </a:solidFill>
            <a:prstDash val="solid"/>
          </a:ln>
        </p:spPr>
        <p:txBody>
          <a:bodyPr/>
          <a:lstStyle/>
          <a:p>
            <a:endParaRPr lang="en-CN"/>
          </a:p>
        </p:txBody>
      </p:sp>
      <p:sp>
        <p:nvSpPr>
          <p:cNvPr id="17" name="Text 15"/>
          <p:cNvSpPr/>
          <p:nvPr/>
        </p:nvSpPr>
        <p:spPr>
          <a:xfrm>
            <a:off x="5105364" y="2321309"/>
            <a:ext cx="6278842" cy="231098"/>
          </a:xfrm>
          <a:prstGeom prst="rect">
            <a:avLst/>
          </a:prstGeom>
          <a:noFill/>
          <a:ln/>
        </p:spPr>
        <p:txBody>
          <a:bodyPr wrap="none" lIns="0" tIns="0" rIns="0" bIns="0" rtlCol="0" anchor="t">
            <a:normAutofit/>
          </a:bodyPr>
          <a:lstStyle/>
          <a:p>
            <a:pPr marL="0" indent="0" algn="l">
              <a:lnSpc>
                <a:spcPts val="1620"/>
              </a:lnSpc>
              <a:buNone/>
            </a:pPr>
            <a:r>
              <a:rPr lang="en-US" sz="1200" dirty="0">
                <a:solidFill>
                  <a:srgbClr val="7C8FA3"/>
                </a:solidFill>
                <a:latin typeface="JetBrains Mono" pitchFamily="49" charset="0"/>
                <a:ea typeface="JetBrains Mono" pitchFamily="49" charset="-122"/>
                <a:cs typeface="JetBrains Mono" pitchFamily="49" charset="-120"/>
              </a:rPr>
              <a:t>180</a:t>
            </a:r>
            <a:r>
              <a:rPr lang="en-US" sz="1200" dirty="0">
                <a:solidFill>
                  <a:srgbClr val="D6DDE5"/>
                </a:solidFill>
                <a:latin typeface="JetBrains Mono" pitchFamily="49" charset="0"/>
                <a:ea typeface="JetBrains Mono" pitchFamily="49" charset="-122"/>
                <a:cs typeface="JetBrains Mono" pitchFamily="49" charset="-120"/>
              </a:rPr>
              <a:t>   prerequisites = self._call_llm_text(PREREQS, …)</a:t>
            </a:r>
            <a:endParaRPr lang="en-US" sz="1200" dirty="0"/>
          </a:p>
        </p:txBody>
      </p:sp>
      <p:sp>
        <p:nvSpPr>
          <p:cNvPr id="18" name="Text 16"/>
          <p:cNvSpPr/>
          <p:nvPr/>
        </p:nvSpPr>
        <p:spPr>
          <a:xfrm>
            <a:off x="5105364" y="2527009"/>
            <a:ext cx="6278842" cy="231098"/>
          </a:xfrm>
          <a:prstGeom prst="rect">
            <a:avLst/>
          </a:prstGeom>
          <a:noFill/>
          <a:ln/>
        </p:spPr>
        <p:txBody>
          <a:bodyPr wrap="none" lIns="0" tIns="0" rIns="0" bIns="0" rtlCol="0" anchor="t">
            <a:normAutofit/>
          </a:bodyPr>
          <a:lstStyle/>
          <a:p>
            <a:pPr marL="0" indent="0" algn="l">
              <a:lnSpc>
                <a:spcPts val="1620"/>
              </a:lnSpc>
              <a:buNone/>
            </a:pPr>
            <a:r>
              <a:rPr lang="en-US" sz="1200" dirty="0">
                <a:solidFill>
                  <a:srgbClr val="7C8FA3"/>
                </a:solidFill>
                <a:latin typeface="JetBrains Mono" pitchFamily="49" charset="0"/>
                <a:ea typeface="JetBrains Mono" pitchFamily="49" charset="-122"/>
                <a:cs typeface="JetBrains Mono" pitchFamily="49" charset="-120"/>
              </a:rPr>
              <a:t>187</a:t>
            </a:r>
            <a:r>
              <a:rPr lang="en-US" sz="1200" dirty="0">
                <a:solidFill>
                  <a:srgbClr val="D6DDE5"/>
                </a:solidFill>
                <a:latin typeface="JetBrains Mono" pitchFamily="49" charset="0"/>
                <a:ea typeface="JetBrains Mono" pitchFamily="49" charset="-122"/>
                <a:cs typeface="JetBrains Mono" pitchFamily="49" charset="-120"/>
              </a:rPr>
              <a:t>   steps = self._call_llm_text(STEPS,</a:t>
            </a:r>
            <a:endParaRPr lang="en-US" sz="1200" dirty="0"/>
          </a:p>
        </p:txBody>
      </p:sp>
      <p:sp>
        <p:nvSpPr>
          <p:cNvPr id="19" name="Text 17"/>
          <p:cNvSpPr/>
          <p:nvPr/>
        </p:nvSpPr>
        <p:spPr>
          <a:xfrm>
            <a:off x="5105364" y="2732708"/>
            <a:ext cx="6278842" cy="231098"/>
          </a:xfrm>
          <a:prstGeom prst="rect">
            <a:avLst/>
          </a:prstGeom>
          <a:noFill/>
          <a:ln/>
        </p:spPr>
        <p:txBody>
          <a:bodyPr wrap="none" lIns="0" tIns="0" rIns="0" bIns="0" rtlCol="0" anchor="t">
            <a:normAutofit/>
          </a:bodyPr>
          <a:lstStyle/>
          <a:p>
            <a:pPr marL="0" indent="0" algn="l">
              <a:lnSpc>
                <a:spcPts val="1620"/>
              </a:lnSpc>
              <a:buNone/>
            </a:pPr>
            <a:r>
              <a:rPr lang="en-US" sz="1200" dirty="0">
                <a:solidFill>
                  <a:srgbClr val="7C8FA3"/>
                </a:solidFill>
                <a:latin typeface="JetBrains Mono" pitchFamily="49" charset="0"/>
                <a:ea typeface="JetBrains Mono" pitchFamily="49" charset="-122"/>
                <a:cs typeface="JetBrains Mono" pitchFamily="49" charset="-120"/>
              </a:rPr>
              <a:t>189</a:t>
            </a:r>
            <a:r>
              <a:rPr lang="en-US" sz="1200" dirty="0">
                <a:solidFill>
                  <a:srgbClr val="D6DDE5"/>
                </a:solidFill>
                <a:latin typeface="JetBrains Mono" pitchFamily="49" charset="0"/>
                <a:ea typeface="JetBrains Mono" pitchFamily="49" charset="-122"/>
                <a:cs typeface="JetBrains Mono" pitchFamily="49" charset="-120"/>
              </a:rPr>
              <a:t>     f"…{prerequisites}…", use_light=True)</a:t>
            </a:r>
            <a:endParaRPr lang="en-US" sz="1200" dirty="0"/>
          </a:p>
        </p:txBody>
      </p:sp>
      <p:sp>
        <p:nvSpPr>
          <p:cNvPr id="20" name="Text 18"/>
          <p:cNvSpPr/>
          <p:nvPr/>
        </p:nvSpPr>
        <p:spPr>
          <a:xfrm>
            <a:off x="5105364" y="2938407"/>
            <a:ext cx="6278842" cy="231098"/>
          </a:xfrm>
          <a:prstGeom prst="rect">
            <a:avLst/>
          </a:prstGeom>
          <a:noFill/>
          <a:ln/>
        </p:spPr>
        <p:txBody>
          <a:bodyPr wrap="none" lIns="0" tIns="0" rIns="0" bIns="0" rtlCol="0" anchor="t">
            <a:normAutofit/>
          </a:bodyPr>
          <a:lstStyle/>
          <a:p>
            <a:pPr marL="0" indent="0" algn="l">
              <a:lnSpc>
                <a:spcPts val="1620"/>
              </a:lnSpc>
              <a:buNone/>
            </a:pPr>
            <a:r>
              <a:rPr lang="en-US" sz="1200" dirty="0">
                <a:solidFill>
                  <a:srgbClr val="7C8FA3"/>
                </a:solidFill>
                <a:latin typeface="JetBrains Mono" pitchFamily="49" charset="0"/>
                <a:ea typeface="JetBrains Mono" pitchFamily="49" charset="-122"/>
                <a:cs typeface="JetBrains Mono" pitchFamily="49" charset="-120"/>
              </a:rPr>
              <a:t>195</a:t>
            </a:r>
            <a:r>
              <a:rPr lang="en-US" sz="1200" dirty="0">
                <a:solidFill>
                  <a:srgbClr val="D6DDE5"/>
                </a:solidFill>
                <a:latin typeface="JetBrains Mono" pitchFamily="49" charset="0"/>
                <a:ea typeface="JetBrains Mono" pitchFamily="49" charset="-122"/>
                <a:cs typeface="JetBrains Mono" pitchFamily="49" charset="-120"/>
              </a:rPr>
              <a:t>   troubleshooting = self._call_llm_text(…, steps)</a:t>
            </a:r>
            <a:endParaRPr lang="en-US" sz="1200" dirty="0"/>
          </a:p>
        </p:txBody>
      </p:sp>
      <p:sp>
        <p:nvSpPr>
          <p:cNvPr id="21" name="Text 19"/>
          <p:cNvSpPr/>
          <p:nvPr/>
        </p:nvSpPr>
        <p:spPr>
          <a:xfrm>
            <a:off x="5105364" y="3144106"/>
            <a:ext cx="6278842" cy="231098"/>
          </a:xfrm>
          <a:prstGeom prst="rect">
            <a:avLst/>
          </a:prstGeom>
          <a:noFill/>
          <a:ln/>
        </p:spPr>
        <p:txBody>
          <a:bodyPr wrap="none" lIns="0" tIns="0" rIns="0" bIns="0" rtlCol="0" anchor="t">
            <a:normAutofit/>
          </a:bodyPr>
          <a:lstStyle/>
          <a:p>
            <a:pPr marL="0" indent="0" algn="l">
              <a:lnSpc>
                <a:spcPts val="1620"/>
              </a:lnSpc>
              <a:buNone/>
            </a:pPr>
            <a:r>
              <a:rPr lang="en-US" sz="1200" dirty="0">
                <a:solidFill>
                  <a:srgbClr val="7C8FA3"/>
                </a:solidFill>
                <a:latin typeface="JetBrains Mono" pitchFamily="49" charset="0"/>
                <a:ea typeface="JetBrains Mono" pitchFamily="49" charset="-122"/>
                <a:cs typeface="JetBrains Mono" pitchFamily="49" charset="-120"/>
              </a:rPr>
              <a:t>200</a:t>
            </a:r>
            <a:r>
              <a:rPr lang="en-US" sz="1200" dirty="0">
                <a:solidFill>
                  <a:srgbClr val="D6DDE5"/>
                </a:solidFill>
                <a:latin typeface="JetBrains Mono" pitchFamily="49" charset="0"/>
                <a:ea typeface="JetBrains Mono" pitchFamily="49" charset="-122"/>
                <a:cs typeface="JetBrains Mono" pitchFamily="49" charset="-120"/>
              </a:rPr>
              <a:t>   return f"# {topic}\n\n## Prerequisites…"</a:t>
            </a:r>
            <a:endParaRPr lang="en-US" sz="1200" dirty="0"/>
          </a:p>
        </p:txBody>
      </p:sp>
      <p:sp>
        <p:nvSpPr>
          <p:cNvPr id="22" name="Text 20"/>
          <p:cNvSpPr/>
          <p:nvPr/>
        </p:nvSpPr>
        <p:spPr>
          <a:xfrm>
            <a:off x="5105364" y="3349805"/>
            <a:ext cx="6278842" cy="231098"/>
          </a:xfrm>
          <a:prstGeom prst="rect">
            <a:avLst/>
          </a:prstGeom>
          <a:noFill/>
          <a:ln/>
        </p:spPr>
        <p:txBody>
          <a:bodyPr wrap="none" lIns="0" tIns="0" rIns="0" bIns="0" rtlCol="0" anchor="t">
            <a:normAutofit/>
          </a:bodyPr>
          <a:lstStyle/>
          <a:p>
            <a:pPr marL="0" indent="0" algn="l">
              <a:lnSpc>
                <a:spcPts val="1620"/>
              </a:lnSpc>
              <a:buNone/>
            </a:pPr>
            <a:r>
              <a:rPr lang="en-US" sz="1200" dirty="0">
                <a:solidFill>
                  <a:srgbClr val="7C8FA3"/>
                </a:solidFill>
                <a:latin typeface="JetBrains Mono" pitchFamily="49" charset="0"/>
                <a:ea typeface="JetBrains Mono" pitchFamily="49" charset="-122"/>
                <a:cs typeface="JetBrains Mono" pitchFamily="49" charset="-120"/>
              </a:rPr>
              <a:t>    ⋮ </a:t>
            </a:r>
            <a:r>
              <a:rPr lang="en-US" sz="1200" dirty="0">
                <a:solidFill>
                  <a:srgbClr val="8798AA"/>
                </a:solidFill>
                <a:latin typeface="JetBrains Mono" pitchFamily="49" charset="0"/>
                <a:ea typeface="JetBrains Mono" pitchFamily="49" charset="-122"/>
                <a:cs typeface="JetBrains Mono" pitchFamily="49" charset="-120"/>
              </a:rPr>
              <a:t># run()</a:t>
            </a:r>
            <a:endParaRPr lang="en-US" sz="1200" dirty="0"/>
          </a:p>
        </p:txBody>
      </p:sp>
      <p:sp>
        <p:nvSpPr>
          <p:cNvPr id="23" name="Text 21"/>
          <p:cNvSpPr/>
          <p:nvPr/>
        </p:nvSpPr>
        <p:spPr>
          <a:xfrm>
            <a:off x="5105364" y="3555504"/>
            <a:ext cx="6278842" cy="231098"/>
          </a:xfrm>
          <a:prstGeom prst="rect">
            <a:avLst/>
          </a:prstGeom>
          <a:noFill/>
          <a:ln/>
        </p:spPr>
        <p:txBody>
          <a:bodyPr wrap="none" lIns="0" tIns="0" rIns="0" bIns="0" rtlCol="0" anchor="t">
            <a:normAutofit/>
          </a:bodyPr>
          <a:lstStyle/>
          <a:p>
            <a:pPr marL="0" indent="0" algn="l">
              <a:lnSpc>
                <a:spcPts val="1620"/>
              </a:lnSpc>
              <a:buNone/>
            </a:pPr>
            <a:r>
              <a:rPr lang="en-US" sz="1200" dirty="0">
                <a:solidFill>
                  <a:srgbClr val="7C8FA3"/>
                </a:solidFill>
                <a:latin typeface="JetBrains Mono" pitchFamily="49" charset="0"/>
                <a:ea typeface="JetBrains Mono" pitchFamily="49" charset="-122"/>
                <a:cs typeface="JetBrains Mono" pitchFamily="49" charset="-120"/>
              </a:rPr>
              <a:t>277</a:t>
            </a:r>
            <a:r>
              <a:rPr lang="en-US" sz="1200" dirty="0">
                <a:solidFill>
                  <a:srgbClr val="D6DDE5"/>
                </a:solidFill>
                <a:latin typeface="JetBrains Mono" pitchFamily="49" charset="0"/>
                <a:ea typeface="JetBrains Mono" pitchFamily="49" charset="-122"/>
                <a:cs typeface="JetBrains Mono" pitchFamily="49" charset="-120"/>
              </a:rPr>
              <a:t>   classification = self._classify(topic)</a:t>
            </a:r>
            <a:endParaRPr lang="en-US" sz="1200" dirty="0"/>
          </a:p>
        </p:txBody>
      </p:sp>
      <p:sp>
        <p:nvSpPr>
          <p:cNvPr id="24" name="Text 22"/>
          <p:cNvSpPr/>
          <p:nvPr/>
        </p:nvSpPr>
        <p:spPr>
          <a:xfrm>
            <a:off x="4927564" y="3761203"/>
            <a:ext cx="6451564" cy="205698"/>
          </a:xfrm>
          <a:prstGeom prst="rect">
            <a:avLst/>
          </a:prstGeom>
          <a:solidFill>
            <a:srgbClr val="3A2B20"/>
          </a:solidFill>
          <a:ln/>
        </p:spPr>
        <p:txBody>
          <a:bodyPr wrap="none" lIns="177223" tIns="0" rIns="0" bIns="0" rtlCol="0" anchor="t">
            <a:normAutofit/>
          </a:bodyPr>
          <a:lstStyle/>
          <a:p>
            <a:pPr marL="0" indent="0" algn="l">
              <a:lnSpc>
                <a:spcPts val="1620"/>
              </a:lnSpc>
              <a:buNone/>
            </a:pPr>
            <a:r>
              <a:rPr lang="en-US" sz="1200" dirty="0">
                <a:solidFill>
                  <a:srgbClr val="7C8FA3"/>
                </a:solidFill>
                <a:latin typeface="JetBrains Mono" pitchFamily="49" charset="0"/>
                <a:ea typeface="JetBrains Mono" pitchFamily="49" charset="-122"/>
                <a:cs typeface="JetBrains Mono" pitchFamily="49" charset="-120"/>
              </a:rPr>
              <a:t>284</a:t>
            </a:r>
            <a:r>
              <a:rPr lang="en-US" sz="1200" dirty="0">
                <a:solidFill>
                  <a:srgbClr val="D6DDE5"/>
                </a:solidFill>
                <a:latin typeface="JetBrains Mono" pitchFamily="49" charset="0"/>
                <a:ea typeface="JetBrains Mono" pitchFamily="49" charset="-122"/>
                <a:cs typeface="JetBrains Mono" pitchFamily="49" charset="-120"/>
              </a:rPr>
              <a:t>   routes = { </a:t>
            </a:r>
            <a:r>
              <a:rPr lang="en-US" sz="1200" b="1" dirty="0">
                <a:solidFill>
                  <a:srgbClr val="F2A46B"/>
                </a:solidFill>
                <a:latin typeface="JetBrains Mono" pitchFamily="49" charset="0"/>
                <a:ea typeface="JetBrains Mono" pitchFamily="49" charset="-122"/>
                <a:cs typeface="JetBrains Mono" pitchFamily="49" charset="-120"/>
              </a:rPr>
              <a:t>← 1</a:t>
            </a:r>
            <a:endParaRPr lang="en-US" sz="1200" dirty="0"/>
          </a:p>
        </p:txBody>
      </p:sp>
      <p:sp>
        <p:nvSpPr>
          <p:cNvPr id="25" name="Shape 23"/>
          <p:cNvSpPr/>
          <p:nvPr/>
        </p:nvSpPr>
        <p:spPr>
          <a:xfrm>
            <a:off x="4946614" y="3761203"/>
            <a:ext cx="0" cy="205698"/>
          </a:xfrm>
          <a:prstGeom prst="line">
            <a:avLst/>
          </a:prstGeom>
          <a:noFill/>
          <a:ln w="38100">
            <a:solidFill>
              <a:srgbClr val="E8843F"/>
            </a:solidFill>
            <a:prstDash val="solid"/>
          </a:ln>
        </p:spPr>
        <p:txBody>
          <a:bodyPr/>
          <a:lstStyle/>
          <a:p>
            <a:endParaRPr lang="en-CN"/>
          </a:p>
        </p:txBody>
      </p:sp>
      <p:sp>
        <p:nvSpPr>
          <p:cNvPr id="26" name="Text 24"/>
          <p:cNvSpPr/>
          <p:nvPr/>
        </p:nvSpPr>
        <p:spPr>
          <a:xfrm>
            <a:off x="4927564" y="3966896"/>
            <a:ext cx="6451564" cy="205698"/>
          </a:xfrm>
          <a:prstGeom prst="rect">
            <a:avLst/>
          </a:prstGeom>
          <a:solidFill>
            <a:srgbClr val="3A2B20"/>
          </a:solidFill>
          <a:ln/>
        </p:spPr>
        <p:txBody>
          <a:bodyPr wrap="none" lIns="177223" tIns="0" rIns="0" bIns="0" rtlCol="0" anchor="t">
            <a:normAutofit/>
          </a:bodyPr>
          <a:lstStyle/>
          <a:p>
            <a:pPr marL="0" indent="0" algn="l">
              <a:lnSpc>
                <a:spcPts val="1620"/>
              </a:lnSpc>
              <a:buNone/>
            </a:pPr>
            <a:r>
              <a:rPr lang="en-US" sz="1200" dirty="0">
                <a:solidFill>
                  <a:srgbClr val="7C8FA3"/>
                </a:solidFill>
                <a:latin typeface="JetBrains Mono" pitchFamily="49" charset="0"/>
                <a:ea typeface="JetBrains Mono" pitchFamily="49" charset="-122"/>
                <a:cs typeface="JetBrains Mono" pitchFamily="49" charset="-120"/>
              </a:rPr>
              <a:t>285</a:t>
            </a:r>
            <a:r>
              <a:rPr lang="en-US" sz="1200" dirty="0">
                <a:solidFill>
                  <a:srgbClr val="D6DDE5"/>
                </a:solidFill>
                <a:latin typeface="JetBrains Mono" pitchFamily="49" charset="0"/>
                <a:ea typeface="JetBrains Mono" pitchFamily="49" charset="-122"/>
                <a:cs typeface="JetBrains Mono" pitchFamily="49" charset="-120"/>
              </a:rPr>
              <a:t>     "tutorial": self._chain_tutorial,</a:t>
            </a:r>
            <a:endParaRPr lang="en-US" sz="1200" dirty="0"/>
          </a:p>
        </p:txBody>
      </p:sp>
      <p:sp>
        <p:nvSpPr>
          <p:cNvPr id="27" name="Shape 25"/>
          <p:cNvSpPr/>
          <p:nvPr/>
        </p:nvSpPr>
        <p:spPr>
          <a:xfrm>
            <a:off x="4946614" y="3966896"/>
            <a:ext cx="0" cy="205698"/>
          </a:xfrm>
          <a:prstGeom prst="line">
            <a:avLst/>
          </a:prstGeom>
          <a:noFill/>
          <a:ln w="38100">
            <a:solidFill>
              <a:srgbClr val="E8843F"/>
            </a:solidFill>
            <a:prstDash val="solid"/>
          </a:ln>
        </p:spPr>
        <p:txBody>
          <a:bodyPr/>
          <a:lstStyle/>
          <a:p>
            <a:endParaRPr lang="en-CN"/>
          </a:p>
        </p:txBody>
      </p:sp>
      <p:sp>
        <p:nvSpPr>
          <p:cNvPr id="28" name="Text 26"/>
          <p:cNvSpPr/>
          <p:nvPr/>
        </p:nvSpPr>
        <p:spPr>
          <a:xfrm>
            <a:off x="4927564" y="4172595"/>
            <a:ext cx="6451564" cy="205698"/>
          </a:xfrm>
          <a:prstGeom prst="rect">
            <a:avLst/>
          </a:prstGeom>
          <a:solidFill>
            <a:srgbClr val="3A2B20"/>
          </a:solidFill>
          <a:ln/>
        </p:spPr>
        <p:txBody>
          <a:bodyPr wrap="none" lIns="177223" tIns="0" rIns="0" bIns="0" rtlCol="0" anchor="t">
            <a:normAutofit/>
          </a:bodyPr>
          <a:lstStyle/>
          <a:p>
            <a:pPr marL="0" indent="0" algn="l">
              <a:lnSpc>
                <a:spcPts val="1620"/>
              </a:lnSpc>
              <a:buNone/>
            </a:pPr>
            <a:r>
              <a:rPr lang="en-US" sz="1200" dirty="0">
                <a:solidFill>
                  <a:srgbClr val="7C8FA3"/>
                </a:solidFill>
                <a:latin typeface="JetBrains Mono" pitchFamily="49" charset="0"/>
                <a:ea typeface="JetBrains Mono" pitchFamily="49" charset="-122"/>
                <a:cs typeface="JetBrains Mono" pitchFamily="49" charset="-120"/>
              </a:rPr>
              <a:t>286</a:t>
            </a:r>
            <a:r>
              <a:rPr lang="en-US" sz="1200" dirty="0">
                <a:solidFill>
                  <a:srgbClr val="D6DDE5"/>
                </a:solidFill>
                <a:latin typeface="JetBrains Mono" pitchFamily="49" charset="0"/>
                <a:ea typeface="JetBrains Mono" pitchFamily="49" charset="-122"/>
                <a:cs typeface="JetBrains Mono" pitchFamily="49" charset="-120"/>
              </a:rPr>
              <a:t>     "news": self._chain_news,</a:t>
            </a:r>
            <a:endParaRPr lang="en-US" sz="1200" dirty="0"/>
          </a:p>
        </p:txBody>
      </p:sp>
      <p:sp>
        <p:nvSpPr>
          <p:cNvPr id="29" name="Shape 27"/>
          <p:cNvSpPr/>
          <p:nvPr/>
        </p:nvSpPr>
        <p:spPr>
          <a:xfrm>
            <a:off x="4946614" y="4172595"/>
            <a:ext cx="0" cy="205698"/>
          </a:xfrm>
          <a:prstGeom prst="line">
            <a:avLst/>
          </a:prstGeom>
          <a:noFill/>
          <a:ln w="38100">
            <a:solidFill>
              <a:srgbClr val="E8843F"/>
            </a:solidFill>
            <a:prstDash val="solid"/>
          </a:ln>
        </p:spPr>
        <p:txBody>
          <a:bodyPr/>
          <a:lstStyle/>
          <a:p>
            <a:endParaRPr lang="en-CN"/>
          </a:p>
        </p:txBody>
      </p:sp>
      <p:sp>
        <p:nvSpPr>
          <p:cNvPr id="30" name="Text 28"/>
          <p:cNvSpPr/>
          <p:nvPr/>
        </p:nvSpPr>
        <p:spPr>
          <a:xfrm>
            <a:off x="4927564" y="4378294"/>
            <a:ext cx="6451564" cy="205698"/>
          </a:xfrm>
          <a:prstGeom prst="rect">
            <a:avLst/>
          </a:prstGeom>
          <a:solidFill>
            <a:srgbClr val="3A2B20"/>
          </a:solidFill>
          <a:ln/>
        </p:spPr>
        <p:txBody>
          <a:bodyPr wrap="none" lIns="177223" tIns="0" rIns="0" bIns="0" rtlCol="0" anchor="t">
            <a:normAutofit/>
          </a:bodyPr>
          <a:lstStyle/>
          <a:p>
            <a:pPr marL="0" indent="0" algn="l">
              <a:lnSpc>
                <a:spcPts val="1620"/>
              </a:lnSpc>
              <a:buNone/>
            </a:pPr>
            <a:r>
              <a:rPr lang="en-US" sz="1200" dirty="0">
                <a:solidFill>
                  <a:srgbClr val="7C8FA3"/>
                </a:solidFill>
                <a:latin typeface="JetBrains Mono" pitchFamily="49" charset="0"/>
                <a:ea typeface="JetBrains Mono" pitchFamily="49" charset="-122"/>
                <a:cs typeface="JetBrains Mono" pitchFamily="49" charset="-120"/>
              </a:rPr>
              <a:t>287</a:t>
            </a:r>
            <a:r>
              <a:rPr lang="en-US" sz="1200" dirty="0">
                <a:solidFill>
                  <a:srgbClr val="D6DDE5"/>
                </a:solidFill>
                <a:latin typeface="JetBrains Mono" pitchFamily="49" charset="0"/>
                <a:ea typeface="JetBrains Mono" pitchFamily="49" charset="-122"/>
                <a:cs typeface="JetBrains Mono" pitchFamily="49" charset="-120"/>
              </a:rPr>
              <a:t>     "concept": self._chain_concept}</a:t>
            </a:r>
            <a:endParaRPr lang="en-US" sz="1200" dirty="0"/>
          </a:p>
        </p:txBody>
      </p:sp>
      <p:sp>
        <p:nvSpPr>
          <p:cNvPr id="31" name="Shape 29"/>
          <p:cNvSpPr/>
          <p:nvPr/>
        </p:nvSpPr>
        <p:spPr>
          <a:xfrm>
            <a:off x="4946614" y="4378294"/>
            <a:ext cx="0" cy="205698"/>
          </a:xfrm>
          <a:prstGeom prst="line">
            <a:avLst/>
          </a:prstGeom>
          <a:noFill/>
          <a:ln w="38100">
            <a:solidFill>
              <a:srgbClr val="E8843F"/>
            </a:solidFill>
            <a:prstDash val="solid"/>
          </a:ln>
        </p:spPr>
        <p:txBody>
          <a:bodyPr/>
          <a:lstStyle/>
          <a:p>
            <a:endParaRPr lang="en-CN"/>
          </a:p>
        </p:txBody>
      </p:sp>
      <p:sp>
        <p:nvSpPr>
          <p:cNvPr id="32" name="Text 30"/>
          <p:cNvSpPr/>
          <p:nvPr/>
        </p:nvSpPr>
        <p:spPr>
          <a:xfrm>
            <a:off x="5105364" y="4583993"/>
            <a:ext cx="6278842" cy="231098"/>
          </a:xfrm>
          <a:prstGeom prst="rect">
            <a:avLst/>
          </a:prstGeom>
          <a:noFill/>
          <a:ln/>
        </p:spPr>
        <p:txBody>
          <a:bodyPr wrap="none" lIns="0" tIns="0" rIns="0" bIns="0" rtlCol="0" anchor="t">
            <a:normAutofit/>
          </a:bodyPr>
          <a:lstStyle/>
          <a:p>
            <a:pPr marL="0" indent="0" algn="l">
              <a:lnSpc>
                <a:spcPts val="1620"/>
              </a:lnSpc>
              <a:buNone/>
            </a:pPr>
            <a:r>
              <a:rPr lang="en-US" sz="1200" dirty="0">
                <a:solidFill>
                  <a:srgbClr val="7C8FA3"/>
                </a:solidFill>
                <a:latin typeface="JetBrains Mono" pitchFamily="49" charset="0"/>
                <a:ea typeface="JetBrains Mono" pitchFamily="49" charset="-122"/>
                <a:cs typeface="JetBrains Mono" pitchFamily="49" charset="-120"/>
              </a:rPr>
              <a:t>290</a:t>
            </a:r>
            <a:r>
              <a:rPr lang="en-US" sz="1200" dirty="0">
                <a:solidFill>
                  <a:srgbClr val="D6DDE5"/>
                </a:solidFill>
                <a:latin typeface="JetBrains Mono" pitchFamily="49" charset="0"/>
                <a:ea typeface="JetBrains Mono" pitchFamily="49" charset="-122"/>
                <a:cs typeface="JetBrains Mono" pitchFamily="49" charset="-120"/>
              </a:rPr>
              <a:t>   chain_fn = routes.get(content_type)</a:t>
            </a:r>
            <a:endParaRPr lang="en-US" sz="1200" dirty="0"/>
          </a:p>
        </p:txBody>
      </p:sp>
      <p:sp>
        <p:nvSpPr>
          <p:cNvPr id="33" name="Text 31"/>
          <p:cNvSpPr/>
          <p:nvPr/>
        </p:nvSpPr>
        <p:spPr>
          <a:xfrm>
            <a:off x="4927564" y="4789692"/>
            <a:ext cx="6451564" cy="205698"/>
          </a:xfrm>
          <a:prstGeom prst="rect">
            <a:avLst/>
          </a:prstGeom>
          <a:solidFill>
            <a:srgbClr val="3A2B20"/>
          </a:solidFill>
          <a:ln/>
        </p:spPr>
        <p:txBody>
          <a:bodyPr wrap="none" lIns="177223" tIns="0" rIns="0" bIns="0" rtlCol="0" anchor="t">
            <a:normAutofit/>
          </a:bodyPr>
          <a:lstStyle/>
          <a:p>
            <a:pPr marL="0" indent="0" algn="l">
              <a:lnSpc>
                <a:spcPts val="1620"/>
              </a:lnSpc>
              <a:buNone/>
            </a:pPr>
            <a:r>
              <a:rPr lang="en-US" sz="1200" dirty="0">
                <a:solidFill>
                  <a:srgbClr val="7C8FA3"/>
                </a:solidFill>
                <a:latin typeface="JetBrains Mono" pitchFamily="49" charset="0"/>
                <a:ea typeface="JetBrains Mono" pitchFamily="49" charset="-122"/>
                <a:cs typeface="JetBrains Mono" pitchFamily="49" charset="-120"/>
              </a:rPr>
              <a:t>291</a:t>
            </a:r>
            <a:r>
              <a:rPr lang="en-US" sz="1200" dirty="0">
                <a:solidFill>
                  <a:srgbClr val="D6DDE5"/>
                </a:solidFill>
                <a:latin typeface="JetBrains Mono" pitchFamily="49" charset="0"/>
                <a:ea typeface="JetBrains Mono" pitchFamily="49" charset="-122"/>
                <a:cs typeface="JetBrains Mono" pitchFamily="49" charset="-120"/>
              </a:rPr>
              <a:t>   if not chain_fn: </a:t>
            </a:r>
            <a:r>
              <a:rPr lang="en-US" sz="1200" b="1" dirty="0">
                <a:solidFill>
                  <a:srgbClr val="F2A46B"/>
                </a:solidFill>
                <a:latin typeface="JetBrains Mono" pitchFamily="49" charset="0"/>
                <a:ea typeface="JetBrains Mono" pitchFamily="49" charset="-122"/>
                <a:cs typeface="JetBrains Mono" pitchFamily="49" charset="-120"/>
              </a:rPr>
              <a:t>← 2</a:t>
            </a:r>
            <a:endParaRPr lang="en-US" sz="1200" dirty="0"/>
          </a:p>
        </p:txBody>
      </p:sp>
      <p:sp>
        <p:nvSpPr>
          <p:cNvPr id="34" name="Shape 32"/>
          <p:cNvSpPr/>
          <p:nvPr/>
        </p:nvSpPr>
        <p:spPr>
          <a:xfrm>
            <a:off x="4946614" y="4789692"/>
            <a:ext cx="0" cy="205698"/>
          </a:xfrm>
          <a:prstGeom prst="line">
            <a:avLst/>
          </a:prstGeom>
          <a:noFill/>
          <a:ln w="38100">
            <a:solidFill>
              <a:srgbClr val="E8843F"/>
            </a:solidFill>
            <a:prstDash val="solid"/>
          </a:ln>
        </p:spPr>
        <p:txBody>
          <a:bodyPr/>
          <a:lstStyle/>
          <a:p>
            <a:endParaRPr lang="en-CN"/>
          </a:p>
        </p:txBody>
      </p:sp>
      <p:sp>
        <p:nvSpPr>
          <p:cNvPr id="35" name="Text 33"/>
          <p:cNvSpPr/>
          <p:nvPr/>
        </p:nvSpPr>
        <p:spPr>
          <a:xfrm>
            <a:off x="4927564" y="4995391"/>
            <a:ext cx="6451564" cy="205698"/>
          </a:xfrm>
          <a:prstGeom prst="rect">
            <a:avLst/>
          </a:prstGeom>
          <a:solidFill>
            <a:srgbClr val="3A2B20"/>
          </a:solidFill>
          <a:ln/>
        </p:spPr>
        <p:txBody>
          <a:bodyPr wrap="none" lIns="177223" tIns="0" rIns="0" bIns="0" rtlCol="0" anchor="t">
            <a:normAutofit/>
          </a:bodyPr>
          <a:lstStyle/>
          <a:p>
            <a:pPr marL="0" indent="0" algn="l">
              <a:lnSpc>
                <a:spcPts val="1620"/>
              </a:lnSpc>
              <a:buNone/>
            </a:pPr>
            <a:r>
              <a:rPr lang="en-US" sz="1200" dirty="0">
                <a:solidFill>
                  <a:srgbClr val="7C8FA3"/>
                </a:solidFill>
                <a:latin typeface="JetBrains Mono" pitchFamily="49" charset="0"/>
                <a:ea typeface="JetBrains Mono" pitchFamily="49" charset="-122"/>
                <a:cs typeface="JetBrains Mono" pitchFamily="49" charset="-120"/>
              </a:rPr>
              <a:t>292</a:t>
            </a:r>
            <a:r>
              <a:rPr lang="en-US" sz="1200" dirty="0">
                <a:solidFill>
                  <a:srgbClr val="D6DDE5"/>
                </a:solidFill>
                <a:latin typeface="JetBrains Mono" pitchFamily="49" charset="0"/>
                <a:ea typeface="JetBrains Mono" pitchFamily="49" charset="-122"/>
                <a:cs typeface="JetBrains Mono" pitchFamily="49" charset="-120"/>
              </a:rPr>
              <a:t>     raise ValueError(f"Unknown content type…")</a:t>
            </a:r>
            <a:endParaRPr lang="en-US" sz="1200" dirty="0"/>
          </a:p>
        </p:txBody>
      </p:sp>
      <p:sp>
        <p:nvSpPr>
          <p:cNvPr id="36" name="Shape 34"/>
          <p:cNvSpPr/>
          <p:nvPr/>
        </p:nvSpPr>
        <p:spPr>
          <a:xfrm>
            <a:off x="4946614" y="4995391"/>
            <a:ext cx="0" cy="205698"/>
          </a:xfrm>
          <a:prstGeom prst="line">
            <a:avLst/>
          </a:prstGeom>
          <a:noFill/>
          <a:ln w="38100">
            <a:solidFill>
              <a:srgbClr val="E8843F"/>
            </a:solidFill>
            <a:prstDash val="solid"/>
          </a:ln>
        </p:spPr>
        <p:txBody>
          <a:bodyPr/>
          <a:lstStyle/>
          <a:p>
            <a:endParaRPr lang="en-CN"/>
          </a:p>
        </p:txBody>
      </p:sp>
      <p:sp>
        <p:nvSpPr>
          <p:cNvPr id="37" name="Text 35"/>
          <p:cNvSpPr/>
          <p:nvPr/>
        </p:nvSpPr>
        <p:spPr>
          <a:xfrm>
            <a:off x="5105364" y="5201090"/>
            <a:ext cx="6278842" cy="231098"/>
          </a:xfrm>
          <a:prstGeom prst="rect">
            <a:avLst/>
          </a:prstGeom>
          <a:noFill/>
          <a:ln/>
        </p:spPr>
        <p:txBody>
          <a:bodyPr wrap="none" lIns="0" tIns="0" rIns="0" bIns="0" rtlCol="0" anchor="t">
            <a:normAutofit/>
          </a:bodyPr>
          <a:lstStyle/>
          <a:p>
            <a:pPr marL="0" indent="0" algn="l">
              <a:lnSpc>
                <a:spcPts val="1620"/>
              </a:lnSpc>
              <a:buNone/>
            </a:pPr>
            <a:r>
              <a:rPr lang="en-US" sz="1200" dirty="0">
                <a:solidFill>
                  <a:srgbClr val="7C8FA3"/>
                </a:solidFill>
                <a:latin typeface="JetBrains Mono" pitchFamily="49" charset="0"/>
                <a:ea typeface="JetBrains Mono" pitchFamily="49" charset="-122"/>
                <a:cs typeface="JetBrains Mono" pitchFamily="49" charset="-120"/>
              </a:rPr>
              <a:t>295</a:t>
            </a:r>
            <a:r>
              <a:rPr lang="en-US" sz="1200" dirty="0">
                <a:solidFill>
                  <a:srgbClr val="D6DDE5"/>
                </a:solidFill>
                <a:latin typeface="JetBrains Mono" pitchFamily="49" charset="0"/>
                <a:ea typeface="JetBrains Mono" pitchFamily="49" charset="-122"/>
                <a:cs typeface="JetBrains Mono" pitchFamily="49" charset="-120"/>
              </a:rPr>
              <a:t>   result = chain_fn(topic)</a:t>
            </a:r>
            <a:endParaRPr lang="en-US" sz="1200" dirty="0"/>
          </a:p>
        </p:txBody>
      </p:sp>
      <p:sp>
        <p:nvSpPr>
          <p:cNvPr id="38" name="Text 36"/>
          <p:cNvSpPr/>
          <p:nvPr/>
        </p:nvSpPr>
        <p:spPr>
          <a:xfrm>
            <a:off x="812782" y="6238286"/>
            <a:ext cx="967994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7684"/>
                </a:solidFill>
                <a:latin typeface="IBM Plex Sans" pitchFamily="34" charset="0"/>
                <a:ea typeface="IBM Plex Sans" pitchFamily="34" charset="-122"/>
                <a:cs typeface="IBM Plex Sans" pitchFamily="34" charset="-120"/>
              </a:rPr>
              <a:t>02-routing/01_routing.py · prompt names shortened (TUTORIAL_PREREQS_PROMPT → PREREQS)</a:t>
            </a:r>
            <a:endParaRPr lang="en-US" sz="1200" dirty="0"/>
          </a:p>
        </p:txBody>
      </p:sp>
      <p:sp>
        <p:nvSpPr>
          <p:cNvPr id="39" name="Text 37"/>
          <p:cNvSpPr/>
          <p:nvPr/>
        </p:nvSpPr>
        <p:spPr>
          <a:xfrm>
            <a:off x="10312418" y="6238286"/>
            <a:ext cx="1066800" cy="238720"/>
          </a:xfrm>
          <a:prstGeom prst="rect">
            <a:avLst/>
          </a:prstGeom>
          <a:noFill/>
          <a:ln/>
        </p:spPr>
        <p:txBody>
          <a:bodyPr wrap="square" lIns="0" tIns="0" rIns="0" bIns="0" rtlCol="0" anchor="t">
            <a:normAutofit/>
          </a:bodyPr>
          <a:lstStyle/>
          <a:p>
            <a:pPr marL="0" indent="0" algn="r">
              <a:lnSpc>
                <a:spcPts val="1680"/>
              </a:lnSpc>
              <a:buNone/>
            </a:pPr>
            <a:r>
              <a:rPr lang="en-US" sz="1200" b="1" dirty="0">
                <a:solidFill>
                  <a:srgbClr val="6A7684"/>
                </a:solidFill>
                <a:latin typeface="IBM Plex Sans" pitchFamily="34" charset="0"/>
                <a:ea typeface="IBM Plex Sans" pitchFamily="34" charset="-122"/>
                <a:cs typeface="IBM Plex Sans" pitchFamily="34" charset="-120"/>
              </a:rPr>
              <a:t>9 / 27</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6212C"/>
        </a:solidFill>
        <a:effectLst/>
      </p:bgPr>
    </p:bg>
    <p:spTree>
      <p:nvGrpSpPr>
        <p:cNvPr id="1" name=""/>
        <p:cNvGrpSpPr/>
        <p:nvPr/>
      </p:nvGrpSpPr>
      <p:grpSpPr>
        <a:xfrm>
          <a:off x="0" y="0"/>
          <a:ext cx="0" cy="0"/>
          <a:chOff x="0" y="0"/>
          <a:chExt cx="0" cy="0"/>
        </a:xfrm>
      </p:grpSpPr>
      <p:sp>
        <p:nvSpPr>
          <p:cNvPr id="2" name="Text 0"/>
          <p:cNvSpPr/>
          <p:nvPr/>
        </p:nvSpPr>
        <p:spPr>
          <a:xfrm>
            <a:off x="812782" y="711169"/>
            <a:ext cx="10883429"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F2A46B"/>
                </a:solidFill>
                <a:latin typeface="IBM Plex Sans" pitchFamily="34" charset="0"/>
                <a:ea typeface="IBM Plex Sans" pitchFamily="34" charset="-122"/>
                <a:cs typeface="IBM Plex Sans" pitchFamily="34" charset="-120"/>
              </a:rPr>
              <a:t>03 · PARALLELIZATION</a:t>
            </a:r>
            <a:endParaRPr lang="en-US" sz="1200" dirty="0"/>
          </a:p>
        </p:txBody>
      </p:sp>
      <p:sp>
        <p:nvSpPr>
          <p:cNvPr id="3" name="Text 1"/>
          <p:cNvSpPr>
            <a:spLocks noGrp="1"/>
          </p:cNvSpPr>
          <p:nvPr>
            <p:ph type="title"/>
          </p:nvPr>
        </p:nvSpPr>
        <p:spPr>
          <a:xfrm>
            <a:off x="812782" y="1000665"/>
            <a:ext cx="10883429" cy="444464"/>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F4F2EC"/>
                </a:solidFill>
                <a:latin typeface="IBM Plex Sans" pitchFamily="34" charset="0"/>
                <a:ea typeface="IBM Plex Sans" pitchFamily="34" charset="-122"/>
                <a:cs typeface="IBM Plex Sans" pitchFamily="34" charset="-120"/>
              </a:rPr>
              <a:t>Fan out independent work, fan in the results</a:t>
            </a:r>
            <a:endParaRPr lang="en-US" sz="3000" dirty="0"/>
          </a:p>
        </p:txBody>
      </p:sp>
      <p:sp>
        <p:nvSpPr>
          <p:cNvPr id="4" name="Shape 2"/>
          <p:cNvSpPr/>
          <p:nvPr/>
        </p:nvSpPr>
        <p:spPr>
          <a:xfrm>
            <a:off x="812782" y="1673727"/>
            <a:ext cx="5130827" cy="2855425"/>
          </a:xfrm>
          <a:prstGeom prst="roundRect">
            <a:avLst>
              <a:gd name="adj" fmla="val 3558"/>
            </a:avLst>
          </a:prstGeom>
          <a:solidFill>
            <a:srgbClr val="1E2B38"/>
          </a:solidFill>
          <a:ln/>
        </p:spPr>
        <p:txBody>
          <a:bodyPr/>
          <a:lstStyle/>
          <a:p>
            <a:endParaRPr lang="en-CN"/>
          </a:p>
        </p:txBody>
      </p:sp>
      <p:sp>
        <p:nvSpPr>
          <p:cNvPr id="5" name="Text 3"/>
          <p:cNvSpPr/>
          <p:nvPr/>
        </p:nvSpPr>
        <p:spPr>
          <a:xfrm>
            <a:off x="990564" y="1851509"/>
            <a:ext cx="2740981" cy="269253"/>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2A46B"/>
                </a:solidFill>
                <a:latin typeface="IBM Plex Sans" pitchFamily="34" charset="0"/>
                <a:ea typeface="IBM Plex Sans" pitchFamily="34" charset="-122"/>
                <a:cs typeface="IBM Plex Sans" pitchFamily="34" charset="-120"/>
              </a:rPr>
              <a:t>Sectioning · Promo Pack</a:t>
            </a:r>
            <a:endParaRPr lang="en-US" sz="1600" dirty="0"/>
          </a:p>
        </p:txBody>
      </p:sp>
      <p:sp>
        <p:nvSpPr>
          <p:cNvPr id="6" name="Text 4"/>
          <p:cNvSpPr/>
          <p:nvPr/>
        </p:nvSpPr>
        <p:spPr>
          <a:xfrm>
            <a:off x="2846847" y="2190601"/>
            <a:ext cx="1062696" cy="419307"/>
          </a:xfrm>
          <a:prstGeom prst="roundRect">
            <a:avLst>
              <a:gd name="adj" fmla="val 16658"/>
            </a:avLst>
          </a:prstGeom>
          <a:solidFill>
            <a:srgbClr val="22303E"/>
          </a:solidFill>
          <a:ln w="12700">
            <a:solidFill>
              <a:srgbClr val="3A4B5C"/>
            </a:solidFill>
            <a:prstDash val="solid"/>
          </a:ln>
        </p:spPr>
        <p:txBody>
          <a:bodyPr wrap="none" lIns="0" tIns="0" rIns="0" bIns="0" rtlCol="0" anchor="ctr">
            <a:normAutofit/>
          </a:bodyPr>
          <a:lstStyle/>
          <a:p>
            <a:pPr marL="0" indent="0" algn="ctr">
              <a:lnSpc>
                <a:spcPts val="1820"/>
              </a:lnSpc>
              <a:buNone/>
            </a:pPr>
            <a:r>
              <a:rPr lang="en-US" sz="1300" dirty="0">
                <a:solidFill>
                  <a:srgbClr val="F4F2EC"/>
                </a:solidFill>
                <a:latin typeface="IBM Plex Sans" pitchFamily="34" charset="0"/>
                <a:ea typeface="IBM Plex Sans" pitchFamily="34" charset="-122"/>
                <a:cs typeface="IBM Plex Sans" pitchFamily="34" charset="-120"/>
              </a:rPr>
              <a:t>Blog post</a:t>
            </a:r>
            <a:endParaRPr lang="en-US" sz="1300" dirty="0"/>
          </a:p>
        </p:txBody>
      </p:sp>
      <p:pic>
        <p:nvPicPr>
          <p:cNvPr id="7" name="Image 0" descr="arrow-down"/>
          <p:cNvPicPr>
            <a:picLocks noChangeAspect="1"/>
          </p:cNvPicPr>
          <p:nvPr/>
        </p:nvPicPr>
        <p:blipFill>
          <a:blip r:embed="rId3"/>
          <a:srcRect t="-3" b="-3"/>
          <a:stretch/>
        </p:blipFill>
        <p:spPr>
          <a:xfrm>
            <a:off x="3302000" y="2705150"/>
            <a:ext cx="152391" cy="254000"/>
          </a:xfrm>
          <a:prstGeom prst="rect">
            <a:avLst/>
          </a:prstGeom>
        </p:spPr>
      </p:pic>
      <p:sp>
        <p:nvSpPr>
          <p:cNvPr id="8" name="Text 5"/>
          <p:cNvSpPr/>
          <p:nvPr/>
        </p:nvSpPr>
        <p:spPr>
          <a:xfrm>
            <a:off x="1187459" y="3054393"/>
            <a:ext cx="1384300" cy="419307"/>
          </a:xfrm>
          <a:prstGeom prst="roundRect">
            <a:avLst>
              <a:gd name="adj" fmla="val 16658"/>
            </a:avLst>
          </a:prstGeom>
          <a:solidFill>
            <a:srgbClr val="22303E"/>
          </a:solidFill>
          <a:ln w="12700">
            <a:solidFill>
              <a:srgbClr val="3A4B5C"/>
            </a:solidFill>
            <a:prstDash val="solid"/>
          </a:ln>
        </p:spPr>
        <p:txBody>
          <a:bodyPr wrap="square" lIns="48237" tIns="73637" rIns="48237" bIns="48237" rtlCol="0" anchor="t">
            <a:normAutofit/>
          </a:bodyPr>
          <a:lstStyle/>
          <a:p>
            <a:pPr marL="0" indent="0" algn="ctr">
              <a:lnSpc>
                <a:spcPts val="1820"/>
              </a:lnSpc>
              <a:buNone/>
            </a:pPr>
            <a:r>
              <a:rPr lang="en-US" sz="1300" dirty="0">
                <a:solidFill>
                  <a:srgbClr val="F4F2EC"/>
                </a:solidFill>
                <a:latin typeface="IBM Plex Sans" pitchFamily="34" charset="0"/>
                <a:ea typeface="IBM Plex Sans" pitchFamily="34" charset="-122"/>
                <a:cs typeface="IBM Plex Sans" pitchFamily="34" charset="-120"/>
              </a:rPr>
              <a:t>LinkedIn</a:t>
            </a:r>
            <a:endParaRPr lang="en-US" sz="1300" dirty="0"/>
          </a:p>
        </p:txBody>
      </p:sp>
      <p:sp>
        <p:nvSpPr>
          <p:cNvPr id="9" name="Text 6"/>
          <p:cNvSpPr/>
          <p:nvPr/>
        </p:nvSpPr>
        <p:spPr>
          <a:xfrm>
            <a:off x="2686023" y="3054393"/>
            <a:ext cx="1384300" cy="419307"/>
          </a:xfrm>
          <a:prstGeom prst="roundRect">
            <a:avLst>
              <a:gd name="adj" fmla="val 16658"/>
            </a:avLst>
          </a:prstGeom>
          <a:solidFill>
            <a:srgbClr val="22303E"/>
          </a:solidFill>
          <a:ln w="12700">
            <a:solidFill>
              <a:srgbClr val="3A4B5C"/>
            </a:solidFill>
            <a:prstDash val="solid"/>
          </a:ln>
        </p:spPr>
        <p:txBody>
          <a:bodyPr wrap="square" lIns="48237" tIns="73637" rIns="48237" bIns="48237" rtlCol="0" anchor="t">
            <a:normAutofit/>
          </a:bodyPr>
          <a:lstStyle/>
          <a:p>
            <a:pPr marL="0" indent="0" algn="ctr">
              <a:lnSpc>
                <a:spcPts val="1820"/>
              </a:lnSpc>
              <a:buNone/>
            </a:pPr>
            <a:r>
              <a:rPr lang="en-US" sz="1300" dirty="0">
                <a:solidFill>
                  <a:srgbClr val="F4F2EC"/>
                </a:solidFill>
                <a:latin typeface="IBM Plex Sans" pitchFamily="34" charset="0"/>
                <a:ea typeface="IBM Plex Sans" pitchFamily="34" charset="-122"/>
                <a:cs typeface="IBM Plex Sans" pitchFamily="34" charset="-120"/>
              </a:rPr>
              <a:t>Twitter / X</a:t>
            </a:r>
            <a:endParaRPr lang="en-US" sz="1300" dirty="0"/>
          </a:p>
        </p:txBody>
      </p:sp>
      <p:sp>
        <p:nvSpPr>
          <p:cNvPr id="10" name="Text 7"/>
          <p:cNvSpPr/>
          <p:nvPr/>
        </p:nvSpPr>
        <p:spPr>
          <a:xfrm>
            <a:off x="4184587" y="3054393"/>
            <a:ext cx="1384300" cy="419307"/>
          </a:xfrm>
          <a:prstGeom prst="roundRect">
            <a:avLst>
              <a:gd name="adj" fmla="val 16658"/>
            </a:avLst>
          </a:prstGeom>
          <a:solidFill>
            <a:srgbClr val="22303E"/>
          </a:solidFill>
          <a:ln w="12700">
            <a:solidFill>
              <a:srgbClr val="3A4B5C"/>
            </a:solidFill>
            <a:prstDash val="solid"/>
          </a:ln>
        </p:spPr>
        <p:txBody>
          <a:bodyPr wrap="square" lIns="48237" tIns="73637" rIns="48237" bIns="48237" rtlCol="0" anchor="t">
            <a:normAutofit/>
          </a:bodyPr>
          <a:lstStyle/>
          <a:p>
            <a:pPr marL="0" indent="0" algn="ctr">
              <a:lnSpc>
                <a:spcPts val="1820"/>
              </a:lnSpc>
              <a:buNone/>
            </a:pPr>
            <a:r>
              <a:rPr lang="en-US" sz="1300" dirty="0">
                <a:solidFill>
                  <a:srgbClr val="F4F2EC"/>
                </a:solidFill>
                <a:latin typeface="IBM Plex Sans" pitchFamily="34" charset="0"/>
                <a:ea typeface="IBM Plex Sans" pitchFamily="34" charset="-122"/>
                <a:cs typeface="IBM Plex Sans" pitchFamily="34" charset="-120"/>
              </a:rPr>
              <a:t>Newsletter</a:t>
            </a:r>
            <a:endParaRPr lang="en-US" sz="1300" dirty="0"/>
          </a:p>
        </p:txBody>
      </p:sp>
      <p:pic>
        <p:nvPicPr>
          <p:cNvPr id="11" name="Image 1" descr="arrow-down"/>
          <p:cNvPicPr>
            <a:picLocks noChangeAspect="1"/>
          </p:cNvPicPr>
          <p:nvPr/>
        </p:nvPicPr>
        <p:blipFill>
          <a:blip r:embed="rId3"/>
          <a:srcRect t="-3" b="-3"/>
          <a:stretch/>
        </p:blipFill>
        <p:spPr>
          <a:xfrm>
            <a:off x="3302000" y="3568942"/>
            <a:ext cx="152391" cy="254000"/>
          </a:xfrm>
          <a:prstGeom prst="rect">
            <a:avLst/>
          </a:prstGeom>
        </p:spPr>
      </p:pic>
      <p:sp>
        <p:nvSpPr>
          <p:cNvPr id="12" name="Text 8"/>
          <p:cNvSpPr/>
          <p:nvPr/>
        </p:nvSpPr>
        <p:spPr>
          <a:xfrm>
            <a:off x="2258074" y="3918179"/>
            <a:ext cx="2240197" cy="419307"/>
          </a:xfrm>
          <a:prstGeom prst="roundRect">
            <a:avLst>
              <a:gd name="adj" fmla="val 16658"/>
            </a:avLst>
          </a:prstGeom>
          <a:solidFill>
            <a:srgbClr val="22303E"/>
          </a:solidFill>
          <a:ln w="12700">
            <a:solidFill>
              <a:srgbClr val="3A4B5C"/>
            </a:solidFill>
            <a:prstDash val="solid"/>
          </a:ln>
        </p:spPr>
        <p:txBody>
          <a:bodyPr wrap="none" lIns="0" tIns="0" rIns="0" bIns="0" rtlCol="0" anchor="ctr">
            <a:normAutofit/>
          </a:bodyPr>
          <a:lstStyle/>
          <a:p>
            <a:pPr marL="0" indent="0" algn="ctr">
              <a:lnSpc>
                <a:spcPts val="1820"/>
              </a:lnSpc>
              <a:buNone/>
            </a:pPr>
            <a:r>
              <a:rPr lang="en-US" sz="1300" dirty="0">
                <a:solidFill>
                  <a:srgbClr val="F4F2EC"/>
                </a:solidFill>
                <a:latin typeface="IBM Plex Sans" pitchFamily="34" charset="0"/>
                <a:ea typeface="IBM Plex Sans" pitchFamily="34" charset="-122"/>
                <a:cs typeface="IBM Plex Sans" pitchFamily="34" charset="-120"/>
              </a:rPr>
              <a:t>Aggregate → promo pack</a:t>
            </a:r>
            <a:endParaRPr lang="en-US" sz="1300" dirty="0"/>
          </a:p>
        </p:txBody>
      </p:sp>
      <p:sp>
        <p:nvSpPr>
          <p:cNvPr id="13" name="Shape 9"/>
          <p:cNvSpPr/>
          <p:nvPr/>
        </p:nvSpPr>
        <p:spPr>
          <a:xfrm>
            <a:off x="6248391" y="1673727"/>
            <a:ext cx="5130827" cy="2855425"/>
          </a:xfrm>
          <a:prstGeom prst="roundRect">
            <a:avLst>
              <a:gd name="adj" fmla="val 3558"/>
            </a:avLst>
          </a:prstGeom>
          <a:solidFill>
            <a:srgbClr val="1E2B38"/>
          </a:solidFill>
          <a:ln/>
        </p:spPr>
        <p:txBody>
          <a:bodyPr/>
          <a:lstStyle/>
          <a:p>
            <a:endParaRPr lang="en-CN"/>
          </a:p>
        </p:txBody>
      </p:sp>
      <p:sp>
        <p:nvSpPr>
          <p:cNvPr id="14" name="Text 10"/>
          <p:cNvSpPr/>
          <p:nvPr/>
        </p:nvSpPr>
        <p:spPr>
          <a:xfrm>
            <a:off x="6426173" y="1851509"/>
            <a:ext cx="1901753" cy="269253"/>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2A46B"/>
                </a:solidFill>
                <a:latin typeface="IBM Plex Sans" pitchFamily="34" charset="0"/>
                <a:ea typeface="IBM Plex Sans" pitchFamily="34" charset="-122"/>
                <a:cs typeface="IBM Plex Sans" pitchFamily="34" charset="-120"/>
              </a:rPr>
              <a:t>Voting · SEO title</a:t>
            </a:r>
            <a:endParaRPr lang="en-US" sz="1600" dirty="0"/>
          </a:p>
        </p:txBody>
      </p:sp>
      <p:sp>
        <p:nvSpPr>
          <p:cNvPr id="15" name="Text 11"/>
          <p:cNvSpPr/>
          <p:nvPr/>
        </p:nvSpPr>
        <p:spPr>
          <a:xfrm>
            <a:off x="8282456" y="2190601"/>
            <a:ext cx="1062696" cy="419307"/>
          </a:xfrm>
          <a:prstGeom prst="roundRect">
            <a:avLst>
              <a:gd name="adj" fmla="val 16658"/>
            </a:avLst>
          </a:prstGeom>
          <a:solidFill>
            <a:srgbClr val="22303E"/>
          </a:solidFill>
          <a:ln w="12700">
            <a:solidFill>
              <a:srgbClr val="3A4B5C"/>
            </a:solidFill>
            <a:prstDash val="solid"/>
          </a:ln>
        </p:spPr>
        <p:txBody>
          <a:bodyPr wrap="none" lIns="0" tIns="0" rIns="0" bIns="0" rtlCol="0" anchor="ctr">
            <a:normAutofit/>
          </a:bodyPr>
          <a:lstStyle/>
          <a:p>
            <a:pPr marL="0" indent="0" algn="ctr">
              <a:lnSpc>
                <a:spcPts val="1820"/>
              </a:lnSpc>
              <a:buNone/>
            </a:pPr>
            <a:r>
              <a:rPr lang="en-US" sz="1300" dirty="0">
                <a:solidFill>
                  <a:srgbClr val="F4F2EC"/>
                </a:solidFill>
                <a:latin typeface="IBM Plex Sans" pitchFamily="34" charset="0"/>
                <a:ea typeface="IBM Plex Sans" pitchFamily="34" charset="-122"/>
                <a:cs typeface="IBM Plex Sans" pitchFamily="34" charset="-120"/>
              </a:rPr>
              <a:t>Blog post</a:t>
            </a:r>
            <a:endParaRPr lang="en-US" sz="1300" dirty="0"/>
          </a:p>
        </p:txBody>
      </p:sp>
      <p:pic>
        <p:nvPicPr>
          <p:cNvPr id="16" name="Image 2" descr="arrow-down"/>
          <p:cNvPicPr>
            <a:picLocks noChangeAspect="1"/>
          </p:cNvPicPr>
          <p:nvPr/>
        </p:nvPicPr>
        <p:blipFill>
          <a:blip r:embed="rId3"/>
          <a:srcRect t="-3" b="-3"/>
          <a:stretch/>
        </p:blipFill>
        <p:spPr>
          <a:xfrm>
            <a:off x="8737609" y="2705150"/>
            <a:ext cx="152391" cy="254000"/>
          </a:xfrm>
          <a:prstGeom prst="rect">
            <a:avLst/>
          </a:prstGeom>
        </p:spPr>
      </p:pic>
      <p:sp>
        <p:nvSpPr>
          <p:cNvPr id="17" name="Text 12"/>
          <p:cNvSpPr/>
          <p:nvPr/>
        </p:nvSpPr>
        <p:spPr>
          <a:xfrm>
            <a:off x="6623068" y="3054393"/>
            <a:ext cx="1384300" cy="426839"/>
          </a:xfrm>
          <a:prstGeom prst="roundRect">
            <a:avLst>
              <a:gd name="adj" fmla="val 16364"/>
            </a:avLst>
          </a:prstGeom>
          <a:solidFill>
            <a:srgbClr val="22303E"/>
          </a:solidFill>
          <a:ln w="12700">
            <a:solidFill>
              <a:srgbClr val="3A4B5C"/>
            </a:solidFill>
            <a:prstDash val="solid"/>
          </a:ln>
        </p:spPr>
        <p:txBody>
          <a:bodyPr wrap="square" lIns="60937" tIns="86337" rIns="60937" bIns="60937" rtlCol="0" anchor="t">
            <a:normAutofit/>
          </a:bodyPr>
          <a:lstStyle/>
          <a:p>
            <a:pPr marL="0" indent="0" algn="ctr">
              <a:lnSpc>
                <a:spcPts val="1680"/>
              </a:lnSpc>
              <a:buNone/>
            </a:pPr>
            <a:r>
              <a:rPr lang="en-US" sz="1200" dirty="0">
                <a:solidFill>
                  <a:srgbClr val="F4F2EC"/>
                </a:solidFill>
                <a:latin typeface="JetBrains Mono" pitchFamily="49" charset="0"/>
                <a:ea typeface="JetBrains Mono" pitchFamily="49" charset="-122"/>
                <a:cs typeface="JetBrains Mono" pitchFamily="49" charset="-120"/>
              </a:rPr>
              <a:t>temp 0.3</a:t>
            </a:r>
            <a:endParaRPr lang="en-US" sz="1200" dirty="0"/>
          </a:p>
        </p:txBody>
      </p:sp>
      <p:sp>
        <p:nvSpPr>
          <p:cNvPr id="18" name="Text 13"/>
          <p:cNvSpPr/>
          <p:nvPr/>
        </p:nvSpPr>
        <p:spPr>
          <a:xfrm>
            <a:off x="8121631" y="3054393"/>
            <a:ext cx="1384300" cy="426839"/>
          </a:xfrm>
          <a:prstGeom prst="roundRect">
            <a:avLst>
              <a:gd name="adj" fmla="val 16364"/>
            </a:avLst>
          </a:prstGeom>
          <a:solidFill>
            <a:srgbClr val="22303E"/>
          </a:solidFill>
          <a:ln w="12700">
            <a:solidFill>
              <a:srgbClr val="3A4B5C"/>
            </a:solidFill>
            <a:prstDash val="solid"/>
          </a:ln>
        </p:spPr>
        <p:txBody>
          <a:bodyPr wrap="square" lIns="60937" tIns="86337" rIns="60937" bIns="60937" rtlCol="0" anchor="t">
            <a:normAutofit/>
          </a:bodyPr>
          <a:lstStyle/>
          <a:p>
            <a:pPr marL="0" indent="0" algn="ctr">
              <a:lnSpc>
                <a:spcPts val="1680"/>
              </a:lnSpc>
              <a:buNone/>
            </a:pPr>
            <a:r>
              <a:rPr lang="en-US" sz="1200" dirty="0">
                <a:solidFill>
                  <a:srgbClr val="F4F2EC"/>
                </a:solidFill>
                <a:latin typeface="JetBrains Mono" pitchFamily="49" charset="0"/>
                <a:ea typeface="JetBrains Mono" pitchFamily="49" charset="-122"/>
                <a:cs typeface="JetBrains Mono" pitchFamily="49" charset="-120"/>
              </a:rPr>
              <a:t>temp 0.7</a:t>
            </a:r>
            <a:endParaRPr lang="en-US" sz="1200" dirty="0"/>
          </a:p>
        </p:txBody>
      </p:sp>
      <p:sp>
        <p:nvSpPr>
          <p:cNvPr id="19" name="Text 14"/>
          <p:cNvSpPr/>
          <p:nvPr/>
        </p:nvSpPr>
        <p:spPr>
          <a:xfrm>
            <a:off x="9620196" y="3054393"/>
            <a:ext cx="1384300" cy="426839"/>
          </a:xfrm>
          <a:prstGeom prst="roundRect">
            <a:avLst>
              <a:gd name="adj" fmla="val 16364"/>
            </a:avLst>
          </a:prstGeom>
          <a:solidFill>
            <a:srgbClr val="22303E"/>
          </a:solidFill>
          <a:ln w="12700">
            <a:solidFill>
              <a:srgbClr val="3A4B5C"/>
            </a:solidFill>
            <a:prstDash val="solid"/>
          </a:ln>
        </p:spPr>
        <p:txBody>
          <a:bodyPr wrap="square" lIns="60937" tIns="86337" rIns="60937" bIns="60937" rtlCol="0" anchor="t">
            <a:normAutofit/>
          </a:bodyPr>
          <a:lstStyle/>
          <a:p>
            <a:pPr marL="0" indent="0" algn="ctr">
              <a:lnSpc>
                <a:spcPts val="1680"/>
              </a:lnSpc>
              <a:buNone/>
            </a:pPr>
            <a:r>
              <a:rPr lang="en-US" sz="1200" dirty="0">
                <a:solidFill>
                  <a:srgbClr val="F4F2EC"/>
                </a:solidFill>
                <a:latin typeface="JetBrains Mono" pitchFamily="49" charset="0"/>
                <a:ea typeface="JetBrains Mono" pitchFamily="49" charset="-122"/>
                <a:cs typeface="JetBrains Mono" pitchFamily="49" charset="-120"/>
              </a:rPr>
              <a:t>temp 1.0</a:t>
            </a:r>
            <a:endParaRPr lang="en-US" sz="1200" dirty="0"/>
          </a:p>
        </p:txBody>
      </p:sp>
      <p:pic>
        <p:nvPicPr>
          <p:cNvPr id="20" name="Image 3" descr="arrow-down"/>
          <p:cNvPicPr>
            <a:picLocks noChangeAspect="1"/>
          </p:cNvPicPr>
          <p:nvPr/>
        </p:nvPicPr>
        <p:blipFill>
          <a:blip r:embed="rId3"/>
          <a:srcRect t="-3" b="-3"/>
          <a:stretch/>
        </p:blipFill>
        <p:spPr>
          <a:xfrm>
            <a:off x="8737609" y="3576470"/>
            <a:ext cx="152391" cy="254000"/>
          </a:xfrm>
          <a:prstGeom prst="rect">
            <a:avLst/>
          </a:prstGeom>
        </p:spPr>
      </p:pic>
      <p:sp>
        <p:nvSpPr>
          <p:cNvPr id="21" name="Text 15"/>
          <p:cNvSpPr/>
          <p:nvPr/>
        </p:nvSpPr>
        <p:spPr>
          <a:xfrm>
            <a:off x="7720608" y="3925714"/>
            <a:ext cx="2186348" cy="419307"/>
          </a:xfrm>
          <a:prstGeom prst="roundRect">
            <a:avLst>
              <a:gd name="adj" fmla="val 16658"/>
            </a:avLst>
          </a:prstGeom>
          <a:solidFill>
            <a:srgbClr val="22303E"/>
          </a:solidFill>
          <a:ln w="12700">
            <a:solidFill>
              <a:srgbClr val="3A4B5C"/>
            </a:solidFill>
            <a:prstDash val="solid"/>
          </a:ln>
        </p:spPr>
        <p:txBody>
          <a:bodyPr wrap="none" lIns="0" tIns="0" rIns="0" bIns="0" rtlCol="0" anchor="ctr">
            <a:normAutofit/>
          </a:bodyPr>
          <a:lstStyle/>
          <a:p>
            <a:pPr marL="0" indent="0" algn="ctr">
              <a:lnSpc>
                <a:spcPts val="1820"/>
              </a:lnSpc>
              <a:buNone/>
            </a:pPr>
            <a:r>
              <a:rPr lang="en-US" sz="1300" dirty="0">
                <a:solidFill>
                  <a:srgbClr val="F4F2EC"/>
                </a:solidFill>
                <a:latin typeface="IBM Plex Sans" pitchFamily="34" charset="0"/>
                <a:ea typeface="IBM Plex Sans" pitchFamily="34" charset="-122"/>
                <a:cs typeface="IBM Plex Sans" pitchFamily="34" charset="-120"/>
              </a:rPr>
              <a:t>Evaluator picks best title</a:t>
            </a:r>
            <a:endParaRPr lang="en-US" sz="1300" dirty="0"/>
          </a:p>
        </p:txBody>
      </p:sp>
      <p:sp>
        <p:nvSpPr>
          <p:cNvPr id="22" name="Text 16"/>
          <p:cNvSpPr/>
          <p:nvPr/>
        </p:nvSpPr>
        <p:spPr>
          <a:xfrm>
            <a:off x="812782" y="4783156"/>
            <a:ext cx="10883429" cy="292073"/>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D6DDE5"/>
                </a:solidFill>
                <a:latin typeface="IBM Plex Sans" pitchFamily="34" charset="0"/>
                <a:ea typeface="IBM Plex Sans" pitchFamily="34" charset="-122"/>
                <a:cs typeface="IBM Plex Sans" pitchFamily="34" charset="-120"/>
              </a:rPr>
              <a:t>Rule: tasks must be </a:t>
            </a:r>
            <a:r>
              <a:rPr lang="en-US" sz="1500" dirty="0">
                <a:solidFill>
                  <a:srgbClr val="F2A46B"/>
                </a:solidFill>
                <a:latin typeface="IBM Plex Sans" pitchFamily="34" charset="0"/>
                <a:ea typeface="IBM Plex Sans" pitchFamily="34" charset="-122"/>
                <a:cs typeface="IBM Plex Sans" pitchFamily="34" charset="-120"/>
              </a:rPr>
              <a:t>truly independent</a:t>
            </a:r>
            <a:r>
              <a:rPr lang="en-US" sz="1500" dirty="0">
                <a:solidFill>
                  <a:srgbClr val="D6DDE5"/>
                </a:solidFill>
                <a:latin typeface="IBM Plex Sans" pitchFamily="34" charset="0"/>
                <a:ea typeface="IBM Plex Sans" pitchFamily="34" charset="-122"/>
                <a:cs typeface="IBM Plex Sans" pitchFamily="34" charset="-120"/>
              </a:rPr>
              <a:t>. If B needs A's output, don't parallelize.</a:t>
            </a:r>
            <a:endParaRPr lang="en-US" sz="1500" dirty="0"/>
          </a:p>
        </p:txBody>
      </p:sp>
      <p:sp>
        <p:nvSpPr>
          <p:cNvPr id="23" name="Text 17"/>
          <p:cNvSpPr/>
          <p:nvPr/>
        </p:nvSpPr>
        <p:spPr>
          <a:xfrm>
            <a:off x="812782" y="6238286"/>
            <a:ext cx="967994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9AA9B8"/>
                </a:solidFill>
                <a:latin typeface="IBM Plex Sans" pitchFamily="34" charset="0"/>
                <a:ea typeface="IBM Plex Sans" pitchFamily="34" charset="-122"/>
                <a:cs typeface="IBM Plex Sans" pitchFamily="34" charset="-120"/>
              </a:rPr>
              <a:t>03-parallelization/README.md · ParallelContentGenerator in 01_parallelization.py</a:t>
            </a:r>
            <a:endParaRPr lang="en-US" sz="1200" dirty="0"/>
          </a:p>
        </p:txBody>
      </p:sp>
      <p:sp>
        <p:nvSpPr>
          <p:cNvPr id="24" name="Text 18"/>
          <p:cNvSpPr/>
          <p:nvPr/>
        </p:nvSpPr>
        <p:spPr>
          <a:xfrm>
            <a:off x="10312418" y="6238286"/>
            <a:ext cx="1066800" cy="238720"/>
          </a:xfrm>
          <a:prstGeom prst="rect">
            <a:avLst/>
          </a:prstGeom>
          <a:noFill/>
          <a:ln/>
        </p:spPr>
        <p:txBody>
          <a:bodyPr wrap="square" lIns="0" tIns="0" rIns="0" bIns="0" rtlCol="0" anchor="t">
            <a:normAutofit/>
          </a:bodyPr>
          <a:lstStyle/>
          <a:p>
            <a:pPr marL="0" indent="0" algn="r">
              <a:lnSpc>
                <a:spcPts val="1680"/>
              </a:lnSpc>
              <a:buNone/>
            </a:pPr>
            <a:r>
              <a:rPr lang="en-US" sz="1200" b="1" dirty="0">
                <a:solidFill>
                  <a:srgbClr val="9AA9B8"/>
                </a:solidFill>
                <a:latin typeface="IBM Plex Sans" pitchFamily="34" charset="0"/>
                <a:ea typeface="IBM Plex Sans" pitchFamily="34" charset="-122"/>
                <a:cs typeface="IBM Plex Sans" pitchFamily="34" charset="-120"/>
              </a:rPr>
              <a:t>10 / 27</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2EC"/>
        </a:solidFill>
        <a:effectLst/>
      </p:bgPr>
    </p:bg>
    <p:spTree>
      <p:nvGrpSpPr>
        <p:cNvPr id="1" name=""/>
        <p:cNvGrpSpPr/>
        <p:nvPr/>
      </p:nvGrpSpPr>
      <p:grpSpPr>
        <a:xfrm>
          <a:off x="0" y="0"/>
          <a:ext cx="0" cy="0"/>
          <a:chOff x="0" y="0"/>
          <a:chExt cx="0" cy="0"/>
        </a:xfrm>
      </p:grpSpPr>
      <p:sp>
        <p:nvSpPr>
          <p:cNvPr id="2" name="Text 0"/>
          <p:cNvSpPr/>
          <p:nvPr/>
        </p:nvSpPr>
        <p:spPr>
          <a:xfrm>
            <a:off x="812782" y="711169"/>
            <a:ext cx="10883429"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04E17"/>
                </a:solidFill>
                <a:latin typeface="IBM Plex Sans" pitchFamily="34" charset="0"/>
                <a:ea typeface="IBM Plex Sans" pitchFamily="34" charset="-122"/>
                <a:cs typeface="IBM Plex Sans" pitchFamily="34" charset="-120"/>
              </a:rPr>
              <a:t>03 · PARALLELIZATION · IN CODE</a:t>
            </a:r>
            <a:endParaRPr lang="en-US" sz="1200" dirty="0"/>
          </a:p>
        </p:txBody>
      </p:sp>
      <p:sp>
        <p:nvSpPr>
          <p:cNvPr id="3" name="Text 1"/>
          <p:cNvSpPr>
            <a:spLocks noGrp="1"/>
          </p:cNvSpPr>
          <p:nvPr>
            <p:ph type="title"/>
          </p:nvPr>
        </p:nvSpPr>
        <p:spPr>
          <a:xfrm>
            <a:off x="812782" y="1000665"/>
            <a:ext cx="10883429" cy="444464"/>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6212C"/>
                </a:solidFill>
                <a:latin typeface="IBM Plex Sans" pitchFamily="34" charset="0"/>
                <a:ea typeface="IBM Plex Sans" pitchFamily="34" charset="-122"/>
                <a:cs typeface="IBM Plex Sans" pitchFamily="34" charset="-120"/>
              </a:rPr>
              <a:t>Fan-out is a thread pool over a dict</a:t>
            </a:r>
            <a:endParaRPr lang="en-US" sz="3000" dirty="0"/>
          </a:p>
        </p:txBody>
      </p:sp>
      <p:sp>
        <p:nvSpPr>
          <p:cNvPr id="4" name="Text 2"/>
          <p:cNvSpPr/>
          <p:nvPr/>
        </p:nvSpPr>
        <p:spPr>
          <a:xfrm>
            <a:off x="812782" y="1673727"/>
            <a:ext cx="304782" cy="304782"/>
          </a:xfrm>
          <a:custGeom>
            <a:avLst/>
            <a:gdLst/>
            <a:ahLst/>
            <a:cxnLst/>
            <a:rect l="l" t="t" r="r" b="b"/>
            <a:pathLst>
              <a:path w="304782" h="304782">
                <a:moveTo>
                  <a:pt x="152391" y="0"/>
                </a:moveTo>
                <a:lnTo>
                  <a:pt x="152391" y="0"/>
                </a:lnTo>
                <a:arcTo wR="152391" hR="152391" stAng="16200000" swAng="5400000"/>
                <a:lnTo>
                  <a:pt x="304782" y="152391"/>
                </a:lnTo>
                <a:arcTo wR="152391" hR="152391" stAng="0" swAng="5400000"/>
                <a:lnTo>
                  <a:pt x="152391" y="304782"/>
                </a:lnTo>
                <a:arcTo wR="152391" hR="152391" stAng="5400000" swAng="5400000"/>
                <a:lnTo>
                  <a:pt x="0" y="152391"/>
                </a:lnTo>
                <a:arcTo wR="152391" hR="152391" stAng="10800000" swAng="5400000"/>
                <a:close/>
              </a:path>
            </a:pathLst>
          </a:custGeom>
          <a:solidFill>
            <a:srgbClr val="E8843F"/>
          </a:solidFill>
          <a:ln/>
        </p:spPr>
        <p:txBody>
          <a:bodyPr wrap="square" lIns="0" tIns="0" rIns="0" bIns="0" rtlCol="0" anchor="t">
            <a:normAutofit/>
          </a:bodyPr>
          <a:lstStyle/>
          <a:p>
            <a:pPr marL="0" indent="0" algn="ctr">
              <a:lnSpc>
                <a:spcPts val="2405"/>
              </a:lnSpc>
              <a:buNone/>
            </a:pPr>
            <a:r>
              <a:rPr lang="en-US" sz="1300" b="1" dirty="0">
                <a:solidFill>
                  <a:srgbClr val="16212C"/>
                </a:solidFill>
                <a:latin typeface="IBM Plex Sans" pitchFamily="34" charset="0"/>
                <a:ea typeface="IBM Plex Sans" pitchFamily="34" charset="-122"/>
                <a:cs typeface="IBM Plex Sans" pitchFamily="34" charset="-120"/>
              </a:rPr>
              <a:t>1</a:t>
            </a:r>
            <a:endParaRPr lang="en-US" sz="1300" dirty="0"/>
          </a:p>
        </p:txBody>
      </p:sp>
      <p:sp>
        <p:nvSpPr>
          <p:cNvPr id="5" name="Text 3"/>
          <p:cNvSpPr/>
          <p:nvPr/>
        </p:nvSpPr>
        <p:spPr>
          <a:xfrm>
            <a:off x="1244564" y="1673727"/>
            <a:ext cx="3479564" cy="253964"/>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6212C"/>
                </a:solidFill>
                <a:latin typeface="IBM Plex Sans" pitchFamily="34" charset="0"/>
                <a:ea typeface="IBM Plex Sans" pitchFamily="34" charset="-122"/>
                <a:cs typeface="IBM Plex Sans" pitchFamily="34" charset="-120"/>
              </a:rPr>
              <a:t>Same dict as routing…</a:t>
            </a:r>
            <a:endParaRPr lang="en-US" sz="1500" dirty="0"/>
          </a:p>
        </p:txBody>
      </p:sp>
      <p:sp>
        <p:nvSpPr>
          <p:cNvPr id="6" name="Text 4"/>
          <p:cNvSpPr/>
          <p:nvPr/>
        </p:nvSpPr>
        <p:spPr>
          <a:xfrm>
            <a:off x="1244564" y="1940353"/>
            <a:ext cx="3479564" cy="487669"/>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D4A57"/>
                </a:solidFill>
                <a:latin typeface="IBM Plex Sans" pitchFamily="34" charset="0"/>
                <a:ea typeface="IBM Plex Sans" pitchFamily="34" charset="-122"/>
                <a:cs typeface="IBM Plex Sans" pitchFamily="34" charset="-120"/>
              </a:rPr>
              <a:t>…but instead of picking one entry, we run them all.</a:t>
            </a:r>
            <a:endParaRPr lang="en-US" sz="1300" dirty="0"/>
          </a:p>
        </p:txBody>
      </p:sp>
      <p:sp>
        <p:nvSpPr>
          <p:cNvPr id="7" name="Text 5"/>
          <p:cNvSpPr/>
          <p:nvPr/>
        </p:nvSpPr>
        <p:spPr>
          <a:xfrm>
            <a:off x="812782" y="2567688"/>
            <a:ext cx="304782" cy="304782"/>
          </a:xfrm>
          <a:custGeom>
            <a:avLst/>
            <a:gdLst/>
            <a:ahLst/>
            <a:cxnLst/>
            <a:rect l="l" t="t" r="r" b="b"/>
            <a:pathLst>
              <a:path w="304782" h="304782">
                <a:moveTo>
                  <a:pt x="152391" y="0"/>
                </a:moveTo>
                <a:lnTo>
                  <a:pt x="152391" y="0"/>
                </a:lnTo>
                <a:arcTo wR="152391" hR="152391" stAng="16200000" swAng="5400000"/>
                <a:lnTo>
                  <a:pt x="304782" y="152391"/>
                </a:lnTo>
                <a:arcTo wR="152391" hR="152391" stAng="0" swAng="5400000"/>
                <a:lnTo>
                  <a:pt x="152391" y="304782"/>
                </a:lnTo>
                <a:arcTo wR="152391" hR="152391" stAng="5400000" swAng="5400000"/>
                <a:lnTo>
                  <a:pt x="0" y="152391"/>
                </a:lnTo>
                <a:arcTo wR="152391" hR="152391" stAng="10800000" swAng="5400000"/>
                <a:close/>
              </a:path>
            </a:pathLst>
          </a:custGeom>
          <a:solidFill>
            <a:srgbClr val="E8843F"/>
          </a:solidFill>
          <a:ln/>
        </p:spPr>
        <p:txBody>
          <a:bodyPr wrap="square" lIns="0" tIns="0" rIns="0" bIns="0" rtlCol="0" anchor="t">
            <a:normAutofit/>
          </a:bodyPr>
          <a:lstStyle/>
          <a:p>
            <a:pPr marL="0" indent="0" algn="ctr">
              <a:lnSpc>
                <a:spcPts val="2405"/>
              </a:lnSpc>
              <a:buNone/>
            </a:pPr>
            <a:r>
              <a:rPr lang="en-US" sz="1300" b="1" dirty="0">
                <a:solidFill>
                  <a:srgbClr val="16212C"/>
                </a:solidFill>
                <a:latin typeface="IBM Plex Sans" pitchFamily="34" charset="0"/>
                <a:ea typeface="IBM Plex Sans" pitchFamily="34" charset="-122"/>
                <a:cs typeface="IBM Plex Sans" pitchFamily="34" charset="-120"/>
              </a:rPr>
              <a:t>2</a:t>
            </a:r>
            <a:endParaRPr lang="en-US" sz="1300" dirty="0"/>
          </a:p>
        </p:txBody>
      </p:sp>
      <p:sp>
        <p:nvSpPr>
          <p:cNvPr id="8" name="Text 6"/>
          <p:cNvSpPr/>
          <p:nvPr/>
        </p:nvSpPr>
        <p:spPr>
          <a:xfrm>
            <a:off x="1244564" y="2567688"/>
            <a:ext cx="3479564" cy="253964"/>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6212C"/>
                </a:solidFill>
                <a:latin typeface="IBM Plex Sans" pitchFamily="34" charset="0"/>
                <a:ea typeface="IBM Plex Sans" pitchFamily="34" charset="-122"/>
                <a:cs typeface="IBM Plex Sans" pitchFamily="34" charset="-120"/>
              </a:rPr>
              <a:t>One thread per task</a:t>
            </a:r>
            <a:endParaRPr lang="en-US" sz="1500" dirty="0"/>
          </a:p>
        </p:txBody>
      </p:sp>
      <p:sp>
        <p:nvSpPr>
          <p:cNvPr id="9" name="Text 7"/>
          <p:cNvSpPr/>
          <p:nvPr/>
        </p:nvSpPr>
        <p:spPr>
          <a:xfrm>
            <a:off x="1244564" y="2834314"/>
            <a:ext cx="3479564" cy="487669"/>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D4A57"/>
                </a:solidFill>
                <a:latin typeface="IBM Plex Sans" pitchFamily="34" charset="0"/>
                <a:ea typeface="IBM Plex Sans" pitchFamily="34" charset="-122"/>
                <a:cs typeface="IBM Plex Sans" pitchFamily="34" charset="-120"/>
              </a:rPr>
              <a:t>The Anthropic client is thread-safe; workers = number of tasks.</a:t>
            </a:r>
            <a:endParaRPr lang="en-US" sz="1300" dirty="0"/>
          </a:p>
        </p:txBody>
      </p:sp>
      <p:sp>
        <p:nvSpPr>
          <p:cNvPr id="10" name="Text 8"/>
          <p:cNvSpPr/>
          <p:nvPr/>
        </p:nvSpPr>
        <p:spPr>
          <a:xfrm>
            <a:off x="812782" y="3461649"/>
            <a:ext cx="304782" cy="304782"/>
          </a:xfrm>
          <a:custGeom>
            <a:avLst/>
            <a:gdLst/>
            <a:ahLst/>
            <a:cxnLst/>
            <a:rect l="l" t="t" r="r" b="b"/>
            <a:pathLst>
              <a:path w="304782" h="304782">
                <a:moveTo>
                  <a:pt x="152391" y="0"/>
                </a:moveTo>
                <a:lnTo>
                  <a:pt x="152391" y="0"/>
                </a:lnTo>
                <a:arcTo wR="152391" hR="152391" stAng="16200000" swAng="5400000"/>
                <a:lnTo>
                  <a:pt x="304782" y="152391"/>
                </a:lnTo>
                <a:arcTo wR="152391" hR="152391" stAng="0" swAng="5400000"/>
                <a:lnTo>
                  <a:pt x="152391" y="304782"/>
                </a:lnTo>
                <a:arcTo wR="152391" hR="152391" stAng="5400000" swAng="5400000"/>
                <a:lnTo>
                  <a:pt x="0" y="152391"/>
                </a:lnTo>
                <a:arcTo wR="152391" hR="152391" stAng="10800000" swAng="5400000"/>
                <a:close/>
              </a:path>
            </a:pathLst>
          </a:custGeom>
          <a:solidFill>
            <a:srgbClr val="E8843F"/>
          </a:solidFill>
          <a:ln/>
        </p:spPr>
        <p:txBody>
          <a:bodyPr wrap="square" lIns="0" tIns="0" rIns="0" bIns="0" rtlCol="0" anchor="t">
            <a:normAutofit/>
          </a:bodyPr>
          <a:lstStyle/>
          <a:p>
            <a:pPr marL="0" indent="0" algn="ctr">
              <a:lnSpc>
                <a:spcPts val="2405"/>
              </a:lnSpc>
              <a:buNone/>
            </a:pPr>
            <a:r>
              <a:rPr lang="en-US" sz="1300" b="1" dirty="0">
                <a:solidFill>
                  <a:srgbClr val="16212C"/>
                </a:solidFill>
                <a:latin typeface="IBM Plex Sans" pitchFamily="34" charset="0"/>
                <a:ea typeface="IBM Plex Sans" pitchFamily="34" charset="-122"/>
                <a:cs typeface="IBM Plex Sans" pitchFamily="34" charset="-120"/>
              </a:rPr>
              <a:t>3</a:t>
            </a:r>
            <a:endParaRPr lang="en-US" sz="1300" dirty="0"/>
          </a:p>
        </p:txBody>
      </p:sp>
      <p:sp>
        <p:nvSpPr>
          <p:cNvPr id="11" name="Text 9"/>
          <p:cNvSpPr/>
          <p:nvPr/>
        </p:nvSpPr>
        <p:spPr>
          <a:xfrm>
            <a:off x="1244564" y="3461649"/>
            <a:ext cx="3479564" cy="253964"/>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6212C"/>
                </a:solidFill>
                <a:latin typeface="IBM Plex Sans" pitchFamily="34" charset="0"/>
                <a:ea typeface="IBM Plex Sans" pitchFamily="34" charset="-122"/>
                <a:cs typeface="IBM Plex Sans" pitchFamily="34" charset="-120"/>
              </a:rPr>
              <a:t>Fan-in as they finish</a:t>
            </a:r>
            <a:endParaRPr lang="en-US" sz="1500" dirty="0"/>
          </a:p>
        </p:txBody>
      </p:sp>
      <p:sp>
        <p:nvSpPr>
          <p:cNvPr id="12" name="Text 10"/>
          <p:cNvSpPr/>
          <p:nvPr/>
        </p:nvSpPr>
        <p:spPr>
          <a:xfrm>
            <a:off x="1244564" y="3728275"/>
            <a:ext cx="3479564" cy="487669"/>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D4A57"/>
                </a:solidFill>
                <a:latin typeface="IBM Plex Sans" pitchFamily="34" charset="0"/>
                <a:ea typeface="IBM Plex Sans" pitchFamily="34" charset="-122"/>
                <a:cs typeface="IBM Plex Sans" pitchFamily="34" charset="-120"/>
              </a:rPr>
              <a:t>as_completed yields in finish order, so progress streams live.</a:t>
            </a:r>
            <a:endParaRPr lang="en-US" sz="1300" dirty="0"/>
          </a:p>
        </p:txBody>
      </p:sp>
      <p:sp>
        <p:nvSpPr>
          <p:cNvPr id="13" name="Text 11"/>
          <p:cNvSpPr/>
          <p:nvPr/>
        </p:nvSpPr>
        <p:spPr>
          <a:xfrm>
            <a:off x="812782" y="4355610"/>
            <a:ext cx="304782" cy="304782"/>
          </a:xfrm>
          <a:custGeom>
            <a:avLst/>
            <a:gdLst/>
            <a:ahLst/>
            <a:cxnLst/>
            <a:rect l="l" t="t" r="r" b="b"/>
            <a:pathLst>
              <a:path w="304782" h="304782">
                <a:moveTo>
                  <a:pt x="152391" y="0"/>
                </a:moveTo>
                <a:lnTo>
                  <a:pt x="152391" y="0"/>
                </a:lnTo>
                <a:arcTo wR="152391" hR="152391" stAng="16200000" swAng="5400000"/>
                <a:lnTo>
                  <a:pt x="304782" y="152391"/>
                </a:lnTo>
                <a:arcTo wR="152391" hR="152391" stAng="0" swAng="5400000"/>
                <a:lnTo>
                  <a:pt x="152391" y="304782"/>
                </a:lnTo>
                <a:arcTo wR="152391" hR="152391" stAng="5400000" swAng="5400000"/>
                <a:lnTo>
                  <a:pt x="0" y="152391"/>
                </a:lnTo>
                <a:arcTo wR="152391" hR="152391" stAng="10800000" swAng="5400000"/>
                <a:close/>
              </a:path>
            </a:pathLst>
          </a:custGeom>
          <a:solidFill>
            <a:srgbClr val="E8843F"/>
          </a:solidFill>
          <a:ln/>
        </p:spPr>
        <p:txBody>
          <a:bodyPr wrap="square" lIns="0" tIns="0" rIns="0" bIns="0" rtlCol="0" anchor="t">
            <a:normAutofit/>
          </a:bodyPr>
          <a:lstStyle/>
          <a:p>
            <a:pPr marL="0" indent="0" algn="ctr">
              <a:lnSpc>
                <a:spcPts val="2405"/>
              </a:lnSpc>
              <a:buNone/>
            </a:pPr>
            <a:r>
              <a:rPr lang="en-US" sz="1300" b="1" dirty="0">
                <a:solidFill>
                  <a:srgbClr val="16212C"/>
                </a:solidFill>
                <a:latin typeface="IBM Plex Sans" pitchFamily="34" charset="0"/>
                <a:ea typeface="IBM Plex Sans" pitchFamily="34" charset="-122"/>
                <a:cs typeface="IBM Plex Sans" pitchFamily="34" charset="-120"/>
              </a:rPr>
              <a:t>4</a:t>
            </a:r>
            <a:endParaRPr lang="en-US" sz="1300" dirty="0"/>
          </a:p>
        </p:txBody>
      </p:sp>
      <p:sp>
        <p:nvSpPr>
          <p:cNvPr id="14" name="Text 12"/>
          <p:cNvSpPr/>
          <p:nvPr/>
        </p:nvSpPr>
        <p:spPr>
          <a:xfrm>
            <a:off x="1244564" y="4355610"/>
            <a:ext cx="3479564" cy="253964"/>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6212C"/>
                </a:solidFill>
                <a:latin typeface="IBM Plex Sans" pitchFamily="34" charset="0"/>
                <a:ea typeface="IBM Plex Sans" pitchFamily="34" charset="-122"/>
                <a:cs typeface="IBM Plex Sans" pitchFamily="34" charset="-120"/>
              </a:rPr>
              <a:t>Isolate failures</a:t>
            </a:r>
            <a:endParaRPr lang="en-US" sz="1500" dirty="0"/>
          </a:p>
        </p:txBody>
      </p:sp>
      <p:sp>
        <p:nvSpPr>
          <p:cNvPr id="15" name="Text 13"/>
          <p:cNvSpPr/>
          <p:nvPr/>
        </p:nvSpPr>
        <p:spPr>
          <a:xfrm>
            <a:off x="1244564" y="4622236"/>
            <a:ext cx="3479564" cy="256535"/>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D4A57"/>
                </a:solidFill>
                <a:latin typeface="IBM Plex Sans" pitchFamily="34" charset="0"/>
                <a:ea typeface="IBM Plex Sans" pitchFamily="34" charset="-122"/>
                <a:cs typeface="IBM Plex Sans" pitchFamily="34" charset="-120"/>
              </a:rPr>
              <a:t>One writer failing doesn't crash the fan-out.</a:t>
            </a:r>
            <a:endParaRPr lang="en-US" sz="1300" dirty="0"/>
          </a:p>
        </p:txBody>
      </p:sp>
      <p:sp>
        <p:nvSpPr>
          <p:cNvPr id="16" name="Shape 14"/>
          <p:cNvSpPr/>
          <p:nvPr/>
        </p:nvSpPr>
        <p:spPr>
          <a:xfrm>
            <a:off x="4927564" y="1673727"/>
            <a:ext cx="6451564" cy="3679753"/>
          </a:xfrm>
          <a:prstGeom prst="roundRect">
            <a:avLst>
              <a:gd name="adj" fmla="val 2761"/>
            </a:avLst>
          </a:prstGeom>
          <a:solidFill>
            <a:srgbClr val="16212C"/>
          </a:solidFill>
          <a:ln/>
        </p:spPr>
        <p:txBody>
          <a:bodyPr/>
          <a:lstStyle/>
          <a:p>
            <a:endParaRPr lang="en-CN"/>
          </a:p>
        </p:txBody>
      </p:sp>
      <p:sp>
        <p:nvSpPr>
          <p:cNvPr id="17" name="Text 15"/>
          <p:cNvSpPr/>
          <p:nvPr/>
        </p:nvSpPr>
        <p:spPr>
          <a:xfrm>
            <a:off x="5105364" y="1826121"/>
            <a:ext cx="6278842" cy="238693"/>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9AA9B8"/>
                </a:solidFill>
                <a:latin typeface="JetBrains Mono" pitchFamily="49" charset="0"/>
                <a:ea typeface="JetBrains Mono" pitchFamily="49" charset="-122"/>
                <a:cs typeface="JetBrains Mono" pitchFamily="49" charset="-120"/>
              </a:rPr>
              <a:t>01_parallelization.py · ParallelContentGenerator.run</a:t>
            </a:r>
            <a:endParaRPr lang="en-US" sz="1200" dirty="0"/>
          </a:p>
        </p:txBody>
      </p:sp>
      <p:sp>
        <p:nvSpPr>
          <p:cNvPr id="18" name="Text 16"/>
          <p:cNvSpPr/>
          <p:nvPr/>
        </p:nvSpPr>
        <p:spPr>
          <a:xfrm>
            <a:off x="5105364" y="2115610"/>
            <a:ext cx="6278842" cy="231098"/>
          </a:xfrm>
          <a:prstGeom prst="rect">
            <a:avLst/>
          </a:prstGeom>
          <a:noFill/>
          <a:ln/>
        </p:spPr>
        <p:txBody>
          <a:bodyPr wrap="none" lIns="0" tIns="0" rIns="0" bIns="0" rtlCol="0" anchor="t">
            <a:normAutofit/>
          </a:bodyPr>
          <a:lstStyle/>
          <a:p>
            <a:pPr marL="0" indent="0" algn="l">
              <a:lnSpc>
                <a:spcPts val="1620"/>
              </a:lnSpc>
              <a:buNone/>
            </a:pPr>
            <a:r>
              <a:rPr lang="en-US" sz="1200" dirty="0">
                <a:solidFill>
                  <a:srgbClr val="7C8FA3"/>
                </a:solidFill>
                <a:latin typeface="JetBrains Mono" pitchFamily="49" charset="0"/>
                <a:ea typeface="JetBrains Mono" pitchFamily="49" charset="-122"/>
                <a:cs typeface="JetBrains Mono" pitchFamily="49" charset="-120"/>
              </a:rPr>
              <a:t>129</a:t>
            </a:r>
            <a:r>
              <a:rPr lang="en-US" sz="1200" dirty="0">
                <a:solidFill>
                  <a:srgbClr val="D6DDE5"/>
                </a:solidFill>
                <a:latin typeface="JetBrains Mono" pitchFamily="49" charset="0"/>
                <a:ea typeface="JetBrains Mono" pitchFamily="49" charset="-122"/>
                <a:cs typeface="JetBrains Mono" pitchFamily="49" charset="-120"/>
              </a:rPr>
              <a:t> </a:t>
            </a:r>
            <a:r>
              <a:rPr lang="en-US" sz="1200" dirty="0">
                <a:solidFill>
                  <a:srgbClr val="8798AA"/>
                </a:solidFill>
                <a:latin typeface="JetBrains Mono" pitchFamily="49" charset="0"/>
                <a:ea typeface="JetBrains Mono" pitchFamily="49" charset="-122"/>
                <a:cs typeface="JetBrains Mono" pitchFamily="49" charset="-120"/>
              </a:rPr>
              <a:t># Fan-out: run all writers concurrently</a:t>
            </a:r>
            <a:endParaRPr lang="en-US" sz="1200" dirty="0"/>
          </a:p>
        </p:txBody>
      </p:sp>
      <p:sp>
        <p:nvSpPr>
          <p:cNvPr id="19" name="Text 17"/>
          <p:cNvSpPr/>
          <p:nvPr/>
        </p:nvSpPr>
        <p:spPr>
          <a:xfrm>
            <a:off x="4927564" y="2321309"/>
            <a:ext cx="6451564" cy="205698"/>
          </a:xfrm>
          <a:prstGeom prst="rect">
            <a:avLst/>
          </a:prstGeom>
          <a:solidFill>
            <a:srgbClr val="3A2B20"/>
          </a:solidFill>
          <a:ln/>
        </p:spPr>
        <p:txBody>
          <a:bodyPr wrap="none" lIns="177223" tIns="0" rIns="0" bIns="0" rtlCol="0" anchor="t">
            <a:normAutofit/>
          </a:bodyPr>
          <a:lstStyle/>
          <a:p>
            <a:pPr marL="0" indent="0" algn="l">
              <a:lnSpc>
                <a:spcPts val="1620"/>
              </a:lnSpc>
              <a:buNone/>
            </a:pPr>
            <a:r>
              <a:rPr lang="en-US" sz="1200" dirty="0">
                <a:solidFill>
                  <a:srgbClr val="7C8FA3"/>
                </a:solidFill>
                <a:latin typeface="JetBrains Mono" pitchFamily="49" charset="0"/>
                <a:ea typeface="JetBrains Mono" pitchFamily="49" charset="-122"/>
                <a:cs typeface="JetBrains Mono" pitchFamily="49" charset="-120"/>
              </a:rPr>
              <a:t>131</a:t>
            </a:r>
            <a:r>
              <a:rPr lang="en-US" sz="1200" dirty="0">
                <a:solidFill>
                  <a:srgbClr val="D6DDE5"/>
                </a:solidFill>
                <a:latin typeface="JetBrains Mono" pitchFamily="49" charset="0"/>
                <a:ea typeface="JetBrains Mono" pitchFamily="49" charset="-122"/>
                <a:cs typeface="JetBrains Mono" pitchFamily="49" charset="-120"/>
              </a:rPr>
              <a:t> writers = { </a:t>
            </a:r>
            <a:r>
              <a:rPr lang="en-US" sz="1200" b="1" dirty="0">
                <a:solidFill>
                  <a:srgbClr val="F2A46B"/>
                </a:solidFill>
                <a:latin typeface="JetBrains Mono" pitchFamily="49" charset="0"/>
                <a:ea typeface="JetBrains Mono" pitchFamily="49" charset="-122"/>
                <a:cs typeface="JetBrains Mono" pitchFamily="49" charset="-120"/>
              </a:rPr>
              <a:t>← 1</a:t>
            </a:r>
            <a:endParaRPr lang="en-US" sz="1200" dirty="0"/>
          </a:p>
        </p:txBody>
      </p:sp>
      <p:sp>
        <p:nvSpPr>
          <p:cNvPr id="20" name="Shape 18"/>
          <p:cNvSpPr/>
          <p:nvPr/>
        </p:nvSpPr>
        <p:spPr>
          <a:xfrm>
            <a:off x="4946614" y="2321309"/>
            <a:ext cx="0" cy="205698"/>
          </a:xfrm>
          <a:prstGeom prst="line">
            <a:avLst/>
          </a:prstGeom>
          <a:noFill/>
          <a:ln w="38100">
            <a:solidFill>
              <a:srgbClr val="E8843F"/>
            </a:solidFill>
            <a:prstDash val="solid"/>
          </a:ln>
        </p:spPr>
        <p:txBody>
          <a:bodyPr/>
          <a:lstStyle/>
          <a:p>
            <a:endParaRPr lang="en-CN"/>
          </a:p>
        </p:txBody>
      </p:sp>
      <p:sp>
        <p:nvSpPr>
          <p:cNvPr id="21" name="Text 19"/>
          <p:cNvSpPr/>
          <p:nvPr/>
        </p:nvSpPr>
        <p:spPr>
          <a:xfrm>
            <a:off x="4927564" y="2527009"/>
            <a:ext cx="6451564" cy="205698"/>
          </a:xfrm>
          <a:prstGeom prst="rect">
            <a:avLst/>
          </a:prstGeom>
          <a:solidFill>
            <a:srgbClr val="3A2B20"/>
          </a:solidFill>
          <a:ln/>
        </p:spPr>
        <p:txBody>
          <a:bodyPr wrap="none" lIns="177223" tIns="0" rIns="0" bIns="0" rtlCol="0" anchor="t">
            <a:normAutofit/>
          </a:bodyPr>
          <a:lstStyle/>
          <a:p>
            <a:pPr marL="0" indent="0" algn="l">
              <a:lnSpc>
                <a:spcPts val="1620"/>
              </a:lnSpc>
              <a:buNone/>
            </a:pPr>
            <a:r>
              <a:rPr lang="en-US" sz="1200" dirty="0">
                <a:solidFill>
                  <a:srgbClr val="7C8FA3"/>
                </a:solidFill>
                <a:latin typeface="JetBrains Mono" pitchFamily="49" charset="0"/>
                <a:ea typeface="JetBrains Mono" pitchFamily="49" charset="-122"/>
                <a:cs typeface="JetBrains Mono" pitchFamily="49" charset="-120"/>
              </a:rPr>
              <a:t>132</a:t>
            </a:r>
            <a:r>
              <a:rPr lang="en-US" sz="1200" dirty="0">
                <a:solidFill>
                  <a:srgbClr val="D6DDE5"/>
                </a:solidFill>
                <a:latin typeface="JetBrains Mono" pitchFamily="49" charset="0"/>
                <a:ea typeface="JetBrains Mono" pitchFamily="49" charset="-122"/>
                <a:cs typeface="JetBrains Mono" pitchFamily="49" charset="-120"/>
              </a:rPr>
              <a:t>   "linkedin": self._write_linkedin,</a:t>
            </a:r>
            <a:endParaRPr lang="en-US" sz="1200" dirty="0"/>
          </a:p>
        </p:txBody>
      </p:sp>
      <p:sp>
        <p:nvSpPr>
          <p:cNvPr id="22" name="Shape 20"/>
          <p:cNvSpPr/>
          <p:nvPr/>
        </p:nvSpPr>
        <p:spPr>
          <a:xfrm>
            <a:off x="4946614" y="2527009"/>
            <a:ext cx="0" cy="205698"/>
          </a:xfrm>
          <a:prstGeom prst="line">
            <a:avLst/>
          </a:prstGeom>
          <a:noFill/>
          <a:ln w="38100">
            <a:solidFill>
              <a:srgbClr val="E8843F"/>
            </a:solidFill>
            <a:prstDash val="solid"/>
          </a:ln>
        </p:spPr>
        <p:txBody>
          <a:bodyPr/>
          <a:lstStyle/>
          <a:p>
            <a:endParaRPr lang="en-CN"/>
          </a:p>
        </p:txBody>
      </p:sp>
      <p:sp>
        <p:nvSpPr>
          <p:cNvPr id="23" name="Text 21"/>
          <p:cNvSpPr/>
          <p:nvPr/>
        </p:nvSpPr>
        <p:spPr>
          <a:xfrm>
            <a:off x="4927564" y="2732708"/>
            <a:ext cx="6451564" cy="205698"/>
          </a:xfrm>
          <a:prstGeom prst="rect">
            <a:avLst/>
          </a:prstGeom>
          <a:solidFill>
            <a:srgbClr val="3A2B20"/>
          </a:solidFill>
          <a:ln/>
        </p:spPr>
        <p:txBody>
          <a:bodyPr wrap="none" lIns="177223" tIns="0" rIns="0" bIns="0" rtlCol="0" anchor="t">
            <a:normAutofit/>
          </a:bodyPr>
          <a:lstStyle/>
          <a:p>
            <a:pPr marL="0" indent="0" algn="l">
              <a:lnSpc>
                <a:spcPts val="1620"/>
              </a:lnSpc>
              <a:buNone/>
            </a:pPr>
            <a:r>
              <a:rPr lang="en-US" sz="1200" dirty="0">
                <a:solidFill>
                  <a:srgbClr val="7C8FA3"/>
                </a:solidFill>
                <a:latin typeface="JetBrains Mono" pitchFamily="49" charset="0"/>
                <a:ea typeface="JetBrains Mono" pitchFamily="49" charset="-122"/>
                <a:cs typeface="JetBrains Mono" pitchFamily="49" charset="-120"/>
              </a:rPr>
              <a:t>133</a:t>
            </a:r>
            <a:r>
              <a:rPr lang="en-US" sz="1200" dirty="0">
                <a:solidFill>
                  <a:srgbClr val="D6DDE5"/>
                </a:solidFill>
                <a:latin typeface="JetBrains Mono" pitchFamily="49" charset="0"/>
                <a:ea typeface="JetBrains Mono" pitchFamily="49" charset="-122"/>
                <a:cs typeface="JetBrains Mono" pitchFamily="49" charset="-120"/>
              </a:rPr>
              <a:t>   "twitter": self._write_twitter,</a:t>
            </a:r>
            <a:endParaRPr lang="en-US" sz="1200" dirty="0"/>
          </a:p>
        </p:txBody>
      </p:sp>
      <p:sp>
        <p:nvSpPr>
          <p:cNvPr id="24" name="Shape 22"/>
          <p:cNvSpPr/>
          <p:nvPr/>
        </p:nvSpPr>
        <p:spPr>
          <a:xfrm>
            <a:off x="4946614" y="2732708"/>
            <a:ext cx="0" cy="205698"/>
          </a:xfrm>
          <a:prstGeom prst="line">
            <a:avLst/>
          </a:prstGeom>
          <a:noFill/>
          <a:ln w="38100">
            <a:solidFill>
              <a:srgbClr val="E8843F"/>
            </a:solidFill>
            <a:prstDash val="solid"/>
          </a:ln>
        </p:spPr>
        <p:txBody>
          <a:bodyPr/>
          <a:lstStyle/>
          <a:p>
            <a:endParaRPr lang="en-CN"/>
          </a:p>
        </p:txBody>
      </p:sp>
      <p:sp>
        <p:nvSpPr>
          <p:cNvPr id="25" name="Text 23"/>
          <p:cNvSpPr/>
          <p:nvPr/>
        </p:nvSpPr>
        <p:spPr>
          <a:xfrm>
            <a:off x="4927564" y="2938407"/>
            <a:ext cx="6451564" cy="205698"/>
          </a:xfrm>
          <a:prstGeom prst="rect">
            <a:avLst/>
          </a:prstGeom>
          <a:solidFill>
            <a:srgbClr val="3A2B20"/>
          </a:solidFill>
          <a:ln/>
        </p:spPr>
        <p:txBody>
          <a:bodyPr wrap="none" lIns="177223" tIns="0" rIns="0" bIns="0" rtlCol="0" anchor="t">
            <a:normAutofit/>
          </a:bodyPr>
          <a:lstStyle/>
          <a:p>
            <a:pPr marL="0" indent="0" algn="l">
              <a:lnSpc>
                <a:spcPts val="1620"/>
              </a:lnSpc>
              <a:buNone/>
            </a:pPr>
            <a:r>
              <a:rPr lang="en-US" sz="1200" dirty="0">
                <a:solidFill>
                  <a:srgbClr val="7C8FA3"/>
                </a:solidFill>
                <a:latin typeface="JetBrains Mono" pitchFamily="49" charset="0"/>
                <a:ea typeface="JetBrains Mono" pitchFamily="49" charset="-122"/>
                <a:cs typeface="JetBrains Mono" pitchFamily="49" charset="-120"/>
              </a:rPr>
              <a:t>134</a:t>
            </a:r>
            <a:r>
              <a:rPr lang="en-US" sz="1200" dirty="0">
                <a:solidFill>
                  <a:srgbClr val="D6DDE5"/>
                </a:solidFill>
                <a:latin typeface="JetBrains Mono" pitchFamily="49" charset="0"/>
                <a:ea typeface="JetBrains Mono" pitchFamily="49" charset="-122"/>
                <a:cs typeface="JetBrains Mono" pitchFamily="49" charset="-120"/>
              </a:rPr>
              <a:t>   "newsletter": self._write_newsletter}</a:t>
            </a:r>
            <a:endParaRPr lang="en-US" sz="1200" dirty="0"/>
          </a:p>
        </p:txBody>
      </p:sp>
      <p:sp>
        <p:nvSpPr>
          <p:cNvPr id="26" name="Shape 24"/>
          <p:cNvSpPr/>
          <p:nvPr/>
        </p:nvSpPr>
        <p:spPr>
          <a:xfrm>
            <a:off x="4946614" y="2938407"/>
            <a:ext cx="0" cy="205698"/>
          </a:xfrm>
          <a:prstGeom prst="line">
            <a:avLst/>
          </a:prstGeom>
          <a:noFill/>
          <a:ln w="38100">
            <a:solidFill>
              <a:srgbClr val="E8843F"/>
            </a:solidFill>
            <a:prstDash val="solid"/>
          </a:ln>
        </p:spPr>
        <p:txBody>
          <a:bodyPr/>
          <a:lstStyle/>
          <a:p>
            <a:endParaRPr lang="en-CN"/>
          </a:p>
        </p:txBody>
      </p:sp>
      <p:sp>
        <p:nvSpPr>
          <p:cNvPr id="27" name="Text 25"/>
          <p:cNvSpPr/>
          <p:nvPr/>
        </p:nvSpPr>
        <p:spPr>
          <a:xfrm>
            <a:off x="4927564" y="3144106"/>
            <a:ext cx="6451564" cy="205698"/>
          </a:xfrm>
          <a:prstGeom prst="rect">
            <a:avLst/>
          </a:prstGeom>
          <a:solidFill>
            <a:srgbClr val="3A2B20"/>
          </a:solidFill>
          <a:ln/>
        </p:spPr>
        <p:txBody>
          <a:bodyPr wrap="none" lIns="177223" tIns="0" rIns="0" bIns="0" rtlCol="0" anchor="t">
            <a:normAutofit/>
          </a:bodyPr>
          <a:lstStyle/>
          <a:p>
            <a:pPr marL="0" indent="0" algn="l">
              <a:lnSpc>
                <a:spcPts val="1620"/>
              </a:lnSpc>
              <a:buNone/>
            </a:pPr>
            <a:r>
              <a:rPr lang="en-US" sz="1200" dirty="0">
                <a:solidFill>
                  <a:srgbClr val="7C8FA3"/>
                </a:solidFill>
                <a:latin typeface="JetBrains Mono" pitchFamily="49" charset="0"/>
                <a:ea typeface="JetBrains Mono" pitchFamily="49" charset="-122"/>
                <a:cs typeface="JetBrains Mono" pitchFamily="49" charset="-120"/>
              </a:rPr>
              <a:t>137</a:t>
            </a:r>
            <a:r>
              <a:rPr lang="en-US" sz="1200" dirty="0">
                <a:solidFill>
                  <a:srgbClr val="D6DDE5"/>
                </a:solidFill>
                <a:latin typeface="JetBrains Mono" pitchFamily="49" charset="0"/>
                <a:ea typeface="JetBrains Mono" pitchFamily="49" charset="-122"/>
                <a:cs typeface="JetBrains Mono" pitchFamily="49" charset="-120"/>
              </a:rPr>
              <a:t> with ThreadPoolExecutor(max_workers=3) as executor: </a:t>
            </a:r>
            <a:r>
              <a:rPr lang="en-US" sz="1200" b="1" dirty="0">
                <a:solidFill>
                  <a:srgbClr val="F2A46B"/>
                </a:solidFill>
                <a:latin typeface="JetBrains Mono" pitchFamily="49" charset="0"/>
                <a:ea typeface="JetBrains Mono" pitchFamily="49" charset="-122"/>
                <a:cs typeface="JetBrains Mono" pitchFamily="49" charset="-120"/>
              </a:rPr>
              <a:t>← 2</a:t>
            </a:r>
            <a:endParaRPr lang="en-US" sz="1200" dirty="0"/>
          </a:p>
        </p:txBody>
      </p:sp>
      <p:sp>
        <p:nvSpPr>
          <p:cNvPr id="28" name="Shape 26"/>
          <p:cNvSpPr/>
          <p:nvPr/>
        </p:nvSpPr>
        <p:spPr>
          <a:xfrm>
            <a:off x="4946614" y="3144106"/>
            <a:ext cx="0" cy="205698"/>
          </a:xfrm>
          <a:prstGeom prst="line">
            <a:avLst/>
          </a:prstGeom>
          <a:noFill/>
          <a:ln w="38100">
            <a:solidFill>
              <a:srgbClr val="E8843F"/>
            </a:solidFill>
            <a:prstDash val="solid"/>
          </a:ln>
        </p:spPr>
        <p:txBody>
          <a:bodyPr/>
          <a:lstStyle/>
          <a:p>
            <a:endParaRPr lang="en-CN"/>
          </a:p>
        </p:txBody>
      </p:sp>
      <p:sp>
        <p:nvSpPr>
          <p:cNvPr id="29" name="Text 27"/>
          <p:cNvSpPr/>
          <p:nvPr/>
        </p:nvSpPr>
        <p:spPr>
          <a:xfrm>
            <a:off x="4927564" y="3349805"/>
            <a:ext cx="6451564" cy="205698"/>
          </a:xfrm>
          <a:prstGeom prst="rect">
            <a:avLst/>
          </a:prstGeom>
          <a:solidFill>
            <a:srgbClr val="3A2B20"/>
          </a:solidFill>
          <a:ln/>
        </p:spPr>
        <p:txBody>
          <a:bodyPr wrap="none" lIns="177223" tIns="0" rIns="0" bIns="0" rtlCol="0" anchor="t">
            <a:normAutofit/>
          </a:bodyPr>
          <a:lstStyle/>
          <a:p>
            <a:pPr marL="0" indent="0" algn="l">
              <a:lnSpc>
                <a:spcPts val="1620"/>
              </a:lnSpc>
              <a:buNone/>
            </a:pPr>
            <a:r>
              <a:rPr lang="en-US" sz="1200" dirty="0">
                <a:solidFill>
                  <a:srgbClr val="7C8FA3"/>
                </a:solidFill>
                <a:latin typeface="JetBrains Mono" pitchFamily="49" charset="0"/>
                <a:ea typeface="JetBrains Mono" pitchFamily="49" charset="-122"/>
                <a:cs typeface="JetBrains Mono" pitchFamily="49" charset="-120"/>
              </a:rPr>
              <a:t>138</a:t>
            </a:r>
            <a:r>
              <a:rPr lang="en-US" sz="1200" dirty="0">
                <a:solidFill>
                  <a:srgbClr val="D6DDE5"/>
                </a:solidFill>
                <a:latin typeface="JetBrains Mono" pitchFamily="49" charset="0"/>
                <a:ea typeface="JetBrains Mono" pitchFamily="49" charset="-122"/>
                <a:cs typeface="JetBrains Mono" pitchFamily="49" charset="-120"/>
              </a:rPr>
              <a:t>   futures = {executor.submit(fn, blog_post): name</a:t>
            </a:r>
            <a:endParaRPr lang="en-US" sz="1200" dirty="0"/>
          </a:p>
        </p:txBody>
      </p:sp>
      <p:sp>
        <p:nvSpPr>
          <p:cNvPr id="30" name="Shape 28"/>
          <p:cNvSpPr/>
          <p:nvPr/>
        </p:nvSpPr>
        <p:spPr>
          <a:xfrm>
            <a:off x="4946614" y="3349805"/>
            <a:ext cx="0" cy="205698"/>
          </a:xfrm>
          <a:prstGeom prst="line">
            <a:avLst/>
          </a:prstGeom>
          <a:noFill/>
          <a:ln w="38100">
            <a:solidFill>
              <a:srgbClr val="E8843F"/>
            </a:solidFill>
            <a:prstDash val="solid"/>
          </a:ln>
        </p:spPr>
        <p:txBody>
          <a:bodyPr/>
          <a:lstStyle/>
          <a:p>
            <a:endParaRPr lang="en-CN"/>
          </a:p>
        </p:txBody>
      </p:sp>
      <p:sp>
        <p:nvSpPr>
          <p:cNvPr id="31" name="Text 29"/>
          <p:cNvSpPr/>
          <p:nvPr/>
        </p:nvSpPr>
        <p:spPr>
          <a:xfrm>
            <a:off x="4927564" y="3555504"/>
            <a:ext cx="6451564" cy="205698"/>
          </a:xfrm>
          <a:prstGeom prst="rect">
            <a:avLst/>
          </a:prstGeom>
          <a:solidFill>
            <a:srgbClr val="3A2B20"/>
          </a:solidFill>
          <a:ln/>
        </p:spPr>
        <p:txBody>
          <a:bodyPr wrap="none" lIns="177223" tIns="0" rIns="0" bIns="0" rtlCol="0" anchor="t">
            <a:normAutofit/>
          </a:bodyPr>
          <a:lstStyle/>
          <a:p>
            <a:pPr marL="0" indent="0" algn="l">
              <a:lnSpc>
                <a:spcPts val="1620"/>
              </a:lnSpc>
              <a:buNone/>
            </a:pPr>
            <a:r>
              <a:rPr lang="en-US" sz="1200" dirty="0">
                <a:solidFill>
                  <a:srgbClr val="7C8FA3"/>
                </a:solidFill>
                <a:latin typeface="JetBrains Mono" pitchFamily="49" charset="0"/>
                <a:ea typeface="JetBrains Mono" pitchFamily="49" charset="-122"/>
                <a:cs typeface="JetBrains Mono" pitchFamily="49" charset="-120"/>
              </a:rPr>
              <a:t>   </a:t>
            </a:r>
            <a:r>
              <a:rPr lang="en-US" sz="1200" dirty="0">
                <a:solidFill>
                  <a:srgbClr val="D6DDE5"/>
                </a:solidFill>
                <a:latin typeface="JetBrains Mono" pitchFamily="49" charset="0"/>
                <a:ea typeface="JetBrains Mono" pitchFamily="49" charset="-122"/>
                <a:cs typeface="JetBrains Mono" pitchFamily="49" charset="-120"/>
              </a:rPr>
              <a:t>       for name, fn in writers.items()}</a:t>
            </a:r>
            <a:endParaRPr lang="en-US" sz="1200" dirty="0"/>
          </a:p>
        </p:txBody>
      </p:sp>
      <p:sp>
        <p:nvSpPr>
          <p:cNvPr id="32" name="Shape 30"/>
          <p:cNvSpPr/>
          <p:nvPr/>
        </p:nvSpPr>
        <p:spPr>
          <a:xfrm>
            <a:off x="4946614" y="3555504"/>
            <a:ext cx="0" cy="205698"/>
          </a:xfrm>
          <a:prstGeom prst="line">
            <a:avLst/>
          </a:prstGeom>
          <a:noFill/>
          <a:ln w="38100">
            <a:solidFill>
              <a:srgbClr val="E8843F"/>
            </a:solidFill>
            <a:prstDash val="solid"/>
          </a:ln>
        </p:spPr>
        <p:txBody>
          <a:bodyPr/>
          <a:lstStyle/>
          <a:p>
            <a:endParaRPr lang="en-CN"/>
          </a:p>
        </p:txBody>
      </p:sp>
      <p:sp>
        <p:nvSpPr>
          <p:cNvPr id="33" name="Text 31"/>
          <p:cNvSpPr/>
          <p:nvPr/>
        </p:nvSpPr>
        <p:spPr>
          <a:xfrm>
            <a:off x="4927564" y="3761197"/>
            <a:ext cx="6451564" cy="205698"/>
          </a:xfrm>
          <a:prstGeom prst="rect">
            <a:avLst/>
          </a:prstGeom>
          <a:solidFill>
            <a:srgbClr val="3A2B20"/>
          </a:solidFill>
          <a:ln/>
        </p:spPr>
        <p:txBody>
          <a:bodyPr wrap="none" lIns="177223" tIns="0" rIns="0" bIns="0" rtlCol="0" anchor="t">
            <a:normAutofit/>
          </a:bodyPr>
          <a:lstStyle/>
          <a:p>
            <a:pPr marL="0" indent="0" algn="l">
              <a:lnSpc>
                <a:spcPts val="1620"/>
              </a:lnSpc>
              <a:buNone/>
            </a:pPr>
            <a:r>
              <a:rPr lang="en-US" sz="1200" dirty="0">
                <a:solidFill>
                  <a:srgbClr val="7C8FA3"/>
                </a:solidFill>
                <a:latin typeface="JetBrains Mono" pitchFamily="49" charset="0"/>
                <a:ea typeface="JetBrains Mono" pitchFamily="49" charset="-122"/>
                <a:cs typeface="JetBrains Mono" pitchFamily="49" charset="-120"/>
              </a:rPr>
              <a:t>139</a:t>
            </a:r>
            <a:r>
              <a:rPr lang="en-US" sz="1200" dirty="0">
                <a:solidFill>
                  <a:srgbClr val="D6DDE5"/>
                </a:solidFill>
                <a:latin typeface="JetBrains Mono" pitchFamily="49" charset="0"/>
                <a:ea typeface="JetBrains Mono" pitchFamily="49" charset="-122"/>
                <a:cs typeface="JetBrains Mono" pitchFamily="49" charset="-120"/>
              </a:rPr>
              <a:t>   for future in as_completed(futures): </a:t>
            </a:r>
            <a:r>
              <a:rPr lang="en-US" sz="1200" b="1" dirty="0">
                <a:solidFill>
                  <a:srgbClr val="F2A46B"/>
                </a:solidFill>
                <a:latin typeface="JetBrains Mono" pitchFamily="49" charset="0"/>
                <a:ea typeface="JetBrains Mono" pitchFamily="49" charset="-122"/>
                <a:cs typeface="JetBrains Mono" pitchFamily="49" charset="-120"/>
              </a:rPr>
              <a:t>← 3</a:t>
            </a:r>
            <a:endParaRPr lang="en-US" sz="1200" dirty="0"/>
          </a:p>
        </p:txBody>
      </p:sp>
      <p:sp>
        <p:nvSpPr>
          <p:cNvPr id="34" name="Shape 32"/>
          <p:cNvSpPr/>
          <p:nvPr/>
        </p:nvSpPr>
        <p:spPr>
          <a:xfrm>
            <a:off x="4946614" y="3761197"/>
            <a:ext cx="0" cy="205698"/>
          </a:xfrm>
          <a:prstGeom prst="line">
            <a:avLst/>
          </a:prstGeom>
          <a:noFill/>
          <a:ln w="38100">
            <a:solidFill>
              <a:srgbClr val="E8843F"/>
            </a:solidFill>
            <a:prstDash val="solid"/>
          </a:ln>
        </p:spPr>
        <p:txBody>
          <a:bodyPr/>
          <a:lstStyle/>
          <a:p>
            <a:endParaRPr lang="en-CN"/>
          </a:p>
        </p:txBody>
      </p:sp>
      <p:sp>
        <p:nvSpPr>
          <p:cNvPr id="35" name="Text 33"/>
          <p:cNvSpPr/>
          <p:nvPr/>
        </p:nvSpPr>
        <p:spPr>
          <a:xfrm>
            <a:off x="5105364" y="3966896"/>
            <a:ext cx="6278842" cy="231098"/>
          </a:xfrm>
          <a:prstGeom prst="rect">
            <a:avLst/>
          </a:prstGeom>
          <a:noFill/>
          <a:ln/>
        </p:spPr>
        <p:txBody>
          <a:bodyPr wrap="none" lIns="0" tIns="0" rIns="0" bIns="0" rtlCol="0" anchor="t">
            <a:normAutofit/>
          </a:bodyPr>
          <a:lstStyle/>
          <a:p>
            <a:pPr marL="0" indent="0" algn="l">
              <a:lnSpc>
                <a:spcPts val="1620"/>
              </a:lnSpc>
              <a:buNone/>
            </a:pPr>
            <a:r>
              <a:rPr lang="en-US" sz="1200" dirty="0">
                <a:solidFill>
                  <a:srgbClr val="7C8FA3"/>
                </a:solidFill>
                <a:latin typeface="JetBrains Mono" pitchFamily="49" charset="0"/>
                <a:ea typeface="JetBrains Mono" pitchFamily="49" charset="-122"/>
                <a:cs typeface="JetBrains Mono" pitchFamily="49" charset="-120"/>
              </a:rPr>
              <a:t>140</a:t>
            </a:r>
            <a:r>
              <a:rPr lang="en-US" sz="1200" dirty="0">
                <a:solidFill>
                  <a:srgbClr val="D6DDE5"/>
                </a:solidFill>
                <a:latin typeface="JetBrains Mono" pitchFamily="49" charset="0"/>
                <a:ea typeface="JetBrains Mono" pitchFamily="49" charset="-122"/>
                <a:cs typeface="JetBrains Mono" pitchFamily="49" charset="-120"/>
              </a:rPr>
              <a:t>     name = futures[future]</a:t>
            </a:r>
            <a:endParaRPr lang="en-US" sz="1200" dirty="0"/>
          </a:p>
        </p:txBody>
      </p:sp>
      <p:sp>
        <p:nvSpPr>
          <p:cNvPr id="36" name="Text 34"/>
          <p:cNvSpPr/>
          <p:nvPr/>
        </p:nvSpPr>
        <p:spPr>
          <a:xfrm>
            <a:off x="5105364" y="4172595"/>
            <a:ext cx="6278842" cy="231098"/>
          </a:xfrm>
          <a:prstGeom prst="rect">
            <a:avLst/>
          </a:prstGeom>
          <a:noFill/>
          <a:ln/>
        </p:spPr>
        <p:txBody>
          <a:bodyPr wrap="none" lIns="0" tIns="0" rIns="0" bIns="0" rtlCol="0" anchor="t">
            <a:normAutofit/>
          </a:bodyPr>
          <a:lstStyle/>
          <a:p>
            <a:pPr marL="0" indent="0" algn="l">
              <a:lnSpc>
                <a:spcPts val="1620"/>
              </a:lnSpc>
              <a:buNone/>
            </a:pPr>
            <a:r>
              <a:rPr lang="en-US" sz="1200" dirty="0">
                <a:solidFill>
                  <a:srgbClr val="7C8FA3"/>
                </a:solidFill>
                <a:latin typeface="JetBrains Mono" pitchFamily="49" charset="0"/>
                <a:ea typeface="JetBrains Mono" pitchFamily="49" charset="-122"/>
                <a:cs typeface="JetBrains Mono" pitchFamily="49" charset="-120"/>
              </a:rPr>
              <a:t>141</a:t>
            </a:r>
            <a:r>
              <a:rPr lang="en-US" sz="1200" dirty="0">
                <a:solidFill>
                  <a:srgbClr val="D6DDE5"/>
                </a:solidFill>
                <a:latin typeface="JetBrains Mono" pitchFamily="49" charset="0"/>
                <a:ea typeface="JetBrains Mono" pitchFamily="49" charset="-122"/>
                <a:cs typeface="JetBrains Mono" pitchFamily="49" charset="-120"/>
              </a:rPr>
              <a:t>     try:</a:t>
            </a:r>
            <a:endParaRPr lang="en-US" sz="1200" dirty="0"/>
          </a:p>
        </p:txBody>
      </p:sp>
      <p:sp>
        <p:nvSpPr>
          <p:cNvPr id="37" name="Text 35"/>
          <p:cNvSpPr/>
          <p:nvPr/>
        </p:nvSpPr>
        <p:spPr>
          <a:xfrm>
            <a:off x="5105364" y="4378294"/>
            <a:ext cx="6278842" cy="231098"/>
          </a:xfrm>
          <a:prstGeom prst="rect">
            <a:avLst/>
          </a:prstGeom>
          <a:noFill/>
          <a:ln/>
        </p:spPr>
        <p:txBody>
          <a:bodyPr wrap="none" lIns="0" tIns="0" rIns="0" bIns="0" rtlCol="0" anchor="t">
            <a:normAutofit/>
          </a:bodyPr>
          <a:lstStyle/>
          <a:p>
            <a:pPr marL="0" indent="0" algn="l">
              <a:lnSpc>
                <a:spcPts val="1620"/>
              </a:lnSpc>
              <a:buNone/>
            </a:pPr>
            <a:r>
              <a:rPr lang="en-US" sz="1200" dirty="0">
                <a:solidFill>
                  <a:srgbClr val="7C8FA3"/>
                </a:solidFill>
                <a:latin typeface="JetBrains Mono" pitchFamily="49" charset="0"/>
                <a:ea typeface="JetBrains Mono" pitchFamily="49" charset="-122"/>
                <a:cs typeface="JetBrains Mono" pitchFamily="49" charset="-120"/>
              </a:rPr>
              <a:t>142</a:t>
            </a:r>
            <a:r>
              <a:rPr lang="en-US" sz="1200" dirty="0">
                <a:solidFill>
                  <a:srgbClr val="D6DDE5"/>
                </a:solidFill>
                <a:latin typeface="JetBrains Mono" pitchFamily="49" charset="0"/>
                <a:ea typeface="JetBrains Mono" pitchFamily="49" charset="-122"/>
                <a:cs typeface="JetBrains Mono" pitchFamily="49" charset="-120"/>
              </a:rPr>
              <a:t>       results[name] = future.result()</a:t>
            </a:r>
            <a:endParaRPr lang="en-US" sz="1200" dirty="0"/>
          </a:p>
        </p:txBody>
      </p:sp>
      <p:sp>
        <p:nvSpPr>
          <p:cNvPr id="38" name="Text 36"/>
          <p:cNvSpPr/>
          <p:nvPr/>
        </p:nvSpPr>
        <p:spPr>
          <a:xfrm>
            <a:off x="5105364" y="4583993"/>
            <a:ext cx="6278842" cy="231098"/>
          </a:xfrm>
          <a:prstGeom prst="rect">
            <a:avLst/>
          </a:prstGeom>
          <a:noFill/>
          <a:ln/>
        </p:spPr>
        <p:txBody>
          <a:bodyPr wrap="none" lIns="0" tIns="0" rIns="0" bIns="0" rtlCol="0" anchor="t">
            <a:normAutofit/>
          </a:bodyPr>
          <a:lstStyle/>
          <a:p>
            <a:pPr marL="0" indent="0" algn="l">
              <a:lnSpc>
                <a:spcPts val="1620"/>
              </a:lnSpc>
              <a:buNone/>
            </a:pPr>
            <a:r>
              <a:rPr lang="en-US" sz="1200" dirty="0">
                <a:solidFill>
                  <a:srgbClr val="7C8FA3"/>
                </a:solidFill>
                <a:latin typeface="JetBrains Mono" pitchFamily="49" charset="0"/>
                <a:ea typeface="JetBrains Mono" pitchFamily="49" charset="-122"/>
                <a:cs typeface="JetBrains Mono" pitchFamily="49" charset="-120"/>
              </a:rPr>
              <a:t>143</a:t>
            </a:r>
            <a:r>
              <a:rPr lang="en-US" sz="1200" dirty="0">
                <a:solidFill>
                  <a:srgbClr val="D6DDE5"/>
                </a:solidFill>
                <a:latin typeface="JetBrains Mono" pitchFamily="49" charset="0"/>
                <a:ea typeface="JetBrains Mono" pitchFamily="49" charset="-122"/>
                <a:cs typeface="JetBrains Mono" pitchFamily="49" charset="-120"/>
              </a:rPr>
              <a:t>       self._notify("writer_complete", {"name": name})</a:t>
            </a:r>
            <a:endParaRPr lang="en-US" sz="1200" dirty="0"/>
          </a:p>
        </p:txBody>
      </p:sp>
      <p:sp>
        <p:nvSpPr>
          <p:cNvPr id="39" name="Text 37"/>
          <p:cNvSpPr/>
          <p:nvPr/>
        </p:nvSpPr>
        <p:spPr>
          <a:xfrm>
            <a:off x="4927564" y="4789692"/>
            <a:ext cx="6451564" cy="205698"/>
          </a:xfrm>
          <a:prstGeom prst="rect">
            <a:avLst/>
          </a:prstGeom>
          <a:solidFill>
            <a:srgbClr val="3A2B20"/>
          </a:solidFill>
          <a:ln/>
        </p:spPr>
        <p:txBody>
          <a:bodyPr wrap="none" lIns="177223" tIns="0" rIns="0" bIns="0" rtlCol="0" anchor="t">
            <a:normAutofit/>
          </a:bodyPr>
          <a:lstStyle/>
          <a:p>
            <a:pPr marL="0" indent="0" algn="l">
              <a:lnSpc>
                <a:spcPts val="1620"/>
              </a:lnSpc>
              <a:buNone/>
            </a:pPr>
            <a:r>
              <a:rPr lang="en-US" sz="1200" dirty="0">
                <a:solidFill>
                  <a:srgbClr val="7C8FA3"/>
                </a:solidFill>
                <a:latin typeface="JetBrains Mono" pitchFamily="49" charset="0"/>
                <a:ea typeface="JetBrains Mono" pitchFamily="49" charset="-122"/>
                <a:cs typeface="JetBrains Mono" pitchFamily="49" charset="-120"/>
              </a:rPr>
              <a:t>144</a:t>
            </a:r>
            <a:r>
              <a:rPr lang="en-US" sz="1200" dirty="0">
                <a:solidFill>
                  <a:srgbClr val="D6DDE5"/>
                </a:solidFill>
                <a:latin typeface="JetBrains Mono" pitchFamily="49" charset="0"/>
                <a:ea typeface="JetBrains Mono" pitchFamily="49" charset="-122"/>
                <a:cs typeface="JetBrains Mono" pitchFamily="49" charset="-120"/>
              </a:rPr>
              <a:t>     except Exception as e: </a:t>
            </a:r>
            <a:r>
              <a:rPr lang="en-US" sz="1200" b="1" dirty="0">
                <a:solidFill>
                  <a:srgbClr val="F2A46B"/>
                </a:solidFill>
                <a:latin typeface="JetBrains Mono" pitchFamily="49" charset="0"/>
                <a:ea typeface="JetBrains Mono" pitchFamily="49" charset="-122"/>
                <a:cs typeface="JetBrains Mono" pitchFamily="49" charset="-120"/>
              </a:rPr>
              <a:t>← 4</a:t>
            </a:r>
            <a:endParaRPr lang="en-US" sz="1200" dirty="0"/>
          </a:p>
        </p:txBody>
      </p:sp>
      <p:sp>
        <p:nvSpPr>
          <p:cNvPr id="40" name="Shape 38"/>
          <p:cNvSpPr/>
          <p:nvPr/>
        </p:nvSpPr>
        <p:spPr>
          <a:xfrm>
            <a:off x="4946614" y="4789692"/>
            <a:ext cx="0" cy="205698"/>
          </a:xfrm>
          <a:prstGeom prst="line">
            <a:avLst/>
          </a:prstGeom>
          <a:noFill/>
          <a:ln w="38100">
            <a:solidFill>
              <a:srgbClr val="E8843F"/>
            </a:solidFill>
            <a:prstDash val="solid"/>
          </a:ln>
        </p:spPr>
        <p:txBody>
          <a:bodyPr/>
          <a:lstStyle/>
          <a:p>
            <a:endParaRPr lang="en-CN"/>
          </a:p>
        </p:txBody>
      </p:sp>
      <p:sp>
        <p:nvSpPr>
          <p:cNvPr id="41" name="Text 39"/>
          <p:cNvSpPr/>
          <p:nvPr/>
        </p:nvSpPr>
        <p:spPr>
          <a:xfrm>
            <a:off x="4927564" y="4995391"/>
            <a:ext cx="6451564" cy="205698"/>
          </a:xfrm>
          <a:prstGeom prst="rect">
            <a:avLst/>
          </a:prstGeom>
          <a:solidFill>
            <a:srgbClr val="3A2B20"/>
          </a:solidFill>
          <a:ln/>
        </p:spPr>
        <p:txBody>
          <a:bodyPr wrap="none" lIns="177223" tIns="0" rIns="0" bIns="0" rtlCol="0" anchor="t">
            <a:normAutofit/>
          </a:bodyPr>
          <a:lstStyle/>
          <a:p>
            <a:pPr marL="0" indent="0" algn="l">
              <a:lnSpc>
                <a:spcPts val="1620"/>
              </a:lnSpc>
              <a:buNone/>
            </a:pPr>
            <a:r>
              <a:rPr lang="en-US" sz="1200" dirty="0">
                <a:solidFill>
                  <a:srgbClr val="7C8FA3"/>
                </a:solidFill>
                <a:latin typeface="JetBrains Mono" pitchFamily="49" charset="0"/>
                <a:ea typeface="JetBrains Mono" pitchFamily="49" charset="-122"/>
                <a:cs typeface="JetBrains Mono" pitchFamily="49" charset="-120"/>
              </a:rPr>
              <a:t>146</a:t>
            </a:r>
            <a:r>
              <a:rPr lang="en-US" sz="1200" dirty="0">
                <a:solidFill>
                  <a:srgbClr val="D6DDE5"/>
                </a:solidFill>
                <a:latin typeface="JetBrains Mono" pitchFamily="49" charset="0"/>
                <a:ea typeface="JetBrains Mono" pitchFamily="49" charset="-122"/>
                <a:cs typeface="JetBrains Mono" pitchFamily="49" charset="-120"/>
              </a:rPr>
              <a:t>       results[name] = f"Error: {e}"</a:t>
            </a:r>
            <a:endParaRPr lang="en-US" sz="1200" dirty="0"/>
          </a:p>
        </p:txBody>
      </p:sp>
      <p:sp>
        <p:nvSpPr>
          <p:cNvPr id="42" name="Shape 40"/>
          <p:cNvSpPr/>
          <p:nvPr/>
        </p:nvSpPr>
        <p:spPr>
          <a:xfrm>
            <a:off x="4946614" y="4995391"/>
            <a:ext cx="0" cy="205698"/>
          </a:xfrm>
          <a:prstGeom prst="line">
            <a:avLst/>
          </a:prstGeom>
          <a:noFill/>
          <a:ln w="38100">
            <a:solidFill>
              <a:srgbClr val="E8843F"/>
            </a:solidFill>
            <a:prstDash val="solid"/>
          </a:ln>
        </p:spPr>
        <p:txBody>
          <a:bodyPr/>
          <a:lstStyle/>
          <a:p>
            <a:endParaRPr lang="en-CN"/>
          </a:p>
        </p:txBody>
      </p:sp>
      <p:sp>
        <p:nvSpPr>
          <p:cNvPr id="43" name="Text 41"/>
          <p:cNvSpPr/>
          <p:nvPr/>
        </p:nvSpPr>
        <p:spPr>
          <a:xfrm>
            <a:off x="812782" y="6238286"/>
            <a:ext cx="967994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7684"/>
                </a:solidFill>
                <a:latin typeface="IBM Plex Sans" pitchFamily="34" charset="0"/>
                <a:ea typeface="IBM Plex Sans" pitchFamily="34" charset="-122"/>
                <a:cs typeface="IBM Plex Sans" pitchFamily="34" charset="-120"/>
              </a:rPr>
              <a:t>03-parallelization/01_parallelization.py L129–147 · method indentation removed</a:t>
            </a:r>
            <a:endParaRPr lang="en-US" sz="1200" dirty="0"/>
          </a:p>
        </p:txBody>
      </p:sp>
      <p:sp>
        <p:nvSpPr>
          <p:cNvPr id="44" name="Text 42"/>
          <p:cNvSpPr/>
          <p:nvPr/>
        </p:nvSpPr>
        <p:spPr>
          <a:xfrm>
            <a:off x="10312418" y="6238286"/>
            <a:ext cx="1066800" cy="238720"/>
          </a:xfrm>
          <a:prstGeom prst="rect">
            <a:avLst/>
          </a:prstGeom>
          <a:noFill/>
          <a:ln/>
        </p:spPr>
        <p:txBody>
          <a:bodyPr wrap="square" lIns="0" tIns="0" rIns="0" bIns="0" rtlCol="0" anchor="t">
            <a:normAutofit/>
          </a:bodyPr>
          <a:lstStyle/>
          <a:p>
            <a:pPr marL="0" indent="0" algn="r">
              <a:lnSpc>
                <a:spcPts val="1680"/>
              </a:lnSpc>
              <a:buNone/>
            </a:pPr>
            <a:r>
              <a:rPr lang="en-US" sz="1200" b="1" dirty="0">
                <a:solidFill>
                  <a:srgbClr val="6A7684"/>
                </a:solidFill>
                <a:latin typeface="IBM Plex Sans" pitchFamily="34" charset="0"/>
                <a:ea typeface="IBM Plex Sans" pitchFamily="34" charset="-122"/>
                <a:cs typeface="IBM Plex Sans" pitchFamily="34" charset="-120"/>
              </a:rPr>
              <a:t>11 / 27</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2EC"/>
        </a:solidFill>
        <a:effectLst/>
      </p:bgPr>
    </p:bg>
    <p:spTree>
      <p:nvGrpSpPr>
        <p:cNvPr id="1" name=""/>
        <p:cNvGrpSpPr/>
        <p:nvPr/>
      </p:nvGrpSpPr>
      <p:grpSpPr>
        <a:xfrm>
          <a:off x="0" y="0"/>
          <a:ext cx="0" cy="0"/>
          <a:chOff x="0" y="0"/>
          <a:chExt cx="0" cy="0"/>
        </a:xfrm>
      </p:grpSpPr>
      <p:sp>
        <p:nvSpPr>
          <p:cNvPr id="2" name="Text 0"/>
          <p:cNvSpPr/>
          <p:nvPr/>
        </p:nvSpPr>
        <p:spPr>
          <a:xfrm>
            <a:off x="812782" y="711169"/>
            <a:ext cx="10883429"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04E17"/>
                </a:solidFill>
                <a:latin typeface="IBM Plex Sans" pitchFamily="34" charset="0"/>
                <a:ea typeface="IBM Plex Sans" pitchFamily="34" charset="-122"/>
                <a:cs typeface="IBM Plex Sans" pitchFamily="34" charset="-120"/>
              </a:rPr>
              <a:t>03 · PARALLELIZATION · IN CODE</a:t>
            </a:r>
            <a:endParaRPr lang="en-US" sz="1200" dirty="0"/>
          </a:p>
        </p:txBody>
      </p:sp>
      <p:sp>
        <p:nvSpPr>
          <p:cNvPr id="3" name="Text 1"/>
          <p:cNvSpPr>
            <a:spLocks noGrp="1"/>
          </p:cNvSpPr>
          <p:nvPr>
            <p:ph type="title"/>
          </p:nvPr>
        </p:nvSpPr>
        <p:spPr>
          <a:xfrm>
            <a:off x="812782" y="1000665"/>
            <a:ext cx="10883429" cy="444464"/>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6212C"/>
                </a:solidFill>
                <a:latin typeface="IBM Plex Sans" pitchFamily="34" charset="0"/>
                <a:ea typeface="IBM Plex Sans" pitchFamily="34" charset="-122"/>
                <a:cs typeface="IBM Plex Sans" pitchFamily="34" charset="-120"/>
              </a:rPr>
              <a:t>Voting: vary temperature, let a judge pick</a:t>
            </a:r>
            <a:endParaRPr lang="en-US" sz="3000" dirty="0"/>
          </a:p>
        </p:txBody>
      </p:sp>
      <p:sp>
        <p:nvSpPr>
          <p:cNvPr id="4" name="Text 2"/>
          <p:cNvSpPr/>
          <p:nvPr/>
        </p:nvSpPr>
        <p:spPr>
          <a:xfrm>
            <a:off x="812782" y="1673727"/>
            <a:ext cx="304782" cy="304782"/>
          </a:xfrm>
          <a:custGeom>
            <a:avLst/>
            <a:gdLst/>
            <a:ahLst/>
            <a:cxnLst/>
            <a:rect l="l" t="t" r="r" b="b"/>
            <a:pathLst>
              <a:path w="304782" h="304782">
                <a:moveTo>
                  <a:pt x="152391" y="0"/>
                </a:moveTo>
                <a:lnTo>
                  <a:pt x="152391" y="0"/>
                </a:lnTo>
                <a:arcTo wR="152391" hR="152391" stAng="16200000" swAng="5400000"/>
                <a:lnTo>
                  <a:pt x="304782" y="152391"/>
                </a:lnTo>
                <a:arcTo wR="152391" hR="152391" stAng="0" swAng="5400000"/>
                <a:lnTo>
                  <a:pt x="152391" y="304782"/>
                </a:lnTo>
                <a:arcTo wR="152391" hR="152391" stAng="5400000" swAng="5400000"/>
                <a:lnTo>
                  <a:pt x="0" y="152391"/>
                </a:lnTo>
                <a:arcTo wR="152391" hR="152391" stAng="10800000" swAng="5400000"/>
                <a:close/>
              </a:path>
            </a:pathLst>
          </a:custGeom>
          <a:solidFill>
            <a:srgbClr val="E8843F"/>
          </a:solidFill>
          <a:ln/>
        </p:spPr>
        <p:txBody>
          <a:bodyPr wrap="square" lIns="0" tIns="0" rIns="0" bIns="0" rtlCol="0" anchor="t">
            <a:normAutofit/>
          </a:bodyPr>
          <a:lstStyle/>
          <a:p>
            <a:pPr marL="0" indent="0" algn="ctr">
              <a:lnSpc>
                <a:spcPts val="2405"/>
              </a:lnSpc>
              <a:buNone/>
            </a:pPr>
            <a:r>
              <a:rPr lang="en-US" sz="1300" b="1" dirty="0">
                <a:solidFill>
                  <a:srgbClr val="16212C"/>
                </a:solidFill>
                <a:latin typeface="IBM Plex Sans" pitchFamily="34" charset="0"/>
                <a:ea typeface="IBM Plex Sans" pitchFamily="34" charset="-122"/>
                <a:cs typeface="IBM Plex Sans" pitchFamily="34" charset="-120"/>
              </a:rPr>
              <a:t>1</a:t>
            </a:r>
            <a:endParaRPr lang="en-US" sz="1300" dirty="0"/>
          </a:p>
        </p:txBody>
      </p:sp>
      <p:sp>
        <p:nvSpPr>
          <p:cNvPr id="5" name="Text 3"/>
          <p:cNvSpPr/>
          <p:nvPr/>
        </p:nvSpPr>
        <p:spPr>
          <a:xfrm>
            <a:off x="1244564" y="1673727"/>
            <a:ext cx="3479564" cy="253964"/>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6212C"/>
                </a:solidFill>
                <a:latin typeface="IBM Plex Sans" pitchFamily="34" charset="0"/>
                <a:ea typeface="IBM Plex Sans" pitchFamily="34" charset="-122"/>
                <a:cs typeface="IBM Plex Sans" pitchFamily="34" charset="-120"/>
              </a:rPr>
              <a:t>Diversity by design</a:t>
            </a:r>
            <a:endParaRPr lang="en-US" sz="1500" dirty="0"/>
          </a:p>
        </p:txBody>
      </p:sp>
      <p:sp>
        <p:nvSpPr>
          <p:cNvPr id="6" name="Text 4"/>
          <p:cNvSpPr/>
          <p:nvPr/>
        </p:nvSpPr>
        <p:spPr>
          <a:xfrm>
            <a:off x="1244564" y="1940353"/>
            <a:ext cx="3479564" cy="487669"/>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D4A57"/>
                </a:solidFill>
                <a:latin typeface="IBM Plex Sans" pitchFamily="34" charset="0"/>
                <a:ea typeface="IBM Plex Sans" pitchFamily="34" charset="-122"/>
                <a:cs typeface="IBM Plex Sans" pitchFamily="34" charset="-120"/>
              </a:rPr>
              <a:t>0.3 is safe, 1.0 is surprising. More variety in, better pick out.</a:t>
            </a:r>
            <a:endParaRPr lang="en-US" sz="1300" dirty="0"/>
          </a:p>
        </p:txBody>
      </p:sp>
      <p:sp>
        <p:nvSpPr>
          <p:cNvPr id="7" name="Text 5"/>
          <p:cNvSpPr/>
          <p:nvPr/>
        </p:nvSpPr>
        <p:spPr>
          <a:xfrm>
            <a:off x="812782" y="2605794"/>
            <a:ext cx="304782" cy="304782"/>
          </a:xfrm>
          <a:custGeom>
            <a:avLst/>
            <a:gdLst/>
            <a:ahLst/>
            <a:cxnLst/>
            <a:rect l="l" t="t" r="r" b="b"/>
            <a:pathLst>
              <a:path w="304782" h="304782">
                <a:moveTo>
                  <a:pt x="152391" y="0"/>
                </a:moveTo>
                <a:lnTo>
                  <a:pt x="152391" y="0"/>
                </a:lnTo>
                <a:arcTo wR="152391" hR="152391" stAng="16200000" swAng="5400000"/>
                <a:lnTo>
                  <a:pt x="304782" y="152391"/>
                </a:lnTo>
                <a:arcTo wR="152391" hR="152391" stAng="0" swAng="5400000"/>
                <a:lnTo>
                  <a:pt x="152391" y="304782"/>
                </a:lnTo>
                <a:arcTo wR="152391" hR="152391" stAng="5400000" swAng="5400000"/>
                <a:lnTo>
                  <a:pt x="0" y="152391"/>
                </a:lnTo>
                <a:arcTo wR="152391" hR="152391" stAng="10800000" swAng="5400000"/>
                <a:close/>
              </a:path>
            </a:pathLst>
          </a:custGeom>
          <a:solidFill>
            <a:srgbClr val="E8843F"/>
          </a:solidFill>
          <a:ln/>
        </p:spPr>
        <p:txBody>
          <a:bodyPr wrap="square" lIns="0" tIns="0" rIns="0" bIns="0" rtlCol="0" anchor="t">
            <a:normAutofit/>
          </a:bodyPr>
          <a:lstStyle/>
          <a:p>
            <a:pPr marL="0" indent="0" algn="ctr">
              <a:lnSpc>
                <a:spcPts val="2405"/>
              </a:lnSpc>
              <a:buNone/>
            </a:pPr>
            <a:r>
              <a:rPr lang="en-US" sz="1300" b="1" dirty="0">
                <a:solidFill>
                  <a:srgbClr val="16212C"/>
                </a:solidFill>
                <a:latin typeface="IBM Plex Sans" pitchFamily="34" charset="0"/>
                <a:ea typeface="IBM Plex Sans" pitchFamily="34" charset="-122"/>
                <a:cs typeface="IBM Plex Sans" pitchFamily="34" charset="-120"/>
              </a:rPr>
              <a:t>2</a:t>
            </a:r>
            <a:endParaRPr lang="en-US" sz="1300" dirty="0"/>
          </a:p>
        </p:txBody>
      </p:sp>
      <p:sp>
        <p:nvSpPr>
          <p:cNvPr id="8" name="Text 6"/>
          <p:cNvSpPr/>
          <p:nvPr/>
        </p:nvSpPr>
        <p:spPr>
          <a:xfrm>
            <a:off x="1244564" y="2605794"/>
            <a:ext cx="3479564" cy="253964"/>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6212C"/>
                </a:solidFill>
                <a:latin typeface="IBM Plex Sans" pitchFamily="34" charset="0"/>
                <a:ea typeface="IBM Plex Sans" pitchFamily="34" charset="-122"/>
                <a:cs typeface="IBM Plex Sans" pitchFamily="34" charset="-120"/>
              </a:rPr>
              <a:t>Same call, N times</a:t>
            </a:r>
            <a:endParaRPr lang="en-US" sz="1500" dirty="0"/>
          </a:p>
        </p:txBody>
      </p:sp>
      <p:sp>
        <p:nvSpPr>
          <p:cNvPr id="9" name="Text 7"/>
          <p:cNvSpPr/>
          <p:nvPr/>
        </p:nvSpPr>
        <p:spPr>
          <a:xfrm>
            <a:off x="1244564" y="2872426"/>
            <a:ext cx="3479564" cy="487669"/>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D4A57"/>
                </a:solidFill>
                <a:latin typeface="IBM Plex Sans" pitchFamily="34" charset="0"/>
                <a:ea typeface="IBM Plex Sans" pitchFamily="34" charset="-122"/>
                <a:cs typeface="IBM Plex Sans" pitchFamily="34" charset="-120"/>
              </a:rPr>
              <a:t>Only the temperature differs; the post is cut to 500 chars to save tokens.</a:t>
            </a:r>
            <a:endParaRPr lang="en-US" sz="1300" dirty="0"/>
          </a:p>
        </p:txBody>
      </p:sp>
      <p:sp>
        <p:nvSpPr>
          <p:cNvPr id="10" name="Text 8"/>
          <p:cNvSpPr/>
          <p:nvPr/>
        </p:nvSpPr>
        <p:spPr>
          <a:xfrm>
            <a:off x="812782" y="3537868"/>
            <a:ext cx="304782" cy="304782"/>
          </a:xfrm>
          <a:custGeom>
            <a:avLst/>
            <a:gdLst/>
            <a:ahLst/>
            <a:cxnLst/>
            <a:rect l="l" t="t" r="r" b="b"/>
            <a:pathLst>
              <a:path w="304782" h="304782">
                <a:moveTo>
                  <a:pt x="152391" y="0"/>
                </a:moveTo>
                <a:lnTo>
                  <a:pt x="152391" y="0"/>
                </a:lnTo>
                <a:arcTo wR="152391" hR="152391" stAng="16200000" swAng="5400000"/>
                <a:lnTo>
                  <a:pt x="304782" y="152391"/>
                </a:lnTo>
                <a:arcTo wR="152391" hR="152391" stAng="0" swAng="5400000"/>
                <a:lnTo>
                  <a:pt x="152391" y="304782"/>
                </a:lnTo>
                <a:arcTo wR="152391" hR="152391" stAng="5400000" swAng="5400000"/>
                <a:lnTo>
                  <a:pt x="0" y="152391"/>
                </a:lnTo>
                <a:arcTo wR="152391" hR="152391" stAng="10800000" swAng="5400000"/>
                <a:close/>
              </a:path>
            </a:pathLst>
          </a:custGeom>
          <a:solidFill>
            <a:srgbClr val="E8843F"/>
          </a:solidFill>
          <a:ln/>
        </p:spPr>
        <p:txBody>
          <a:bodyPr wrap="square" lIns="0" tIns="0" rIns="0" bIns="0" rtlCol="0" anchor="t">
            <a:normAutofit/>
          </a:bodyPr>
          <a:lstStyle/>
          <a:p>
            <a:pPr marL="0" indent="0" algn="ctr">
              <a:lnSpc>
                <a:spcPts val="2405"/>
              </a:lnSpc>
              <a:buNone/>
            </a:pPr>
            <a:r>
              <a:rPr lang="en-US" sz="1300" b="1" dirty="0">
                <a:solidFill>
                  <a:srgbClr val="16212C"/>
                </a:solidFill>
                <a:latin typeface="IBM Plex Sans" pitchFamily="34" charset="0"/>
                <a:ea typeface="IBM Plex Sans" pitchFamily="34" charset="-122"/>
                <a:cs typeface="IBM Plex Sans" pitchFamily="34" charset="-120"/>
              </a:rPr>
              <a:t>3</a:t>
            </a:r>
            <a:endParaRPr lang="en-US" sz="1300" dirty="0"/>
          </a:p>
        </p:txBody>
      </p:sp>
      <p:sp>
        <p:nvSpPr>
          <p:cNvPr id="11" name="Text 9"/>
          <p:cNvSpPr/>
          <p:nvPr/>
        </p:nvSpPr>
        <p:spPr>
          <a:xfrm>
            <a:off x="1244564" y="3537868"/>
            <a:ext cx="3479564" cy="253964"/>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6212C"/>
                </a:solidFill>
                <a:latin typeface="IBM Plex Sans" pitchFamily="34" charset="0"/>
                <a:ea typeface="IBM Plex Sans" pitchFamily="34" charset="-122"/>
                <a:cs typeface="IBM Plex Sans" pitchFamily="34" charset="-120"/>
              </a:rPr>
              <a:t>An LLM judge</a:t>
            </a:r>
            <a:endParaRPr lang="en-US" sz="1500" dirty="0"/>
          </a:p>
        </p:txBody>
      </p:sp>
      <p:sp>
        <p:nvSpPr>
          <p:cNvPr id="12" name="Text 10"/>
          <p:cNvSpPr/>
          <p:nvPr/>
        </p:nvSpPr>
        <p:spPr>
          <a:xfrm>
            <a:off x="1244564" y="3804493"/>
            <a:ext cx="3479564" cy="487669"/>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D4A57"/>
                </a:solidFill>
                <a:latin typeface="IBM Plex Sans" pitchFamily="34" charset="0"/>
                <a:ea typeface="IBM Plex Sans" pitchFamily="34" charset="-122"/>
                <a:cs typeface="IBM Plex Sans" pitchFamily="34" charset="-120"/>
              </a:rPr>
              <a:t>A separate evaluator prompt picks the winner — a preview of tutorial 05.</a:t>
            </a:r>
            <a:endParaRPr lang="en-US" sz="1300" dirty="0"/>
          </a:p>
        </p:txBody>
      </p:sp>
      <p:sp>
        <p:nvSpPr>
          <p:cNvPr id="13" name="Shape 11"/>
          <p:cNvSpPr/>
          <p:nvPr/>
        </p:nvSpPr>
        <p:spPr>
          <a:xfrm>
            <a:off x="4927564" y="1673727"/>
            <a:ext cx="6451564" cy="3885451"/>
          </a:xfrm>
          <a:prstGeom prst="roundRect">
            <a:avLst>
              <a:gd name="adj" fmla="val 2615"/>
            </a:avLst>
          </a:prstGeom>
          <a:solidFill>
            <a:srgbClr val="16212C"/>
          </a:solidFill>
          <a:ln/>
        </p:spPr>
        <p:txBody>
          <a:bodyPr/>
          <a:lstStyle/>
          <a:p>
            <a:endParaRPr lang="en-CN"/>
          </a:p>
        </p:txBody>
      </p:sp>
      <p:sp>
        <p:nvSpPr>
          <p:cNvPr id="14" name="Text 12"/>
          <p:cNvSpPr/>
          <p:nvPr/>
        </p:nvSpPr>
        <p:spPr>
          <a:xfrm>
            <a:off x="5105364" y="1826121"/>
            <a:ext cx="6278842" cy="238693"/>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9AA9B8"/>
                </a:solidFill>
                <a:latin typeface="JetBrains Mono" pitchFamily="49" charset="0"/>
                <a:ea typeface="JetBrains Mono" pitchFamily="49" charset="-122"/>
                <a:cs typeface="JetBrains Mono" pitchFamily="49" charset="-120"/>
              </a:rPr>
              <a:t>01_parallelization.py</a:t>
            </a:r>
            <a:endParaRPr lang="en-US" sz="1200" dirty="0"/>
          </a:p>
        </p:txBody>
      </p:sp>
      <p:sp>
        <p:nvSpPr>
          <p:cNvPr id="15" name="Text 13"/>
          <p:cNvSpPr/>
          <p:nvPr/>
        </p:nvSpPr>
        <p:spPr>
          <a:xfrm>
            <a:off x="5105364" y="2115610"/>
            <a:ext cx="6278842" cy="231098"/>
          </a:xfrm>
          <a:prstGeom prst="rect">
            <a:avLst/>
          </a:prstGeom>
          <a:noFill/>
          <a:ln/>
        </p:spPr>
        <p:txBody>
          <a:bodyPr wrap="none" lIns="0" tIns="0" rIns="0" bIns="0" rtlCol="0" anchor="t">
            <a:normAutofit/>
          </a:bodyPr>
          <a:lstStyle/>
          <a:p>
            <a:pPr marL="0" indent="0" algn="l">
              <a:lnSpc>
                <a:spcPts val="1620"/>
              </a:lnSpc>
              <a:buNone/>
            </a:pPr>
            <a:r>
              <a:rPr lang="en-US" sz="1200" dirty="0">
                <a:solidFill>
                  <a:srgbClr val="7C8FA3"/>
                </a:solidFill>
                <a:latin typeface="JetBrains Mono" pitchFamily="49" charset="0"/>
                <a:ea typeface="JetBrains Mono" pitchFamily="49" charset="-122"/>
                <a:cs typeface="JetBrains Mono" pitchFamily="49" charset="-120"/>
              </a:rPr>
              <a:t>107</a:t>
            </a:r>
            <a:r>
              <a:rPr lang="en-US" sz="1200" dirty="0">
                <a:solidFill>
                  <a:srgbClr val="D6DDE5"/>
                </a:solidFill>
                <a:latin typeface="JetBrains Mono" pitchFamily="49" charset="0"/>
                <a:ea typeface="JetBrains Mono" pitchFamily="49" charset="-122"/>
                <a:cs typeface="JetBrains Mono" pitchFamily="49" charset="-120"/>
              </a:rPr>
              <a:t> def _generate_seo_title(self, blog_post, temperature):</a:t>
            </a:r>
            <a:endParaRPr lang="en-US" sz="1200" dirty="0"/>
          </a:p>
        </p:txBody>
      </p:sp>
      <p:sp>
        <p:nvSpPr>
          <p:cNvPr id="16" name="Text 14"/>
          <p:cNvSpPr/>
          <p:nvPr/>
        </p:nvSpPr>
        <p:spPr>
          <a:xfrm>
            <a:off x="5105364" y="2321309"/>
            <a:ext cx="6278842" cy="231098"/>
          </a:xfrm>
          <a:prstGeom prst="rect">
            <a:avLst/>
          </a:prstGeom>
          <a:noFill/>
          <a:ln/>
        </p:spPr>
        <p:txBody>
          <a:bodyPr wrap="none" lIns="0" tIns="0" rIns="0" bIns="0" rtlCol="0" anchor="t">
            <a:normAutofit/>
          </a:bodyPr>
          <a:lstStyle/>
          <a:p>
            <a:pPr marL="0" indent="0" algn="l">
              <a:lnSpc>
                <a:spcPts val="1620"/>
              </a:lnSpc>
              <a:buNone/>
            </a:pPr>
            <a:r>
              <a:rPr lang="en-US" sz="1200" dirty="0">
                <a:solidFill>
                  <a:srgbClr val="7C8FA3"/>
                </a:solidFill>
                <a:latin typeface="JetBrains Mono" pitchFamily="49" charset="0"/>
                <a:ea typeface="JetBrains Mono" pitchFamily="49" charset="-122"/>
                <a:cs typeface="JetBrains Mono" pitchFamily="49" charset="-120"/>
              </a:rPr>
              <a:t>109</a:t>
            </a:r>
            <a:r>
              <a:rPr lang="en-US" sz="1200" dirty="0">
                <a:solidFill>
                  <a:srgbClr val="D6DDE5"/>
                </a:solidFill>
                <a:latin typeface="JetBrains Mono" pitchFamily="49" charset="0"/>
                <a:ea typeface="JetBrains Mono" pitchFamily="49" charset="-122"/>
                <a:cs typeface="JetBrains Mono" pitchFamily="49" charset="-120"/>
              </a:rPr>
              <a:t>   return self._call_llm(SEO_TITLE_SYSTEM_PROMPT,</a:t>
            </a:r>
            <a:endParaRPr lang="en-US" sz="1200" dirty="0"/>
          </a:p>
        </p:txBody>
      </p:sp>
      <p:sp>
        <p:nvSpPr>
          <p:cNvPr id="17" name="Text 15"/>
          <p:cNvSpPr/>
          <p:nvPr/>
        </p:nvSpPr>
        <p:spPr>
          <a:xfrm>
            <a:off x="4927564" y="2527009"/>
            <a:ext cx="6451564" cy="205698"/>
          </a:xfrm>
          <a:prstGeom prst="rect">
            <a:avLst/>
          </a:prstGeom>
          <a:solidFill>
            <a:srgbClr val="3A2B20"/>
          </a:solidFill>
          <a:ln/>
        </p:spPr>
        <p:txBody>
          <a:bodyPr wrap="none" lIns="177223" tIns="0" rIns="0" bIns="0" rtlCol="0" anchor="t">
            <a:normAutofit/>
          </a:bodyPr>
          <a:lstStyle/>
          <a:p>
            <a:pPr marL="0" indent="0" algn="l">
              <a:lnSpc>
                <a:spcPts val="1620"/>
              </a:lnSpc>
              <a:buNone/>
            </a:pPr>
            <a:r>
              <a:rPr lang="en-US" sz="1200" dirty="0">
                <a:solidFill>
                  <a:srgbClr val="7C8FA3"/>
                </a:solidFill>
                <a:latin typeface="JetBrains Mono" pitchFamily="49" charset="0"/>
                <a:ea typeface="JetBrains Mono" pitchFamily="49" charset="-122"/>
                <a:cs typeface="JetBrains Mono" pitchFamily="49" charset="-120"/>
              </a:rPr>
              <a:t>111</a:t>
            </a:r>
            <a:r>
              <a:rPr lang="en-US" sz="1200" dirty="0">
                <a:solidFill>
                  <a:srgbClr val="D6DDE5"/>
                </a:solidFill>
                <a:latin typeface="JetBrains Mono" pitchFamily="49" charset="0"/>
                <a:ea typeface="JetBrains Mono" pitchFamily="49" charset="-122"/>
                <a:cs typeface="JetBrains Mono" pitchFamily="49" charset="-120"/>
              </a:rPr>
              <a:t>     f"…{blog_post[:500]}", temperature=temperature)</a:t>
            </a:r>
            <a:endParaRPr lang="en-US" sz="1200" dirty="0"/>
          </a:p>
        </p:txBody>
      </p:sp>
      <p:sp>
        <p:nvSpPr>
          <p:cNvPr id="18" name="Shape 16"/>
          <p:cNvSpPr/>
          <p:nvPr/>
        </p:nvSpPr>
        <p:spPr>
          <a:xfrm>
            <a:off x="4946614" y="2527009"/>
            <a:ext cx="0" cy="205698"/>
          </a:xfrm>
          <a:prstGeom prst="line">
            <a:avLst/>
          </a:prstGeom>
          <a:noFill/>
          <a:ln w="38100">
            <a:solidFill>
              <a:srgbClr val="E8843F"/>
            </a:solidFill>
            <a:prstDash val="solid"/>
          </a:ln>
        </p:spPr>
        <p:txBody>
          <a:bodyPr/>
          <a:lstStyle/>
          <a:p>
            <a:endParaRPr lang="en-CN"/>
          </a:p>
        </p:txBody>
      </p:sp>
      <p:sp>
        <p:nvSpPr>
          <p:cNvPr id="19" name="Text 17"/>
          <p:cNvSpPr/>
          <p:nvPr/>
        </p:nvSpPr>
        <p:spPr>
          <a:xfrm>
            <a:off x="5105364" y="2732708"/>
            <a:ext cx="6278842" cy="231098"/>
          </a:xfrm>
          <a:prstGeom prst="rect">
            <a:avLst/>
          </a:prstGeom>
          <a:noFill/>
          <a:ln/>
        </p:spPr>
        <p:txBody>
          <a:bodyPr wrap="none" lIns="0" tIns="0" rIns="0" bIns="0" rtlCol="0" anchor="t">
            <a:normAutofit/>
          </a:bodyPr>
          <a:lstStyle/>
          <a:p>
            <a:pPr marL="0" indent="0" algn="l">
              <a:lnSpc>
                <a:spcPts val="1620"/>
              </a:lnSpc>
              <a:buNone/>
            </a:pPr>
            <a:r>
              <a:rPr lang="en-US" sz="1200" dirty="0">
                <a:solidFill>
                  <a:srgbClr val="7C8FA3"/>
                </a:solidFill>
                <a:latin typeface="JetBrains Mono" pitchFamily="49" charset="0"/>
                <a:ea typeface="JetBrains Mono" pitchFamily="49" charset="-122"/>
                <a:cs typeface="JetBrains Mono" pitchFamily="49" charset="-120"/>
              </a:rPr>
              <a:t>    ⋮ </a:t>
            </a:r>
            <a:r>
              <a:rPr lang="en-US" sz="1200" dirty="0">
                <a:solidFill>
                  <a:srgbClr val="8798AA"/>
                </a:solidFill>
                <a:latin typeface="JetBrains Mono" pitchFamily="49" charset="0"/>
                <a:ea typeface="JetBrains Mono" pitchFamily="49" charset="-122"/>
                <a:cs typeface="JetBrains Mono" pitchFamily="49" charset="-120"/>
              </a:rPr>
              <a:t># run()</a:t>
            </a:r>
            <a:endParaRPr lang="en-US" sz="1200" dirty="0"/>
          </a:p>
        </p:txBody>
      </p:sp>
      <p:sp>
        <p:nvSpPr>
          <p:cNvPr id="20" name="Text 18"/>
          <p:cNvSpPr/>
          <p:nvPr/>
        </p:nvSpPr>
        <p:spPr>
          <a:xfrm>
            <a:off x="4927564" y="2938407"/>
            <a:ext cx="6451564" cy="205698"/>
          </a:xfrm>
          <a:prstGeom prst="rect">
            <a:avLst/>
          </a:prstGeom>
          <a:solidFill>
            <a:srgbClr val="3A2B20"/>
          </a:solidFill>
          <a:ln/>
        </p:spPr>
        <p:txBody>
          <a:bodyPr wrap="none" lIns="177223" tIns="0" rIns="0" bIns="0" rtlCol="0" anchor="t">
            <a:normAutofit/>
          </a:bodyPr>
          <a:lstStyle/>
          <a:p>
            <a:pPr marL="0" indent="0" algn="l">
              <a:lnSpc>
                <a:spcPts val="1620"/>
              </a:lnSpc>
              <a:buNone/>
            </a:pPr>
            <a:r>
              <a:rPr lang="en-US" sz="1200" dirty="0">
                <a:solidFill>
                  <a:srgbClr val="7C8FA3"/>
                </a:solidFill>
                <a:latin typeface="JetBrains Mono" pitchFamily="49" charset="0"/>
                <a:ea typeface="JetBrains Mono" pitchFamily="49" charset="-122"/>
                <a:cs typeface="JetBrains Mono" pitchFamily="49" charset="-120"/>
              </a:rPr>
              <a:t>151</a:t>
            </a:r>
            <a:r>
              <a:rPr lang="en-US" sz="1200" dirty="0">
                <a:solidFill>
                  <a:srgbClr val="D6DDE5"/>
                </a:solidFill>
                <a:latin typeface="JetBrains Mono" pitchFamily="49" charset="0"/>
                <a:ea typeface="JetBrains Mono" pitchFamily="49" charset="-122"/>
                <a:cs typeface="JetBrains Mono" pitchFamily="49" charset="-120"/>
              </a:rPr>
              <a:t> temperatures = [0.3, 0.7, 1.0] </a:t>
            </a:r>
            <a:r>
              <a:rPr lang="en-US" sz="1200" b="1" dirty="0">
                <a:solidFill>
                  <a:srgbClr val="F2A46B"/>
                </a:solidFill>
                <a:latin typeface="JetBrains Mono" pitchFamily="49" charset="0"/>
                <a:ea typeface="JetBrains Mono" pitchFamily="49" charset="-122"/>
                <a:cs typeface="JetBrains Mono" pitchFamily="49" charset="-120"/>
              </a:rPr>
              <a:t>← 1</a:t>
            </a:r>
            <a:endParaRPr lang="en-US" sz="1200" dirty="0"/>
          </a:p>
        </p:txBody>
      </p:sp>
      <p:sp>
        <p:nvSpPr>
          <p:cNvPr id="21" name="Shape 19"/>
          <p:cNvSpPr/>
          <p:nvPr/>
        </p:nvSpPr>
        <p:spPr>
          <a:xfrm>
            <a:off x="4946614" y="2938407"/>
            <a:ext cx="0" cy="205698"/>
          </a:xfrm>
          <a:prstGeom prst="line">
            <a:avLst/>
          </a:prstGeom>
          <a:noFill/>
          <a:ln w="38100">
            <a:solidFill>
              <a:srgbClr val="E8843F"/>
            </a:solidFill>
            <a:prstDash val="solid"/>
          </a:ln>
        </p:spPr>
        <p:txBody>
          <a:bodyPr/>
          <a:lstStyle/>
          <a:p>
            <a:endParaRPr lang="en-CN"/>
          </a:p>
        </p:txBody>
      </p:sp>
      <p:sp>
        <p:nvSpPr>
          <p:cNvPr id="22" name="Text 20"/>
          <p:cNvSpPr/>
          <p:nvPr/>
        </p:nvSpPr>
        <p:spPr>
          <a:xfrm>
            <a:off x="5105364" y="3144106"/>
            <a:ext cx="6278842" cy="231098"/>
          </a:xfrm>
          <a:prstGeom prst="rect">
            <a:avLst/>
          </a:prstGeom>
          <a:noFill/>
          <a:ln/>
        </p:spPr>
        <p:txBody>
          <a:bodyPr wrap="none" lIns="0" tIns="0" rIns="0" bIns="0" rtlCol="0" anchor="t">
            <a:normAutofit/>
          </a:bodyPr>
          <a:lstStyle/>
          <a:p>
            <a:pPr marL="0" indent="0" algn="l">
              <a:lnSpc>
                <a:spcPts val="1620"/>
              </a:lnSpc>
              <a:buNone/>
            </a:pPr>
            <a:r>
              <a:rPr lang="en-US" sz="1200" dirty="0">
                <a:solidFill>
                  <a:srgbClr val="7C8FA3"/>
                </a:solidFill>
                <a:latin typeface="JetBrains Mono" pitchFamily="49" charset="0"/>
                <a:ea typeface="JetBrains Mono" pitchFamily="49" charset="-122"/>
                <a:cs typeface="JetBrains Mono" pitchFamily="49" charset="-120"/>
              </a:rPr>
              <a:t>154</a:t>
            </a:r>
            <a:r>
              <a:rPr lang="en-US" sz="1200" dirty="0">
                <a:solidFill>
                  <a:srgbClr val="D6DDE5"/>
                </a:solidFill>
                <a:latin typeface="JetBrains Mono" pitchFamily="49" charset="0"/>
                <a:ea typeface="JetBrains Mono" pitchFamily="49" charset="-122"/>
                <a:cs typeface="JetBrains Mono" pitchFamily="49" charset="-120"/>
              </a:rPr>
              <a:t> with ThreadPoolExecutor(max_workers=3) as executor:</a:t>
            </a:r>
            <a:endParaRPr lang="en-US" sz="1200" dirty="0"/>
          </a:p>
        </p:txBody>
      </p:sp>
      <p:sp>
        <p:nvSpPr>
          <p:cNvPr id="23" name="Text 21"/>
          <p:cNvSpPr/>
          <p:nvPr/>
        </p:nvSpPr>
        <p:spPr>
          <a:xfrm>
            <a:off x="4927564" y="3349805"/>
            <a:ext cx="6451564" cy="205698"/>
          </a:xfrm>
          <a:prstGeom prst="rect">
            <a:avLst/>
          </a:prstGeom>
          <a:solidFill>
            <a:srgbClr val="3A2B20"/>
          </a:solidFill>
          <a:ln/>
        </p:spPr>
        <p:txBody>
          <a:bodyPr wrap="none" lIns="177223" tIns="0" rIns="0" bIns="0" rtlCol="0" anchor="t">
            <a:normAutofit/>
          </a:bodyPr>
          <a:lstStyle/>
          <a:p>
            <a:pPr marL="0" indent="0" algn="l">
              <a:lnSpc>
                <a:spcPts val="1620"/>
              </a:lnSpc>
              <a:buNone/>
            </a:pPr>
            <a:r>
              <a:rPr lang="en-US" sz="1200" dirty="0">
                <a:solidFill>
                  <a:srgbClr val="7C8FA3"/>
                </a:solidFill>
                <a:latin typeface="JetBrains Mono" pitchFamily="49" charset="0"/>
                <a:ea typeface="JetBrains Mono" pitchFamily="49" charset="-122"/>
                <a:cs typeface="JetBrains Mono" pitchFamily="49" charset="-120"/>
              </a:rPr>
              <a:t>155</a:t>
            </a:r>
            <a:r>
              <a:rPr lang="en-US" sz="1200" dirty="0">
                <a:solidFill>
                  <a:srgbClr val="D6DDE5"/>
                </a:solidFill>
                <a:latin typeface="JetBrains Mono" pitchFamily="49" charset="0"/>
                <a:ea typeface="JetBrains Mono" pitchFamily="49" charset="-122"/>
                <a:cs typeface="JetBrains Mono" pitchFamily="49" charset="-120"/>
              </a:rPr>
              <a:t>   futures_list = [executor.submit( </a:t>
            </a:r>
            <a:r>
              <a:rPr lang="en-US" sz="1200" b="1" dirty="0">
                <a:solidFill>
                  <a:srgbClr val="F2A46B"/>
                </a:solidFill>
                <a:latin typeface="JetBrains Mono" pitchFamily="49" charset="0"/>
                <a:ea typeface="JetBrains Mono" pitchFamily="49" charset="-122"/>
                <a:cs typeface="JetBrains Mono" pitchFamily="49" charset="-120"/>
              </a:rPr>
              <a:t>← 2</a:t>
            </a:r>
            <a:endParaRPr lang="en-US" sz="1200" dirty="0"/>
          </a:p>
        </p:txBody>
      </p:sp>
      <p:sp>
        <p:nvSpPr>
          <p:cNvPr id="24" name="Shape 22"/>
          <p:cNvSpPr/>
          <p:nvPr/>
        </p:nvSpPr>
        <p:spPr>
          <a:xfrm>
            <a:off x="4946614" y="3349805"/>
            <a:ext cx="0" cy="205698"/>
          </a:xfrm>
          <a:prstGeom prst="line">
            <a:avLst/>
          </a:prstGeom>
          <a:noFill/>
          <a:ln w="38100">
            <a:solidFill>
              <a:srgbClr val="E8843F"/>
            </a:solidFill>
            <a:prstDash val="solid"/>
          </a:ln>
        </p:spPr>
        <p:txBody>
          <a:bodyPr/>
          <a:lstStyle/>
          <a:p>
            <a:endParaRPr lang="en-CN"/>
          </a:p>
        </p:txBody>
      </p:sp>
      <p:sp>
        <p:nvSpPr>
          <p:cNvPr id="25" name="Text 23"/>
          <p:cNvSpPr/>
          <p:nvPr/>
        </p:nvSpPr>
        <p:spPr>
          <a:xfrm>
            <a:off x="4927564" y="3555504"/>
            <a:ext cx="6451564" cy="205698"/>
          </a:xfrm>
          <a:prstGeom prst="rect">
            <a:avLst/>
          </a:prstGeom>
          <a:solidFill>
            <a:srgbClr val="3A2B20"/>
          </a:solidFill>
          <a:ln/>
        </p:spPr>
        <p:txBody>
          <a:bodyPr wrap="none" lIns="177223" tIns="0" rIns="0" bIns="0" rtlCol="0" anchor="t">
            <a:normAutofit/>
          </a:bodyPr>
          <a:lstStyle/>
          <a:p>
            <a:pPr marL="0" indent="0" algn="l">
              <a:lnSpc>
                <a:spcPts val="1620"/>
              </a:lnSpc>
              <a:buNone/>
            </a:pPr>
            <a:r>
              <a:rPr lang="en-US" sz="1200" dirty="0">
                <a:solidFill>
                  <a:srgbClr val="7C8FA3"/>
                </a:solidFill>
                <a:latin typeface="JetBrains Mono" pitchFamily="49" charset="0"/>
                <a:ea typeface="JetBrains Mono" pitchFamily="49" charset="-122"/>
                <a:cs typeface="JetBrains Mono" pitchFamily="49" charset="-120"/>
              </a:rPr>
              <a:t>156</a:t>
            </a:r>
            <a:r>
              <a:rPr lang="en-US" sz="1200" dirty="0">
                <a:solidFill>
                  <a:srgbClr val="D6DDE5"/>
                </a:solidFill>
                <a:latin typeface="JetBrains Mono" pitchFamily="49" charset="0"/>
                <a:ea typeface="JetBrains Mono" pitchFamily="49" charset="-122"/>
                <a:cs typeface="JetBrains Mono" pitchFamily="49" charset="-120"/>
              </a:rPr>
              <a:t>     self._generate_seo_title, blog_post, temp)</a:t>
            </a:r>
            <a:endParaRPr lang="en-US" sz="1200" dirty="0"/>
          </a:p>
        </p:txBody>
      </p:sp>
      <p:sp>
        <p:nvSpPr>
          <p:cNvPr id="26" name="Shape 24"/>
          <p:cNvSpPr/>
          <p:nvPr/>
        </p:nvSpPr>
        <p:spPr>
          <a:xfrm>
            <a:off x="4946614" y="3555504"/>
            <a:ext cx="0" cy="205698"/>
          </a:xfrm>
          <a:prstGeom prst="line">
            <a:avLst/>
          </a:prstGeom>
          <a:noFill/>
          <a:ln w="38100">
            <a:solidFill>
              <a:srgbClr val="E8843F"/>
            </a:solidFill>
            <a:prstDash val="solid"/>
          </a:ln>
        </p:spPr>
        <p:txBody>
          <a:bodyPr/>
          <a:lstStyle/>
          <a:p>
            <a:endParaRPr lang="en-CN"/>
          </a:p>
        </p:txBody>
      </p:sp>
      <p:sp>
        <p:nvSpPr>
          <p:cNvPr id="27" name="Text 25"/>
          <p:cNvSpPr/>
          <p:nvPr/>
        </p:nvSpPr>
        <p:spPr>
          <a:xfrm>
            <a:off x="4927564" y="3761197"/>
            <a:ext cx="6451564" cy="205698"/>
          </a:xfrm>
          <a:prstGeom prst="rect">
            <a:avLst/>
          </a:prstGeom>
          <a:solidFill>
            <a:srgbClr val="3A2B20"/>
          </a:solidFill>
          <a:ln/>
        </p:spPr>
        <p:txBody>
          <a:bodyPr wrap="none" lIns="177223" tIns="0" rIns="0" bIns="0" rtlCol="0" anchor="t">
            <a:normAutofit/>
          </a:bodyPr>
          <a:lstStyle/>
          <a:p>
            <a:pPr marL="0" indent="0" algn="l">
              <a:lnSpc>
                <a:spcPts val="1620"/>
              </a:lnSpc>
              <a:buNone/>
            </a:pPr>
            <a:r>
              <a:rPr lang="en-US" sz="1200" dirty="0">
                <a:solidFill>
                  <a:srgbClr val="7C8FA3"/>
                </a:solidFill>
                <a:latin typeface="JetBrains Mono" pitchFamily="49" charset="0"/>
                <a:ea typeface="JetBrains Mono" pitchFamily="49" charset="-122"/>
                <a:cs typeface="JetBrains Mono" pitchFamily="49" charset="-120"/>
              </a:rPr>
              <a:t>   </a:t>
            </a:r>
            <a:r>
              <a:rPr lang="en-US" sz="1200" dirty="0">
                <a:solidFill>
                  <a:srgbClr val="D6DDE5"/>
                </a:solidFill>
                <a:latin typeface="JetBrains Mono" pitchFamily="49" charset="0"/>
                <a:ea typeface="JetBrains Mono" pitchFamily="49" charset="-122"/>
                <a:cs typeface="JetBrains Mono" pitchFamily="49" charset="-120"/>
              </a:rPr>
              <a:t>     for temp in temperatures]</a:t>
            </a:r>
            <a:endParaRPr lang="en-US" sz="1200" dirty="0"/>
          </a:p>
        </p:txBody>
      </p:sp>
      <p:sp>
        <p:nvSpPr>
          <p:cNvPr id="28" name="Shape 26"/>
          <p:cNvSpPr/>
          <p:nvPr/>
        </p:nvSpPr>
        <p:spPr>
          <a:xfrm>
            <a:off x="4946614" y="3761197"/>
            <a:ext cx="0" cy="205698"/>
          </a:xfrm>
          <a:prstGeom prst="line">
            <a:avLst/>
          </a:prstGeom>
          <a:noFill/>
          <a:ln w="38100">
            <a:solidFill>
              <a:srgbClr val="E8843F"/>
            </a:solidFill>
            <a:prstDash val="solid"/>
          </a:ln>
        </p:spPr>
        <p:txBody>
          <a:bodyPr/>
          <a:lstStyle/>
          <a:p>
            <a:endParaRPr lang="en-CN"/>
          </a:p>
        </p:txBody>
      </p:sp>
      <p:sp>
        <p:nvSpPr>
          <p:cNvPr id="29" name="Text 27"/>
          <p:cNvSpPr/>
          <p:nvPr/>
        </p:nvSpPr>
        <p:spPr>
          <a:xfrm>
            <a:off x="5105364" y="3966896"/>
            <a:ext cx="6278842" cy="231098"/>
          </a:xfrm>
          <a:prstGeom prst="rect">
            <a:avLst/>
          </a:prstGeom>
          <a:noFill/>
          <a:ln/>
        </p:spPr>
        <p:txBody>
          <a:bodyPr wrap="none" lIns="0" tIns="0" rIns="0" bIns="0" rtlCol="0" anchor="t">
            <a:normAutofit/>
          </a:bodyPr>
          <a:lstStyle/>
          <a:p>
            <a:pPr marL="0" indent="0" algn="l">
              <a:lnSpc>
                <a:spcPts val="1620"/>
              </a:lnSpc>
              <a:buNone/>
            </a:pPr>
            <a:r>
              <a:rPr lang="en-US" sz="1200" dirty="0">
                <a:solidFill>
                  <a:srgbClr val="7C8FA3"/>
                </a:solidFill>
                <a:latin typeface="JetBrains Mono" pitchFamily="49" charset="0"/>
                <a:ea typeface="JetBrains Mono" pitchFamily="49" charset="-122"/>
                <a:cs typeface="JetBrains Mono" pitchFamily="49" charset="-120"/>
              </a:rPr>
              <a:t>158</a:t>
            </a:r>
            <a:r>
              <a:rPr lang="en-US" sz="1200" dirty="0">
                <a:solidFill>
                  <a:srgbClr val="D6DDE5"/>
                </a:solidFill>
                <a:latin typeface="JetBrains Mono" pitchFamily="49" charset="0"/>
                <a:ea typeface="JetBrains Mono" pitchFamily="49" charset="-122"/>
                <a:cs typeface="JetBrains Mono" pitchFamily="49" charset="-120"/>
              </a:rPr>
              <a:t>   for future in as_completed(futures_list):</a:t>
            </a:r>
            <a:endParaRPr lang="en-US" sz="1200" dirty="0"/>
          </a:p>
        </p:txBody>
      </p:sp>
      <p:sp>
        <p:nvSpPr>
          <p:cNvPr id="30" name="Text 28"/>
          <p:cNvSpPr/>
          <p:nvPr/>
        </p:nvSpPr>
        <p:spPr>
          <a:xfrm>
            <a:off x="5105364" y="4172595"/>
            <a:ext cx="6278842" cy="231098"/>
          </a:xfrm>
          <a:prstGeom prst="rect">
            <a:avLst/>
          </a:prstGeom>
          <a:noFill/>
          <a:ln/>
        </p:spPr>
        <p:txBody>
          <a:bodyPr wrap="none" lIns="0" tIns="0" rIns="0" bIns="0" rtlCol="0" anchor="t">
            <a:normAutofit/>
          </a:bodyPr>
          <a:lstStyle/>
          <a:p>
            <a:pPr marL="0" indent="0" algn="l">
              <a:lnSpc>
                <a:spcPts val="1620"/>
              </a:lnSpc>
              <a:buNone/>
            </a:pPr>
            <a:r>
              <a:rPr lang="en-US" sz="1200" dirty="0">
                <a:solidFill>
                  <a:srgbClr val="7C8FA3"/>
                </a:solidFill>
                <a:latin typeface="JetBrains Mono" pitchFamily="49" charset="0"/>
                <a:ea typeface="JetBrains Mono" pitchFamily="49" charset="-122"/>
                <a:cs typeface="JetBrains Mono" pitchFamily="49" charset="-120"/>
              </a:rPr>
              <a:t>160</a:t>
            </a:r>
            <a:r>
              <a:rPr lang="en-US" sz="1200" dirty="0">
                <a:solidFill>
                  <a:srgbClr val="D6DDE5"/>
                </a:solidFill>
                <a:latin typeface="JetBrains Mono" pitchFamily="49" charset="0"/>
                <a:ea typeface="JetBrains Mono" pitchFamily="49" charset="-122"/>
                <a:cs typeface="JetBrains Mono" pitchFamily="49" charset="-120"/>
              </a:rPr>
              <a:t>     title = future.result().strip()</a:t>
            </a:r>
            <a:endParaRPr lang="en-US" sz="1200" dirty="0"/>
          </a:p>
        </p:txBody>
      </p:sp>
      <p:sp>
        <p:nvSpPr>
          <p:cNvPr id="31" name="Text 29"/>
          <p:cNvSpPr/>
          <p:nvPr/>
        </p:nvSpPr>
        <p:spPr>
          <a:xfrm>
            <a:off x="5105364" y="4378294"/>
            <a:ext cx="6278842" cy="231098"/>
          </a:xfrm>
          <a:prstGeom prst="rect">
            <a:avLst/>
          </a:prstGeom>
          <a:noFill/>
          <a:ln/>
        </p:spPr>
        <p:txBody>
          <a:bodyPr wrap="none" lIns="0" tIns="0" rIns="0" bIns="0" rtlCol="0" anchor="t">
            <a:normAutofit/>
          </a:bodyPr>
          <a:lstStyle/>
          <a:p>
            <a:pPr marL="0" indent="0" algn="l">
              <a:lnSpc>
                <a:spcPts val="1620"/>
              </a:lnSpc>
              <a:buNone/>
            </a:pPr>
            <a:r>
              <a:rPr lang="en-US" sz="1200" dirty="0">
                <a:solidFill>
                  <a:srgbClr val="7C8FA3"/>
                </a:solidFill>
                <a:latin typeface="JetBrains Mono" pitchFamily="49" charset="0"/>
                <a:ea typeface="JetBrains Mono" pitchFamily="49" charset="-122"/>
                <a:cs typeface="JetBrains Mono" pitchFamily="49" charset="-120"/>
              </a:rPr>
              <a:t>161</a:t>
            </a:r>
            <a:r>
              <a:rPr lang="en-US" sz="1200" dirty="0">
                <a:solidFill>
                  <a:srgbClr val="D6DDE5"/>
                </a:solidFill>
                <a:latin typeface="JetBrains Mono" pitchFamily="49" charset="0"/>
                <a:ea typeface="JetBrains Mono" pitchFamily="49" charset="-122"/>
                <a:cs typeface="JetBrains Mono" pitchFamily="49" charset="-120"/>
              </a:rPr>
              <a:t>     titles.append(title)</a:t>
            </a:r>
            <a:endParaRPr lang="en-US" sz="1200" dirty="0"/>
          </a:p>
        </p:txBody>
      </p:sp>
      <p:sp>
        <p:nvSpPr>
          <p:cNvPr id="32" name="Text 30"/>
          <p:cNvSpPr/>
          <p:nvPr/>
        </p:nvSpPr>
        <p:spPr>
          <a:xfrm>
            <a:off x="5105364" y="4583993"/>
            <a:ext cx="6278842" cy="231098"/>
          </a:xfrm>
          <a:prstGeom prst="rect">
            <a:avLst/>
          </a:prstGeom>
          <a:noFill/>
          <a:ln/>
        </p:spPr>
        <p:txBody>
          <a:bodyPr wrap="none" lIns="0" tIns="0" rIns="0" bIns="0" rtlCol="0" anchor="t">
            <a:normAutofit/>
          </a:bodyPr>
          <a:lstStyle/>
          <a:p>
            <a:pPr marL="0" indent="0" algn="l">
              <a:lnSpc>
                <a:spcPts val="1620"/>
              </a:lnSpc>
              <a:buNone/>
            </a:pPr>
            <a:r>
              <a:rPr lang="en-US" sz="1200" dirty="0">
                <a:solidFill>
                  <a:srgbClr val="7C8FA3"/>
                </a:solidFill>
                <a:latin typeface="JetBrains Mono" pitchFamily="49" charset="0"/>
                <a:ea typeface="JetBrains Mono" pitchFamily="49" charset="-122"/>
                <a:cs typeface="JetBrains Mono" pitchFamily="49" charset="-120"/>
              </a:rPr>
              <a:t>167</a:t>
            </a:r>
            <a:r>
              <a:rPr lang="en-US" sz="1200" dirty="0">
                <a:solidFill>
                  <a:srgbClr val="D6DDE5"/>
                </a:solidFill>
                <a:latin typeface="JetBrains Mono" pitchFamily="49" charset="0"/>
                <a:ea typeface="JetBrains Mono" pitchFamily="49" charset="-122"/>
                <a:cs typeface="JetBrains Mono" pitchFamily="49" charset="-120"/>
              </a:rPr>
              <a:t> </a:t>
            </a:r>
            <a:r>
              <a:rPr lang="en-US" sz="1200" dirty="0">
                <a:solidFill>
                  <a:srgbClr val="8798AA"/>
                </a:solidFill>
                <a:latin typeface="JetBrains Mono" pitchFamily="49" charset="0"/>
                <a:ea typeface="JetBrains Mono" pitchFamily="49" charset="-122"/>
                <a:cs typeface="JetBrains Mono" pitchFamily="49" charset="-120"/>
              </a:rPr>
              <a:t># Evaluate and pick the best title</a:t>
            </a:r>
            <a:endParaRPr lang="en-US" sz="1200" dirty="0"/>
          </a:p>
        </p:txBody>
      </p:sp>
      <p:sp>
        <p:nvSpPr>
          <p:cNvPr id="33" name="Text 31"/>
          <p:cNvSpPr/>
          <p:nvPr/>
        </p:nvSpPr>
        <p:spPr>
          <a:xfrm>
            <a:off x="4927564" y="4789692"/>
            <a:ext cx="6451564" cy="205698"/>
          </a:xfrm>
          <a:prstGeom prst="rect">
            <a:avLst/>
          </a:prstGeom>
          <a:solidFill>
            <a:srgbClr val="3A2B20"/>
          </a:solidFill>
          <a:ln/>
        </p:spPr>
        <p:txBody>
          <a:bodyPr wrap="none" lIns="177223" tIns="0" rIns="0" bIns="0" rtlCol="0" anchor="t">
            <a:normAutofit/>
          </a:bodyPr>
          <a:lstStyle/>
          <a:p>
            <a:pPr marL="0" indent="0" algn="l">
              <a:lnSpc>
                <a:spcPts val="1620"/>
              </a:lnSpc>
              <a:buNone/>
            </a:pPr>
            <a:r>
              <a:rPr lang="en-US" sz="1200" dirty="0">
                <a:solidFill>
                  <a:srgbClr val="7C8FA3"/>
                </a:solidFill>
                <a:latin typeface="JetBrains Mono" pitchFamily="49" charset="0"/>
                <a:ea typeface="JetBrains Mono" pitchFamily="49" charset="-122"/>
                <a:cs typeface="JetBrains Mono" pitchFamily="49" charset="-120"/>
              </a:rPr>
              <a:t>168</a:t>
            </a:r>
            <a:r>
              <a:rPr lang="en-US" sz="1200" dirty="0">
                <a:solidFill>
                  <a:srgbClr val="D6DDE5"/>
                </a:solidFill>
                <a:latin typeface="JetBrains Mono" pitchFamily="49" charset="0"/>
                <a:ea typeface="JetBrains Mono" pitchFamily="49" charset="-122"/>
                <a:cs typeface="JetBrains Mono" pitchFamily="49" charset="-120"/>
              </a:rPr>
              <a:t> if titles: </a:t>
            </a:r>
            <a:r>
              <a:rPr lang="en-US" sz="1200" b="1" dirty="0">
                <a:solidFill>
                  <a:srgbClr val="F2A46B"/>
                </a:solidFill>
                <a:latin typeface="JetBrains Mono" pitchFamily="49" charset="0"/>
                <a:ea typeface="JetBrains Mono" pitchFamily="49" charset="-122"/>
                <a:cs typeface="JetBrains Mono" pitchFamily="49" charset="-120"/>
              </a:rPr>
              <a:t>← 3</a:t>
            </a:r>
            <a:endParaRPr lang="en-US" sz="1200" dirty="0"/>
          </a:p>
        </p:txBody>
      </p:sp>
      <p:sp>
        <p:nvSpPr>
          <p:cNvPr id="34" name="Shape 32"/>
          <p:cNvSpPr/>
          <p:nvPr/>
        </p:nvSpPr>
        <p:spPr>
          <a:xfrm>
            <a:off x="4946614" y="4789692"/>
            <a:ext cx="0" cy="205698"/>
          </a:xfrm>
          <a:prstGeom prst="line">
            <a:avLst/>
          </a:prstGeom>
          <a:noFill/>
          <a:ln w="38100">
            <a:solidFill>
              <a:srgbClr val="E8843F"/>
            </a:solidFill>
            <a:prstDash val="solid"/>
          </a:ln>
        </p:spPr>
        <p:txBody>
          <a:bodyPr/>
          <a:lstStyle/>
          <a:p>
            <a:endParaRPr lang="en-CN"/>
          </a:p>
        </p:txBody>
      </p:sp>
      <p:sp>
        <p:nvSpPr>
          <p:cNvPr id="35" name="Text 33"/>
          <p:cNvSpPr/>
          <p:nvPr/>
        </p:nvSpPr>
        <p:spPr>
          <a:xfrm>
            <a:off x="4927564" y="4995391"/>
            <a:ext cx="6451564" cy="205698"/>
          </a:xfrm>
          <a:prstGeom prst="rect">
            <a:avLst/>
          </a:prstGeom>
          <a:solidFill>
            <a:srgbClr val="3A2B20"/>
          </a:solidFill>
          <a:ln/>
        </p:spPr>
        <p:txBody>
          <a:bodyPr wrap="none" lIns="177223" tIns="0" rIns="0" bIns="0" rtlCol="0" anchor="t">
            <a:normAutofit/>
          </a:bodyPr>
          <a:lstStyle/>
          <a:p>
            <a:pPr marL="0" indent="0" algn="l">
              <a:lnSpc>
                <a:spcPts val="1620"/>
              </a:lnSpc>
              <a:buNone/>
            </a:pPr>
            <a:r>
              <a:rPr lang="en-US" sz="1200" dirty="0">
                <a:solidFill>
                  <a:srgbClr val="7C8FA3"/>
                </a:solidFill>
                <a:latin typeface="JetBrains Mono" pitchFamily="49" charset="0"/>
                <a:ea typeface="JetBrains Mono" pitchFamily="49" charset="-122"/>
                <a:cs typeface="JetBrains Mono" pitchFamily="49" charset="-120"/>
              </a:rPr>
              <a:t>170</a:t>
            </a:r>
            <a:r>
              <a:rPr lang="en-US" sz="1200" dirty="0">
                <a:solidFill>
                  <a:srgbClr val="D6DDE5"/>
                </a:solidFill>
                <a:latin typeface="JetBrains Mono" pitchFamily="49" charset="0"/>
                <a:ea typeface="JetBrains Mono" pitchFamily="49" charset="-122"/>
                <a:cs typeface="JetBrains Mono" pitchFamily="49" charset="-120"/>
              </a:rPr>
              <a:t>   results["seo_vote"] = \</a:t>
            </a:r>
            <a:endParaRPr lang="en-US" sz="1200" dirty="0"/>
          </a:p>
        </p:txBody>
      </p:sp>
      <p:sp>
        <p:nvSpPr>
          <p:cNvPr id="36" name="Shape 34"/>
          <p:cNvSpPr/>
          <p:nvPr/>
        </p:nvSpPr>
        <p:spPr>
          <a:xfrm>
            <a:off x="4946614" y="4995391"/>
            <a:ext cx="0" cy="205698"/>
          </a:xfrm>
          <a:prstGeom prst="line">
            <a:avLst/>
          </a:prstGeom>
          <a:noFill/>
          <a:ln w="38100">
            <a:solidFill>
              <a:srgbClr val="E8843F"/>
            </a:solidFill>
            <a:prstDash val="solid"/>
          </a:ln>
        </p:spPr>
        <p:txBody>
          <a:bodyPr/>
          <a:lstStyle/>
          <a:p>
            <a:endParaRPr lang="en-CN"/>
          </a:p>
        </p:txBody>
      </p:sp>
      <p:sp>
        <p:nvSpPr>
          <p:cNvPr id="37" name="Text 35"/>
          <p:cNvSpPr/>
          <p:nvPr/>
        </p:nvSpPr>
        <p:spPr>
          <a:xfrm>
            <a:off x="4927564" y="5201090"/>
            <a:ext cx="6451564" cy="205698"/>
          </a:xfrm>
          <a:prstGeom prst="rect">
            <a:avLst/>
          </a:prstGeom>
          <a:solidFill>
            <a:srgbClr val="3A2B20"/>
          </a:solidFill>
          <a:ln/>
        </p:spPr>
        <p:txBody>
          <a:bodyPr wrap="none" lIns="177223" tIns="0" rIns="0" bIns="0" rtlCol="0" anchor="t">
            <a:normAutofit/>
          </a:bodyPr>
          <a:lstStyle/>
          <a:p>
            <a:pPr marL="0" indent="0" algn="l">
              <a:lnSpc>
                <a:spcPts val="1620"/>
              </a:lnSpc>
              <a:buNone/>
            </a:pPr>
            <a:r>
              <a:rPr lang="en-US" sz="1200" dirty="0">
                <a:solidFill>
                  <a:srgbClr val="7C8FA3"/>
                </a:solidFill>
                <a:latin typeface="JetBrains Mono" pitchFamily="49" charset="0"/>
                <a:ea typeface="JetBrains Mono" pitchFamily="49" charset="-122"/>
                <a:cs typeface="JetBrains Mono" pitchFamily="49" charset="-120"/>
              </a:rPr>
              <a:t>   </a:t>
            </a:r>
            <a:r>
              <a:rPr lang="en-US" sz="1200" dirty="0">
                <a:solidFill>
                  <a:srgbClr val="D6DDE5"/>
                </a:solidFill>
                <a:latin typeface="JetBrains Mono" pitchFamily="49" charset="0"/>
                <a:ea typeface="JetBrains Mono" pitchFamily="49" charset="-122"/>
                <a:cs typeface="JetBrains Mono" pitchFamily="49" charset="-120"/>
              </a:rPr>
              <a:t>     self._vote_best_title(titles, blog_post)</a:t>
            </a:r>
            <a:endParaRPr lang="en-US" sz="1200" dirty="0"/>
          </a:p>
        </p:txBody>
      </p:sp>
      <p:sp>
        <p:nvSpPr>
          <p:cNvPr id="38" name="Shape 36"/>
          <p:cNvSpPr/>
          <p:nvPr/>
        </p:nvSpPr>
        <p:spPr>
          <a:xfrm>
            <a:off x="4946614" y="5201090"/>
            <a:ext cx="0" cy="205698"/>
          </a:xfrm>
          <a:prstGeom prst="line">
            <a:avLst/>
          </a:prstGeom>
          <a:noFill/>
          <a:ln w="38100">
            <a:solidFill>
              <a:srgbClr val="E8843F"/>
            </a:solidFill>
            <a:prstDash val="solid"/>
          </a:ln>
        </p:spPr>
        <p:txBody>
          <a:bodyPr/>
          <a:lstStyle/>
          <a:p>
            <a:endParaRPr lang="en-CN"/>
          </a:p>
        </p:txBody>
      </p:sp>
      <p:sp>
        <p:nvSpPr>
          <p:cNvPr id="39" name="Text 37"/>
          <p:cNvSpPr/>
          <p:nvPr/>
        </p:nvSpPr>
        <p:spPr>
          <a:xfrm>
            <a:off x="812782" y="6238286"/>
            <a:ext cx="967994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7684"/>
                </a:solidFill>
                <a:latin typeface="IBM Plex Sans" pitchFamily="34" charset="0"/>
                <a:ea typeface="IBM Plex Sans" pitchFamily="34" charset="-122"/>
                <a:cs typeface="IBM Plex Sans" pitchFamily="34" charset="-120"/>
              </a:rPr>
              <a:t>03-parallelization/01_parallelization.py · lines condensed</a:t>
            </a:r>
            <a:endParaRPr lang="en-US" sz="1200" dirty="0"/>
          </a:p>
        </p:txBody>
      </p:sp>
      <p:sp>
        <p:nvSpPr>
          <p:cNvPr id="40" name="Text 38"/>
          <p:cNvSpPr/>
          <p:nvPr/>
        </p:nvSpPr>
        <p:spPr>
          <a:xfrm>
            <a:off x="10312418" y="6238286"/>
            <a:ext cx="1066800" cy="238720"/>
          </a:xfrm>
          <a:prstGeom prst="rect">
            <a:avLst/>
          </a:prstGeom>
          <a:noFill/>
          <a:ln/>
        </p:spPr>
        <p:txBody>
          <a:bodyPr wrap="square" lIns="0" tIns="0" rIns="0" bIns="0" rtlCol="0" anchor="t">
            <a:normAutofit/>
          </a:bodyPr>
          <a:lstStyle/>
          <a:p>
            <a:pPr marL="0" indent="0" algn="r">
              <a:lnSpc>
                <a:spcPts val="1680"/>
              </a:lnSpc>
              <a:buNone/>
            </a:pPr>
            <a:r>
              <a:rPr lang="en-US" sz="1200" b="1" dirty="0">
                <a:solidFill>
                  <a:srgbClr val="6A7684"/>
                </a:solidFill>
                <a:latin typeface="IBM Plex Sans" pitchFamily="34" charset="0"/>
                <a:ea typeface="IBM Plex Sans" pitchFamily="34" charset="-122"/>
                <a:cs typeface="IBM Plex Sans" pitchFamily="34" charset="-120"/>
              </a:rPr>
              <a:t>12 / 27</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6212C"/>
        </a:solidFill>
        <a:effectLst/>
      </p:bgPr>
    </p:bg>
    <p:spTree>
      <p:nvGrpSpPr>
        <p:cNvPr id="1" name=""/>
        <p:cNvGrpSpPr/>
        <p:nvPr/>
      </p:nvGrpSpPr>
      <p:grpSpPr>
        <a:xfrm>
          <a:off x="0" y="0"/>
          <a:ext cx="0" cy="0"/>
          <a:chOff x="0" y="0"/>
          <a:chExt cx="0" cy="0"/>
        </a:xfrm>
      </p:grpSpPr>
      <p:sp>
        <p:nvSpPr>
          <p:cNvPr id="2" name="Text 0"/>
          <p:cNvSpPr/>
          <p:nvPr/>
        </p:nvSpPr>
        <p:spPr>
          <a:xfrm>
            <a:off x="812782" y="711169"/>
            <a:ext cx="10883429"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F2A46B"/>
                </a:solidFill>
                <a:latin typeface="IBM Plex Sans" pitchFamily="34" charset="0"/>
                <a:ea typeface="IBM Plex Sans" pitchFamily="34" charset="-122"/>
                <a:cs typeface="IBM Plex Sans" pitchFamily="34" charset="-120"/>
              </a:rPr>
              <a:t>04 · ORCHESTRATOR-WORKERS</a:t>
            </a:r>
            <a:endParaRPr lang="en-US" sz="1200" dirty="0"/>
          </a:p>
        </p:txBody>
      </p:sp>
      <p:sp>
        <p:nvSpPr>
          <p:cNvPr id="3" name="Text 1"/>
          <p:cNvSpPr>
            <a:spLocks noGrp="1"/>
          </p:cNvSpPr>
          <p:nvPr>
            <p:ph type="title"/>
          </p:nvPr>
        </p:nvSpPr>
        <p:spPr>
          <a:xfrm>
            <a:off x="812782" y="1000665"/>
            <a:ext cx="10883429" cy="444464"/>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F4F2EC"/>
                </a:solidFill>
                <a:latin typeface="IBM Plex Sans" pitchFamily="34" charset="0"/>
                <a:ea typeface="IBM Plex Sans" pitchFamily="34" charset="-122"/>
                <a:cs typeface="IBM Plex Sans" pitchFamily="34" charset="-120"/>
              </a:rPr>
              <a:t>Now the LLM decides how to split the work</a:t>
            </a:r>
            <a:endParaRPr lang="en-US" sz="3000" dirty="0"/>
          </a:p>
        </p:txBody>
      </p:sp>
      <p:sp>
        <p:nvSpPr>
          <p:cNvPr id="4" name="Text 2"/>
          <p:cNvSpPr/>
          <p:nvPr/>
        </p:nvSpPr>
        <p:spPr>
          <a:xfrm>
            <a:off x="819132" y="2250362"/>
            <a:ext cx="1130300" cy="559025"/>
          </a:xfrm>
          <a:prstGeom prst="roundRect">
            <a:avLst>
              <a:gd name="adj" fmla="val 14767"/>
            </a:avLst>
          </a:prstGeom>
          <a:solidFill>
            <a:srgbClr val="22303E"/>
          </a:solidFill>
          <a:ln w="12700">
            <a:solidFill>
              <a:srgbClr val="3A4B5C"/>
            </a:solidFill>
            <a:prstDash val="solid"/>
          </a:ln>
        </p:spPr>
        <p:txBody>
          <a:bodyPr wrap="square" lIns="133408" tIns="133417" rIns="82608" bIns="107999" rtlCol="0" anchor="t">
            <a:normAutofit/>
          </a:bodyPr>
          <a:lstStyle/>
          <a:p>
            <a:pPr marL="0" indent="0" algn="l">
              <a:lnSpc>
                <a:spcPts val="1920"/>
              </a:lnSpc>
              <a:buNone/>
            </a:pPr>
            <a:r>
              <a:rPr lang="en-US" sz="1600" b="1" dirty="0">
                <a:solidFill>
                  <a:srgbClr val="F4F2EC"/>
                </a:solidFill>
                <a:latin typeface="IBM Plex Sans" pitchFamily="34" charset="0"/>
                <a:ea typeface="IBM Plex Sans" pitchFamily="34" charset="-122"/>
                <a:cs typeface="IBM Plex Sans" pitchFamily="34" charset="-120"/>
              </a:rPr>
              <a:t>Topic</a:t>
            </a:r>
            <a:endParaRPr lang="en-US" sz="1600" dirty="0"/>
          </a:p>
        </p:txBody>
      </p:sp>
      <p:pic>
        <p:nvPicPr>
          <p:cNvPr id="5" name="Image 0" descr="arrow-right"/>
          <p:cNvPicPr>
            <a:picLocks noChangeAspect="1"/>
          </p:cNvPicPr>
          <p:nvPr/>
        </p:nvPicPr>
        <p:blipFill>
          <a:blip r:embed="rId3"/>
          <a:srcRect/>
          <a:stretch/>
        </p:blipFill>
        <p:spPr>
          <a:xfrm>
            <a:off x="2057346" y="2453680"/>
            <a:ext cx="304782" cy="152391"/>
          </a:xfrm>
          <a:prstGeom prst="rect">
            <a:avLst/>
          </a:prstGeom>
        </p:spPr>
      </p:pic>
      <p:sp>
        <p:nvSpPr>
          <p:cNvPr id="6" name="Shape 3"/>
          <p:cNvSpPr/>
          <p:nvPr/>
        </p:nvSpPr>
        <p:spPr>
          <a:xfrm>
            <a:off x="2470042" y="1986260"/>
            <a:ext cx="3016403" cy="1087230"/>
          </a:xfrm>
          <a:prstGeom prst="roundRect">
            <a:avLst>
              <a:gd name="adj" fmla="val 7593"/>
            </a:avLst>
          </a:prstGeom>
          <a:solidFill>
            <a:srgbClr val="22303E"/>
          </a:solidFill>
          <a:ln w="12700">
            <a:solidFill>
              <a:srgbClr val="3A4B5C"/>
            </a:solidFill>
            <a:prstDash val="solid"/>
          </a:ln>
        </p:spPr>
        <p:txBody>
          <a:bodyPr/>
          <a:lstStyle/>
          <a:p>
            <a:endParaRPr lang="en-CN"/>
          </a:p>
        </p:txBody>
      </p:sp>
      <p:sp>
        <p:nvSpPr>
          <p:cNvPr id="7" name="Text 4"/>
          <p:cNvSpPr/>
          <p:nvPr/>
        </p:nvSpPr>
        <p:spPr>
          <a:xfrm>
            <a:off x="2627628" y="2143844"/>
            <a:ext cx="2782267" cy="269253"/>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4F2EC"/>
                </a:solidFill>
                <a:latin typeface="IBM Plex Sans" pitchFamily="34" charset="0"/>
                <a:ea typeface="IBM Plex Sans" pitchFamily="34" charset="-122"/>
                <a:cs typeface="IBM Plex Sans" pitchFamily="34" charset="-120"/>
              </a:rPr>
              <a:t>Orchestrator</a:t>
            </a:r>
            <a:endParaRPr lang="en-US" sz="1600" dirty="0"/>
          </a:p>
        </p:txBody>
      </p:sp>
      <p:sp>
        <p:nvSpPr>
          <p:cNvPr id="8" name="Text 5"/>
          <p:cNvSpPr/>
          <p:nvPr/>
        </p:nvSpPr>
        <p:spPr>
          <a:xfrm>
            <a:off x="2627628" y="2438481"/>
            <a:ext cx="2782267"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FCAD6"/>
                </a:solidFill>
                <a:latin typeface="IBM Plex Sans" pitchFamily="34" charset="0"/>
                <a:ea typeface="IBM Plex Sans" pitchFamily="34" charset="-122"/>
                <a:cs typeface="IBM Plex Sans" pitchFamily="34" charset="-120"/>
              </a:rPr>
              <a:t>Sonnet writes a plan</a:t>
            </a:r>
            <a:endParaRPr lang="en-US" sz="1200" dirty="0"/>
          </a:p>
        </p:txBody>
      </p:sp>
      <p:sp>
        <p:nvSpPr>
          <p:cNvPr id="9" name="Text 6"/>
          <p:cNvSpPr/>
          <p:nvPr/>
        </p:nvSpPr>
        <p:spPr>
          <a:xfrm>
            <a:off x="2627628" y="2702582"/>
            <a:ext cx="2782267"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2A46B"/>
                </a:solidFill>
                <a:latin typeface="JetBrains Mono" pitchFamily="49" charset="0"/>
                <a:ea typeface="JetBrains Mono" pitchFamily="49" charset="-122"/>
                <a:cs typeface="JetBrains Mono" pitchFamily="49" charset="-120"/>
              </a:rPr>
              <a:t>_plan</a:t>
            </a:r>
            <a:endParaRPr lang="en-US" sz="1200" dirty="0"/>
          </a:p>
        </p:txBody>
      </p:sp>
      <p:pic>
        <p:nvPicPr>
          <p:cNvPr id="10" name="Image 1" descr="arrow-right"/>
          <p:cNvPicPr>
            <a:picLocks noChangeAspect="1"/>
          </p:cNvPicPr>
          <p:nvPr/>
        </p:nvPicPr>
        <p:blipFill>
          <a:blip r:embed="rId3"/>
          <a:srcRect/>
          <a:stretch/>
        </p:blipFill>
        <p:spPr>
          <a:xfrm>
            <a:off x="5594359" y="2453680"/>
            <a:ext cx="304782" cy="152391"/>
          </a:xfrm>
          <a:prstGeom prst="rect">
            <a:avLst/>
          </a:prstGeom>
        </p:spPr>
      </p:pic>
      <p:sp>
        <p:nvSpPr>
          <p:cNvPr id="11" name="Text 7"/>
          <p:cNvSpPr/>
          <p:nvPr/>
        </p:nvSpPr>
        <p:spPr>
          <a:xfrm>
            <a:off x="6007055" y="1705471"/>
            <a:ext cx="1828800" cy="393871"/>
          </a:xfrm>
          <a:prstGeom prst="roundRect">
            <a:avLst>
              <a:gd name="adj" fmla="val 17734"/>
            </a:avLst>
          </a:prstGeom>
          <a:solidFill>
            <a:srgbClr val="22303E"/>
          </a:solidFill>
          <a:ln w="12700">
            <a:solidFill>
              <a:srgbClr val="5C7085"/>
            </a:solidFill>
            <a:prstDash val="dash"/>
          </a:ln>
        </p:spPr>
        <p:txBody>
          <a:bodyPr wrap="square" lIns="111737" tIns="60937" rIns="60937" bIns="35537" rtlCol="0" anchor="t">
            <a:normAutofit/>
          </a:bodyPr>
          <a:lstStyle/>
          <a:p>
            <a:pPr marL="0" indent="0" algn="l">
              <a:lnSpc>
                <a:spcPts val="1820"/>
              </a:lnSpc>
              <a:buNone/>
            </a:pPr>
            <a:r>
              <a:rPr lang="en-US" sz="1300" dirty="0">
                <a:solidFill>
                  <a:srgbClr val="F4F2EC"/>
                </a:solidFill>
                <a:latin typeface="IBM Plex Sans" pitchFamily="34" charset="0"/>
                <a:ea typeface="IBM Plex Sans" pitchFamily="34" charset="-122"/>
                <a:cs typeface="IBM Plex Sans" pitchFamily="34" charset="-120"/>
              </a:rPr>
              <a:t>Worker 1</a:t>
            </a:r>
            <a:endParaRPr lang="en-US" sz="1300" dirty="0"/>
          </a:p>
        </p:txBody>
      </p:sp>
      <p:sp>
        <p:nvSpPr>
          <p:cNvPr id="12" name="Text 8"/>
          <p:cNvSpPr/>
          <p:nvPr/>
        </p:nvSpPr>
        <p:spPr>
          <a:xfrm>
            <a:off x="6007055" y="2188214"/>
            <a:ext cx="1828800" cy="393871"/>
          </a:xfrm>
          <a:prstGeom prst="roundRect">
            <a:avLst>
              <a:gd name="adj" fmla="val 17734"/>
            </a:avLst>
          </a:prstGeom>
          <a:solidFill>
            <a:srgbClr val="22303E"/>
          </a:solidFill>
          <a:ln w="12700">
            <a:solidFill>
              <a:srgbClr val="5C7085"/>
            </a:solidFill>
            <a:prstDash val="dash"/>
          </a:ln>
        </p:spPr>
        <p:txBody>
          <a:bodyPr wrap="square" lIns="111737" tIns="60937" rIns="60937" bIns="35537" rtlCol="0" anchor="t">
            <a:normAutofit/>
          </a:bodyPr>
          <a:lstStyle/>
          <a:p>
            <a:pPr marL="0" indent="0" algn="l">
              <a:lnSpc>
                <a:spcPts val="1820"/>
              </a:lnSpc>
              <a:buNone/>
            </a:pPr>
            <a:r>
              <a:rPr lang="en-US" sz="1300" dirty="0">
                <a:solidFill>
                  <a:srgbClr val="F4F2EC"/>
                </a:solidFill>
                <a:latin typeface="IBM Plex Sans" pitchFamily="34" charset="0"/>
                <a:ea typeface="IBM Plex Sans" pitchFamily="34" charset="-122"/>
                <a:cs typeface="IBM Plex Sans" pitchFamily="34" charset="-120"/>
              </a:rPr>
              <a:t>Worker 2</a:t>
            </a:r>
            <a:endParaRPr lang="en-US" sz="1300" dirty="0"/>
          </a:p>
        </p:txBody>
      </p:sp>
      <p:sp>
        <p:nvSpPr>
          <p:cNvPr id="13" name="Text 9"/>
          <p:cNvSpPr/>
          <p:nvPr/>
        </p:nvSpPr>
        <p:spPr>
          <a:xfrm>
            <a:off x="6007055" y="2670956"/>
            <a:ext cx="1828800" cy="393871"/>
          </a:xfrm>
          <a:prstGeom prst="roundRect">
            <a:avLst>
              <a:gd name="adj" fmla="val 17734"/>
            </a:avLst>
          </a:prstGeom>
          <a:solidFill>
            <a:srgbClr val="22303E"/>
          </a:solidFill>
          <a:ln w="12700">
            <a:solidFill>
              <a:srgbClr val="5C7085"/>
            </a:solidFill>
            <a:prstDash val="dash"/>
          </a:ln>
        </p:spPr>
        <p:txBody>
          <a:bodyPr wrap="square" lIns="111737" tIns="60937" rIns="60937" bIns="35537" rtlCol="0" anchor="t">
            <a:normAutofit/>
          </a:bodyPr>
          <a:lstStyle/>
          <a:p>
            <a:pPr marL="0" indent="0" algn="l">
              <a:lnSpc>
                <a:spcPts val="1820"/>
              </a:lnSpc>
              <a:buNone/>
            </a:pPr>
            <a:r>
              <a:rPr lang="en-US" sz="1300" dirty="0">
                <a:solidFill>
                  <a:srgbClr val="F4F2EC"/>
                </a:solidFill>
                <a:latin typeface="IBM Plex Sans" pitchFamily="34" charset="0"/>
                <a:ea typeface="IBM Plex Sans" pitchFamily="34" charset="-122"/>
                <a:cs typeface="IBM Plex Sans" pitchFamily="34" charset="-120"/>
              </a:rPr>
              <a:t>Worker N</a:t>
            </a:r>
            <a:endParaRPr lang="en-US" sz="1300" dirty="0"/>
          </a:p>
        </p:txBody>
      </p:sp>
      <p:sp>
        <p:nvSpPr>
          <p:cNvPr id="14" name="Text 10"/>
          <p:cNvSpPr/>
          <p:nvPr/>
        </p:nvSpPr>
        <p:spPr>
          <a:xfrm>
            <a:off x="6000705" y="3147349"/>
            <a:ext cx="1896745"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2A46B"/>
                </a:solidFill>
                <a:latin typeface="JetBrains Mono" pitchFamily="49" charset="0"/>
                <a:ea typeface="JetBrains Mono" pitchFamily="49" charset="-122"/>
                <a:cs typeface="JetBrains Mono" pitchFamily="49" charset="-120"/>
              </a:rPr>
              <a:t>_research_subtopic</a:t>
            </a:r>
            <a:endParaRPr lang="en-US" sz="1200" dirty="0"/>
          </a:p>
        </p:txBody>
      </p:sp>
      <p:pic>
        <p:nvPicPr>
          <p:cNvPr id="15" name="Image 2" descr="arrow-right"/>
          <p:cNvPicPr>
            <a:picLocks noChangeAspect="1"/>
          </p:cNvPicPr>
          <p:nvPr/>
        </p:nvPicPr>
        <p:blipFill>
          <a:blip r:embed="rId3"/>
          <a:srcRect/>
          <a:stretch/>
        </p:blipFill>
        <p:spPr>
          <a:xfrm>
            <a:off x="7943769" y="2453680"/>
            <a:ext cx="304782" cy="152391"/>
          </a:xfrm>
          <a:prstGeom prst="rect">
            <a:avLst/>
          </a:prstGeom>
        </p:spPr>
      </p:pic>
      <p:sp>
        <p:nvSpPr>
          <p:cNvPr id="16" name="Shape 11"/>
          <p:cNvSpPr/>
          <p:nvPr/>
        </p:nvSpPr>
        <p:spPr>
          <a:xfrm>
            <a:off x="8356464" y="1986260"/>
            <a:ext cx="3016403" cy="1087230"/>
          </a:xfrm>
          <a:prstGeom prst="roundRect">
            <a:avLst>
              <a:gd name="adj" fmla="val 7593"/>
            </a:avLst>
          </a:prstGeom>
          <a:solidFill>
            <a:srgbClr val="22303E"/>
          </a:solidFill>
          <a:ln w="12700">
            <a:solidFill>
              <a:srgbClr val="3A4B5C"/>
            </a:solidFill>
            <a:prstDash val="solid"/>
          </a:ln>
        </p:spPr>
        <p:txBody>
          <a:bodyPr/>
          <a:lstStyle/>
          <a:p>
            <a:endParaRPr lang="en-CN"/>
          </a:p>
        </p:txBody>
      </p:sp>
      <p:sp>
        <p:nvSpPr>
          <p:cNvPr id="17" name="Text 12"/>
          <p:cNvSpPr/>
          <p:nvPr/>
        </p:nvSpPr>
        <p:spPr>
          <a:xfrm>
            <a:off x="8514051" y="2143844"/>
            <a:ext cx="2782267" cy="269253"/>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4F2EC"/>
                </a:solidFill>
                <a:latin typeface="IBM Plex Sans" pitchFamily="34" charset="0"/>
                <a:ea typeface="IBM Plex Sans" pitchFamily="34" charset="-122"/>
                <a:cs typeface="IBM Plex Sans" pitchFamily="34" charset="-120"/>
              </a:rPr>
              <a:t>Synthesizer</a:t>
            </a:r>
            <a:endParaRPr lang="en-US" sz="1600" dirty="0"/>
          </a:p>
        </p:txBody>
      </p:sp>
      <p:sp>
        <p:nvSpPr>
          <p:cNvPr id="18" name="Text 13"/>
          <p:cNvSpPr/>
          <p:nvPr/>
        </p:nvSpPr>
        <p:spPr>
          <a:xfrm>
            <a:off x="8514051" y="2438481"/>
            <a:ext cx="2782267"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FCAD6"/>
                </a:solidFill>
                <a:latin typeface="IBM Plex Sans" pitchFamily="34" charset="0"/>
                <a:ea typeface="IBM Plex Sans" pitchFamily="34" charset="-122"/>
                <a:cs typeface="IBM Plex Sans" pitchFamily="34" charset="-120"/>
              </a:rPr>
              <a:t>one coherent article</a:t>
            </a:r>
            <a:endParaRPr lang="en-US" sz="1200" dirty="0"/>
          </a:p>
        </p:txBody>
      </p:sp>
      <p:sp>
        <p:nvSpPr>
          <p:cNvPr id="19" name="Text 14"/>
          <p:cNvSpPr/>
          <p:nvPr/>
        </p:nvSpPr>
        <p:spPr>
          <a:xfrm>
            <a:off x="8514051" y="2702582"/>
            <a:ext cx="2782267"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2A46B"/>
                </a:solidFill>
                <a:latin typeface="JetBrains Mono" pitchFamily="49" charset="0"/>
                <a:ea typeface="JetBrains Mono" pitchFamily="49" charset="-122"/>
                <a:cs typeface="JetBrains Mono" pitchFamily="49" charset="-120"/>
              </a:rPr>
              <a:t>_synthesize</a:t>
            </a:r>
            <a:endParaRPr lang="en-US" sz="12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824327" y="3651609"/>
          <a:ext cx="10554890" cy="1432899"/>
        </p:xfrm>
        <a:graphic>
          <a:graphicData uri="http://schemas.openxmlformats.org/drawingml/2006/table">
            <a:tbl>
              <a:tblPr/>
              <a:tblGrid>
                <a:gridCol w="2955369">
                  <a:extLst>
                    <a:ext uri="{9D8B030D-6E8A-4147-A177-3AD203B41FA5}">
                      <a16:colId xmlns:a16="http://schemas.microsoft.com/office/drawing/2014/main" val="20000"/>
                    </a:ext>
                  </a:extLst>
                </a:gridCol>
                <a:gridCol w="3799760">
                  <a:extLst>
                    <a:ext uri="{9D8B030D-6E8A-4147-A177-3AD203B41FA5}">
                      <a16:colId xmlns:a16="http://schemas.microsoft.com/office/drawing/2014/main" val="20001"/>
                    </a:ext>
                  </a:extLst>
                </a:gridCol>
                <a:gridCol w="3799760">
                  <a:extLst>
                    <a:ext uri="{9D8B030D-6E8A-4147-A177-3AD203B41FA5}">
                      <a16:colId xmlns:a16="http://schemas.microsoft.com/office/drawing/2014/main" val="20002"/>
                    </a:ext>
                  </a:extLst>
                </a:gridCol>
              </a:tblGrid>
              <a:tr h="358225">
                <a:tc>
                  <a:txBody>
                    <a:bodyPr/>
                    <a:lstStyle/>
                    <a:p>
                      <a:pPr marL="0" indent="0">
                        <a:lnSpc>
                          <a:spcPts val="1820"/>
                        </a:lnSpc>
                        <a:buNone/>
                      </a:pPr>
                      <a:endParaRPr lang="en-US" sz="1300" dirty="0">
                        <a:latin typeface="IBM Plex Sans" charset="0"/>
                        <a:ea typeface="IBM Plex Sans" charset="0"/>
                        <a:cs typeface="IBM Plex Sans" charset="0"/>
                      </a:endParaRPr>
                    </a:p>
                  </a:txBody>
                  <a:tcPr marL="57785" marR="57785" marT="57785" marB="57785">
                    <a:lnL w="12700" cap="flat" cmpd="sng" algn="ctr">
                      <a:solidFill>
                        <a:srgbClr val="485158"/>
                      </a:solidFill>
                      <a:prstDash val="solid"/>
                      <a:round/>
                      <a:headEnd type="none" w="med" len="med"/>
                      <a:tailEnd type="none" w="med" len="med"/>
                    </a:lnL>
                    <a:lnR w="12700" cap="flat" cmpd="sng" algn="ctr">
                      <a:solidFill>
                        <a:srgbClr val="525C66"/>
                      </a:solidFill>
                      <a:prstDash val="solid"/>
                      <a:round/>
                      <a:headEnd type="none" w="med" len="med"/>
                      <a:tailEnd type="none" w="med" len="med"/>
                    </a:lnR>
                    <a:lnT w="12700" cap="flat" cmpd="sng" algn="ctr">
                      <a:solidFill>
                        <a:srgbClr val="485158"/>
                      </a:solidFill>
                      <a:prstDash val="solid"/>
                      <a:round/>
                      <a:headEnd type="none" w="med" len="med"/>
                      <a:tailEnd type="none" w="med" len="med"/>
                    </a:lnT>
                    <a:lnB w="12700" cap="flat" cmpd="sng" algn="ctr">
                      <a:solidFill>
                        <a:srgbClr val="525C66"/>
                      </a:solidFill>
                      <a:prstDash val="solid"/>
                      <a:round/>
                      <a:headEnd type="none" w="med" len="med"/>
                      <a:tailEnd type="none" w="med" len="med"/>
                    </a:lnB>
                    <a:solidFill>
                      <a:srgbClr val="22303E"/>
                    </a:solidFill>
                  </a:tcPr>
                </a:tc>
                <a:tc>
                  <a:txBody>
                    <a:bodyPr/>
                    <a:lstStyle/>
                    <a:p>
                      <a:pPr marL="0" indent="0">
                        <a:lnSpc>
                          <a:spcPts val="1820"/>
                        </a:lnSpc>
                        <a:buNone/>
                      </a:pPr>
                      <a:r>
                        <a:rPr lang="en-US" sz="1300" b="1" dirty="0">
                          <a:solidFill>
                            <a:srgbClr val="D6DDE5"/>
                          </a:solidFill>
                          <a:latin typeface="IBM Plex Sans" pitchFamily="34" charset="0"/>
                          <a:ea typeface="IBM Plex Sans" pitchFamily="34" charset="-122"/>
                          <a:cs typeface="IBM Plex Sans" pitchFamily="34" charset="-120"/>
                        </a:rPr>
                        <a:t>03 Parallelization</a:t>
                      </a:r>
                      <a:endParaRPr lang="en-US" sz="1300" dirty="0">
                        <a:latin typeface="IBM Plex Sans" charset="0"/>
                        <a:ea typeface="IBM Plex Sans" charset="0"/>
                        <a:cs typeface="IBM Plex Sans" charset="0"/>
                      </a:endParaRPr>
                    </a:p>
                  </a:txBody>
                  <a:tcPr marL="57785" marR="57785" marT="57785" marB="57785">
                    <a:lnL w="12700" cap="flat" cmpd="sng" algn="ctr">
                      <a:solidFill>
                        <a:srgbClr val="525C66"/>
                      </a:solidFill>
                      <a:prstDash val="solid"/>
                      <a:round/>
                      <a:headEnd type="none" w="med" len="med"/>
                      <a:tailEnd type="none" w="med" len="med"/>
                    </a:lnL>
                    <a:lnR w="12700" cap="flat" cmpd="sng" algn="ctr">
                      <a:solidFill>
                        <a:srgbClr val="525C66"/>
                      </a:solidFill>
                      <a:prstDash val="solid"/>
                      <a:round/>
                      <a:headEnd type="none" w="med" len="med"/>
                      <a:tailEnd type="none" w="med" len="med"/>
                    </a:lnR>
                    <a:lnT w="12700" cap="flat" cmpd="sng" algn="ctr">
                      <a:solidFill>
                        <a:srgbClr val="485158"/>
                      </a:solidFill>
                      <a:prstDash val="solid"/>
                      <a:round/>
                      <a:headEnd type="none" w="med" len="med"/>
                      <a:tailEnd type="none" w="med" len="med"/>
                    </a:lnT>
                    <a:lnB w="12700" cap="flat" cmpd="sng" algn="ctr">
                      <a:solidFill>
                        <a:srgbClr val="525C66"/>
                      </a:solidFill>
                      <a:prstDash val="solid"/>
                      <a:round/>
                      <a:headEnd type="none" w="med" len="med"/>
                      <a:tailEnd type="none" w="med" len="med"/>
                    </a:lnB>
                    <a:solidFill>
                      <a:srgbClr val="22303E"/>
                    </a:solidFill>
                  </a:tcPr>
                </a:tc>
                <a:tc>
                  <a:txBody>
                    <a:bodyPr/>
                    <a:lstStyle/>
                    <a:p>
                      <a:pPr marL="0" indent="0">
                        <a:lnSpc>
                          <a:spcPts val="1820"/>
                        </a:lnSpc>
                        <a:buNone/>
                      </a:pPr>
                      <a:r>
                        <a:rPr lang="en-US" sz="1300" b="1" dirty="0">
                          <a:solidFill>
                            <a:srgbClr val="D6DDE5"/>
                          </a:solidFill>
                          <a:latin typeface="IBM Plex Sans" pitchFamily="34" charset="0"/>
                          <a:ea typeface="IBM Plex Sans" pitchFamily="34" charset="-122"/>
                          <a:cs typeface="IBM Plex Sans" pitchFamily="34" charset="-120"/>
                        </a:rPr>
                        <a:t>04 Orchestrator-Workers</a:t>
                      </a:r>
                      <a:endParaRPr lang="en-US" sz="1300" dirty="0">
                        <a:latin typeface="IBM Plex Sans" charset="0"/>
                        <a:ea typeface="IBM Plex Sans" charset="0"/>
                        <a:cs typeface="IBM Plex Sans" charset="0"/>
                      </a:endParaRPr>
                    </a:p>
                  </a:txBody>
                  <a:tcPr marL="57785" marR="57785" marT="57785" marB="57785">
                    <a:lnL w="12700" cap="flat" cmpd="sng" algn="ctr">
                      <a:solidFill>
                        <a:srgbClr val="525C66"/>
                      </a:solidFill>
                      <a:prstDash val="solid"/>
                      <a:round/>
                      <a:headEnd type="none" w="med" len="med"/>
                      <a:tailEnd type="none" w="med" len="med"/>
                    </a:lnL>
                    <a:lnR w="12700" cap="flat" cmpd="sng" algn="ctr">
                      <a:solidFill>
                        <a:srgbClr val="525C66"/>
                      </a:solidFill>
                      <a:prstDash val="solid"/>
                      <a:round/>
                      <a:headEnd type="none" w="med" len="med"/>
                      <a:tailEnd type="none" w="med" len="med"/>
                    </a:lnR>
                    <a:lnT w="12700" cap="flat" cmpd="sng" algn="ctr">
                      <a:solidFill>
                        <a:srgbClr val="485158"/>
                      </a:solidFill>
                      <a:prstDash val="solid"/>
                      <a:round/>
                      <a:headEnd type="none" w="med" len="med"/>
                      <a:tailEnd type="none" w="med" len="med"/>
                    </a:lnT>
                    <a:lnB w="12700" cap="flat" cmpd="sng" algn="ctr">
                      <a:solidFill>
                        <a:srgbClr val="525C66"/>
                      </a:solidFill>
                      <a:prstDash val="solid"/>
                      <a:round/>
                      <a:headEnd type="none" w="med" len="med"/>
                      <a:tailEnd type="none" w="med" len="med"/>
                    </a:lnB>
                    <a:solidFill>
                      <a:srgbClr val="22303E"/>
                    </a:solidFill>
                  </a:tcPr>
                </a:tc>
                <a:extLst>
                  <a:ext uri="{0D108BD9-81ED-4DB2-BD59-A6C34878D82A}">
                    <a16:rowId xmlns:a16="http://schemas.microsoft.com/office/drawing/2014/main" val="10000"/>
                  </a:ext>
                </a:extLst>
              </a:tr>
              <a:tr h="358225">
                <a:tc>
                  <a:txBody>
                    <a:bodyPr/>
                    <a:lstStyle/>
                    <a:p>
                      <a:pPr marL="0" indent="0">
                        <a:lnSpc>
                          <a:spcPts val="1820"/>
                        </a:lnSpc>
                        <a:buNone/>
                      </a:pPr>
                      <a:r>
                        <a:rPr lang="en-US" sz="1300" dirty="0">
                          <a:solidFill>
                            <a:srgbClr val="D6DDE5"/>
                          </a:solidFill>
                          <a:latin typeface="IBM Plex Sans" pitchFamily="34" charset="0"/>
                          <a:ea typeface="IBM Plex Sans" pitchFamily="34" charset="-122"/>
                          <a:cs typeface="IBM Plex Sans" pitchFamily="34" charset="-120"/>
                        </a:rPr>
                        <a:t>Who splits the work</a:t>
                      </a:r>
                      <a:endParaRPr lang="en-US" sz="1300" dirty="0">
                        <a:latin typeface="IBM Plex Sans" charset="0"/>
                        <a:ea typeface="IBM Plex Sans" charset="0"/>
                        <a:cs typeface="IBM Plex Sans" charset="0"/>
                      </a:endParaRPr>
                    </a:p>
                  </a:txBody>
                  <a:tcPr marL="57785" marR="57785" marT="57785" marB="57785">
                    <a:lnL w="12700" cap="flat" cmpd="sng" algn="ctr">
                      <a:solidFill>
                        <a:srgbClr val="485158"/>
                      </a:solidFill>
                      <a:prstDash val="solid"/>
                      <a:round/>
                      <a:headEnd type="none" w="med" len="med"/>
                      <a:tailEnd type="none" w="med" len="med"/>
                    </a:lnL>
                    <a:lnR w="12700" cap="flat" cmpd="sng" algn="ctr">
                      <a:solidFill>
                        <a:srgbClr val="485158"/>
                      </a:solidFill>
                      <a:prstDash val="solid"/>
                      <a:round/>
                      <a:headEnd type="none" w="med" len="med"/>
                      <a:tailEnd type="none" w="med" len="med"/>
                    </a:lnR>
                    <a:lnT w="12700" cap="flat" cmpd="sng" algn="ctr">
                      <a:solidFill>
                        <a:srgbClr val="525C66"/>
                      </a:solidFill>
                      <a:prstDash val="solid"/>
                      <a:round/>
                      <a:headEnd type="none" w="med" len="med"/>
                      <a:tailEnd type="none" w="med" len="med"/>
                    </a:lnT>
                    <a:lnB w="12700" cap="flat" cmpd="sng" algn="ctr">
                      <a:solidFill>
                        <a:srgbClr val="485158"/>
                      </a:solidFill>
                      <a:prstDash val="solid"/>
                      <a:round/>
                      <a:headEnd type="none" w="med" len="med"/>
                      <a:tailEnd type="none" w="med" len="med"/>
                    </a:lnB>
                  </a:tcPr>
                </a:tc>
                <a:tc>
                  <a:txBody>
                    <a:bodyPr/>
                    <a:lstStyle/>
                    <a:p>
                      <a:pPr marL="0" indent="0">
                        <a:lnSpc>
                          <a:spcPts val="1820"/>
                        </a:lnSpc>
                        <a:buNone/>
                      </a:pPr>
                      <a:r>
                        <a:rPr lang="en-US" sz="1300" dirty="0">
                          <a:solidFill>
                            <a:srgbClr val="D6DDE5"/>
                          </a:solidFill>
                          <a:latin typeface="IBM Plex Sans" pitchFamily="34" charset="0"/>
                          <a:ea typeface="IBM Plex Sans" pitchFamily="34" charset="-122"/>
                          <a:cs typeface="IBM Plex Sans" pitchFamily="34" charset="-120"/>
                        </a:rPr>
                        <a:t>You, hardcoded</a:t>
                      </a:r>
                      <a:endParaRPr lang="en-US" sz="1300" dirty="0">
                        <a:latin typeface="IBM Plex Sans" charset="0"/>
                        <a:ea typeface="IBM Plex Sans" charset="0"/>
                        <a:cs typeface="IBM Plex Sans" charset="0"/>
                      </a:endParaRPr>
                    </a:p>
                  </a:txBody>
                  <a:tcPr marL="57785" marR="57785" marT="57785" marB="57785">
                    <a:lnL w="12700" cap="flat" cmpd="sng" algn="ctr">
                      <a:solidFill>
                        <a:srgbClr val="485158"/>
                      </a:solidFill>
                      <a:prstDash val="solid"/>
                      <a:round/>
                      <a:headEnd type="none" w="med" len="med"/>
                      <a:tailEnd type="none" w="med" len="med"/>
                    </a:lnL>
                    <a:lnR w="12700" cap="flat" cmpd="sng" algn="ctr">
                      <a:solidFill>
                        <a:srgbClr val="485158"/>
                      </a:solidFill>
                      <a:prstDash val="solid"/>
                      <a:round/>
                      <a:headEnd type="none" w="med" len="med"/>
                      <a:tailEnd type="none" w="med" len="med"/>
                    </a:lnR>
                    <a:lnT w="12700" cap="flat" cmpd="sng" algn="ctr">
                      <a:solidFill>
                        <a:srgbClr val="525C66"/>
                      </a:solidFill>
                      <a:prstDash val="solid"/>
                      <a:round/>
                      <a:headEnd type="none" w="med" len="med"/>
                      <a:tailEnd type="none" w="med" len="med"/>
                    </a:lnT>
                    <a:lnB w="12700" cap="flat" cmpd="sng" algn="ctr">
                      <a:solidFill>
                        <a:srgbClr val="485158"/>
                      </a:solidFill>
                      <a:prstDash val="solid"/>
                      <a:round/>
                      <a:headEnd type="none" w="med" len="med"/>
                      <a:tailEnd type="none" w="med" len="med"/>
                    </a:lnB>
                  </a:tcPr>
                </a:tc>
                <a:tc>
                  <a:txBody>
                    <a:bodyPr/>
                    <a:lstStyle/>
                    <a:p>
                      <a:pPr marL="0" indent="0">
                        <a:lnSpc>
                          <a:spcPts val="1820"/>
                        </a:lnSpc>
                        <a:buNone/>
                      </a:pPr>
                      <a:r>
                        <a:rPr lang="en-US" sz="1300" dirty="0">
                          <a:solidFill>
                            <a:srgbClr val="D6DDE5"/>
                          </a:solidFill>
                          <a:latin typeface="IBM Plex Sans" pitchFamily="34" charset="0"/>
                          <a:ea typeface="IBM Plex Sans" pitchFamily="34" charset="-122"/>
                          <a:cs typeface="IBM Plex Sans" pitchFamily="34" charset="-120"/>
                        </a:rPr>
                        <a:t>The LLM, at runtime</a:t>
                      </a:r>
                      <a:endParaRPr lang="en-US" sz="1300" dirty="0">
                        <a:latin typeface="IBM Plex Sans" charset="0"/>
                        <a:ea typeface="IBM Plex Sans" charset="0"/>
                        <a:cs typeface="IBM Plex Sans" charset="0"/>
                      </a:endParaRPr>
                    </a:p>
                  </a:txBody>
                  <a:tcPr marL="57785" marR="57785" marT="57785" marB="57785">
                    <a:lnL w="12700" cap="flat" cmpd="sng" algn="ctr">
                      <a:solidFill>
                        <a:srgbClr val="485158"/>
                      </a:solidFill>
                      <a:prstDash val="solid"/>
                      <a:round/>
                      <a:headEnd type="none" w="med" len="med"/>
                      <a:tailEnd type="none" w="med" len="med"/>
                    </a:lnL>
                    <a:lnR w="12700" cap="flat" cmpd="sng" algn="ctr">
                      <a:solidFill>
                        <a:srgbClr val="485158"/>
                      </a:solidFill>
                      <a:prstDash val="solid"/>
                      <a:round/>
                      <a:headEnd type="none" w="med" len="med"/>
                      <a:tailEnd type="none" w="med" len="med"/>
                    </a:lnR>
                    <a:lnT w="12700" cap="flat" cmpd="sng" algn="ctr">
                      <a:solidFill>
                        <a:srgbClr val="525C66"/>
                      </a:solidFill>
                      <a:prstDash val="solid"/>
                      <a:round/>
                      <a:headEnd type="none" w="med" len="med"/>
                      <a:tailEnd type="none" w="med" len="med"/>
                    </a:lnT>
                    <a:lnB w="12700" cap="flat" cmpd="sng" algn="ctr">
                      <a:solidFill>
                        <a:srgbClr val="485158"/>
                      </a:solidFill>
                      <a:prstDash val="solid"/>
                      <a:round/>
                      <a:headEnd type="none" w="med" len="med"/>
                      <a:tailEnd type="none" w="med" len="med"/>
                    </a:lnB>
                  </a:tcPr>
                </a:tc>
                <a:extLst>
                  <a:ext uri="{0D108BD9-81ED-4DB2-BD59-A6C34878D82A}">
                    <a16:rowId xmlns:a16="http://schemas.microsoft.com/office/drawing/2014/main" val="10001"/>
                  </a:ext>
                </a:extLst>
              </a:tr>
              <a:tr h="358225">
                <a:tc>
                  <a:txBody>
                    <a:bodyPr/>
                    <a:lstStyle/>
                    <a:p>
                      <a:pPr marL="0" indent="0">
                        <a:lnSpc>
                          <a:spcPts val="1820"/>
                        </a:lnSpc>
                        <a:buNone/>
                      </a:pPr>
                      <a:r>
                        <a:rPr lang="en-US" sz="1300" dirty="0">
                          <a:solidFill>
                            <a:srgbClr val="D6DDE5"/>
                          </a:solidFill>
                          <a:latin typeface="IBM Plex Sans" pitchFamily="34" charset="0"/>
                          <a:ea typeface="IBM Plex Sans" pitchFamily="34" charset="-122"/>
                          <a:cs typeface="IBM Plex Sans" pitchFamily="34" charset="-120"/>
                        </a:rPr>
                        <a:t>Workers</a:t>
                      </a:r>
                      <a:endParaRPr lang="en-US" sz="1300" dirty="0">
                        <a:latin typeface="IBM Plex Sans" charset="0"/>
                        <a:ea typeface="IBM Plex Sans" charset="0"/>
                        <a:cs typeface="IBM Plex Sans" charset="0"/>
                      </a:endParaRPr>
                    </a:p>
                  </a:txBody>
                  <a:tcPr marL="57785" marR="57785" marT="57785" marB="57785">
                    <a:lnL w="12700" cap="flat" cmpd="sng" algn="ctr">
                      <a:solidFill>
                        <a:srgbClr val="485158"/>
                      </a:solidFill>
                      <a:prstDash val="solid"/>
                      <a:round/>
                      <a:headEnd type="none" w="med" len="med"/>
                      <a:tailEnd type="none" w="med" len="med"/>
                    </a:lnL>
                    <a:lnR w="12700" cap="flat" cmpd="sng" algn="ctr">
                      <a:solidFill>
                        <a:srgbClr val="485158"/>
                      </a:solidFill>
                      <a:prstDash val="solid"/>
                      <a:round/>
                      <a:headEnd type="none" w="med" len="med"/>
                      <a:tailEnd type="none" w="med" len="med"/>
                    </a:lnR>
                    <a:lnT w="12700" cap="flat" cmpd="sng" algn="ctr">
                      <a:solidFill>
                        <a:srgbClr val="485158"/>
                      </a:solidFill>
                      <a:prstDash val="solid"/>
                      <a:round/>
                      <a:headEnd type="none" w="med" len="med"/>
                      <a:tailEnd type="none" w="med" len="med"/>
                    </a:lnT>
                    <a:lnB w="12700" cap="flat" cmpd="sng" algn="ctr">
                      <a:solidFill>
                        <a:srgbClr val="485158"/>
                      </a:solidFill>
                      <a:prstDash val="solid"/>
                      <a:round/>
                      <a:headEnd type="none" w="med" len="med"/>
                      <a:tailEnd type="none" w="med" len="med"/>
                    </a:lnB>
                  </a:tcPr>
                </a:tc>
                <a:tc>
                  <a:txBody>
                    <a:bodyPr/>
                    <a:lstStyle/>
                    <a:p>
                      <a:pPr marL="0" indent="0">
                        <a:lnSpc>
                          <a:spcPts val="1820"/>
                        </a:lnSpc>
                        <a:buNone/>
                      </a:pPr>
                      <a:r>
                        <a:rPr lang="en-US" sz="1300" dirty="0">
                          <a:solidFill>
                            <a:srgbClr val="D6DDE5"/>
                          </a:solidFill>
                          <a:latin typeface="IBM Plex Sans" pitchFamily="34" charset="0"/>
                          <a:ea typeface="IBM Plex Sans" pitchFamily="34" charset="-122"/>
                          <a:cs typeface="IBM Plex Sans" pitchFamily="34" charset="-120"/>
                        </a:rPr>
                        <a:t>Specialist prompts</a:t>
                      </a:r>
                      <a:endParaRPr lang="en-US" sz="1300" dirty="0">
                        <a:latin typeface="IBM Plex Sans" charset="0"/>
                        <a:ea typeface="IBM Plex Sans" charset="0"/>
                        <a:cs typeface="IBM Plex Sans" charset="0"/>
                      </a:endParaRPr>
                    </a:p>
                  </a:txBody>
                  <a:tcPr marL="57785" marR="57785" marT="57785" marB="57785">
                    <a:lnL w="12700" cap="flat" cmpd="sng" algn="ctr">
                      <a:solidFill>
                        <a:srgbClr val="485158"/>
                      </a:solidFill>
                      <a:prstDash val="solid"/>
                      <a:round/>
                      <a:headEnd type="none" w="med" len="med"/>
                      <a:tailEnd type="none" w="med" len="med"/>
                    </a:lnL>
                    <a:lnR w="12700" cap="flat" cmpd="sng" algn="ctr">
                      <a:solidFill>
                        <a:srgbClr val="485158"/>
                      </a:solidFill>
                      <a:prstDash val="solid"/>
                      <a:round/>
                      <a:headEnd type="none" w="med" len="med"/>
                      <a:tailEnd type="none" w="med" len="med"/>
                    </a:lnR>
                    <a:lnT w="12700" cap="flat" cmpd="sng" algn="ctr">
                      <a:solidFill>
                        <a:srgbClr val="485158"/>
                      </a:solidFill>
                      <a:prstDash val="solid"/>
                      <a:round/>
                      <a:headEnd type="none" w="med" len="med"/>
                      <a:tailEnd type="none" w="med" len="med"/>
                    </a:lnT>
                    <a:lnB w="12700" cap="flat" cmpd="sng" algn="ctr">
                      <a:solidFill>
                        <a:srgbClr val="485158"/>
                      </a:solidFill>
                      <a:prstDash val="solid"/>
                      <a:round/>
                      <a:headEnd type="none" w="med" len="med"/>
                      <a:tailEnd type="none" w="med" len="med"/>
                    </a:lnB>
                  </a:tcPr>
                </a:tc>
                <a:tc>
                  <a:txBody>
                    <a:bodyPr/>
                    <a:lstStyle/>
                    <a:p>
                      <a:pPr marL="0" indent="0">
                        <a:lnSpc>
                          <a:spcPts val="1820"/>
                        </a:lnSpc>
                        <a:buNone/>
                      </a:pPr>
                      <a:r>
                        <a:rPr lang="en-US" sz="1300" dirty="0">
                          <a:solidFill>
                            <a:srgbClr val="D6DDE5"/>
                          </a:solidFill>
                          <a:latin typeface="IBM Plex Sans" pitchFamily="34" charset="0"/>
                          <a:ea typeface="IBM Plex Sans" pitchFamily="34" charset="-122"/>
                          <a:cs typeface="IBM Plex Sans" pitchFamily="34" charset="-120"/>
                        </a:rPr>
                        <a:t>Generic researcher + planner's prompt</a:t>
                      </a:r>
                      <a:endParaRPr lang="en-US" sz="1300" dirty="0">
                        <a:latin typeface="IBM Plex Sans" charset="0"/>
                        <a:ea typeface="IBM Plex Sans" charset="0"/>
                        <a:cs typeface="IBM Plex Sans" charset="0"/>
                      </a:endParaRPr>
                    </a:p>
                  </a:txBody>
                  <a:tcPr marL="57785" marR="57785" marT="57785" marB="57785">
                    <a:lnL w="12700" cap="flat" cmpd="sng" algn="ctr">
                      <a:solidFill>
                        <a:srgbClr val="485158"/>
                      </a:solidFill>
                      <a:prstDash val="solid"/>
                      <a:round/>
                      <a:headEnd type="none" w="med" len="med"/>
                      <a:tailEnd type="none" w="med" len="med"/>
                    </a:lnL>
                    <a:lnR w="12700" cap="flat" cmpd="sng" algn="ctr">
                      <a:solidFill>
                        <a:srgbClr val="485158"/>
                      </a:solidFill>
                      <a:prstDash val="solid"/>
                      <a:round/>
                      <a:headEnd type="none" w="med" len="med"/>
                      <a:tailEnd type="none" w="med" len="med"/>
                    </a:lnR>
                    <a:lnT w="12700" cap="flat" cmpd="sng" algn="ctr">
                      <a:solidFill>
                        <a:srgbClr val="485158"/>
                      </a:solidFill>
                      <a:prstDash val="solid"/>
                      <a:round/>
                      <a:headEnd type="none" w="med" len="med"/>
                      <a:tailEnd type="none" w="med" len="med"/>
                    </a:lnT>
                    <a:lnB w="12700" cap="flat" cmpd="sng" algn="ctr">
                      <a:solidFill>
                        <a:srgbClr val="485158"/>
                      </a:solidFill>
                      <a:prstDash val="solid"/>
                      <a:round/>
                      <a:headEnd type="none" w="med" len="med"/>
                      <a:tailEnd type="none" w="med" len="med"/>
                    </a:lnB>
                  </a:tcPr>
                </a:tc>
                <a:extLst>
                  <a:ext uri="{0D108BD9-81ED-4DB2-BD59-A6C34878D82A}">
                    <a16:rowId xmlns:a16="http://schemas.microsoft.com/office/drawing/2014/main" val="10002"/>
                  </a:ext>
                </a:extLst>
              </a:tr>
              <a:tr h="358225">
                <a:tc>
                  <a:txBody>
                    <a:bodyPr/>
                    <a:lstStyle/>
                    <a:p>
                      <a:pPr marL="0" indent="0">
                        <a:lnSpc>
                          <a:spcPts val="1820"/>
                        </a:lnSpc>
                        <a:buNone/>
                      </a:pPr>
                      <a:r>
                        <a:rPr lang="en-US" sz="1300" dirty="0">
                          <a:solidFill>
                            <a:srgbClr val="D6DDE5"/>
                          </a:solidFill>
                          <a:latin typeface="IBM Plex Sans" pitchFamily="34" charset="0"/>
                          <a:ea typeface="IBM Plex Sans" pitchFamily="34" charset="-122"/>
                          <a:cs typeface="IBM Plex Sans" pitchFamily="34" charset="-120"/>
                        </a:rPr>
                        <a:t>Merge</a:t>
                      </a:r>
                      <a:endParaRPr lang="en-US" sz="1300" dirty="0">
                        <a:latin typeface="IBM Plex Sans" charset="0"/>
                        <a:ea typeface="IBM Plex Sans" charset="0"/>
                        <a:cs typeface="IBM Plex Sans" charset="0"/>
                      </a:endParaRPr>
                    </a:p>
                  </a:txBody>
                  <a:tcPr marL="57785" marR="57785" marT="57785" marB="57785">
                    <a:lnL w="12700" cap="flat" cmpd="sng" algn="ctr">
                      <a:solidFill>
                        <a:srgbClr val="485158"/>
                      </a:solidFill>
                      <a:prstDash val="solid"/>
                      <a:round/>
                      <a:headEnd type="none" w="med" len="med"/>
                      <a:tailEnd type="none" w="med" len="med"/>
                    </a:lnL>
                    <a:lnR w="12700" cap="flat" cmpd="sng" algn="ctr">
                      <a:solidFill>
                        <a:srgbClr val="485158"/>
                      </a:solidFill>
                      <a:prstDash val="solid"/>
                      <a:round/>
                      <a:headEnd type="none" w="med" len="med"/>
                      <a:tailEnd type="none" w="med" len="med"/>
                    </a:lnR>
                    <a:lnT w="12700" cap="flat" cmpd="sng" algn="ctr">
                      <a:solidFill>
                        <a:srgbClr val="485158"/>
                      </a:solidFill>
                      <a:prstDash val="solid"/>
                      <a:round/>
                      <a:headEnd type="none" w="med" len="med"/>
                      <a:tailEnd type="none" w="med" len="med"/>
                    </a:lnT>
                    <a:lnB w="12700" cap="flat" cmpd="sng" algn="ctr">
                      <a:solidFill>
                        <a:srgbClr val="485158"/>
                      </a:solidFill>
                      <a:prstDash val="solid"/>
                      <a:round/>
                      <a:headEnd type="none" w="med" len="med"/>
                      <a:tailEnd type="none" w="med" len="med"/>
                    </a:lnB>
                  </a:tcPr>
                </a:tc>
                <a:tc>
                  <a:txBody>
                    <a:bodyPr/>
                    <a:lstStyle/>
                    <a:p>
                      <a:pPr marL="0" indent="0">
                        <a:lnSpc>
                          <a:spcPts val="1820"/>
                        </a:lnSpc>
                        <a:buNone/>
                      </a:pPr>
                      <a:r>
                        <a:rPr lang="en-US" sz="1300" dirty="0">
                          <a:solidFill>
                            <a:srgbClr val="D6DDE5"/>
                          </a:solidFill>
                          <a:latin typeface="IBM Plex Sans" pitchFamily="34" charset="0"/>
                          <a:ea typeface="IBM Plex Sans" pitchFamily="34" charset="-122"/>
                          <a:cs typeface="IBM Plex Sans" pitchFamily="34" charset="-120"/>
                        </a:rPr>
                        <a:t>Collect results</a:t>
                      </a:r>
                      <a:endParaRPr lang="en-US" sz="1300" dirty="0">
                        <a:latin typeface="IBM Plex Sans" charset="0"/>
                        <a:ea typeface="IBM Plex Sans" charset="0"/>
                        <a:cs typeface="IBM Plex Sans" charset="0"/>
                      </a:endParaRPr>
                    </a:p>
                  </a:txBody>
                  <a:tcPr marL="57785" marR="57785" marT="57785" marB="57785">
                    <a:lnL w="12700" cap="flat" cmpd="sng" algn="ctr">
                      <a:solidFill>
                        <a:srgbClr val="485158"/>
                      </a:solidFill>
                      <a:prstDash val="solid"/>
                      <a:round/>
                      <a:headEnd type="none" w="med" len="med"/>
                      <a:tailEnd type="none" w="med" len="med"/>
                    </a:lnL>
                    <a:lnR w="12700" cap="flat" cmpd="sng" algn="ctr">
                      <a:solidFill>
                        <a:srgbClr val="485158"/>
                      </a:solidFill>
                      <a:prstDash val="solid"/>
                      <a:round/>
                      <a:headEnd type="none" w="med" len="med"/>
                      <a:tailEnd type="none" w="med" len="med"/>
                    </a:lnR>
                    <a:lnT w="12700" cap="flat" cmpd="sng" algn="ctr">
                      <a:solidFill>
                        <a:srgbClr val="485158"/>
                      </a:solidFill>
                      <a:prstDash val="solid"/>
                      <a:round/>
                      <a:headEnd type="none" w="med" len="med"/>
                      <a:tailEnd type="none" w="med" len="med"/>
                    </a:lnT>
                    <a:lnB w="12700" cap="flat" cmpd="sng" algn="ctr">
                      <a:solidFill>
                        <a:srgbClr val="485158"/>
                      </a:solidFill>
                      <a:prstDash val="solid"/>
                      <a:round/>
                      <a:headEnd type="none" w="med" len="med"/>
                      <a:tailEnd type="none" w="med" len="med"/>
                    </a:lnB>
                  </a:tcPr>
                </a:tc>
                <a:tc>
                  <a:txBody>
                    <a:bodyPr/>
                    <a:lstStyle/>
                    <a:p>
                      <a:pPr marL="0" indent="0">
                        <a:lnSpc>
                          <a:spcPts val="1820"/>
                        </a:lnSpc>
                        <a:buNone/>
                      </a:pPr>
                      <a:r>
                        <a:rPr lang="en-US" sz="1300" dirty="0">
                          <a:solidFill>
                            <a:srgbClr val="D6DDE5"/>
                          </a:solidFill>
                          <a:latin typeface="IBM Plex Sans" pitchFamily="34" charset="0"/>
                          <a:ea typeface="IBM Plex Sans" pitchFamily="34" charset="-122"/>
                          <a:cs typeface="IBM Plex Sans" pitchFamily="34" charset="-120"/>
                        </a:rPr>
                        <a:t>A dedicated synthesis LLM call</a:t>
                      </a:r>
                      <a:endParaRPr lang="en-US" sz="1300" dirty="0">
                        <a:latin typeface="IBM Plex Sans" charset="0"/>
                        <a:ea typeface="IBM Plex Sans" charset="0"/>
                        <a:cs typeface="IBM Plex Sans" charset="0"/>
                      </a:endParaRPr>
                    </a:p>
                  </a:txBody>
                  <a:tcPr marL="57785" marR="57785" marT="57785" marB="57785">
                    <a:lnL w="12700" cap="flat" cmpd="sng" algn="ctr">
                      <a:solidFill>
                        <a:srgbClr val="485158"/>
                      </a:solidFill>
                      <a:prstDash val="solid"/>
                      <a:round/>
                      <a:headEnd type="none" w="med" len="med"/>
                      <a:tailEnd type="none" w="med" len="med"/>
                    </a:lnL>
                    <a:lnR w="12700" cap="flat" cmpd="sng" algn="ctr">
                      <a:solidFill>
                        <a:srgbClr val="485158"/>
                      </a:solidFill>
                      <a:prstDash val="solid"/>
                      <a:round/>
                      <a:headEnd type="none" w="med" len="med"/>
                      <a:tailEnd type="none" w="med" len="med"/>
                    </a:lnR>
                    <a:lnT w="12700" cap="flat" cmpd="sng" algn="ctr">
                      <a:solidFill>
                        <a:srgbClr val="485158"/>
                      </a:solidFill>
                      <a:prstDash val="solid"/>
                      <a:round/>
                      <a:headEnd type="none" w="med" len="med"/>
                      <a:tailEnd type="none" w="med" len="med"/>
                    </a:lnT>
                    <a:lnB w="12700" cap="flat" cmpd="sng" algn="ctr">
                      <a:solidFill>
                        <a:srgbClr val="485158"/>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21" name="Text 15"/>
          <p:cNvSpPr/>
          <p:nvPr/>
        </p:nvSpPr>
        <p:spPr>
          <a:xfrm>
            <a:off x="812782" y="6238286"/>
            <a:ext cx="967994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9AA9B8"/>
                </a:solidFill>
                <a:latin typeface="IBM Plex Sans" pitchFamily="34" charset="0"/>
                <a:ea typeface="IBM Plex Sans" pitchFamily="34" charset="-122"/>
                <a:cs typeface="IBM Plex Sans" pitchFamily="34" charset="-120"/>
              </a:rPr>
              <a:t>04-orchestrator-workers/README.md · OrchestratorWorkers in 01_orchestrator_workers.py</a:t>
            </a:r>
            <a:endParaRPr lang="en-US" sz="1200" dirty="0"/>
          </a:p>
        </p:txBody>
      </p:sp>
      <p:sp>
        <p:nvSpPr>
          <p:cNvPr id="22" name="Text 16"/>
          <p:cNvSpPr/>
          <p:nvPr/>
        </p:nvSpPr>
        <p:spPr>
          <a:xfrm>
            <a:off x="10312418" y="6238286"/>
            <a:ext cx="1066800" cy="238720"/>
          </a:xfrm>
          <a:prstGeom prst="rect">
            <a:avLst/>
          </a:prstGeom>
          <a:noFill/>
          <a:ln/>
        </p:spPr>
        <p:txBody>
          <a:bodyPr wrap="square" lIns="0" tIns="0" rIns="0" bIns="0" rtlCol="0" anchor="t">
            <a:normAutofit/>
          </a:bodyPr>
          <a:lstStyle/>
          <a:p>
            <a:pPr marL="0" indent="0" algn="r">
              <a:lnSpc>
                <a:spcPts val="1680"/>
              </a:lnSpc>
              <a:buNone/>
            </a:pPr>
            <a:r>
              <a:rPr lang="en-US" sz="1200" b="1" dirty="0">
                <a:solidFill>
                  <a:srgbClr val="9AA9B8"/>
                </a:solidFill>
                <a:latin typeface="IBM Plex Sans" pitchFamily="34" charset="0"/>
                <a:ea typeface="IBM Plex Sans" pitchFamily="34" charset="-122"/>
                <a:cs typeface="IBM Plex Sans" pitchFamily="34" charset="-120"/>
              </a:rPr>
              <a:t>13 / 27</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2EC"/>
        </a:solidFill>
        <a:effectLst/>
      </p:bgPr>
    </p:bg>
    <p:spTree>
      <p:nvGrpSpPr>
        <p:cNvPr id="1" name=""/>
        <p:cNvGrpSpPr/>
        <p:nvPr/>
      </p:nvGrpSpPr>
      <p:grpSpPr>
        <a:xfrm>
          <a:off x="0" y="0"/>
          <a:ext cx="0" cy="0"/>
          <a:chOff x="0" y="0"/>
          <a:chExt cx="0" cy="0"/>
        </a:xfrm>
      </p:grpSpPr>
      <p:sp>
        <p:nvSpPr>
          <p:cNvPr id="2" name="Text 0"/>
          <p:cNvSpPr/>
          <p:nvPr/>
        </p:nvSpPr>
        <p:spPr>
          <a:xfrm>
            <a:off x="812782" y="711175"/>
            <a:ext cx="10883429"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04E17"/>
                </a:solidFill>
                <a:latin typeface="IBM Plex Sans" pitchFamily="34" charset="0"/>
                <a:ea typeface="IBM Plex Sans" pitchFamily="34" charset="-122"/>
                <a:cs typeface="IBM Plex Sans" pitchFamily="34" charset="-120"/>
              </a:rPr>
              <a:t>04 · ORCHESTRATOR-WORKERS · IN CODE</a:t>
            </a:r>
            <a:endParaRPr lang="en-US" sz="1200" dirty="0"/>
          </a:p>
        </p:txBody>
      </p:sp>
      <p:sp>
        <p:nvSpPr>
          <p:cNvPr id="3" name="Text 1"/>
          <p:cNvSpPr>
            <a:spLocks noGrp="1"/>
          </p:cNvSpPr>
          <p:nvPr>
            <p:ph type="title"/>
          </p:nvPr>
        </p:nvSpPr>
        <p:spPr>
          <a:xfrm>
            <a:off x="812782" y="1000671"/>
            <a:ext cx="10883429" cy="444464"/>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6212C"/>
                </a:solidFill>
                <a:latin typeface="IBM Plex Sans" pitchFamily="34" charset="0"/>
                <a:ea typeface="IBM Plex Sans" pitchFamily="34" charset="-122"/>
                <a:cs typeface="IBM Plex Sans" pitchFamily="34" charset="-120"/>
              </a:rPr>
              <a:t>The plan is structured output, too</a:t>
            </a:r>
            <a:endParaRPr lang="en-US" sz="3000" dirty="0"/>
          </a:p>
        </p:txBody>
      </p:sp>
      <p:sp>
        <p:nvSpPr>
          <p:cNvPr id="4" name="Text 2"/>
          <p:cNvSpPr/>
          <p:nvPr/>
        </p:nvSpPr>
        <p:spPr>
          <a:xfrm>
            <a:off x="812782" y="1673733"/>
            <a:ext cx="304782" cy="304782"/>
          </a:xfrm>
          <a:custGeom>
            <a:avLst/>
            <a:gdLst/>
            <a:ahLst/>
            <a:cxnLst/>
            <a:rect l="l" t="t" r="r" b="b"/>
            <a:pathLst>
              <a:path w="304782" h="304782">
                <a:moveTo>
                  <a:pt x="152391" y="0"/>
                </a:moveTo>
                <a:lnTo>
                  <a:pt x="152391" y="0"/>
                </a:lnTo>
                <a:arcTo wR="152391" hR="152391" stAng="16200000" swAng="5400000"/>
                <a:lnTo>
                  <a:pt x="304782" y="152391"/>
                </a:lnTo>
                <a:arcTo wR="152391" hR="152391" stAng="0" swAng="5400000"/>
                <a:lnTo>
                  <a:pt x="152391" y="304782"/>
                </a:lnTo>
                <a:arcTo wR="152391" hR="152391" stAng="5400000" swAng="5400000"/>
                <a:lnTo>
                  <a:pt x="0" y="152391"/>
                </a:lnTo>
                <a:arcTo wR="152391" hR="152391" stAng="10800000" swAng="5400000"/>
                <a:close/>
              </a:path>
            </a:pathLst>
          </a:custGeom>
          <a:solidFill>
            <a:srgbClr val="E8843F"/>
          </a:solidFill>
          <a:ln/>
        </p:spPr>
        <p:txBody>
          <a:bodyPr wrap="square" lIns="0" tIns="0" rIns="0" bIns="0" rtlCol="0" anchor="t">
            <a:normAutofit/>
          </a:bodyPr>
          <a:lstStyle/>
          <a:p>
            <a:pPr marL="0" indent="0" algn="ctr">
              <a:lnSpc>
                <a:spcPts val="2405"/>
              </a:lnSpc>
              <a:buNone/>
            </a:pPr>
            <a:r>
              <a:rPr lang="en-US" sz="1300" b="1" dirty="0">
                <a:solidFill>
                  <a:srgbClr val="16212C"/>
                </a:solidFill>
                <a:latin typeface="IBM Plex Sans" pitchFamily="34" charset="0"/>
                <a:ea typeface="IBM Plex Sans" pitchFamily="34" charset="-122"/>
                <a:cs typeface="IBM Plex Sans" pitchFamily="34" charset="-120"/>
              </a:rPr>
              <a:t>1</a:t>
            </a:r>
            <a:endParaRPr lang="en-US" sz="1300" dirty="0"/>
          </a:p>
        </p:txBody>
      </p:sp>
      <p:sp>
        <p:nvSpPr>
          <p:cNvPr id="5" name="Text 3"/>
          <p:cNvSpPr/>
          <p:nvPr/>
        </p:nvSpPr>
        <p:spPr>
          <a:xfrm>
            <a:off x="1244564" y="1673733"/>
            <a:ext cx="3479564" cy="253964"/>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6212C"/>
                </a:solidFill>
                <a:latin typeface="IBM Plex Sans" pitchFamily="34" charset="0"/>
                <a:ea typeface="IBM Plex Sans" pitchFamily="34" charset="-122"/>
                <a:cs typeface="IBM Plex Sans" pitchFamily="34" charset="-120"/>
              </a:rPr>
              <a:t>An array = dynamic N</a:t>
            </a:r>
            <a:endParaRPr lang="en-US" sz="1500" dirty="0"/>
          </a:p>
        </p:txBody>
      </p:sp>
      <p:sp>
        <p:nvSpPr>
          <p:cNvPr id="6" name="Text 4"/>
          <p:cNvSpPr/>
          <p:nvPr/>
        </p:nvSpPr>
        <p:spPr>
          <a:xfrm>
            <a:off x="1244564" y="1940359"/>
            <a:ext cx="3479564" cy="487669"/>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D4A57"/>
                </a:solidFill>
                <a:latin typeface="IBM Plex Sans" pitchFamily="34" charset="0"/>
                <a:ea typeface="IBM Plex Sans" pitchFamily="34" charset="-122"/>
                <a:cs typeface="IBM Plex Sans" pitchFamily="34" charset="-120"/>
              </a:rPr>
              <a:t>The model decides how many subtopics (2–4 per the prompt).</a:t>
            </a:r>
            <a:endParaRPr lang="en-US" sz="1300" dirty="0"/>
          </a:p>
        </p:txBody>
      </p:sp>
      <p:sp>
        <p:nvSpPr>
          <p:cNvPr id="7" name="Text 5"/>
          <p:cNvSpPr/>
          <p:nvPr/>
        </p:nvSpPr>
        <p:spPr>
          <a:xfrm>
            <a:off x="812782" y="2567694"/>
            <a:ext cx="304782" cy="304782"/>
          </a:xfrm>
          <a:custGeom>
            <a:avLst/>
            <a:gdLst/>
            <a:ahLst/>
            <a:cxnLst/>
            <a:rect l="l" t="t" r="r" b="b"/>
            <a:pathLst>
              <a:path w="304782" h="304782">
                <a:moveTo>
                  <a:pt x="152391" y="0"/>
                </a:moveTo>
                <a:lnTo>
                  <a:pt x="152391" y="0"/>
                </a:lnTo>
                <a:arcTo wR="152391" hR="152391" stAng="16200000" swAng="5400000"/>
                <a:lnTo>
                  <a:pt x="304782" y="152391"/>
                </a:lnTo>
                <a:arcTo wR="152391" hR="152391" stAng="0" swAng="5400000"/>
                <a:lnTo>
                  <a:pt x="152391" y="304782"/>
                </a:lnTo>
                <a:arcTo wR="152391" hR="152391" stAng="5400000" swAng="5400000"/>
                <a:lnTo>
                  <a:pt x="0" y="152391"/>
                </a:lnTo>
                <a:arcTo wR="152391" hR="152391" stAng="10800000" swAng="5400000"/>
                <a:close/>
              </a:path>
            </a:pathLst>
          </a:custGeom>
          <a:solidFill>
            <a:srgbClr val="E8843F"/>
          </a:solidFill>
          <a:ln/>
        </p:spPr>
        <p:txBody>
          <a:bodyPr wrap="square" lIns="0" tIns="0" rIns="0" bIns="0" rtlCol="0" anchor="t">
            <a:normAutofit/>
          </a:bodyPr>
          <a:lstStyle/>
          <a:p>
            <a:pPr marL="0" indent="0" algn="ctr">
              <a:lnSpc>
                <a:spcPts val="2405"/>
              </a:lnSpc>
              <a:buNone/>
            </a:pPr>
            <a:r>
              <a:rPr lang="en-US" sz="1300" b="1" dirty="0">
                <a:solidFill>
                  <a:srgbClr val="16212C"/>
                </a:solidFill>
                <a:latin typeface="IBM Plex Sans" pitchFamily="34" charset="0"/>
                <a:ea typeface="IBM Plex Sans" pitchFamily="34" charset="-122"/>
                <a:cs typeface="IBM Plex Sans" pitchFamily="34" charset="-120"/>
              </a:rPr>
              <a:t>2</a:t>
            </a:r>
            <a:endParaRPr lang="en-US" sz="1300" dirty="0"/>
          </a:p>
        </p:txBody>
      </p:sp>
      <p:sp>
        <p:nvSpPr>
          <p:cNvPr id="8" name="Text 6"/>
          <p:cNvSpPr/>
          <p:nvPr/>
        </p:nvSpPr>
        <p:spPr>
          <a:xfrm>
            <a:off x="1244564" y="2567694"/>
            <a:ext cx="3479564" cy="253964"/>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6212C"/>
                </a:solidFill>
                <a:latin typeface="IBM Plex Sans" pitchFamily="34" charset="0"/>
                <a:ea typeface="IBM Plex Sans" pitchFamily="34" charset="-122"/>
                <a:cs typeface="IBM Plex Sans" pitchFamily="34" charset="-120"/>
              </a:rPr>
              <a:t>It writes the workers' prompts</a:t>
            </a:r>
            <a:endParaRPr lang="en-US" sz="1500" dirty="0"/>
          </a:p>
        </p:txBody>
      </p:sp>
      <p:sp>
        <p:nvSpPr>
          <p:cNvPr id="9" name="Text 7"/>
          <p:cNvSpPr/>
          <p:nvPr/>
        </p:nvSpPr>
        <p:spPr>
          <a:xfrm>
            <a:off x="1244564" y="2834320"/>
            <a:ext cx="3479564" cy="487669"/>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D4A57"/>
                </a:solidFill>
                <a:latin typeface="IBM Plex Sans" pitchFamily="34" charset="0"/>
                <a:ea typeface="IBM Plex Sans" pitchFamily="34" charset="-122"/>
                <a:cs typeface="IBM Plex Sans" pitchFamily="34" charset="-120"/>
              </a:rPr>
              <a:t>Each subtopic carries its own research question.</a:t>
            </a:r>
            <a:endParaRPr lang="en-US" sz="1300" dirty="0"/>
          </a:p>
        </p:txBody>
      </p:sp>
      <p:sp>
        <p:nvSpPr>
          <p:cNvPr id="10" name="Text 8"/>
          <p:cNvSpPr/>
          <p:nvPr/>
        </p:nvSpPr>
        <p:spPr>
          <a:xfrm>
            <a:off x="812782" y="3461655"/>
            <a:ext cx="304782" cy="304782"/>
          </a:xfrm>
          <a:custGeom>
            <a:avLst/>
            <a:gdLst/>
            <a:ahLst/>
            <a:cxnLst/>
            <a:rect l="l" t="t" r="r" b="b"/>
            <a:pathLst>
              <a:path w="304782" h="304782">
                <a:moveTo>
                  <a:pt x="152391" y="0"/>
                </a:moveTo>
                <a:lnTo>
                  <a:pt x="152391" y="0"/>
                </a:lnTo>
                <a:arcTo wR="152391" hR="152391" stAng="16200000" swAng="5400000"/>
                <a:lnTo>
                  <a:pt x="304782" y="152391"/>
                </a:lnTo>
                <a:arcTo wR="152391" hR="152391" stAng="0" swAng="5400000"/>
                <a:lnTo>
                  <a:pt x="152391" y="304782"/>
                </a:lnTo>
                <a:arcTo wR="152391" hR="152391" stAng="5400000" swAng="5400000"/>
                <a:lnTo>
                  <a:pt x="0" y="152391"/>
                </a:lnTo>
                <a:arcTo wR="152391" hR="152391" stAng="10800000" swAng="5400000"/>
                <a:close/>
              </a:path>
            </a:pathLst>
          </a:custGeom>
          <a:solidFill>
            <a:srgbClr val="E8843F"/>
          </a:solidFill>
          <a:ln/>
        </p:spPr>
        <p:txBody>
          <a:bodyPr wrap="square" lIns="0" tIns="0" rIns="0" bIns="0" rtlCol="0" anchor="t">
            <a:normAutofit/>
          </a:bodyPr>
          <a:lstStyle/>
          <a:p>
            <a:pPr marL="0" indent="0" algn="ctr">
              <a:lnSpc>
                <a:spcPts val="2405"/>
              </a:lnSpc>
              <a:buNone/>
            </a:pPr>
            <a:r>
              <a:rPr lang="en-US" sz="1300" b="1" dirty="0">
                <a:solidFill>
                  <a:srgbClr val="16212C"/>
                </a:solidFill>
                <a:latin typeface="IBM Plex Sans" pitchFamily="34" charset="0"/>
                <a:ea typeface="IBM Plex Sans" pitchFamily="34" charset="-122"/>
                <a:cs typeface="IBM Plex Sans" pitchFamily="34" charset="-120"/>
              </a:rPr>
              <a:t>3</a:t>
            </a:r>
            <a:endParaRPr lang="en-US" sz="1300" dirty="0"/>
          </a:p>
        </p:txBody>
      </p:sp>
      <p:sp>
        <p:nvSpPr>
          <p:cNvPr id="11" name="Text 9"/>
          <p:cNvSpPr/>
          <p:nvPr/>
        </p:nvSpPr>
        <p:spPr>
          <a:xfrm>
            <a:off x="1244564" y="3461655"/>
            <a:ext cx="3479564" cy="253964"/>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6212C"/>
                </a:solidFill>
                <a:latin typeface="IBM Plex Sans" pitchFamily="34" charset="0"/>
                <a:ea typeface="IBM Plex Sans" pitchFamily="34" charset="-122"/>
                <a:cs typeface="IBM Plex Sans" pitchFamily="34" charset="-120"/>
              </a:rPr>
              <a:t>…and the merge plan</a:t>
            </a:r>
            <a:endParaRPr lang="en-US" sz="1500" dirty="0"/>
          </a:p>
        </p:txBody>
      </p:sp>
      <p:sp>
        <p:nvSpPr>
          <p:cNvPr id="12" name="Text 10"/>
          <p:cNvSpPr/>
          <p:nvPr/>
        </p:nvSpPr>
        <p:spPr>
          <a:xfrm>
            <a:off x="1244564" y="3728281"/>
            <a:ext cx="3479564" cy="487669"/>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D4A57"/>
                </a:solidFill>
                <a:latin typeface="IBM Plex Sans" pitchFamily="34" charset="0"/>
                <a:ea typeface="IBM Plex Sans" pitchFamily="34" charset="-122"/>
                <a:cs typeface="IBM Plex Sans" pitchFamily="34" charset="-120"/>
              </a:rPr>
              <a:t>synthesis_instructions travel to the synthesizer.</a:t>
            </a:r>
            <a:endParaRPr lang="en-US" sz="1300" dirty="0"/>
          </a:p>
        </p:txBody>
      </p:sp>
      <p:sp>
        <p:nvSpPr>
          <p:cNvPr id="13" name="Text 11"/>
          <p:cNvSpPr/>
          <p:nvPr/>
        </p:nvSpPr>
        <p:spPr>
          <a:xfrm>
            <a:off x="812782" y="4355616"/>
            <a:ext cx="304782" cy="304782"/>
          </a:xfrm>
          <a:custGeom>
            <a:avLst/>
            <a:gdLst/>
            <a:ahLst/>
            <a:cxnLst/>
            <a:rect l="l" t="t" r="r" b="b"/>
            <a:pathLst>
              <a:path w="304782" h="304782">
                <a:moveTo>
                  <a:pt x="152391" y="0"/>
                </a:moveTo>
                <a:lnTo>
                  <a:pt x="152391" y="0"/>
                </a:lnTo>
                <a:arcTo wR="152391" hR="152391" stAng="16200000" swAng="5400000"/>
                <a:lnTo>
                  <a:pt x="304782" y="152391"/>
                </a:lnTo>
                <a:arcTo wR="152391" hR="152391" stAng="0" swAng="5400000"/>
                <a:lnTo>
                  <a:pt x="152391" y="304782"/>
                </a:lnTo>
                <a:arcTo wR="152391" hR="152391" stAng="5400000" swAng="5400000"/>
                <a:lnTo>
                  <a:pt x="0" y="152391"/>
                </a:lnTo>
                <a:arcTo wR="152391" hR="152391" stAng="10800000" swAng="5400000"/>
                <a:close/>
              </a:path>
            </a:pathLst>
          </a:custGeom>
          <a:solidFill>
            <a:srgbClr val="E8843F"/>
          </a:solidFill>
          <a:ln/>
        </p:spPr>
        <p:txBody>
          <a:bodyPr wrap="square" lIns="0" tIns="0" rIns="0" bIns="0" rtlCol="0" anchor="t">
            <a:normAutofit/>
          </a:bodyPr>
          <a:lstStyle/>
          <a:p>
            <a:pPr marL="0" indent="0" algn="ctr">
              <a:lnSpc>
                <a:spcPts val="2405"/>
              </a:lnSpc>
              <a:buNone/>
            </a:pPr>
            <a:r>
              <a:rPr lang="en-US" sz="1300" b="1" dirty="0">
                <a:solidFill>
                  <a:srgbClr val="16212C"/>
                </a:solidFill>
                <a:latin typeface="IBM Plex Sans" pitchFamily="34" charset="0"/>
                <a:ea typeface="IBM Plex Sans" pitchFamily="34" charset="-122"/>
                <a:cs typeface="IBM Plex Sans" pitchFamily="34" charset="-120"/>
              </a:rPr>
              <a:t>4</a:t>
            </a:r>
            <a:endParaRPr lang="en-US" sz="1300" dirty="0"/>
          </a:p>
        </p:txBody>
      </p:sp>
      <p:sp>
        <p:nvSpPr>
          <p:cNvPr id="14" name="Text 12"/>
          <p:cNvSpPr/>
          <p:nvPr/>
        </p:nvSpPr>
        <p:spPr>
          <a:xfrm>
            <a:off x="1244564" y="4355616"/>
            <a:ext cx="3479564" cy="253964"/>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6212C"/>
                </a:solidFill>
                <a:latin typeface="IBM Plex Sans" pitchFamily="34" charset="0"/>
                <a:ea typeface="IBM Plex Sans" pitchFamily="34" charset="-122"/>
                <a:cs typeface="IBM Plex Sans" pitchFamily="34" charset="-120"/>
              </a:rPr>
              <a:t>Routing's trick, reused</a:t>
            </a:r>
            <a:endParaRPr lang="en-US" sz="1500" dirty="0"/>
          </a:p>
        </p:txBody>
      </p:sp>
      <p:sp>
        <p:nvSpPr>
          <p:cNvPr id="15" name="Text 13"/>
          <p:cNvSpPr/>
          <p:nvPr/>
        </p:nvSpPr>
        <p:spPr>
          <a:xfrm>
            <a:off x="1244564" y="4622242"/>
            <a:ext cx="3479564" cy="487669"/>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D4A57"/>
                </a:solidFill>
                <a:latin typeface="IBM Plex Sans" pitchFamily="34" charset="0"/>
                <a:ea typeface="IBM Plex Sans" pitchFamily="34" charset="-122"/>
                <a:cs typeface="IBM Plex Sans" pitchFamily="34" charset="-120"/>
              </a:rPr>
              <a:t>Forced tool call — but it returns a plan, not a label.</a:t>
            </a:r>
            <a:endParaRPr lang="en-US" sz="1300" dirty="0"/>
          </a:p>
        </p:txBody>
      </p:sp>
      <p:sp>
        <p:nvSpPr>
          <p:cNvPr id="16" name="Shape 14"/>
          <p:cNvSpPr/>
          <p:nvPr/>
        </p:nvSpPr>
        <p:spPr>
          <a:xfrm>
            <a:off x="4927564" y="1673733"/>
            <a:ext cx="6451564" cy="3679753"/>
          </a:xfrm>
          <a:prstGeom prst="roundRect">
            <a:avLst>
              <a:gd name="adj" fmla="val 2761"/>
            </a:avLst>
          </a:prstGeom>
          <a:solidFill>
            <a:srgbClr val="16212C"/>
          </a:solidFill>
          <a:ln/>
        </p:spPr>
        <p:txBody>
          <a:bodyPr/>
          <a:lstStyle/>
          <a:p>
            <a:endParaRPr lang="en-CN"/>
          </a:p>
        </p:txBody>
      </p:sp>
      <p:sp>
        <p:nvSpPr>
          <p:cNvPr id="17" name="Text 15"/>
          <p:cNvSpPr/>
          <p:nvPr/>
        </p:nvSpPr>
        <p:spPr>
          <a:xfrm>
            <a:off x="5105364" y="1826121"/>
            <a:ext cx="6278842" cy="238693"/>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9AA9B8"/>
                </a:solidFill>
                <a:latin typeface="JetBrains Mono" pitchFamily="49" charset="0"/>
                <a:ea typeface="JetBrains Mono" pitchFamily="49" charset="-122"/>
                <a:cs typeface="JetBrains Mono" pitchFamily="49" charset="-120"/>
              </a:rPr>
              <a:t>01_orchestrator_workers.py</a:t>
            </a:r>
            <a:endParaRPr lang="en-US" sz="1200" dirty="0"/>
          </a:p>
        </p:txBody>
      </p:sp>
      <p:sp>
        <p:nvSpPr>
          <p:cNvPr id="18" name="Text 16"/>
          <p:cNvSpPr/>
          <p:nvPr/>
        </p:nvSpPr>
        <p:spPr>
          <a:xfrm>
            <a:off x="5105364" y="2115617"/>
            <a:ext cx="6278842" cy="231098"/>
          </a:xfrm>
          <a:prstGeom prst="rect">
            <a:avLst/>
          </a:prstGeom>
          <a:noFill/>
          <a:ln/>
        </p:spPr>
        <p:txBody>
          <a:bodyPr wrap="none" lIns="0" tIns="0" rIns="0" bIns="0" rtlCol="0" anchor="t">
            <a:normAutofit/>
          </a:bodyPr>
          <a:lstStyle/>
          <a:p>
            <a:pPr marL="0" indent="0" algn="l">
              <a:lnSpc>
                <a:spcPts val="1620"/>
              </a:lnSpc>
              <a:buNone/>
            </a:pPr>
            <a:r>
              <a:rPr lang="en-US" sz="1200" dirty="0">
                <a:solidFill>
                  <a:srgbClr val="7C8FA3"/>
                </a:solidFill>
                <a:latin typeface="JetBrains Mono" pitchFamily="49" charset="0"/>
                <a:ea typeface="JetBrains Mono" pitchFamily="49" charset="-122"/>
                <a:cs typeface="JetBrains Mono" pitchFamily="49" charset="-120"/>
              </a:rPr>
              <a:t>060</a:t>
            </a:r>
            <a:r>
              <a:rPr lang="en-US" sz="1200" dirty="0">
                <a:solidFill>
                  <a:srgbClr val="D6DDE5"/>
                </a:solidFill>
                <a:latin typeface="JetBrains Mono" pitchFamily="49" charset="0"/>
                <a:ea typeface="JetBrains Mono" pitchFamily="49" charset="-122"/>
                <a:cs typeface="JetBrains Mono" pitchFamily="49" charset="-120"/>
              </a:rPr>
              <a:t> PLANNING_TOOLS = [{"name": "create_research_plan",</a:t>
            </a:r>
            <a:endParaRPr lang="en-US" sz="1200" dirty="0"/>
          </a:p>
        </p:txBody>
      </p:sp>
      <p:sp>
        <p:nvSpPr>
          <p:cNvPr id="19" name="Text 17"/>
          <p:cNvSpPr/>
          <p:nvPr/>
        </p:nvSpPr>
        <p:spPr>
          <a:xfrm>
            <a:off x="5105364" y="2321316"/>
            <a:ext cx="6278842" cy="231098"/>
          </a:xfrm>
          <a:prstGeom prst="rect">
            <a:avLst/>
          </a:prstGeom>
          <a:noFill/>
          <a:ln/>
        </p:spPr>
        <p:txBody>
          <a:bodyPr wrap="none" lIns="0" tIns="0" rIns="0" bIns="0" rtlCol="0" anchor="t">
            <a:normAutofit/>
          </a:bodyPr>
          <a:lstStyle/>
          <a:p>
            <a:pPr marL="0" indent="0" algn="l">
              <a:lnSpc>
                <a:spcPts val="1620"/>
              </a:lnSpc>
              <a:buNone/>
            </a:pPr>
            <a:r>
              <a:rPr lang="en-US" sz="1200" dirty="0">
                <a:solidFill>
                  <a:srgbClr val="7C8FA3"/>
                </a:solidFill>
                <a:latin typeface="JetBrains Mono" pitchFamily="49" charset="0"/>
                <a:ea typeface="JetBrains Mono" pitchFamily="49" charset="-122"/>
                <a:cs typeface="JetBrains Mono" pitchFamily="49" charset="-120"/>
              </a:rPr>
              <a:t>064</a:t>
            </a:r>
            <a:r>
              <a:rPr lang="en-US" sz="1200" dirty="0">
                <a:solidFill>
                  <a:srgbClr val="D6DDE5"/>
                </a:solidFill>
                <a:latin typeface="JetBrains Mono" pitchFamily="49" charset="0"/>
                <a:ea typeface="JetBrains Mono" pitchFamily="49" charset="-122"/>
                <a:cs typeface="JetBrains Mono" pitchFamily="49" charset="-120"/>
              </a:rPr>
              <a:t>   "input_schema": {"properties": {</a:t>
            </a:r>
            <a:endParaRPr lang="en-US" sz="1200" dirty="0"/>
          </a:p>
        </p:txBody>
      </p:sp>
      <p:sp>
        <p:nvSpPr>
          <p:cNvPr id="20" name="Text 18"/>
          <p:cNvSpPr/>
          <p:nvPr/>
        </p:nvSpPr>
        <p:spPr>
          <a:xfrm>
            <a:off x="4927564" y="2527015"/>
            <a:ext cx="6451564" cy="205698"/>
          </a:xfrm>
          <a:prstGeom prst="rect">
            <a:avLst/>
          </a:prstGeom>
          <a:solidFill>
            <a:srgbClr val="3A2B20"/>
          </a:solidFill>
          <a:ln/>
        </p:spPr>
        <p:txBody>
          <a:bodyPr wrap="none" lIns="177223" tIns="0" rIns="0" bIns="0" rtlCol="0" anchor="t">
            <a:normAutofit/>
          </a:bodyPr>
          <a:lstStyle/>
          <a:p>
            <a:pPr marL="0" indent="0" algn="l">
              <a:lnSpc>
                <a:spcPts val="1620"/>
              </a:lnSpc>
              <a:buNone/>
            </a:pPr>
            <a:r>
              <a:rPr lang="en-US" sz="1200" dirty="0">
                <a:solidFill>
                  <a:srgbClr val="7C8FA3"/>
                </a:solidFill>
                <a:latin typeface="JetBrains Mono" pitchFamily="49" charset="0"/>
                <a:ea typeface="JetBrains Mono" pitchFamily="49" charset="-122"/>
                <a:cs typeface="JetBrains Mono" pitchFamily="49" charset="-120"/>
              </a:rPr>
              <a:t>067</a:t>
            </a:r>
            <a:r>
              <a:rPr lang="en-US" sz="1200" dirty="0">
                <a:solidFill>
                  <a:srgbClr val="D6DDE5"/>
                </a:solidFill>
                <a:latin typeface="JetBrains Mono" pitchFamily="49" charset="0"/>
                <a:ea typeface="JetBrains Mono" pitchFamily="49" charset="-122"/>
                <a:cs typeface="JetBrains Mono" pitchFamily="49" charset="-120"/>
              </a:rPr>
              <a:t>     "subtopics": {"type": "array", "items": { </a:t>
            </a:r>
            <a:r>
              <a:rPr lang="en-US" sz="1200" b="1" dirty="0">
                <a:solidFill>
                  <a:srgbClr val="F2A46B"/>
                </a:solidFill>
                <a:latin typeface="JetBrains Mono" pitchFamily="49" charset="0"/>
                <a:ea typeface="JetBrains Mono" pitchFamily="49" charset="-122"/>
                <a:cs typeface="JetBrains Mono" pitchFamily="49" charset="-120"/>
              </a:rPr>
              <a:t>← 1</a:t>
            </a:r>
            <a:endParaRPr lang="en-US" sz="1200" dirty="0"/>
          </a:p>
        </p:txBody>
      </p:sp>
      <p:sp>
        <p:nvSpPr>
          <p:cNvPr id="21" name="Shape 19"/>
          <p:cNvSpPr/>
          <p:nvPr/>
        </p:nvSpPr>
        <p:spPr>
          <a:xfrm>
            <a:off x="4946614" y="2527015"/>
            <a:ext cx="0" cy="205698"/>
          </a:xfrm>
          <a:prstGeom prst="line">
            <a:avLst/>
          </a:prstGeom>
          <a:noFill/>
          <a:ln w="38100">
            <a:solidFill>
              <a:srgbClr val="E8843F"/>
            </a:solidFill>
            <a:prstDash val="solid"/>
          </a:ln>
        </p:spPr>
        <p:txBody>
          <a:bodyPr/>
          <a:lstStyle/>
          <a:p>
            <a:endParaRPr lang="en-CN"/>
          </a:p>
        </p:txBody>
      </p:sp>
      <p:sp>
        <p:nvSpPr>
          <p:cNvPr id="22" name="Text 20"/>
          <p:cNvSpPr/>
          <p:nvPr/>
        </p:nvSpPr>
        <p:spPr>
          <a:xfrm>
            <a:off x="5105364" y="2732714"/>
            <a:ext cx="6278842" cy="231098"/>
          </a:xfrm>
          <a:prstGeom prst="rect">
            <a:avLst/>
          </a:prstGeom>
          <a:noFill/>
          <a:ln/>
        </p:spPr>
        <p:txBody>
          <a:bodyPr wrap="none" lIns="0" tIns="0" rIns="0" bIns="0" rtlCol="0" anchor="t">
            <a:normAutofit/>
          </a:bodyPr>
          <a:lstStyle/>
          <a:p>
            <a:pPr marL="0" indent="0" algn="l">
              <a:lnSpc>
                <a:spcPts val="1620"/>
              </a:lnSpc>
              <a:buNone/>
            </a:pPr>
            <a:r>
              <a:rPr lang="en-US" sz="1200" dirty="0">
                <a:solidFill>
                  <a:srgbClr val="7C8FA3"/>
                </a:solidFill>
                <a:latin typeface="JetBrains Mono" pitchFamily="49" charset="0"/>
                <a:ea typeface="JetBrains Mono" pitchFamily="49" charset="-122"/>
                <a:cs typeface="JetBrains Mono" pitchFamily="49" charset="-120"/>
              </a:rPr>
              <a:t>072</a:t>
            </a:r>
            <a:r>
              <a:rPr lang="en-US" sz="1200" dirty="0">
                <a:solidFill>
                  <a:srgbClr val="D6DDE5"/>
                </a:solidFill>
                <a:latin typeface="JetBrains Mono" pitchFamily="49" charset="0"/>
                <a:ea typeface="JetBrains Mono" pitchFamily="49" charset="-122"/>
                <a:cs typeface="JetBrains Mono" pitchFamily="49" charset="-120"/>
              </a:rPr>
              <a:t>       "title": {"type": "string"},</a:t>
            </a:r>
            <a:endParaRPr lang="en-US" sz="1200" dirty="0"/>
          </a:p>
        </p:txBody>
      </p:sp>
      <p:sp>
        <p:nvSpPr>
          <p:cNvPr id="23" name="Text 21"/>
          <p:cNvSpPr/>
          <p:nvPr/>
        </p:nvSpPr>
        <p:spPr>
          <a:xfrm>
            <a:off x="4927564" y="2938413"/>
            <a:ext cx="6451564" cy="205698"/>
          </a:xfrm>
          <a:prstGeom prst="rect">
            <a:avLst/>
          </a:prstGeom>
          <a:solidFill>
            <a:srgbClr val="3A2B20"/>
          </a:solidFill>
          <a:ln/>
        </p:spPr>
        <p:txBody>
          <a:bodyPr wrap="none" lIns="177223" tIns="0" rIns="0" bIns="0" rtlCol="0" anchor="t">
            <a:normAutofit/>
          </a:bodyPr>
          <a:lstStyle/>
          <a:p>
            <a:pPr marL="0" indent="0" algn="l">
              <a:lnSpc>
                <a:spcPts val="1620"/>
              </a:lnSpc>
              <a:buNone/>
            </a:pPr>
            <a:r>
              <a:rPr lang="en-US" sz="1200" dirty="0">
                <a:solidFill>
                  <a:srgbClr val="7C8FA3"/>
                </a:solidFill>
                <a:latin typeface="JetBrains Mono" pitchFamily="49" charset="0"/>
                <a:ea typeface="JetBrains Mono" pitchFamily="49" charset="-122"/>
                <a:cs typeface="JetBrains Mono" pitchFamily="49" charset="-120"/>
              </a:rPr>
              <a:t>076</a:t>
            </a:r>
            <a:r>
              <a:rPr lang="en-US" sz="1200" dirty="0">
                <a:solidFill>
                  <a:srgbClr val="D6DDE5"/>
                </a:solidFill>
                <a:latin typeface="JetBrains Mono" pitchFamily="49" charset="0"/>
                <a:ea typeface="JetBrains Mono" pitchFamily="49" charset="-122"/>
                <a:cs typeface="JetBrains Mono" pitchFamily="49" charset="-120"/>
              </a:rPr>
              <a:t>       "research_prompt": {"type": "string"}}}, </a:t>
            </a:r>
            <a:r>
              <a:rPr lang="en-US" sz="1200" b="1" dirty="0">
                <a:solidFill>
                  <a:srgbClr val="F2A46B"/>
                </a:solidFill>
                <a:latin typeface="JetBrains Mono" pitchFamily="49" charset="0"/>
                <a:ea typeface="JetBrains Mono" pitchFamily="49" charset="-122"/>
                <a:cs typeface="JetBrains Mono" pitchFamily="49" charset="-120"/>
              </a:rPr>
              <a:t>← 2</a:t>
            </a:r>
            <a:endParaRPr lang="en-US" sz="1200" dirty="0"/>
          </a:p>
        </p:txBody>
      </p:sp>
      <p:sp>
        <p:nvSpPr>
          <p:cNvPr id="24" name="Shape 22"/>
          <p:cNvSpPr/>
          <p:nvPr/>
        </p:nvSpPr>
        <p:spPr>
          <a:xfrm>
            <a:off x="4946614" y="2938413"/>
            <a:ext cx="0" cy="205698"/>
          </a:xfrm>
          <a:prstGeom prst="line">
            <a:avLst/>
          </a:prstGeom>
          <a:noFill/>
          <a:ln w="38100">
            <a:solidFill>
              <a:srgbClr val="E8843F"/>
            </a:solidFill>
            <a:prstDash val="solid"/>
          </a:ln>
        </p:spPr>
        <p:txBody>
          <a:bodyPr/>
          <a:lstStyle/>
          <a:p>
            <a:endParaRPr lang="en-CN"/>
          </a:p>
        </p:txBody>
      </p:sp>
      <p:sp>
        <p:nvSpPr>
          <p:cNvPr id="25" name="Text 23"/>
          <p:cNvSpPr/>
          <p:nvPr/>
        </p:nvSpPr>
        <p:spPr>
          <a:xfrm>
            <a:off x="4927564" y="3144112"/>
            <a:ext cx="6451564" cy="205698"/>
          </a:xfrm>
          <a:prstGeom prst="rect">
            <a:avLst/>
          </a:prstGeom>
          <a:solidFill>
            <a:srgbClr val="3A2B20"/>
          </a:solidFill>
          <a:ln/>
        </p:spPr>
        <p:txBody>
          <a:bodyPr wrap="none" lIns="177223" tIns="0" rIns="0" bIns="0" rtlCol="0" anchor="t">
            <a:normAutofit/>
          </a:bodyPr>
          <a:lstStyle/>
          <a:p>
            <a:pPr marL="0" indent="0" algn="l">
              <a:lnSpc>
                <a:spcPts val="1620"/>
              </a:lnSpc>
              <a:buNone/>
            </a:pPr>
            <a:r>
              <a:rPr lang="en-US" sz="1200" dirty="0">
                <a:solidFill>
                  <a:srgbClr val="7C8FA3"/>
                </a:solidFill>
                <a:latin typeface="JetBrains Mono" pitchFamily="49" charset="0"/>
                <a:ea typeface="JetBrains Mono" pitchFamily="49" charset="-122"/>
                <a:cs typeface="JetBrains Mono" pitchFamily="49" charset="-120"/>
              </a:rPr>
              <a:t>085</a:t>
            </a:r>
            <a:r>
              <a:rPr lang="en-US" sz="1200" dirty="0">
                <a:solidFill>
                  <a:srgbClr val="D6DDE5"/>
                </a:solidFill>
                <a:latin typeface="JetBrains Mono" pitchFamily="49" charset="0"/>
                <a:ea typeface="JetBrains Mono" pitchFamily="49" charset="-122"/>
                <a:cs typeface="JetBrains Mono" pitchFamily="49" charset="-120"/>
              </a:rPr>
              <a:t>     "synthesis_instructions": {"type": "string"}}, </a:t>
            </a:r>
            <a:r>
              <a:rPr lang="en-US" sz="1200" b="1" dirty="0">
                <a:solidFill>
                  <a:srgbClr val="F2A46B"/>
                </a:solidFill>
                <a:latin typeface="JetBrains Mono" pitchFamily="49" charset="0"/>
                <a:ea typeface="JetBrains Mono" pitchFamily="49" charset="-122"/>
                <a:cs typeface="JetBrains Mono" pitchFamily="49" charset="-120"/>
              </a:rPr>
              <a:t>← 3</a:t>
            </a:r>
            <a:endParaRPr lang="en-US" sz="1200" dirty="0"/>
          </a:p>
        </p:txBody>
      </p:sp>
      <p:sp>
        <p:nvSpPr>
          <p:cNvPr id="26" name="Shape 24"/>
          <p:cNvSpPr/>
          <p:nvPr/>
        </p:nvSpPr>
        <p:spPr>
          <a:xfrm>
            <a:off x="4946614" y="3144112"/>
            <a:ext cx="0" cy="205698"/>
          </a:xfrm>
          <a:prstGeom prst="line">
            <a:avLst/>
          </a:prstGeom>
          <a:noFill/>
          <a:ln w="38100">
            <a:solidFill>
              <a:srgbClr val="E8843F"/>
            </a:solidFill>
            <a:prstDash val="solid"/>
          </a:ln>
        </p:spPr>
        <p:txBody>
          <a:bodyPr/>
          <a:lstStyle/>
          <a:p>
            <a:endParaRPr lang="en-CN"/>
          </a:p>
        </p:txBody>
      </p:sp>
      <p:sp>
        <p:nvSpPr>
          <p:cNvPr id="27" name="Text 25"/>
          <p:cNvSpPr/>
          <p:nvPr/>
        </p:nvSpPr>
        <p:spPr>
          <a:xfrm>
            <a:off x="5105364" y="3349811"/>
            <a:ext cx="6278842" cy="231098"/>
          </a:xfrm>
          <a:prstGeom prst="rect">
            <a:avLst/>
          </a:prstGeom>
          <a:noFill/>
          <a:ln/>
        </p:spPr>
        <p:txBody>
          <a:bodyPr wrap="none" lIns="0" tIns="0" rIns="0" bIns="0" rtlCol="0" anchor="t">
            <a:normAutofit/>
          </a:bodyPr>
          <a:lstStyle/>
          <a:p>
            <a:pPr marL="0" indent="0" algn="l">
              <a:lnSpc>
                <a:spcPts val="1620"/>
              </a:lnSpc>
              <a:buNone/>
            </a:pPr>
            <a:r>
              <a:rPr lang="en-US" sz="1200" dirty="0">
                <a:solidFill>
                  <a:srgbClr val="7C8FA3"/>
                </a:solidFill>
                <a:latin typeface="JetBrains Mono" pitchFamily="49" charset="0"/>
                <a:ea typeface="JetBrains Mono" pitchFamily="49" charset="-122"/>
                <a:cs typeface="JetBrains Mono" pitchFamily="49" charset="-120"/>
              </a:rPr>
              <a:t>090</a:t>
            </a:r>
            <a:r>
              <a:rPr lang="en-US" sz="1200" dirty="0">
                <a:solidFill>
                  <a:srgbClr val="D6DDE5"/>
                </a:solidFill>
                <a:latin typeface="JetBrains Mono" pitchFamily="49" charset="0"/>
                <a:ea typeface="JetBrains Mono" pitchFamily="49" charset="-122"/>
                <a:cs typeface="JetBrains Mono" pitchFamily="49" charset="-120"/>
              </a:rPr>
              <a:t>   "required": ["subtopics", "synthesis_instructions"]}}]</a:t>
            </a:r>
            <a:endParaRPr lang="en-US" sz="1200" dirty="0"/>
          </a:p>
        </p:txBody>
      </p:sp>
      <p:sp>
        <p:nvSpPr>
          <p:cNvPr id="28" name="Text 26"/>
          <p:cNvSpPr/>
          <p:nvPr/>
        </p:nvSpPr>
        <p:spPr>
          <a:xfrm>
            <a:off x="5105364" y="3555504"/>
            <a:ext cx="6278842" cy="231098"/>
          </a:xfrm>
          <a:prstGeom prst="rect">
            <a:avLst/>
          </a:prstGeom>
          <a:noFill/>
          <a:ln/>
        </p:spPr>
        <p:txBody>
          <a:bodyPr wrap="none" lIns="0" tIns="0" rIns="0" bIns="0" rtlCol="0" anchor="t">
            <a:normAutofit/>
          </a:bodyPr>
          <a:lstStyle/>
          <a:p>
            <a:pPr marL="0" indent="0" algn="l">
              <a:lnSpc>
                <a:spcPts val="1620"/>
              </a:lnSpc>
              <a:buNone/>
            </a:pPr>
            <a:r>
              <a:rPr lang="en-US" sz="1200" dirty="0">
                <a:solidFill>
                  <a:srgbClr val="7C8FA3"/>
                </a:solidFill>
                <a:latin typeface="JetBrains Mono" pitchFamily="49" charset="0"/>
                <a:ea typeface="JetBrains Mono" pitchFamily="49" charset="-122"/>
                <a:cs typeface="JetBrains Mono" pitchFamily="49" charset="-120"/>
              </a:rPr>
              <a:t>    ⋮</a:t>
            </a:r>
            <a:endParaRPr lang="en-US" sz="1200" dirty="0"/>
          </a:p>
        </p:txBody>
      </p:sp>
      <p:sp>
        <p:nvSpPr>
          <p:cNvPr id="29" name="Text 27"/>
          <p:cNvSpPr/>
          <p:nvPr/>
        </p:nvSpPr>
        <p:spPr>
          <a:xfrm>
            <a:off x="5105364" y="3761203"/>
            <a:ext cx="6278842" cy="231098"/>
          </a:xfrm>
          <a:prstGeom prst="rect">
            <a:avLst/>
          </a:prstGeom>
          <a:noFill/>
          <a:ln/>
        </p:spPr>
        <p:txBody>
          <a:bodyPr wrap="none" lIns="0" tIns="0" rIns="0" bIns="0" rtlCol="0" anchor="t">
            <a:normAutofit/>
          </a:bodyPr>
          <a:lstStyle/>
          <a:p>
            <a:pPr marL="0" indent="0" algn="l">
              <a:lnSpc>
                <a:spcPts val="1620"/>
              </a:lnSpc>
              <a:buNone/>
            </a:pPr>
            <a:r>
              <a:rPr lang="en-US" sz="1200" dirty="0">
                <a:solidFill>
                  <a:srgbClr val="7C8FA3"/>
                </a:solidFill>
                <a:latin typeface="JetBrains Mono" pitchFamily="49" charset="0"/>
                <a:ea typeface="JetBrains Mono" pitchFamily="49" charset="-122"/>
                <a:cs typeface="JetBrains Mono" pitchFamily="49" charset="-120"/>
              </a:rPr>
              <a:t>144</a:t>
            </a:r>
            <a:r>
              <a:rPr lang="en-US" sz="1200" dirty="0">
                <a:solidFill>
                  <a:srgbClr val="D6DDE5"/>
                </a:solidFill>
                <a:latin typeface="JetBrains Mono" pitchFamily="49" charset="0"/>
                <a:ea typeface="JetBrains Mono" pitchFamily="49" charset="-122"/>
                <a:cs typeface="JetBrains Mono" pitchFamily="49" charset="-120"/>
              </a:rPr>
              <a:t> def _plan(self, topic):</a:t>
            </a:r>
            <a:endParaRPr lang="en-US" sz="1200" dirty="0"/>
          </a:p>
        </p:txBody>
      </p:sp>
      <p:sp>
        <p:nvSpPr>
          <p:cNvPr id="30" name="Text 28"/>
          <p:cNvSpPr/>
          <p:nvPr/>
        </p:nvSpPr>
        <p:spPr>
          <a:xfrm>
            <a:off x="5105364" y="3966902"/>
            <a:ext cx="6278842" cy="231098"/>
          </a:xfrm>
          <a:prstGeom prst="rect">
            <a:avLst/>
          </a:prstGeom>
          <a:noFill/>
          <a:ln/>
        </p:spPr>
        <p:txBody>
          <a:bodyPr wrap="none" lIns="0" tIns="0" rIns="0" bIns="0" rtlCol="0" anchor="t">
            <a:normAutofit/>
          </a:bodyPr>
          <a:lstStyle/>
          <a:p>
            <a:pPr marL="0" indent="0" algn="l">
              <a:lnSpc>
                <a:spcPts val="1620"/>
              </a:lnSpc>
              <a:buNone/>
            </a:pPr>
            <a:r>
              <a:rPr lang="en-US" sz="1200" dirty="0">
                <a:solidFill>
                  <a:srgbClr val="7C8FA3"/>
                </a:solidFill>
                <a:latin typeface="JetBrains Mono" pitchFamily="49" charset="0"/>
                <a:ea typeface="JetBrains Mono" pitchFamily="49" charset="-122"/>
                <a:cs typeface="JetBrains Mono" pitchFamily="49" charset="-120"/>
              </a:rPr>
              <a:t>150</a:t>
            </a:r>
            <a:r>
              <a:rPr lang="en-US" sz="1200" dirty="0">
                <a:solidFill>
                  <a:srgbClr val="D6DDE5"/>
                </a:solidFill>
                <a:latin typeface="JetBrains Mono" pitchFamily="49" charset="0"/>
                <a:ea typeface="JetBrains Mono" pitchFamily="49" charset="-122"/>
                <a:cs typeface="JetBrains Mono" pitchFamily="49" charset="-120"/>
              </a:rPr>
              <a:t>   response = self._call_llm(ORCHESTRATOR_SYSTEM_PROMPT,</a:t>
            </a:r>
            <a:endParaRPr lang="en-US" sz="1200" dirty="0"/>
          </a:p>
        </p:txBody>
      </p:sp>
      <p:sp>
        <p:nvSpPr>
          <p:cNvPr id="31" name="Text 29"/>
          <p:cNvSpPr/>
          <p:nvPr/>
        </p:nvSpPr>
        <p:spPr>
          <a:xfrm>
            <a:off x="5105364" y="4172601"/>
            <a:ext cx="6278842" cy="231098"/>
          </a:xfrm>
          <a:prstGeom prst="rect">
            <a:avLst/>
          </a:prstGeom>
          <a:noFill/>
          <a:ln/>
        </p:spPr>
        <p:txBody>
          <a:bodyPr wrap="none" lIns="0" tIns="0" rIns="0" bIns="0" rtlCol="0" anchor="t">
            <a:normAutofit/>
          </a:bodyPr>
          <a:lstStyle/>
          <a:p>
            <a:pPr marL="0" indent="0" algn="l">
              <a:lnSpc>
                <a:spcPts val="1620"/>
              </a:lnSpc>
              <a:buNone/>
            </a:pPr>
            <a:r>
              <a:rPr lang="en-US" sz="1200" dirty="0">
                <a:solidFill>
                  <a:srgbClr val="7C8FA3"/>
                </a:solidFill>
                <a:latin typeface="JetBrains Mono" pitchFamily="49" charset="0"/>
                <a:ea typeface="JetBrains Mono" pitchFamily="49" charset="-122"/>
                <a:cs typeface="JetBrains Mono" pitchFamily="49" charset="-120"/>
              </a:rPr>
              <a:t>153</a:t>
            </a:r>
            <a:r>
              <a:rPr lang="en-US" sz="1200" dirty="0">
                <a:solidFill>
                  <a:srgbClr val="D6DDE5"/>
                </a:solidFill>
                <a:latin typeface="JetBrains Mono" pitchFamily="49" charset="0"/>
                <a:ea typeface="JetBrains Mono" pitchFamily="49" charset="-122"/>
                <a:cs typeface="JetBrains Mono" pitchFamily="49" charset="-120"/>
              </a:rPr>
              <a:t>     messages, max_tokens=1024, tools=PLANNING_TOOLS,</a:t>
            </a:r>
            <a:endParaRPr lang="en-US" sz="1200" dirty="0"/>
          </a:p>
        </p:txBody>
      </p:sp>
      <p:sp>
        <p:nvSpPr>
          <p:cNvPr id="32" name="Text 30"/>
          <p:cNvSpPr/>
          <p:nvPr/>
        </p:nvSpPr>
        <p:spPr>
          <a:xfrm>
            <a:off x="4927564" y="4378300"/>
            <a:ext cx="6451564" cy="205698"/>
          </a:xfrm>
          <a:prstGeom prst="rect">
            <a:avLst/>
          </a:prstGeom>
          <a:solidFill>
            <a:srgbClr val="3A2B20"/>
          </a:solidFill>
          <a:ln/>
        </p:spPr>
        <p:txBody>
          <a:bodyPr wrap="none" lIns="177223" tIns="0" rIns="0" bIns="0" rtlCol="0" anchor="t">
            <a:normAutofit/>
          </a:bodyPr>
          <a:lstStyle/>
          <a:p>
            <a:pPr marL="0" indent="0" algn="l">
              <a:lnSpc>
                <a:spcPts val="1620"/>
              </a:lnSpc>
              <a:buNone/>
            </a:pPr>
            <a:r>
              <a:rPr lang="en-US" sz="1200" dirty="0">
                <a:solidFill>
                  <a:srgbClr val="7C8FA3"/>
                </a:solidFill>
                <a:latin typeface="JetBrains Mono" pitchFamily="49" charset="0"/>
                <a:ea typeface="JetBrains Mono" pitchFamily="49" charset="-122"/>
                <a:cs typeface="JetBrains Mono" pitchFamily="49" charset="-120"/>
              </a:rPr>
              <a:t>155</a:t>
            </a:r>
            <a:r>
              <a:rPr lang="en-US" sz="1200" dirty="0">
                <a:solidFill>
                  <a:srgbClr val="D6DDE5"/>
                </a:solidFill>
                <a:latin typeface="JetBrains Mono" pitchFamily="49" charset="0"/>
                <a:ea typeface="JetBrains Mono" pitchFamily="49" charset="-122"/>
                <a:cs typeface="JetBrains Mono" pitchFamily="49" charset="-120"/>
              </a:rPr>
              <a:t>     tool_choice={"type": "tool", </a:t>
            </a:r>
            <a:r>
              <a:rPr lang="en-US" sz="1200" b="1" dirty="0">
                <a:solidFill>
                  <a:srgbClr val="F2A46B"/>
                </a:solidFill>
                <a:latin typeface="JetBrains Mono" pitchFamily="49" charset="0"/>
                <a:ea typeface="JetBrains Mono" pitchFamily="49" charset="-122"/>
                <a:cs typeface="JetBrains Mono" pitchFamily="49" charset="-120"/>
              </a:rPr>
              <a:t>← 4</a:t>
            </a:r>
            <a:endParaRPr lang="en-US" sz="1200" dirty="0"/>
          </a:p>
        </p:txBody>
      </p:sp>
      <p:sp>
        <p:nvSpPr>
          <p:cNvPr id="33" name="Shape 31"/>
          <p:cNvSpPr/>
          <p:nvPr/>
        </p:nvSpPr>
        <p:spPr>
          <a:xfrm>
            <a:off x="4946614" y="4378300"/>
            <a:ext cx="0" cy="205698"/>
          </a:xfrm>
          <a:prstGeom prst="line">
            <a:avLst/>
          </a:prstGeom>
          <a:noFill/>
          <a:ln w="38100">
            <a:solidFill>
              <a:srgbClr val="E8843F"/>
            </a:solidFill>
            <a:prstDash val="solid"/>
          </a:ln>
        </p:spPr>
        <p:txBody>
          <a:bodyPr/>
          <a:lstStyle/>
          <a:p>
            <a:endParaRPr lang="en-CN"/>
          </a:p>
        </p:txBody>
      </p:sp>
      <p:sp>
        <p:nvSpPr>
          <p:cNvPr id="34" name="Text 32"/>
          <p:cNvSpPr/>
          <p:nvPr/>
        </p:nvSpPr>
        <p:spPr>
          <a:xfrm>
            <a:off x="4927564" y="4583999"/>
            <a:ext cx="6451564" cy="205698"/>
          </a:xfrm>
          <a:prstGeom prst="rect">
            <a:avLst/>
          </a:prstGeom>
          <a:solidFill>
            <a:srgbClr val="3A2B20"/>
          </a:solidFill>
          <a:ln/>
        </p:spPr>
        <p:txBody>
          <a:bodyPr wrap="none" lIns="177223" tIns="0" rIns="0" bIns="0" rtlCol="0" anchor="t">
            <a:normAutofit/>
          </a:bodyPr>
          <a:lstStyle/>
          <a:p>
            <a:pPr marL="0" indent="0" algn="l">
              <a:lnSpc>
                <a:spcPts val="1620"/>
              </a:lnSpc>
              <a:buNone/>
            </a:pPr>
            <a:r>
              <a:rPr lang="en-US" sz="1200" dirty="0">
                <a:solidFill>
                  <a:srgbClr val="7C8FA3"/>
                </a:solidFill>
                <a:latin typeface="JetBrains Mono" pitchFamily="49" charset="0"/>
                <a:ea typeface="JetBrains Mono" pitchFamily="49" charset="-122"/>
                <a:cs typeface="JetBrains Mono" pitchFamily="49" charset="-120"/>
              </a:rPr>
              <a:t>   </a:t>
            </a:r>
            <a:r>
              <a:rPr lang="en-US" sz="1200" dirty="0">
                <a:solidFill>
                  <a:srgbClr val="D6DDE5"/>
                </a:solidFill>
                <a:latin typeface="JetBrains Mono" pitchFamily="49" charset="0"/>
                <a:ea typeface="JetBrains Mono" pitchFamily="49" charset="-122"/>
                <a:cs typeface="JetBrains Mono" pitchFamily="49" charset="-120"/>
              </a:rPr>
              <a:t>       "name": "create_research_plan"})</a:t>
            </a:r>
            <a:endParaRPr lang="en-US" sz="1200" dirty="0"/>
          </a:p>
        </p:txBody>
      </p:sp>
      <p:sp>
        <p:nvSpPr>
          <p:cNvPr id="35" name="Shape 33"/>
          <p:cNvSpPr/>
          <p:nvPr/>
        </p:nvSpPr>
        <p:spPr>
          <a:xfrm>
            <a:off x="4946614" y="4583999"/>
            <a:ext cx="0" cy="205698"/>
          </a:xfrm>
          <a:prstGeom prst="line">
            <a:avLst/>
          </a:prstGeom>
          <a:noFill/>
          <a:ln w="38100">
            <a:solidFill>
              <a:srgbClr val="E8843F"/>
            </a:solidFill>
            <a:prstDash val="solid"/>
          </a:ln>
        </p:spPr>
        <p:txBody>
          <a:bodyPr/>
          <a:lstStyle/>
          <a:p>
            <a:endParaRPr lang="en-CN"/>
          </a:p>
        </p:txBody>
      </p:sp>
      <p:sp>
        <p:nvSpPr>
          <p:cNvPr id="36" name="Text 34"/>
          <p:cNvSpPr/>
          <p:nvPr/>
        </p:nvSpPr>
        <p:spPr>
          <a:xfrm>
            <a:off x="5105364" y="4789698"/>
            <a:ext cx="6278842" cy="231098"/>
          </a:xfrm>
          <a:prstGeom prst="rect">
            <a:avLst/>
          </a:prstGeom>
          <a:noFill/>
          <a:ln/>
        </p:spPr>
        <p:txBody>
          <a:bodyPr wrap="none" lIns="0" tIns="0" rIns="0" bIns="0" rtlCol="0" anchor="t">
            <a:normAutofit/>
          </a:bodyPr>
          <a:lstStyle/>
          <a:p>
            <a:pPr marL="0" indent="0" algn="l">
              <a:lnSpc>
                <a:spcPts val="1620"/>
              </a:lnSpc>
              <a:buNone/>
            </a:pPr>
            <a:r>
              <a:rPr lang="en-US" sz="1200" dirty="0">
                <a:solidFill>
                  <a:srgbClr val="7C8FA3"/>
                </a:solidFill>
                <a:latin typeface="JetBrains Mono" pitchFamily="49" charset="0"/>
                <a:ea typeface="JetBrains Mono" pitchFamily="49" charset="-122"/>
                <a:cs typeface="JetBrains Mono" pitchFamily="49" charset="-120"/>
              </a:rPr>
              <a:t>158</a:t>
            </a:r>
            <a:r>
              <a:rPr lang="en-US" sz="1200" dirty="0">
                <a:solidFill>
                  <a:srgbClr val="D6DDE5"/>
                </a:solidFill>
                <a:latin typeface="JetBrains Mono" pitchFamily="49" charset="0"/>
                <a:ea typeface="JetBrains Mono" pitchFamily="49" charset="-122"/>
                <a:cs typeface="JetBrains Mono" pitchFamily="49" charset="-120"/>
              </a:rPr>
              <a:t>   for block in response.content:</a:t>
            </a:r>
            <a:endParaRPr lang="en-US" sz="1200" dirty="0"/>
          </a:p>
        </p:txBody>
      </p:sp>
      <p:sp>
        <p:nvSpPr>
          <p:cNvPr id="37" name="Text 35"/>
          <p:cNvSpPr/>
          <p:nvPr/>
        </p:nvSpPr>
        <p:spPr>
          <a:xfrm>
            <a:off x="5105364" y="4995397"/>
            <a:ext cx="6278842" cy="231098"/>
          </a:xfrm>
          <a:prstGeom prst="rect">
            <a:avLst/>
          </a:prstGeom>
          <a:noFill/>
          <a:ln/>
        </p:spPr>
        <p:txBody>
          <a:bodyPr wrap="none" lIns="0" tIns="0" rIns="0" bIns="0" rtlCol="0" anchor="t">
            <a:normAutofit/>
          </a:bodyPr>
          <a:lstStyle/>
          <a:p>
            <a:pPr marL="0" indent="0" algn="l">
              <a:lnSpc>
                <a:spcPts val="1620"/>
              </a:lnSpc>
              <a:buNone/>
            </a:pPr>
            <a:r>
              <a:rPr lang="en-US" sz="1200" dirty="0">
                <a:solidFill>
                  <a:srgbClr val="7C8FA3"/>
                </a:solidFill>
                <a:latin typeface="JetBrains Mono" pitchFamily="49" charset="0"/>
                <a:ea typeface="JetBrains Mono" pitchFamily="49" charset="-122"/>
                <a:cs typeface="JetBrains Mono" pitchFamily="49" charset="-120"/>
              </a:rPr>
              <a:t>160</a:t>
            </a:r>
            <a:r>
              <a:rPr lang="en-US" sz="1200" dirty="0">
                <a:solidFill>
                  <a:srgbClr val="D6DDE5"/>
                </a:solidFill>
                <a:latin typeface="JetBrains Mono" pitchFamily="49" charset="0"/>
                <a:ea typeface="JetBrains Mono" pitchFamily="49" charset="-122"/>
                <a:cs typeface="JetBrains Mono" pitchFamily="49" charset="-120"/>
              </a:rPr>
              <a:t>     return block.input </a:t>
            </a:r>
            <a:r>
              <a:rPr lang="en-US" sz="1200" dirty="0">
                <a:solidFill>
                  <a:srgbClr val="8798AA"/>
                </a:solidFill>
                <a:latin typeface="JetBrains Mono" pitchFamily="49" charset="0"/>
                <a:ea typeface="JetBrains Mono" pitchFamily="49" charset="-122"/>
                <a:cs typeface="JetBrains Mono" pitchFamily="49" charset="-120"/>
              </a:rPr>
              <a:t># if tool_use</a:t>
            </a:r>
            <a:endParaRPr lang="en-US" sz="1200" dirty="0"/>
          </a:p>
        </p:txBody>
      </p:sp>
      <p:sp>
        <p:nvSpPr>
          <p:cNvPr id="38" name="Text 36"/>
          <p:cNvSpPr/>
          <p:nvPr/>
        </p:nvSpPr>
        <p:spPr>
          <a:xfrm>
            <a:off x="812782" y="6238292"/>
            <a:ext cx="967994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7684"/>
                </a:solidFill>
                <a:latin typeface="IBM Plex Sans" pitchFamily="34" charset="0"/>
                <a:ea typeface="IBM Plex Sans" pitchFamily="34" charset="-122"/>
                <a:cs typeface="IBM Plex Sans" pitchFamily="34" charset="-120"/>
              </a:rPr>
              <a:t>04-orchestrator-workers/01_orchestrator_workers.py L60–162 · lines condensed</a:t>
            </a:r>
            <a:endParaRPr lang="en-US" sz="1200" dirty="0"/>
          </a:p>
        </p:txBody>
      </p:sp>
      <p:sp>
        <p:nvSpPr>
          <p:cNvPr id="39" name="Text 37"/>
          <p:cNvSpPr/>
          <p:nvPr/>
        </p:nvSpPr>
        <p:spPr>
          <a:xfrm>
            <a:off x="10312418" y="6238292"/>
            <a:ext cx="1066800" cy="238720"/>
          </a:xfrm>
          <a:prstGeom prst="rect">
            <a:avLst/>
          </a:prstGeom>
          <a:noFill/>
          <a:ln/>
        </p:spPr>
        <p:txBody>
          <a:bodyPr wrap="square" lIns="0" tIns="0" rIns="0" bIns="0" rtlCol="0" anchor="t">
            <a:normAutofit/>
          </a:bodyPr>
          <a:lstStyle/>
          <a:p>
            <a:pPr marL="0" indent="0" algn="r">
              <a:lnSpc>
                <a:spcPts val="1680"/>
              </a:lnSpc>
              <a:buNone/>
            </a:pPr>
            <a:r>
              <a:rPr lang="en-US" sz="1200" b="1" dirty="0">
                <a:solidFill>
                  <a:srgbClr val="6A7684"/>
                </a:solidFill>
                <a:latin typeface="IBM Plex Sans" pitchFamily="34" charset="0"/>
                <a:ea typeface="IBM Plex Sans" pitchFamily="34" charset="-122"/>
                <a:cs typeface="IBM Plex Sans" pitchFamily="34" charset="-120"/>
              </a:rPr>
              <a:t>14 / 27</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F2EC"/>
        </a:solidFill>
        <a:effectLst/>
      </p:bgPr>
    </p:bg>
    <p:spTree>
      <p:nvGrpSpPr>
        <p:cNvPr id="1" name=""/>
        <p:cNvGrpSpPr/>
        <p:nvPr/>
      </p:nvGrpSpPr>
      <p:grpSpPr>
        <a:xfrm>
          <a:off x="0" y="0"/>
          <a:ext cx="0" cy="0"/>
          <a:chOff x="0" y="0"/>
          <a:chExt cx="0" cy="0"/>
        </a:xfrm>
      </p:grpSpPr>
      <p:sp>
        <p:nvSpPr>
          <p:cNvPr id="2" name="Text 0"/>
          <p:cNvSpPr/>
          <p:nvPr/>
        </p:nvSpPr>
        <p:spPr>
          <a:xfrm>
            <a:off x="812782" y="711175"/>
            <a:ext cx="10883429"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04E17"/>
                </a:solidFill>
                <a:latin typeface="IBM Plex Sans" pitchFamily="34" charset="0"/>
                <a:ea typeface="IBM Plex Sans" pitchFamily="34" charset="-122"/>
                <a:cs typeface="IBM Plex Sans" pitchFamily="34" charset="-120"/>
              </a:rPr>
              <a:t>04 · ORCHESTRATOR-WORKERS · IN CODE</a:t>
            </a:r>
            <a:endParaRPr lang="en-US" sz="1200" dirty="0"/>
          </a:p>
        </p:txBody>
      </p:sp>
      <p:sp>
        <p:nvSpPr>
          <p:cNvPr id="3" name="Text 1"/>
          <p:cNvSpPr>
            <a:spLocks noGrp="1"/>
          </p:cNvSpPr>
          <p:nvPr>
            <p:ph type="title"/>
          </p:nvPr>
        </p:nvSpPr>
        <p:spPr>
          <a:xfrm>
            <a:off x="812782" y="1000671"/>
            <a:ext cx="10883429" cy="444464"/>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6212C"/>
                </a:solidFill>
                <a:latin typeface="IBM Plex Sans" pitchFamily="34" charset="0"/>
                <a:ea typeface="IBM Plex Sans" pitchFamily="34" charset="-122"/>
                <a:cs typeface="IBM Plex Sans" pitchFamily="34" charset="-120"/>
              </a:rPr>
              <a:t>Plan → parallel workers → synthesize</a:t>
            </a:r>
            <a:endParaRPr lang="en-US" sz="3000" dirty="0"/>
          </a:p>
        </p:txBody>
      </p:sp>
      <p:sp>
        <p:nvSpPr>
          <p:cNvPr id="4" name="Text 2"/>
          <p:cNvSpPr/>
          <p:nvPr/>
        </p:nvSpPr>
        <p:spPr>
          <a:xfrm>
            <a:off x="812782" y="1673733"/>
            <a:ext cx="304782" cy="304782"/>
          </a:xfrm>
          <a:custGeom>
            <a:avLst/>
            <a:gdLst/>
            <a:ahLst/>
            <a:cxnLst/>
            <a:rect l="l" t="t" r="r" b="b"/>
            <a:pathLst>
              <a:path w="304782" h="304782">
                <a:moveTo>
                  <a:pt x="152391" y="0"/>
                </a:moveTo>
                <a:lnTo>
                  <a:pt x="152391" y="0"/>
                </a:lnTo>
                <a:arcTo wR="152391" hR="152391" stAng="16200000" swAng="5400000"/>
                <a:lnTo>
                  <a:pt x="304782" y="152391"/>
                </a:lnTo>
                <a:arcTo wR="152391" hR="152391" stAng="0" swAng="5400000"/>
                <a:lnTo>
                  <a:pt x="152391" y="304782"/>
                </a:lnTo>
                <a:arcTo wR="152391" hR="152391" stAng="5400000" swAng="5400000"/>
                <a:lnTo>
                  <a:pt x="0" y="152391"/>
                </a:lnTo>
                <a:arcTo wR="152391" hR="152391" stAng="10800000" swAng="5400000"/>
                <a:close/>
              </a:path>
            </a:pathLst>
          </a:custGeom>
          <a:solidFill>
            <a:srgbClr val="E8843F"/>
          </a:solidFill>
          <a:ln/>
        </p:spPr>
        <p:txBody>
          <a:bodyPr wrap="square" lIns="0" tIns="0" rIns="0" bIns="0" rtlCol="0" anchor="t">
            <a:normAutofit/>
          </a:bodyPr>
          <a:lstStyle/>
          <a:p>
            <a:pPr marL="0" indent="0" algn="ctr">
              <a:lnSpc>
                <a:spcPts val="2405"/>
              </a:lnSpc>
              <a:buNone/>
            </a:pPr>
            <a:r>
              <a:rPr lang="en-US" sz="1300" b="1" dirty="0">
                <a:solidFill>
                  <a:srgbClr val="16212C"/>
                </a:solidFill>
                <a:latin typeface="IBM Plex Sans" pitchFamily="34" charset="0"/>
                <a:ea typeface="IBM Plex Sans" pitchFamily="34" charset="-122"/>
                <a:cs typeface="IBM Plex Sans" pitchFamily="34" charset="-120"/>
              </a:rPr>
              <a:t>1</a:t>
            </a:r>
            <a:endParaRPr lang="en-US" sz="1300" dirty="0"/>
          </a:p>
        </p:txBody>
      </p:sp>
      <p:sp>
        <p:nvSpPr>
          <p:cNvPr id="5" name="Text 3"/>
          <p:cNvSpPr/>
          <p:nvPr/>
        </p:nvSpPr>
        <p:spPr>
          <a:xfrm>
            <a:off x="1244564" y="1673733"/>
            <a:ext cx="3479564" cy="253964"/>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6212C"/>
                </a:solidFill>
                <a:latin typeface="IBM Plex Sans" pitchFamily="34" charset="0"/>
                <a:ea typeface="IBM Plex Sans" pitchFamily="34" charset="-122"/>
                <a:cs typeface="IBM Plex Sans" pitchFamily="34" charset="-120"/>
              </a:rPr>
              <a:t>The plan sizes the pool</a:t>
            </a:r>
            <a:endParaRPr lang="en-US" sz="1500" dirty="0"/>
          </a:p>
        </p:txBody>
      </p:sp>
      <p:sp>
        <p:nvSpPr>
          <p:cNvPr id="6" name="Text 4"/>
          <p:cNvSpPr/>
          <p:nvPr/>
        </p:nvSpPr>
        <p:spPr>
          <a:xfrm>
            <a:off x="1244564" y="1940359"/>
            <a:ext cx="3479564" cy="487669"/>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D4A57"/>
                </a:solidFill>
                <a:latin typeface="IBM Plex Sans" pitchFamily="34" charset="0"/>
                <a:ea typeface="IBM Plex Sans" pitchFamily="34" charset="-122"/>
                <a:cs typeface="IBM Plex Sans" pitchFamily="34" charset="-120"/>
              </a:rPr>
              <a:t>max_workers comes from the LLM's subtopic count, not a constant.</a:t>
            </a:r>
            <a:endParaRPr lang="en-US" sz="1300" dirty="0"/>
          </a:p>
        </p:txBody>
      </p:sp>
      <p:sp>
        <p:nvSpPr>
          <p:cNvPr id="7" name="Text 5"/>
          <p:cNvSpPr/>
          <p:nvPr/>
        </p:nvSpPr>
        <p:spPr>
          <a:xfrm>
            <a:off x="812782" y="2605801"/>
            <a:ext cx="304782" cy="304782"/>
          </a:xfrm>
          <a:custGeom>
            <a:avLst/>
            <a:gdLst/>
            <a:ahLst/>
            <a:cxnLst/>
            <a:rect l="l" t="t" r="r" b="b"/>
            <a:pathLst>
              <a:path w="304782" h="304782">
                <a:moveTo>
                  <a:pt x="152391" y="0"/>
                </a:moveTo>
                <a:lnTo>
                  <a:pt x="152391" y="0"/>
                </a:lnTo>
                <a:arcTo wR="152391" hR="152391" stAng="16200000" swAng="5400000"/>
                <a:lnTo>
                  <a:pt x="304782" y="152391"/>
                </a:lnTo>
                <a:arcTo wR="152391" hR="152391" stAng="0" swAng="5400000"/>
                <a:lnTo>
                  <a:pt x="152391" y="304782"/>
                </a:lnTo>
                <a:arcTo wR="152391" hR="152391" stAng="5400000" swAng="5400000"/>
                <a:lnTo>
                  <a:pt x="0" y="152391"/>
                </a:lnTo>
                <a:arcTo wR="152391" hR="152391" stAng="10800000" swAng="5400000"/>
                <a:close/>
              </a:path>
            </a:pathLst>
          </a:custGeom>
          <a:solidFill>
            <a:srgbClr val="E8843F"/>
          </a:solidFill>
          <a:ln/>
        </p:spPr>
        <p:txBody>
          <a:bodyPr wrap="square" lIns="0" tIns="0" rIns="0" bIns="0" rtlCol="0" anchor="t">
            <a:normAutofit/>
          </a:bodyPr>
          <a:lstStyle/>
          <a:p>
            <a:pPr marL="0" indent="0" algn="ctr">
              <a:lnSpc>
                <a:spcPts val="2405"/>
              </a:lnSpc>
              <a:buNone/>
            </a:pPr>
            <a:r>
              <a:rPr lang="en-US" sz="1300" b="1" dirty="0">
                <a:solidFill>
                  <a:srgbClr val="16212C"/>
                </a:solidFill>
                <a:latin typeface="IBM Plex Sans" pitchFamily="34" charset="0"/>
                <a:ea typeface="IBM Plex Sans" pitchFamily="34" charset="-122"/>
                <a:cs typeface="IBM Plex Sans" pitchFamily="34" charset="-120"/>
              </a:rPr>
              <a:t>2</a:t>
            </a:r>
            <a:endParaRPr lang="en-US" sz="1300" dirty="0"/>
          </a:p>
        </p:txBody>
      </p:sp>
      <p:sp>
        <p:nvSpPr>
          <p:cNvPr id="8" name="Text 6"/>
          <p:cNvSpPr/>
          <p:nvPr/>
        </p:nvSpPr>
        <p:spPr>
          <a:xfrm>
            <a:off x="1244564" y="2605801"/>
            <a:ext cx="3479564" cy="253964"/>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6212C"/>
                </a:solidFill>
                <a:latin typeface="IBM Plex Sans" pitchFamily="34" charset="0"/>
                <a:ea typeface="IBM Plex Sans" pitchFamily="34" charset="-122"/>
                <a:cs typeface="IBM Plex Sans" pitchFamily="34" charset="-120"/>
              </a:rPr>
              <a:t>Generic worker, given prompt</a:t>
            </a:r>
            <a:endParaRPr lang="en-US" sz="1500" dirty="0"/>
          </a:p>
        </p:txBody>
      </p:sp>
      <p:sp>
        <p:nvSpPr>
          <p:cNvPr id="9" name="Text 7"/>
          <p:cNvSpPr/>
          <p:nvPr/>
        </p:nvSpPr>
        <p:spPr>
          <a:xfrm>
            <a:off x="1244564" y="2872432"/>
            <a:ext cx="3479564" cy="487669"/>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D4A57"/>
                </a:solidFill>
                <a:latin typeface="IBM Plex Sans" pitchFamily="34" charset="0"/>
                <a:ea typeface="IBM Plex Sans" pitchFamily="34" charset="-122"/>
                <a:cs typeface="IBM Plex Sans" pitchFamily="34" charset="-120"/>
              </a:rPr>
              <a:t>Haiku + web search runs the orchestrator's research_prompt.</a:t>
            </a:r>
            <a:endParaRPr lang="en-US" sz="1300" dirty="0"/>
          </a:p>
        </p:txBody>
      </p:sp>
      <p:sp>
        <p:nvSpPr>
          <p:cNvPr id="10" name="Text 8"/>
          <p:cNvSpPr/>
          <p:nvPr/>
        </p:nvSpPr>
        <p:spPr>
          <a:xfrm>
            <a:off x="812782" y="3537874"/>
            <a:ext cx="304782" cy="304782"/>
          </a:xfrm>
          <a:custGeom>
            <a:avLst/>
            <a:gdLst/>
            <a:ahLst/>
            <a:cxnLst/>
            <a:rect l="l" t="t" r="r" b="b"/>
            <a:pathLst>
              <a:path w="304782" h="304782">
                <a:moveTo>
                  <a:pt x="152391" y="0"/>
                </a:moveTo>
                <a:lnTo>
                  <a:pt x="152391" y="0"/>
                </a:lnTo>
                <a:arcTo wR="152391" hR="152391" stAng="16200000" swAng="5400000"/>
                <a:lnTo>
                  <a:pt x="304782" y="152391"/>
                </a:lnTo>
                <a:arcTo wR="152391" hR="152391" stAng="0" swAng="5400000"/>
                <a:lnTo>
                  <a:pt x="152391" y="304782"/>
                </a:lnTo>
                <a:arcTo wR="152391" hR="152391" stAng="5400000" swAng="5400000"/>
                <a:lnTo>
                  <a:pt x="0" y="152391"/>
                </a:lnTo>
                <a:arcTo wR="152391" hR="152391" stAng="10800000" swAng="5400000"/>
                <a:close/>
              </a:path>
            </a:pathLst>
          </a:custGeom>
          <a:solidFill>
            <a:srgbClr val="E8843F"/>
          </a:solidFill>
          <a:ln/>
        </p:spPr>
        <p:txBody>
          <a:bodyPr wrap="square" lIns="0" tIns="0" rIns="0" bIns="0" rtlCol="0" anchor="t">
            <a:normAutofit/>
          </a:bodyPr>
          <a:lstStyle/>
          <a:p>
            <a:pPr marL="0" indent="0" algn="ctr">
              <a:lnSpc>
                <a:spcPts val="2405"/>
              </a:lnSpc>
              <a:buNone/>
            </a:pPr>
            <a:r>
              <a:rPr lang="en-US" sz="1300" b="1" dirty="0">
                <a:solidFill>
                  <a:srgbClr val="16212C"/>
                </a:solidFill>
                <a:latin typeface="IBM Plex Sans" pitchFamily="34" charset="0"/>
                <a:ea typeface="IBM Plex Sans" pitchFamily="34" charset="-122"/>
                <a:cs typeface="IBM Plex Sans" pitchFamily="34" charset="-120"/>
              </a:rPr>
              <a:t>3</a:t>
            </a:r>
            <a:endParaRPr lang="en-US" sz="1300" dirty="0"/>
          </a:p>
        </p:txBody>
      </p:sp>
      <p:sp>
        <p:nvSpPr>
          <p:cNvPr id="11" name="Text 9"/>
          <p:cNvSpPr/>
          <p:nvPr/>
        </p:nvSpPr>
        <p:spPr>
          <a:xfrm>
            <a:off x="1244564" y="3537874"/>
            <a:ext cx="3479564" cy="253964"/>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6212C"/>
                </a:solidFill>
                <a:latin typeface="IBM Plex Sans" pitchFamily="34" charset="0"/>
                <a:ea typeface="IBM Plex Sans" pitchFamily="34" charset="-122"/>
                <a:cs typeface="IBM Plex Sans" pitchFamily="34" charset="-120"/>
              </a:rPr>
              <a:t>Synthesis, not concatenation</a:t>
            </a:r>
            <a:endParaRPr lang="en-US" sz="1500" dirty="0"/>
          </a:p>
        </p:txBody>
      </p:sp>
      <p:sp>
        <p:nvSpPr>
          <p:cNvPr id="12" name="Text 10"/>
          <p:cNvSpPr/>
          <p:nvPr/>
        </p:nvSpPr>
        <p:spPr>
          <a:xfrm>
            <a:off x="1244564" y="3804500"/>
            <a:ext cx="3479564" cy="487669"/>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D4A57"/>
                </a:solidFill>
                <a:latin typeface="IBM Plex Sans" pitchFamily="34" charset="0"/>
                <a:ea typeface="IBM Plex Sans" pitchFamily="34" charset="-122"/>
                <a:cs typeface="IBM Plex Sans" pitchFamily="34" charset="-120"/>
              </a:rPr>
              <a:t>The planner's instructions are injected into the synthesizer's system prompt.</a:t>
            </a:r>
            <a:endParaRPr lang="en-US" sz="1300" dirty="0"/>
          </a:p>
        </p:txBody>
      </p:sp>
      <p:sp>
        <p:nvSpPr>
          <p:cNvPr id="13" name="Shape 11"/>
          <p:cNvSpPr/>
          <p:nvPr/>
        </p:nvSpPr>
        <p:spPr>
          <a:xfrm>
            <a:off x="4927564" y="1673733"/>
            <a:ext cx="6451564" cy="3679753"/>
          </a:xfrm>
          <a:prstGeom prst="roundRect">
            <a:avLst>
              <a:gd name="adj" fmla="val 2761"/>
            </a:avLst>
          </a:prstGeom>
          <a:solidFill>
            <a:srgbClr val="16212C"/>
          </a:solidFill>
          <a:ln/>
        </p:spPr>
        <p:txBody>
          <a:bodyPr/>
          <a:lstStyle/>
          <a:p>
            <a:endParaRPr lang="en-CN"/>
          </a:p>
        </p:txBody>
      </p:sp>
      <p:sp>
        <p:nvSpPr>
          <p:cNvPr id="14" name="Text 12"/>
          <p:cNvSpPr/>
          <p:nvPr/>
        </p:nvSpPr>
        <p:spPr>
          <a:xfrm>
            <a:off x="5105364" y="1826121"/>
            <a:ext cx="6278842" cy="238693"/>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9AA9B8"/>
                </a:solidFill>
                <a:latin typeface="JetBrains Mono" pitchFamily="49" charset="0"/>
                <a:ea typeface="JetBrains Mono" pitchFamily="49" charset="-122"/>
                <a:cs typeface="JetBrains Mono" pitchFamily="49" charset="-120"/>
              </a:rPr>
              <a:t>01_orchestrator_workers.py</a:t>
            </a:r>
            <a:endParaRPr lang="en-US" sz="1200" dirty="0"/>
          </a:p>
        </p:txBody>
      </p:sp>
      <p:sp>
        <p:nvSpPr>
          <p:cNvPr id="15" name="Text 13"/>
          <p:cNvSpPr/>
          <p:nvPr/>
        </p:nvSpPr>
        <p:spPr>
          <a:xfrm>
            <a:off x="5105364" y="2115617"/>
            <a:ext cx="6278842" cy="231098"/>
          </a:xfrm>
          <a:prstGeom prst="rect">
            <a:avLst/>
          </a:prstGeom>
          <a:noFill/>
          <a:ln/>
        </p:spPr>
        <p:txBody>
          <a:bodyPr wrap="none" lIns="0" tIns="0" rIns="0" bIns="0" rtlCol="0" anchor="t">
            <a:normAutofit/>
          </a:bodyPr>
          <a:lstStyle/>
          <a:p>
            <a:pPr marL="0" indent="0" algn="l">
              <a:lnSpc>
                <a:spcPts val="1620"/>
              </a:lnSpc>
              <a:buNone/>
            </a:pPr>
            <a:r>
              <a:rPr lang="en-US" sz="1200" dirty="0">
                <a:solidFill>
                  <a:srgbClr val="7C8FA3"/>
                </a:solidFill>
                <a:latin typeface="JetBrains Mono" pitchFamily="49" charset="0"/>
                <a:ea typeface="JetBrains Mono" pitchFamily="49" charset="-122"/>
                <a:cs typeface="JetBrains Mono" pitchFamily="49" charset="-120"/>
              </a:rPr>
              <a:t>164</a:t>
            </a:r>
            <a:r>
              <a:rPr lang="en-US" sz="1200" dirty="0">
                <a:solidFill>
                  <a:srgbClr val="D6DDE5"/>
                </a:solidFill>
                <a:latin typeface="JetBrains Mono" pitchFamily="49" charset="0"/>
                <a:ea typeface="JetBrains Mono" pitchFamily="49" charset="-122"/>
                <a:cs typeface="JetBrains Mono" pitchFamily="49" charset="-120"/>
              </a:rPr>
              <a:t> def _research_subtopic(self, subtopic):</a:t>
            </a:r>
            <a:endParaRPr lang="en-US" sz="1200" dirty="0"/>
          </a:p>
        </p:txBody>
      </p:sp>
      <p:sp>
        <p:nvSpPr>
          <p:cNvPr id="16" name="Text 14"/>
          <p:cNvSpPr/>
          <p:nvPr/>
        </p:nvSpPr>
        <p:spPr>
          <a:xfrm>
            <a:off x="4927564" y="2321316"/>
            <a:ext cx="6451564" cy="205698"/>
          </a:xfrm>
          <a:prstGeom prst="rect">
            <a:avLst/>
          </a:prstGeom>
          <a:solidFill>
            <a:srgbClr val="3A2B20"/>
          </a:solidFill>
          <a:ln/>
        </p:spPr>
        <p:txBody>
          <a:bodyPr wrap="none" lIns="177223" tIns="0" rIns="0" bIns="0" rtlCol="0" anchor="t">
            <a:normAutofit/>
          </a:bodyPr>
          <a:lstStyle/>
          <a:p>
            <a:pPr marL="0" indent="0" algn="l">
              <a:lnSpc>
                <a:spcPts val="1620"/>
              </a:lnSpc>
              <a:buNone/>
            </a:pPr>
            <a:r>
              <a:rPr lang="en-US" sz="1200" dirty="0">
                <a:solidFill>
                  <a:srgbClr val="7C8FA3"/>
                </a:solidFill>
                <a:latin typeface="JetBrains Mono" pitchFamily="49" charset="0"/>
                <a:ea typeface="JetBrains Mono" pitchFamily="49" charset="-122"/>
                <a:cs typeface="JetBrains Mono" pitchFamily="49" charset="-120"/>
              </a:rPr>
              <a:t>169</a:t>
            </a:r>
            <a:r>
              <a:rPr lang="en-US" sz="1200" dirty="0">
                <a:solidFill>
                  <a:srgbClr val="D6DDE5"/>
                </a:solidFill>
                <a:latin typeface="JetBrains Mono" pitchFamily="49" charset="0"/>
                <a:ea typeface="JetBrains Mono" pitchFamily="49" charset="-122"/>
                <a:cs typeface="JetBrains Mono" pitchFamily="49" charset="-120"/>
              </a:rPr>
              <a:t>   messages = [{"role": "user", </a:t>
            </a:r>
            <a:r>
              <a:rPr lang="en-US" sz="1200" b="1" dirty="0">
                <a:solidFill>
                  <a:srgbClr val="F2A46B"/>
                </a:solidFill>
                <a:latin typeface="JetBrains Mono" pitchFamily="49" charset="0"/>
                <a:ea typeface="JetBrains Mono" pitchFamily="49" charset="-122"/>
                <a:cs typeface="JetBrains Mono" pitchFamily="49" charset="-120"/>
              </a:rPr>
              <a:t>← 2</a:t>
            </a:r>
            <a:endParaRPr lang="en-US" sz="1200" dirty="0"/>
          </a:p>
        </p:txBody>
      </p:sp>
      <p:sp>
        <p:nvSpPr>
          <p:cNvPr id="17" name="Shape 15"/>
          <p:cNvSpPr/>
          <p:nvPr/>
        </p:nvSpPr>
        <p:spPr>
          <a:xfrm>
            <a:off x="4946614" y="2321316"/>
            <a:ext cx="0" cy="205698"/>
          </a:xfrm>
          <a:prstGeom prst="line">
            <a:avLst/>
          </a:prstGeom>
          <a:noFill/>
          <a:ln w="38100">
            <a:solidFill>
              <a:srgbClr val="E8843F"/>
            </a:solidFill>
            <a:prstDash val="solid"/>
          </a:ln>
        </p:spPr>
        <p:txBody>
          <a:bodyPr/>
          <a:lstStyle/>
          <a:p>
            <a:endParaRPr lang="en-CN"/>
          </a:p>
        </p:txBody>
      </p:sp>
      <p:sp>
        <p:nvSpPr>
          <p:cNvPr id="18" name="Text 16"/>
          <p:cNvSpPr/>
          <p:nvPr/>
        </p:nvSpPr>
        <p:spPr>
          <a:xfrm>
            <a:off x="4927564" y="2527015"/>
            <a:ext cx="6451564" cy="205698"/>
          </a:xfrm>
          <a:prstGeom prst="rect">
            <a:avLst/>
          </a:prstGeom>
          <a:solidFill>
            <a:srgbClr val="3A2B20"/>
          </a:solidFill>
          <a:ln/>
        </p:spPr>
        <p:txBody>
          <a:bodyPr wrap="none" lIns="177223" tIns="0" rIns="0" bIns="0" rtlCol="0" anchor="t">
            <a:normAutofit/>
          </a:bodyPr>
          <a:lstStyle/>
          <a:p>
            <a:pPr marL="0" indent="0" algn="l">
              <a:lnSpc>
                <a:spcPts val="1620"/>
              </a:lnSpc>
              <a:buNone/>
            </a:pPr>
            <a:r>
              <a:rPr lang="en-US" sz="1200" dirty="0">
                <a:solidFill>
                  <a:srgbClr val="7C8FA3"/>
                </a:solidFill>
                <a:latin typeface="JetBrains Mono" pitchFamily="49" charset="0"/>
                <a:ea typeface="JetBrains Mono" pitchFamily="49" charset="-122"/>
                <a:cs typeface="JetBrains Mono" pitchFamily="49" charset="-120"/>
              </a:rPr>
              <a:t>   </a:t>
            </a:r>
            <a:r>
              <a:rPr lang="en-US" sz="1200" dirty="0">
                <a:solidFill>
                  <a:srgbClr val="D6DDE5"/>
                </a:solidFill>
                <a:latin typeface="JetBrains Mono" pitchFamily="49" charset="0"/>
                <a:ea typeface="JetBrains Mono" pitchFamily="49" charset="-122"/>
                <a:cs typeface="JetBrains Mono" pitchFamily="49" charset="-120"/>
              </a:rPr>
              <a:t>     "content": subtopic["research_prompt"]}]</a:t>
            </a:r>
            <a:endParaRPr lang="en-US" sz="1200" dirty="0"/>
          </a:p>
        </p:txBody>
      </p:sp>
      <p:sp>
        <p:nvSpPr>
          <p:cNvPr id="19" name="Shape 17"/>
          <p:cNvSpPr/>
          <p:nvPr/>
        </p:nvSpPr>
        <p:spPr>
          <a:xfrm>
            <a:off x="4946614" y="2527015"/>
            <a:ext cx="0" cy="205698"/>
          </a:xfrm>
          <a:prstGeom prst="line">
            <a:avLst/>
          </a:prstGeom>
          <a:noFill/>
          <a:ln w="38100">
            <a:solidFill>
              <a:srgbClr val="E8843F"/>
            </a:solidFill>
            <a:prstDash val="solid"/>
          </a:ln>
        </p:spPr>
        <p:txBody>
          <a:bodyPr/>
          <a:lstStyle/>
          <a:p>
            <a:endParaRPr lang="en-CN"/>
          </a:p>
        </p:txBody>
      </p:sp>
      <p:sp>
        <p:nvSpPr>
          <p:cNvPr id="20" name="Text 18"/>
          <p:cNvSpPr/>
          <p:nvPr/>
        </p:nvSpPr>
        <p:spPr>
          <a:xfrm>
            <a:off x="5105364" y="2732714"/>
            <a:ext cx="6278842" cy="231098"/>
          </a:xfrm>
          <a:prstGeom prst="rect">
            <a:avLst/>
          </a:prstGeom>
          <a:noFill/>
          <a:ln/>
        </p:spPr>
        <p:txBody>
          <a:bodyPr wrap="none" lIns="0" tIns="0" rIns="0" bIns="0" rtlCol="0" anchor="t">
            <a:normAutofit/>
          </a:bodyPr>
          <a:lstStyle/>
          <a:p>
            <a:pPr marL="0" indent="0" algn="l">
              <a:lnSpc>
                <a:spcPts val="1620"/>
              </a:lnSpc>
              <a:buNone/>
            </a:pPr>
            <a:r>
              <a:rPr lang="en-US" sz="1200" dirty="0">
                <a:solidFill>
                  <a:srgbClr val="7C8FA3"/>
                </a:solidFill>
                <a:latin typeface="JetBrains Mono" pitchFamily="49" charset="0"/>
                <a:ea typeface="JetBrains Mono" pitchFamily="49" charset="-122"/>
                <a:cs typeface="JetBrains Mono" pitchFamily="49" charset="-120"/>
              </a:rPr>
              <a:t>170</a:t>
            </a:r>
            <a:r>
              <a:rPr lang="en-US" sz="1200" dirty="0">
                <a:solidFill>
                  <a:srgbClr val="D6DDE5"/>
                </a:solidFill>
                <a:latin typeface="JetBrains Mono" pitchFamily="49" charset="0"/>
                <a:ea typeface="JetBrains Mono" pitchFamily="49" charset="-122"/>
                <a:cs typeface="JetBrains Mono" pitchFamily="49" charset="-120"/>
              </a:rPr>
              <a:t>   response = self._call_llm(WORKER_SYSTEM_PROMPT,</a:t>
            </a:r>
            <a:endParaRPr lang="en-US" sz="1200" dirty="0"/>
          </a:p>
        </p:txBody>
      </p:sp>
      <p:sp>
        <p:nvSpPr>
          <p:cNvPr id="21" name="Text 19"/>
          <p:cNvSpPr/>
          <p:nvPr/>
        </p:nvSpPr>
        <p:spPr>
          <a:xfrm>
            <a:off x="5105364" y="2938413"/>
            <a:ext cx="6278842" cy="231098"/>
          </a:xfrm>
          <a:prstGeom prst="rect">
            <a:avLst/>
          </a:prstGeom>
          <a:noFill/>
          <a:ln/>
        </p:spPr>
        <p:txBody>
          <a:bodyPr wrap="none" lIns="0" tIns="0" rIns="0" bIns="0" rtlCol="0" anchor="t">
            <a:normAutofit/>
          </a:bodyPr>
          <a:lstStyle/>
          <a:p>
            <a:pPr marL="0" indent="0" algn="l">
              <a:lnSpc>
                <a:spcPts val="1620"/>
              </a:lnSpc>
              <a:buNone/>
            </a:pPr>
            <a:r>
              <a:rPr lang="en-US" sz="1200" dirty="0">
                <a:solidFill>
                  <a:srgbClr val="7C8FA3"/>
                </a:solidFill>
                <a:latin typeface="JetBrains Mono" pitchFamily="49" charset="0"/>
                <a:ea typeface="JetBrains Mono" pitchFamily="49" charset="-122"/>
                <a:cs typeface="JetBrains Mono" pitchFamily="49" charset="-120"/>
              </a:rPr>
              <a:t>171</a:t>
            </a:r>
            <a:r>
              <a:rPr lang="en-US" sz="1200" dirty="0">
                <a:solidFill>
                  <a:srgbClr val="D6DDE5"/>
                </a:solidFill>
                <a:latin typeface="JetBrains Mono" pitchFamily="49" charset="0"/>
                <a:ea typeface="JetBrains Mono" pitchFamily="49" charset="-122"/>
                <a:cs typeface="JetBrains Mono" pitchFamily="49" charset="-120"/>
              </a:rPr>
              <a:t>     messages, use_light=True, tools=[WEB_SEARCH_TOOL])</a:t>
            </a:r>
            <a:endParaRPr lang="en-US" sz="1200" dirty="0"/>
          </a:p>
        </p:txBody>
      </p:sp>
      <p:sp>
        <p:nvSpPr>
          <p:cNvPr id="22" name="Text 20"/>
          <p:cNvSpPr/>
          <p:nvPr/>
        </p:nvSpPr>
        <p:spPr>
          <a:xfrm>
            <a:off x="5105364" y="3144112"/>
            <a:ext cx="6278842" cy="231098"/>
          </a:xfrm>
          <a:prstGeom prst="rect">
            <a:avLst/>
          </a:prstGeom>
          <a:noFill/>
          <a:ln/>
        </p:spPr>
        <p:txBody>
          <a:bodyPr wrap="none" lIns="0" tIns="0" rIns="0" bIns="0" rtlCol="0" anchor="t">
            <a:normAutofit/>
          </a:bodyPr>
          <a:lstStyle/>
          <a:p>
            <a:pPr marL="0" indent="0" algn="l">
              <a:lnSpc>
                <a:spcPts val="1620"/>
              </a:lnSpc>
              <a:buNone/>
            </a:pPr>
            <a:r>
              <a:rPr lang="en-US" sz="1200" dirty="0">
                <a:solidFill>
                  <a:srgbClr val="7C8FA3"/>
                </a:solidFill>
                <a:latin typeface="JetBrains Mono" pitchFamily="49" charset="0"/>
                <a:ea typeface="JetBrains Mono" pitchFamily="49" charset="-122"/>
                <a:cs typeface="JetBrains Mono" pitchFamily="49" charset="-120"/>
              </a:rPr>
              <a:t>    ⋮ </a:t>
            </a:r>
            <a:r>
              <a:rPr lang="en-US" sz="1200" dirty="0">
                <a:solidFill>
                  <a:srgbClr val="8798AA"/>
                </a:solidFill>
                <a:latin typeface="JetBrains Mono" pitchFamily="49" charset="0"/>
                <a:ea typeface="JetBrains Mono" pitchFamily="49" charset="-122"/>
                <a:cs typeface="JetBrains Mono" pitchFamily="49" charset="-120"/>
              </a:rPr>
              <a:t># _synthesize</a:t>
            </a:r>
            <a:endParaRPr lang="en-US" sz="1200" dirty="0"/>
          </a:p>
        </p:txBody>
      </p:sp>
      <p:sp>
        <p:nvSpPr>
          <p:cNvPr id="23" name="Text 21"/>
          <p:cNvSpPr/>
          <p:nvPr/>
        </p:nvSpPr>
        <p:spPr>
          <a:xfrm>
            <a:off x="4927564" y="3349811"/>
            <a:ext cx="6451564" cy="205698"/>
          </a:xfrm>
          <a:prstGeom prst="rect">
            <a:avLst/>
          </a:prstGeom>
          <a:solidFill>
            <a:srgbClr val="3A2B20"/>
          </a:solidFill>
          <a:ln/>
        </p:spPr>
        <p:txBody>
          <a:bodyPr wrap="none" lIns="177223" tIns="0" rIns="0" bIns="0" rtlCol="0" anchor="t">
            <a:normAutofit/>
          </a:bodyPr>
          <a:lstStyle/>
          <a:p>
            <a:pPr marL="0" indent="0" algn="l">
              <a:lnSpc>
                <a:spcPts val="1620"/>
              </a:lnSpc>
              <a:buNone/>
            </a:pPr>
            <a:r>
              <a:rPr lang="en-US" sz="1200" dirty="0">
                <a:solidFill>
                  <a:srgbClr val="7C8FA3"/>
                </a:solidFill>
                <a:latin typeface="JetBrains Mono" pitchFamily="49" charset="0"/>
                <a:ea typeface="JetBrains Mono" pitchFamily="49" charset="-122"/>
                <a:cs typeface="JetBrains Mono" pitchFamily="49" charset="-120"/>
              </a:rPr>
              <a:t>180</a:t>
            </a:r>
            <a:r>
              <a:rPr lang="en-US" sz="1200" dirty="0">
                <a:solidFill>
                  <a:srgbClr val="D6DDE5"/>
                </a:solidFill>
                <a:latin typeface="JetBrains Mono" pitchFamily="49" charset="0"/>
                <a:ea typeface="JetBrains Mono" pitchFamily="49" charset="-122"/>
                <a:cs typeface="JetBrains Mono" pitchFamily="49" charset="-120"/>
              </a:rPr>
              <a:t>   system = f"{SYNTHESIZER_SYSTEM_PROMPT} …{instructions}" </a:t>
            </a:r>
            <a:r>
              <a:rPr lang="en-US" sz="1200" b="1" dirty="0">
                <a:solidFill>
                  <a:srgbClr val="F2A46B"/>
                </a:solidFill>
                <a:latin typeface="JetBrains Mono" pitchFamily="49" charset="0"/>
                <a:ea typeface="JetBrains Mono" pitchFamily="49" charset="-122"/>
                <a:cs typeface="JetBrains Mono" pitchFamily="49" charset="-120"/>
              </a:rPr>
              <a:t>← 3</a:t>
            </a:r>
            <a:endParaRPr lang="en-US" sz="1200" dirty="0"/>
          </a:p>
        </p:txBody>
      </p:sp>
      <p:sp>
        <p:nvSpPr>
          <p:cNvPr id="24" name="Shape 22"/>
          <p:cNvSpPr/>
          <p:nvPr/>
        </p:nvSpPr>
        <p:spPr>
          <a:xfrm>
            <a:off x="4946614" y="3349811"/>
            <a:ext cx="0" cy="205698"/>
          </a:xfrm>
          <a:prstGeom prst="line">
            <a:avLst/>
          </a:prstGeom>
          <a:noFill/>
          <a:ln w="38100">
            <a:solidFill>
              <a:srgbClr val="E8843F"/>
            </a:solidFill>
            <a:prstDash val="solid"/>
          </a:ln>
        </p:spPr>
        <p:txBody>
          <a:bodyPr/>
          <a:lstStyle/>
          <a:p>
            <a:endParaRPr lang="en-CN"/>
          </a:p>
        </p:txBody>
      </p:sp>
      <p:sp>
        <p:nvSpPr>
          <p:cNvPr id="25" name="Text 23"/>
          <p:cNvSpPr/>
          <p:nvPr/>
        </p:nvSpPr>
        <p:spPr>
          <a:xfrm>
            <a:off x="5105364" y="3555504"/>
            <a:ext cx="6278842" cy="231098"/>
          </a:xfrm>
          <a:prstGeom prst="rect">
            <a:avLst/>
          </a:prstGeom>
          <a:noFill/>
          <a:ln/>
        </p:spPr>
        <p:txBody>
          <a:bodyPr wrap="none" lIns="0" tIns="0" rIns="0" bIns="0" rtlCol="0" anchor="t">
            <a:normAutofit/>
          </a:bodyPr>
          <a:lstStyle/>
          <a:p>
            <a:pPr marL="0" indent="0" algn="l">
              <a:lnSpc>
                <a:spcPts val="1620"/>
              </a:lnSpc>
              <a:buNone/>
            </a:pPr>
            <a:r>
              <a:rPr lang="en-US" sz="1200" dirty="0">
                <a:solidFill>
                  <a:srgbClr val="7C8FA3"/>
                </a:solidFill>
                <a:latin typeface="JetBrains Mono" pitchFamily="49" charset="0"/>
                <a:ea typeface="JetBrains Mono" pitchFamily="49" charset="-122"/>
                <a:cs typeface="JetBrains Mono" pitchFamily="49" charset="-120"/>
              </a:rPr>
              <a:t>    ⋮ </a:t>
            </a:r>
            <a:r>
              <a:rPr lang="en-US" sz="1200" dirty="0">
                <a:solidFill>
                  <a:srgbClr val="8798AA"/>
                </a:solidFill>
                <a:latin typeface="JetBrains Mono" pitchFamily="49" charset="0"/>
                <a:ea typeface="JetBrains Mono" pitchFamily="49" charset="-122"/>
                <a:cs typeface="JetBrains Mono" pitchFamily="49" charset="-120"/>
              </a:rPr>
              <a:t># run()</a:t>
            </a:r>
            <a:endParaRPr lang="en-US" sz="1200" dirty="0"/>
          </a:p>
        </p:txBody>
      </p:sp>
      <p:sp>
        <p:nvSpPr>
          <p:cNvPr id="26" name="Text 24"/>
          <p:cNvSpPr/>
          <p:nvPr/>
        </p:nvSpPr>
        <p:spPr>
          <a:xfrm>
            <a:off x="5105364" y="3761203"/>
            <a:ext cx="6278842" cy="231098"/>
          </a:xfrm>
          <a:prstGeom prst="rect">
            <a:avLst/>
          </a:prstGeom>
          <a:noFill/>
          <a:ln/>
        </p:spPr>
        <p:txBody>
          <a:bodyPr wrap="none" lIns="0" tIns="0" rIns="0" bIns="0" rtlCol="0" anchor="t">
            <a:normAutofit/>
          </a:bodyPr>
          <a:lstStyle/>
          <a:p>
            <a:pPr marL="0" indent="0" algn="l">
              <a:lnSpc>
                <a:spcPts val="1620"/>
              </a:lnSpc>
              <a:buNone/>
            </a:pPr>
            <a:r>
              <a:rPr lang="en-US" sz="1200" dirty="0">
                <a:solidFill>
                  <a:srgbClr val="7C8FA3"/>
                </a:solidFill>
                <a:latin typeface="JetBrains Mono" pitchFamily="49" charset="0"/>
                <a:ea typeface="JetBrains Mono" pitchFamily="49" charset="-122"/>
                <a:cs typeface="JetBrains Mono" pitchFamily="49" charset="-120"/>
              </a:rPr>
              <a:t>194</a:t>
            </a:r>
            <a:r>
              <a:rPr lang="en-US" sz="1200" dirty="0">
                <a:solidFill>
                  <a:srgbClr val="D6DDE5"/>
                </a:solidFill>
                <a:latin typeface="JetBrains Mono" pitchFamily="49" charset="0"/>
                <a:ea typeface="JetBrains Mono" pitchFamily="49" charset="-122"/>
                <a:cs typeface="JetBrains Mono" pitchFamily="49" charset="-120"/>
              </a:rPr>
              <a:t> subtopics = self._plan(topic)["subtopics"] </a:t>
            </a:r>
            <a:r>
              <a:rPr lang="en-US" sz="1200" dirty="0">
                <a:solidFill>
                  <a:srgbClr val="8798AA"/>
                </a:solidFill>
                <a:latin typeface="JetBrains Mono" pitchFamily="49" charset="0"/>
                <a:ea typeface="JetBrains Mono" pitchFamily="49" charset="-122"/>
                <a:cs typeface="JetBrains Mono" pitchFamily="49" charset="-120"/>
              </a:rPr>
              <a:t># L193–194</a:t>
            </a:r>
            <a:endParaRPr lang="en-US" sz="1200" dirty="0"/>
          </a:p>
        </p:txBody>
      </p:sp>
      <p:sp>
        <p:nvSpPr>
          <p:cNvPr id="27" name="Text 25"/>
          <p:cNvSpPr/>
          <p:nvPr/>
        </p:nvSpPr>
        <p:spPr>
          <a:xfrm>
            <a:off x="4927564" y="3966902"/>
            <a:ext cx="6451564" cy="205698"/>
          </a:xfrm>
          <a:prstGeom prst="rect">
            <a:avLst/>
          </a:prstGeom>
          <a:solidFill>
            <a:srgbClr val="3A2B20"/>
          </a:solidFill>
          <a:ln/>
        </p:spPr>
        <p:txBody>
          <a:bodyPr wrap="none" lIns="177223" tIns="0" rIns="0" bIns="0" rtlCol="0" anchor="t">
            <a:normAutofit/>
          </a:bodyPr>
          <a:lstStyle/>
          <a:p>
            <a:pPr marL="0" indent="0" algn="l">
              <a:lnSpc>
                <a:spcPts val="1620"/>
              </a:lnSpc>
              <a:buNone/>
            </a:pPr>
            <a:r>
              <a:rPr lang="en-US" sz="1200" dirty="0">
                <a:solidFill>
                  <a:srgbClr val="7C8FA3"/>
                </a:solidFill>
                <a:latin typeface="JetBrains Mono" pitchFamily="49" charset="0"/>
                <a:ea typeface="JetBrains Mono" pitchFamily="49" charset="-122"/>
                <a:cs typeface="JetBrains Mono" pitchFamily="49" charset="-120"/>
              </a:rPr>
              <a:t>203</a:t>
            </a:r>
            <a:r>
              <a:rPr lang="en-US" sz="1200" dirty="0">
                <a:solidFill>
                  <a:srgbClr val="D6DDE5"/>
                </a:solidFill>
                <a:latin typeface="JetBrains Mono" pitchFamily="49" charset="0"/>
                <a:ea typeface="JetBrains Mono" pitchFamily="49" charset="-122"/>
                <a:cs typeface="JetBrains Mono" pitchFamily="49" charset="-120"/>
              </a:rPr>
              <a:t> with ThreadPoolExecutor( </a:t>
            </a:r>
            <a:r>
              <a:rPr lang="en-US" sz="1200" b="1" dirty="0">
                <a:solidFill>
                  <a:srgbClr val="F2A46B"/>
                </a:solidFill>
                <a:latin typeface="JetBrains Mono" pitchFamily="49" charset="0"/>
                <a:ea typeface="JetBrains Mono" pitchFamily="49" charset="-122"/>
                <a:cs typeface="JetBrains Mono" pitchFamily="49" charset="-120"/>
              </a:rPr>
              <a:t>← 1</a:t>
            </a:r>
            <a:endParaRPr lang="en-US" sz="1200" dirty="0"/>
          </a:p>
        </p:txBody>
      </p:sp>
      <p:sp>
        <p:nvSpPr>
          <p:cNvPr id="28" name="Shape 26"/>
          <p:cNvSpPr/>
          <p:nvPr/>
        </p:nvSpPr>
        <p:spPr>
          <a:xfrm>
            <a:off x="4946614" y="3966902"/>
            <a:ext cx="0" cy="205698"/>
          </a:xfrm>
          <a:prstGeom prst="line">
            <a:avLst/>
          </a:prstGeom>
          <a:noFill/>
          <a:ln w="38100">
            <a:solidFill>
              <a:srgbClr val="E8843F"/>
            </a:solidFill>
            <a:prstDash val="solid"/>
          </a:ln>
        </p:spPr>
        <p:txBody>
          <a:bodyPr/>
          <a:lstStyle/>
          <a:p>
            <a:endParaRPr lang="en-CN"/>
          </a:p>
        </p:txBody>
      </p:sp>
      <p:sp>
        <p:nvSpPr>
          <p:cNvPr id="29" name="Text 27"/>
          <p:cNvSpPr/>
          <p:nvPr/>
        </p:nvSpPr>
        <p:spPr>
          <a:xfrm>
            <a:off x="4927564" y="4172601"/>
            <a:ext cx="6451564" cy="205698"/>
          </a:xfrm>
          <a:prstGeom prst="rect">
            <a:avLst/>
          </a:prstGeom>
          <a:solidFill>
            <a:srgbClr val="3A2B20"/>
          </a:solidFill>
          <a:ln/>
        </p:spPr>
        <p:txBody>
          <a:bodyPr wrap="none" lIns="177223" tIns="0" rIns="0" bIns="0" rtlCol="0" anchor="t">
            <a:normAutofit/>
          </a:bodyPr>
          <a:lstStyle/>
          <a:p>
            <a:pPr marL="0" indent="0" algn="l">
              <a:lnSpc>
                <a:spcPts val="1620"/>
              </a:lnSpc>
              <a:buNone/>
            </a:pPr>
            <a:r>
              <a:rPr lang="en-US" sz="1200" dirty="0">
                <a:solidFill>
                  <a:srgbClr val="7C8FA3"/>
                </a:solidFill>
                <a:latin typeface="JetBrains Mono" pitchFamily="49" charset="0"/>
                <a:ea typeface="JetBrains Mono" pitchFamily="49" charset="-122"/>
                <a:cs typeface="JetBrains Mono" pitchFamily="49" charset="-120"/>
              </a:rPr>
              <a:t>   </a:t>
            </a:r>
            <a:r>
              <a:rPr lang="en-US" sz="1200" dirty="0">
                <a:solidFill>
                  <a:srgbClr val="D6DDE5"/>
                </a:solidFill>
                <a:latin typeface="JetBrains Mono" pitchFamily="49" charset="0"/>
                <a:ea typeface="JetBrains Mono" pitchFamily="49" charset="-122"/>
                <a:cs typeface="JetBrains Mono" pitchFamily="49" charset="-120"/>
              </a:rPr>
              <a:t>     max_workers=len(subtopics)) as executor:</a:t>
            </a:r>
            <a:endParaRPr lang="en-US" sz="1200" dirty="0"/>
          </a:p>
        </p:txBody>
      </p:sp>
      <p:sp>
        <p:nvSpPr>
          <p:cNvPr id="30" name="Shape 28"/>
          <p:cNvSpPr/>
          <p:nvPr/>
        </p:nvSpPr>
        <p:spPr>
          <a:xfrm>
            <a:off x="4946614" y="4172601"/>
            <a:ext cx="0" cy="205698"/>
          </a:xfrm>
          <a:prstGeom prst="line">
            <a:avLst/>
          </a:prstGeom>
          <a:noFill/>
          <a:ln w="38100">
            <a:solidFill>
              <a:srgbClr val="E8843F"/>
            </a:solidFill>
            <a:prstDash val="solid"/>
          </a:ln>
        </p:spPr>
        <p:txBody>
          <a:bodyPr/>
          <a:lstStyle/>
          <a:p>
            <a:endParaRPr lang="en-CN"/>
          </a:p>
        </p:txBody>
      </p:sp>
      <p:sp>
        <p:nvSpPr>
          <p:cNvPr id="31" name="Text 29"/>
          <p:cNvSpPr/>
          <p:nvPr/>
        </p:nvSpPr>
        <p:spPr>
          <a:xfrm>
            <a:off x="5105364" y="4378300"/>
            <a:ext cx="6278842" cy="231098"/>
          </a:xfrm>
          <a:prstGeom prst="rect">
            <a:avLst/>
          </a:prstGeom>
          <a:noFill/>
          <a:ln/>
        </p:spPr>
        <p:txBody>
          <a:bodyPr wrap="none" lIns="0" tIns="0" rIns="0" bIns="0" rtlCol="0" anchor="t">
            <a:normAutofit/>
          </a:bodyPr>
          <a:lstStyle/>
          <a:p>
            <a:pPr marL="0" indent="0" algn="l">
              <a:lnSpc>
                <a:spcPts val="1620"/>
              </a:lnSpc>
              <a:buNone/>
            </a:pPr>
            <a:r>
              <a:rPr lang="en-US" sz="1200" dirty="0">
                <a:solidFill>
                  <a:srgbClr val="7C8FA3"/>
                </a:solidFill>
                <a:latin typeface="JetBrains Mono" pitchFamily="49" charset="0"/>
                <a:ea typeface="JetBrains Mono" pitchFamily="49" charset="-122"/>
                <a:cs typeface="JetBrains Mono" pitchFamily="49" charset="-120"/>
              </a:rPr>
              <a:t>204</a:t>
            </a:r>
            <a:r>
              <a:rPr lang="en-US" sz="1200" dirty="0">
                <a:solidFill>
                  <a:srgbClr val="D6DDE5"/>
                </a:solidFill>
                <a:latin typeface="JetBrains Mono" pitchFamily="49" charset="0"/>
                <a:ea typeface="JetBrains Mono" pitchFamily="49" charset="-122"/>
                <a:cs typeface="JetBrains Mono" pitchFamily="49" charset="-120"/>
              </a:rPr>
              <a:t>   futures = {executor.submit(</a:t>
            </a:r>
            <a:endParaRPr lang="en-US" sz="1200" dirty="0"/>
          </a:p>
        </p:txBody>
      </p:sp>
      <p:sp>
        <p:nvSpPr>
          <p:cNvPr id="32" name="Text 30"/>
          <p:cNvSpPr/>
          <p:nvPr/>
        </p:nvSpPr>
        <p:spPr>
          <a:xfrm>
            <a:off x="5105364" y="4583999"/>
            <a:ext cx="6278842" cy="231098"/>
          </a:xfrm>
          <a:prstGeom prst="rect">
            <a:avLst/>
          </a:prstGeom>
          <a:noFill/>
          <a:ln/>
        </p:spPr>
        <p:txBody>
          <a:bodyPr wrap="none" lIns="0" tIns="0" rIns="0" bIns="0" rtlCol="0" anchor="t">
            <a:normAutofit/>
          </a:bodyPr>
          <a:lstStyle/>
          <a:p>
            <a:pPr marL="0" indent="0" algn="l">
              <a:lnSpc>
                <a:spcPts val="1620"/>
              </a:lnSpc>
              <a:buNone/>
            </a:pPr>
            <a:r>
              <a:rPr lang="en-US" sz="1200" dirty="0">
                <a:solidFill>
                  <a:srgbClr val="7C8FA3"/>
                </a:solidFill>
                <a:latin typeface="JetBrains Mono" pitchFamily="49" charset="0"/>
                <a:ea typeface="JetBrains Mono" pitchFamily="49" charset="-122"/>
                <a:cs typeface="JetBrains Mono" pitchFamily="49" charset="-120"/>
              </a:rPr>
              <a:t>205</a:t>
            </a:r>
            <a:r>
              <a:rPr lang="en-US" sz="1200" dirty="0">
                <a:solidFill>
                  <a:srgbClr val="D6DDE5"/>
                </a:solidFill>
                <a:latin typeface="JetBrains Mono" pitchFamily="49" charset="0"/>
                <a:ea typeface="JetBrains Mono" pitchFamily="49" charset="-122"/>
                <a:cs typeface="JetBrains Mono" pitchFamily="49" charset="-120"/>
              </a:rPr>
              <a:t>     self._research_subtopic, sub): sub["title"] …}</a:t>
            </a:r>
            <a:endParaRPr lang="en-US" sz="1200" dirty="0"/>
          </a:p>
        </p:txBody>
      </p:sp>
      <p:sp>
        <p:nvSpPr>
          <p:cNvPr id="33" name="Text 31"/>
          <p:cNvSpPr/>
          <p:nvPr/>
        </p:nvSpPr>
        <p:spPr>
          <a:xfrm>
            <a:off x="5105364" y="4789698"/>
            <a:ext cx="6278842" cy="231098"/>
          </a:xfrm>
          <a:prstGeom prst="rect">
            <a:avLst/>
          </a:prstGeom>
          <a:noFill/>
          <a:ln/>
        </p:spPr>
        <p:txBody>
          <a:bodyPr wrap="none" lIns="0" tIns="0" rIns="0" bIns="0" rtlCol="0" anchor="t">
            <a:normAutofit/>
          </a:bodyPr>
          <a:lstStyle/>
          <a:p>
            <a:pPr marL="0" indent="0" algn="l">
              <a:lnSpc>
                <a:spcPts val="1620"/>
              </a:lnSpc>
              <a:buNone/>
            </a:pPr>
            <a:r>
              <a:rPr lang="en-US" sz="1200" dirty="0">
                <a:solidFill>
                  <a:srgbClr val="7C8FA3"/>
                </a:solidFill>
                <a:latin typeface="JetBrains Mono" pitchFamily="49" charset="0"/>
                <a:ea typeface="JetBrains Mono" pitchFamily="49" charset="-122"/>
                <a:cs typeface="JetBrains Mono" pitchFamily="49" charset="-120"/>
              </a:rPr>
              <a:t>220</a:t>
            </a:r>
            <a:r>
              <a:rPr lang="en-US" sz="1200" dirty="0">
                <a:solidFill>
                  <a:srgbClr val="D6DDE5"/>
                </a:solidFill>
                <a:latin typeface="JetBrains Mono" pitchFamily="49" charset="0"/>
                <a:ea typeface="JetBrains Mono" pitchFamily="49" charset="-122"/>
                <a:cs typeface="JetBrains Mono" pitchFamily="49" charset="-120"/>
              </a:rPr>
              <a:t> final = self._synthesize(</a:t>
            </a:r>
            <a:endParaRPr lang="en-US" sz="1200" dirty="0"/>
          </a:p>
        </p:txBody>
      </p:sp>
      <p:sp>
        <p:nvSpPr>
          <p:cNvPr id="34" name="Text 32"/>
          <p:cNvSpPr/>
          <p:nvPr/>
        </p:nvSpPr>
        <p:spPr>
          <a:xfrm>
            <a:off x="5105364" y="4995397"/>
            <a:ext cx="6278842" cy="231098"/>
          </a:xfrm>
          <a:prstGeom prst="rect">
            <a:avLst/>
          </a:prstGeom>
          <a:noFill/>
          <a:ln/>
        </p:spPr>
        <p:txBody>
          <a:bodyPr wrap="none" lIns="0" tIns="0" rIns="0" bIns="0" rtlCol="0" anchor="t">
            <a:normAutofit/>
          </a:bodyPr>
          <a:lstStyle/>
          <a:p>
            <a:pPr marL="0" indent="0" algn="l">
              <a:lnSpc>
                <a:spcPts val="1620"/>
              </a:lnSpc>
              <a:buNone/>
            </a:pPr>
            <a:r>
              <a:rPr lang="en-US" sz="1200" dirty="0">
                <a:solidFill>
                  <a:srgbClr val="7C8FA3"/>
                </a:solidFill>
                <a:latin typeface="JetBrains Mono" pitchFamily="49" charset="0"/>
                <a:ea typeface="JetBrains Mono" pitchFamily="49" charset="-122"/>
                <a:cs typeface="JetBrains Mono" pitchFamily="49" charset="-120"/>
              </a:rPr>
              <a:t>   </a:t>
            </a:r>
            <a:r>
              <a:rPr lang="en-US" sz="1200" dirty="0">
                <a:solidFill>
                  <a:srgbClr val="D6DDE5"/>
                </a:solidFill>
                <a:latin typeface="JetBrains Mono" pitchFamily="49" charset="0"/>
                <a:ea typeface="JetBrains Mono" pitchFamily="49" charset="-122"/>
                <a:cs typeface="JetBrains Mono" pitchFamily="49" charset="-120"/>
              </a:rPr>
              <a:t>   topic, research_results, instructions)</a:t>
            </a:r>
            <a:endParaRPr lang="en-US" sz="1200" dirty="0"/>
          </a:p>
        </p:txBody>
      </p:sp>
      <p:sp>
        <p:nvSpPr>
          <p:cNvPr id="35" name="Text 33"/>
          <p:cNvSpPr/>
          <p:nvPr/>
        </p:nvSpPr>
        <p:spPr>
          <a:xfrm>
            <a:off x="812782" y="6238292"/>
            <a:ext cx="967994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7684"/>
                </a:solidFill>
                <a:latin typeface="IBM Plex Sans" pitchFamily="34" charset="0"/>
                <a:ea typeface="IBM Plex Sans" pitchFamily="34" charset="-122"/>
                <a:cs typeface="IBM Plex Sans" pitchFamily="34" charset="-120"/>
              </a:rPr>
              <a:t>04-orchestrator-workers/01_orchestrator_workers.py · lines condensed</a:t>
            </a:r>
            <a:endParaRPr lang="en-US" sz="1200" dirty="0"/>
          </a:p>
        </p:txBody>
      </p:sp>
      <p:sp>
        <p:nvSpPr>
          <p:cNvPr id="36" name="Text 34"/>
          <p:cNvSpPr/>
          <p:nvPr/>
        </p:nvSpPr>
        <p:spPr>
          <a:xfrm>
            <a:off x="10312418" y="6238292"/>
            <a:ext cx="1066800" cy="238720"/>
          </a:xfrm>
          <a:prstGeom prst="rect">
            <a:avLst/>
          </a:prstGeom>
          <a:noFill/>
          <a:ln/>
        </p:spPr>
        <p:txBody>
          <a:bodyPr wrap="square" lIns="0" tIns="0" rIns="0" bIns="0" rtlCol="0" anchor="t">
            <a:normAutofit/>
          </a:bodyPr>
          <a:lstStyle/>
          <a:p>
            <a:pPr marL="0" indent="0" algn="r">
              <a:lnSpc>
                <a:spcPts val="1680"/>
              </a:lnSpc>
              <a:buNone/>
            </a:pPr>
            <a:r>
              <a:rPr lang="en-US" sz="1200" b="1" dirty="0">
                <a:solidFill>
                  <a:srgbClr val="6A7684"/>
                </a:solidFill>
                <a:latin typeface="IBM Plex Sans" pitchFamily="34" charset="0"/>
                <a:ea typeface="IBM Plex Sans" pitchFamily="34" charset="-122"/>
                <a:cs typeface="IBM Plex Sans" pitchFamily="34" charset="-120"/>
              </a:rPr>
              <a:t>15 / 27</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6212C"/>
        </a:solidFill>
        <a:effectLst/>
      </p:bgPr>
    </p:bg>
    <p:spTree>
      <p:nvGrpSpPr>
        <p:cNvPr id="1" name=""/>
        <p:cNvGrpSpPr/>
        <p:nvPr/>
      </p:nvGrpSpPr>
      <p:grpSpPr>
        <a:xfrm>
          <a:off x="0" y="0"/>
          <a:ext cx="0" cy="0"/>
          <a:chOff x="0" y="0"/>
          <a:chExt cx="0" cy="0"/>
        </a:xfrm>
      </p:grpSpPr>
      <p:sp>
        <p:nvSpPr>
          <p:cNvPr id="2" name="Text 0"/>
          <p:cNvSpPr/>
          <p:nvPr/>
        </p:nvSpPr>
        <p:spPr>
          <a:xfrm>
            <a:off x="812782" y="711175"/>
            <a:ext cx="10883429"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F2A46B"/>
                </a:solidFill>
                <a:latin typeface="IBM Plex Sans" pitchFamily="34" charset="0"/>
                <a:ea typeface="IBM Plex Sans" pitchFamily="34" charset="-122"/>
                <a:cs typeface="IBM Plex Sans" pitchFamily="34" charset="-120"/>
              </a:rPr>
              <a:t>05 · EVALUATOR-OPTIMIZER</a:t>
            </a:r>
            <a:endParaRPr lang="en-US" sz="1200" dirty="0"/>
          </a:p>
        </p:txBody>
      </p:sp>
      <p:sp>
        <p:nvSpPr>
          <p:cNvPr id="3" name="Text 1"/>
          <p:cNvSpPr>
            <a:spLocks noGrp="1"/>
          </p:cNvSpPr>
          <p:nvPr>
            <p:ph type="title"/>
          </p:nvPr>
        </p:nvSpPr>
        <p:spPr>
          <a:xfrm>
            <a:off x="812782" y="1000671"/>
            <a:ext cx="10883429" cy="444464"/>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F4F2EC"/>
                </a:solidFill>
                <a:latin typeface="IBM Plex Sans" pitchFamily="34" charset="0"/>
                <a:ea typeface="IBM Plex Sans" pitchFamily="34" charset="-122"/>
                <a:cs typeface="IBM Plex Sans" pitchFamily="34" charset="-120"/>
              </a:rPr>
              <a:t>One model writes, another grades, repeat</a:t>
            </a:r>
            <a:endParaRPr lang="en-US" sz="3000" dirty="0"/>
          </a:p>
        </p:txBody>
      </p:sp>
      <p:sp>
        <p:nvSpPr>
          <p:cNvPr id="4" name="Shape 2"/>
          <p:cNvSpPr/>
          <p:nvPr/>
        </p:nvSpPr>
        <p:spPr>
          <a:xfrm>
            <a:off x="819132" y="1680077"/>
            <a:ext cx="2146300" cy="784974"/>
          </a:xfrm>
          <a:prstGeom prst="roundRect">
            <a:avLst>
              <a:gd name="adj" fmla="val 10516"/>
            </a:avLst>
          </a:prstGeom>
          <a:solidFill>
            <a:srgbClr val="22303E"/>
          </a:solidFill>
          <a:ln w="12700">
            <a:solidFill>
              <a:srgbClr val="3A4B5C"/>
            </a:solidFill>
            <a:prstDash val="solid"/>
          </a:ln>
        </p:spPr>
        <p:txBody>
          <a:bodyPr/>
          <a:lstStyle/>
          <a:p>
            <a:endParaRPr lang="en-CN"/>
          </a:p>
        </p:txBody>
      </p:sp>
      <p:sp>
        <p:nvSpPr>
          <p:cNvPr id="5" name="Text 3"/>
          <p:cNvSpPr/>
          <p:nvPr/>
        </p:nvSpPr>
        <p:spPr>
          <a:xfrm>
            <a:off x="964000" y="1824949"/>
            <a:ext cx="1912260" cy="269253"/>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4F2EC"/>
                </a:solidFill>
                <a:latin typeface="IBM Plex Sans" pitchFamily="34" charset="0"/>
                <a:ea typeface="IBM Plex Sans" pitchFamily="34" charset="-122"/>
                <a:cs typeface="IBM Plex Sans" pitchFamily="34" charset="-120"/>
              </a:rPr>
              <a:t>Research</a:t>
            </a:r>
            <a:endParaRPr lang="en-US" sz="1600" dirty="0"/>
          </a:p>
        </p:txBody>
      </p:sp>
      <p:sp>
        <p:nvSpPr>
          <p:cNvPr id="6" name="Text 4"/>
          <p:cNvSpPr/>
          <p:nvPr/>
        </p:nvSpPr>
        <p:spPr>
          <a:xfrm>
            <a:off x="964000" y="2106867"/>
            <a:ext cx="191226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FCAD6"/>
                </a:solidFill>
                <a:latin typeface="IBM Plex Sans" pitchFamily="34" charset="0"/>
                <a:ea typeface="IBM Plex Sans" pitchFamily="34" charset="-122"/>
                <a:cs typeface="IBM Plex Sans" pitchFamily="34" charset="-120"/>
              </a:rPr>
              <a:t>Haiku + search</a:t>
            </a:r>
            <a:endParaRPr lang="en-US" sz="1200" dirty="0"/>
          </a:p>
        </p:txBody>
      </p:sp>
      <p:pic>
        <p:nvPicPr>
          <p:cNvPr id="7" name="Image 0" descr="arrow-right"/>
          <p:cNvPicPr>
            <a:picLocks noChangeAspect="1"/>
          </p:cNvPicPr>
          <p:nvPr/>
        </p:nvPicPr>
        <p:blipFill>
          <a:blip r:embed="rId3"/>
          <a:srcRect/>
          <a:stretch/>
        </p:blipFill>
        <p:spPr>
          <a:xfrm>
            <a:off x="3073346" y="2003902"/>
            <a:ext cx="304782" cy="152391"/>
          </a:xfrm>
          <a:prstGeom prst="rect">
            <a:avLst/>
          </a:prstGeom>
        </p:spPr>
      </p:pic>
      <p:sp>
        <p:nvSpPr>
          <p:cNvPr id="8" name="Shape 5"/>
          <p:cNvSpPr/>
          <p:nvPr/>
        </p:nvSpPr>
        <p:spPr>
          <a:xfrm>
            <a:off x="3486132" y="1680077"/>
            <a:ext cx="2146300" cy="784974"/>
          </a:xfrm>
          <a:prstGeom prst="roundRect">
            <a:avLst>
              <a:gd name="adj" fmla="val 10516"/>
            </a:avLst>
          </a:prstGeom>
          <a:solidFill>
            <a:srgbClr val="22303E"/>
          </a:solidFill>
          <a:ln w="12700">
            <a:solidFill>
              <a:srgbClr val="3A4B5C"/>
            </a:solidFill>
            <a:prstDash val="solid"/>
          </a:ln>
        </p:spPr>
        <p:txBody>
          <a:bodyPr/>
          <a:lstStyle/>
          <a:p>
            <a:endParaRPr lang="en-CN"/>
          </a:p>
        </p:txBody>
      </p:sp>
      <p:sp>
        <p:nvSpPr>
          <p:cNvPr id="9" name="Text 6"/>
          <p:cNvSpPr/>
          <p:nvPr/>
        </p:nvSpPr>
        <p:spPr>
          <a:xfrm>
            <a:off x="3631000" y="1824949"/>
            <a:ext cx="1912260" cy="269253"/>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4F2EC"/>
                </a:solidFill>
                <a:latin typeface="IBM Plex Sans" pitchFamily="34" charset="0"/>
                <a:ea typeface="IBM Plex Sans" pitchFamily="34" charset="-122"/>
                <a:cs typeface="IBM Plex Sans" pitchFamily="34" charset="-120"/>
              </a:rPr>
              <a:t>Write</a:t>
            </a:r>
            <a:endParaRPr lang="en-US" sz="1600" dirty="0"/>
          </a:p>
        </p:txBody>
      </p:sp>
      <p:sp>
        <p:nvSpPr>
          <p:cNvPr id="10" name="Text 7"/>
          <p:cNvSpPr/>
          <p:nvPr/>
        </p:nvSpPr>
        <p:spPr>
          <a:xfrm>
            <a:off x="3631000" y="2106867"/>
            <a:ext cx="191226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FCAD6"/>
                </a:solidFill>
                <a:latin typeface="IBM Plex Sans" pitchFamily="34" charset="0"/>
                <a:ea typeface="IBM Plex Sans" pitchFamily="34" charset="-122"/>
                <a:cs typeface="IBM Plex Sans" pitchFamily="34" charset="-120"/>
              </a:rPr>
              <a:t>Haiku, no tools</a:t>
            </a:r>
            <a:endParaRPr lang="en-US" sz="1200" dirty="0"/>
          </a:p>
        </p:txBody>
      </p:sp>
      <p:pic>
        <p:nvPicPr>
          <p:cNvPr id="11" name="Image 1" descr="arrow-right"/>
          <p:cNvPicPr>
            <a:picLocks noChangeAspect="1"/>
          </p:cNvPicPr>
          <p:nvPr/>
        </p:nvPicPr>
        <p:blipFill>
          <a:blip r:embed="rId3"/>
          <a:srcRect/>
          <a:stretch/>
        </p:blipFill>
        <p:spPr>
          <a:xfrm>
            <a:off x="5740346" y="2003902"/>
            <a:ext cx="304782" cy="152391"/>
          </a:xfrm>
          <a:prstGeom prst="rect">
            <a:avLst/>
          </a:prstGeom>
        </p:spPr>
      </p:pic>
      <p:sp>
        <p:nvSpPr>
          <p:cNvPr id="12" name="Shape 8"/>
          <p:cNvSpPr/>
          <p:nvPr/>
        </p:nvSpPr>
        <p:spPr>
          <a:xfrm>
            <a:off x="6146782" y="1673727"/>
            <a:ext cx="2159000" cy="823651"/>
          </a:xfrm>
          <a:prstGeom prst="roundRect">
            <a:avLst>
              <a:gd name="adj" fmla="val 10793"/>
            </a:avLst>
          </a:prstGeom>
          <a:solidFill>
            <a:srgbClr val="3A2B20"/>
          </a:solidFill>
          <a:ln/>
        </p:spPr>
        <p:txBody>
          <a:bodyPr/>
          <a:lstStyle/>
          <a:p>
            <a:endParaRPr lang="en-CN"/>
          </a:p>
        </p:txBody>
      </p:sp>
      <p:sp>
        <p:nvSpPr>
          <p:cNvPr id="13" name="Shape 9"/>
          <p:cNvSpPr/>
          <p:nvPr/>
        </p:nvSpPr>
        <p:spPr>
          <a:xfrm>
            <a:off x="6146782" y="1673727"/>
            <a:ext cx="2159000" cy="823651"/>
          </a:xfrm>
          <a:custGeom>
            <a:avLst/>
            <a:gdLst/>
            <a:ahLst/>
            <a:cxnLst/>
            <a:rect l="l" t="t" r="r" b="b"/>
            <a:pathLst>
              <a:path w="2159000" h="823651">
                <a:moveTo>
                  <a:pt x="88900" y="0"/>
                </a:moveTo>
                <a:lnTo>
                  <a:pt x="2070100" y="0"/>
                </a:lnTo>
                <a:arcTo wR="88900" hR="88900" stAng="16200000" swAng="5400000"/>
                <a:lnTo>
                  <a:pt x="2159000" y="734751"/>
                </a:lnTo>
                <a:arcTo wR="88900" hR="88900" stAng="0" swAng="5400000"/>
                <a:lnTo>
                  <a:pt x="88900" y="823651"/>
                </a:lnTo>
                <a:arcTo wR="88900" hR="88900" stAng="5400000" swAng="5400000"/>
                <a:lnTo>
                  <a:pt x="0" y="88900"/>
                </a:lnTo>
                <a:arcTo wR="88900" hR="88900" stAng="10800000" swAng="5400000"/>
                <a:close/>
                <a:moveTo>
                  <a:pt x="88900" y="38100"/>
                </a:moveTo>
                <a:arcTo wR="76200" hR="50800" stAng="16200000" swAng="-5400000"/>
                <a:lnTo>
                  <a:pt x="12700" y="734751"/>
                </a:lnTo>
                <a:arcTo wR="76200" hR="76200" stAng="10800000" swAng="-5400000"/>
                <a:lnTo>
                  <a:pt x="2070100" y="810951"/>
                </a:lnTo>
                <a:arcTo wR="76200" hR="76200" stAng="5400000" swAng="-5400000"/>
                <a:lnTo>
                  <a:pt x="2146300" y="88900"/>
                </a:lnTo>
                <a:arcTo wR="76200" hR="50800" stAng="0" swAng="-5400000"/>
                <a:close/>
              </a:path>
            </a:pathLst>
          </a:custGeom>
          <a:solidFill>
            <a:srgbClr val="E8843F"/>
          </a:solidFill>
          <a:ln/>
        </p:spPr>
        <p:txBody>
          <a:bodyPr/>
          <a:lstStyle/>
          <a:p>
            <a:endParaRPr lang="en-CN"/>
          </a:p>
        </p:txBody>
      </p:sp>
      <p:sp>
        <p:nvSpPr>
          <p:cNvPr id="14" name="Text 10"/>
          <p:cNvSpPr/>
          <p:nvPr/>
        </p:nvSpPr>
        <p:spPr>
          <a:xfrm>
            <a:off x="6298000" y="1850932"/>
            <a:ext cx="1912260" cy="269253"/>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4F2EC"/>
                </a:solidFill>
                <a:latin typeface="IBM Plex Sans" pitchFamily="34" charset="0"/>
                <a:ea typeface="IBM Plex Sans" pitchFamily="34" charset="-122"/>
                <a:cs typeface="IBM Plex Sans" pitchFamily="34" charset="-120"/>
              </a:rPr>
              <a:t>Evaluate</a:t>
            </a:r>
            <a:endParaRPr lang="en-US" sz="1600" dirty="0"/>
          </a:p>
        </p:txBody>
      </p:sp>
      <p:sp>
        <p:nvSpPr>
          <p:cNvPr id="15" name="Text 11"/>
          <p:cNvSpPr/>
          <p:nvPr/>
        </p:nvSpPr>
        <p:spPr>
          <a:xfrm>
            <a:off x="6298000" y="2132850"/>
            <a:ext cx="191226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2C6A4"/>
                </a:solidFill>
                <a:latin typeface="IBM Plex Sans" pitchFamily="34" charset="0"/>
                <a:ea typeface="IBM Plex Sans" pitchFamily="34" charset="-122"/>
                <a:cs typeface="IBM Plex Sans" pitchFamily="34" charset="-120"/>
              </a:rPr>
              <a:t>Haiku, forced tool</a:t>
            </a:r>
            <a:endParaRPr lang="en-US" sz="1200" dirty="0"/>
          </a:p>
        </p:txBody>
      </p:sp>
      <p:sp>
        <p:nvSpPr>
          <p:cNvPr id="16" name="Text 12"/>
          <p:cNvSpPr/>
          <p:nvPr/>
        </p:nvSpPr>
        <p:spPr>
          <a:xfrm>
            <a:off x="8331164" y="1711802"/>
            <a:ext cx="736582"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F2A46B"/>
                </a:solidFill>
                <a:latin typeface="JetBrains Mono" pitchFamily="49" charset="0"/>
                <a:ea typeface="JetBrains Mono" pitchFamily="49" charset="-122"/>
                <a:cs typeface="JetBrains Mono" pitchFamily="49" charset="-120"/>
              </a:rPr>
              <a:t>≥ 7.0</a:t>
            </a:r>
            <a:endParaRPr lang="en-US" sz="1200" dirty="0"/>
          </a:p>
        </p:txBody>
      </p:sp>
      <p:pic>
        <p:nvPicPr>
          <p:cNvPr id="17" name="Image 2" descr="arrow-right"/>
          <p:cNvPicPr>
            <a:picLocks noChangeAspect="1"/>
          </p:cNvPicPr>
          <p:nvPr/>
        </p:nvPicPr>
        <p:blipFill>
          <a:blip r:embed="rId3"/>
          <a:srcRect/>
          <a:stretch/>
        </p:blipFill>
        <p:spPr>
          <a:xfrm>
            <a:off x="8534346" y="2003902"/>
            <a:ext cx="304782" cy="152391"/>
          </a:xfrm>
          <a:prstGeom prst="rect">
            <a:avLst/>
          </a:prstGeom>
        </p:spPr>
      </p:pic>
      <p:sp>
        <p:nvSpPr>
          <p:cNvPr id="18" name="Shape 13"/>
          <p:cNvSpPr/>
          <p:nvPr/>
        </p:nvSpPr>
        <p:spPr>
          <a:xfrm>
            <a:off x="9048696" y="1680077"/>
            <a:ext cx="2324082" cy="784974"/>
          </a:xfrm>
          <a:prstGeom prst="roundRect">
            <a:avLst>
              <a:gd name="adj" fmla="val 10516"/>
            </a:avLst>
          </a:prstGeom>
          <a:solidFill>
            <a:srgbClr val="22303E"/>
          </a:solidFill>
          <a:ln w="12700">
            <a:solidFill>
              <a:srgbClr val="3A4B5C"/>
            </a:solidFill>
            <a:prstDash val="solid"/>
          </a:ln>
        </p:spPr>
        <p:txBody>
          <a:bodyPr/>
          <a:lstStyle/>
          <a:p>
            <a:endParaRPr lang="en-CN"/>
          </a:p>
        </p:txBody>
      </p:sp>
      <p:sp>
        <p:nvSpPr>
          <p:cNvPr id="19" name="Text 14"/>
          <p:cNvSpPr/>
          <p:nvPr/>
        </p:nvSpPr>
        <p:spPr>
          <a:xfrm>
            <a:off x="9193564" y="1824949"/>
            <a:ext cx="2095375" cy="269253"/>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4F2EC"/>
                </a:solidFill>
                <a:latin typeface="IBM Plex Sans" pitchFamily="34" charset="0"/>
                <a:ea typeface="IBM Plex Sans" pitchFamily="34" charset="-122"/>
                <a:cs typeface="IBM Plex Sans" pitchFamily="34" charset="-120"/>
              </a:rPr>
              <a:t>Final post</a:t>
            </a:r>
            <a:endParaRPr lang="en-US" sz="1600" dirty="0"/>
          </a:p>
        </p:txBody>
      </p:sp>
      <p:sp>
        <p:nvSpPr>
          <p:cNvPr id="20" name="Text 15"/>
          <p:cNvSpPr/>
          <p:nvPr/>
        </p:nvSpPr>
        <p:spPr>
          <a:xfrm>
            <a:off x="9193564" y="2106867"/>
            <a:ext cx="2095375"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FCAD6"/>
                </a:solidFill>
                <a:latin typeface="IBM Plex Sans" pitchFamily="34" charset="0"/>
                <a:ea typeface="IBM Plex Sans" pitchFamily="34" charset="-122"/>
                <a:cs typeface="IBM Plex Sans" pitchFamily="34" charset="-120"/>
              </a:rPr>
              <a:t>or stop at the cap</a:t>
            </a:r>
            <a:endParaRPr lang="en-US" sz="1200" dirty="0"/>
          </a:p>
        </p:txBody>
      </p:sp>
      <p:pic>
        <p:nvPicPr>
          <p:cNvPr id="21" name="Image 3" descr="arrow-down"/>
          <p:cNvPicPr>
            <a:picLocks noChangeAspect="1"/>
          </p:cNvPicPr>
          <p:nvPr/>
        </p:nvPicPr>
        <p:blipFill>
          <a:blip r:embed="rId4"/>
          <a:srcRect t="-7" b="-7"/>
          <a:stretch/>
        </p:blipFill>
        <p:spPr>
          <a:xfrm>
            <a:off x="6807173" y="2638902"/>
            <a:ext cx="203173" cy="508000"/>
          </a:xfrm>
          <a:prstGeom prst="rect">
            <a:avLst/>
          </a:prstGeom>
        </p:spPr>
      </p:pic>
      <p:sp>
        <p:nvSpPr>
          <p:cNvPr id="22" name="Text 16"/>
          <p:cNvSpPr/>
          <p:nvPr/>
        </p:nvSpPr>
        <p:spPr>
          <a:xfrm>
            <a:off x="4821918" y="2765902"/>
            <a:ext cx="1883645"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F2A46B"/>
                </a:solidFill>
                <a:latin typeface="JetBrains Mono" pitchFamily="49" charset="0"/>
                <a:ea typeface="JetBrains Mono" pitchFamily="49" charset="-122"/>
                <a:cs typeface="JetBrains Mono" pitchFamily="49" charset="-120"/>
              </a:rPr>
              <a:t>&lt; 7.0: feedback</a:t>
            </a:r>
            <a:endParaRPr lang="en-US" sz="1200" dirty="0"/>
          </a:p>
        </p:txBody>
      </p:sp>
      <p:pic>
        <p:nvPicPr>
          <p:cNvPr id="23" name="Image 4" descr="arrow-up"/>
          <p:cNvPicPr>
            <a:picLocks noChangeAspect="1"/>
          </p:cNvPicPr>
          <p:nvPr/>
        </p:nvPicPr>
        <p:blipFill>
          <a:blip r:embed="rId5"/>
          <a:srcRect t="-7" b="-7"/>
          <a:stretch/>
        </p:blipFill>
        <p:spPr>
          <a:xfrm>
            <a:off x="7442173" y="2638902"/>
            <a:ext cx="203173" cy="508000"/>
          </a:xfrm>
          <a:prstGeom prst="rect">
            <a:avLst/>
          </a:prstGeom>
        </p:spPr>
      </p:pic>
      <p:sp>
        <p:nvSpPr>
          <p:cNvPr id="24" name="Text 17"/>
          <p:cNvSpPr/>
          <p:nvPr/>
        </p:nvSpPr>
        <p:spPr>
          <a:xfrm>
            <a:off x="7746954" y="2765902"/>
            <a:ext cx="19621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FCAD6"/>
                </a:solidFill>
                <a:latin typeface="JetBrains Mono" pitchFamily="49" charset="0"/>
                <a:ea typeface="JetBrains Mono" pitchFamily="49" charset="-122"/>
                <a:cs typeface="JetBrains Mono" pitchFamily="49" charset="-120"/>
              </a:rPr>
              <a:t>revised draft</a:t>
            </a:r>
            <a:endParaRPr lang="en-US" sz="1200" dirty="0"/>
          </a:p>
        </p:txBody>
      </p:sp>
      <p:sp>
        <p:nvSpPr>
          <p:cNvPr id="25" name="Shape 18"/>
          <p:cNvSpPr/>
          <p:nvPr/>
        </p:nvSpPr>
        <p:spPr>
          <a:xfrm>
            <a:off x="6153132" y="3280252"/>
            <a:ext cx="2146300" cy="784974"/>
          </a:xfrm>
          <a:prstGeom prst="roundRect">
            <a:avLst>
              <a:gd name="adj" fmla="val 10516"/>
            </a:avLst>
          </a:prstGeom>
          <a:solidFill>
            <a:srgbClr val="22303E"/>
          </a:solidFill>
          <a:ln w="12700">
            <a:solidFill>
              <a:srgbClr val="3A4B5C"/>
            </a:solidFill>
            <a:prstDash val="solid"/>
          </a:ln>
        </p:spPr>
        <p:txBody>
          <a:bodyPr/>
          <a:lstStyle/>
          <a:p>
            <a:endParaRPr lang="en-CN"/>
          </a:p>
        </p:txBody>
      </p:sp>
      <p:sp>
        <p:nvSpPr>
          <p:cNvPr id="26" name="Text 19"/>
          <p:cNvSpPr/>
          <p:nvPr/>
        </p:nvSpPr>
        <p:spPr>
          <a:xfrm>
            <a:off x="6298000" y="3425124"/>
            <a:ext cx="1912260" cy="269253"/>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4F2EC"/>
                </a:solidFill>
                <a:latin typeface="IBM Plex Sans" pitchFamily="34" charset="0"/>
                <a:ea typeface="IBM Plex Sans" pitchFamily="34" charset="-122"/>
                <a:cs typeface="IBM Plex Sans" pitchFamily="34" charset="-120"/>
              </a:rPr>
              <a:t>Refine</a:t>
            </a:r>
            <a:endParaRPr lang="en-US" sz="1600" dirty="0"/>
          </a:p>
        </p:txBody>
      </p:sp>
      <p:sp>
        <p:nvSpPr>
          <p:cNvPr id="27" name="Text 20"/>
          <p:cNvSpPr/>
          <p:nvPr/>
        </p:nvSpPr>
        <p:spPr>
          <a:xfrm>
            <a:off x="6298000" y="3707042"/>
            <a:ext cx="191226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FCAD6"/>
                </a:solidFill>
                <a:latin typeface="IBM Plex Sans" pitchFamily="34" charset="0"/>
                <a:ea typeface="IBM Plex Sans" pitchFamily="34" charset="-122"/>
                <a:cs typeface="IBM Plex Sans" pitchFamily="34" charset="-120"/>
              </a:rPr>
              <a:t>Sonnet + feedback</a:t>
            </a:r>
            <a:endParaRPr lang="en-US" sz="1200" dirty="0"/>
          </a:p>
        </p:txBody>
      </p:sp>
      <p:sp>
        <p:nvSpPr>
          <p:cNvPr id="28" name="Text 21"/>
          <p:cNvSpPr/>
          <p:nvPr/>
        </p:nvSpPr>
        <p:spPr>
          <a:xfrm>
            <a:off x="812782" y="3375515"/>
            <a:ext cx="4970780" cy="487669"/>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BFCAD6"/>
                </a:solidFill>
                <a:latin typeface="IBM Plex Sans" pitchFamily="34" charset="0"/>
                <a:ea typeface="IBM Plex Sans" pitchFamily="34" charset="-122"/>
                <a:cs typeface="IBM Plex Sans" pitchFamily="34" charset="-120"/>
              </a:rPr>
              <a:t>Stops when the average score reaches 7.0, or when MAX_REFINEMENTS runs out.</a:t>
            </a:r>
            <a:endParaRPr lang="en-US" sz="1300" dirty="0"/>
          </a:p>
        </p:txBody>
      </p:sp>
      <p:sp>
        <p:nvSpPr>
          <p:cNvPr id="29" name="Text 22"/>
          <p:cNvSpPr/>
          <p:nvPr/>
        </p:nvSpPr>
        <p:spPr>
          <a:xfrm>
            <a:off x="812782" y="4518515"/>
            <a:ext cx="1324796" cy="256535"/>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BFCAD6"/>
                </a:solidFill>
                <a:latin typeface="IBM Plex Sans" pitchFamily="34" charset="0"/>
                <a:ea typeface="IBM Plex Sans" pitchFamily="34" charset="-122"/>
                <a:cs typeface="IBM Plex Sans" pitchFamily="34" charset="-120"/>
              </a:rPr>
              <a:t>Scored 1–10 on:</a:t>
            </a:r>
            <a:endParaRPr lang="en-US" sz="1300" dirty="0"/>
          </a:p>
        </p:txBody>
      </p:sp>
      <p:sp>
        <p:nvSpPr>
          <p:cNvPr id="30" name="Text 23"/>
          <p:cNvSpPr/>
          <p:nvPr/>
        </p:nvSpPr>
        <p:spPr>
          <a:xfrm>
            <a:off x="2137578" y="4467727"/>
            <a:ext cx="731828" cy="332698"/>
          </a:xfrm>
          <a:prstGeom prst="roundRect">
            <a:avLst>
              <a:gd name="adj" fmla="val 45807"/>
            </a:avLst>
          </a:prstGeom>
          <a:solidFill>
            <a:srgbClr val="F2A46B"/>
          </a:solidFill>
          <a:ln/>
        </p:spPr>
        <p:txBody>
          <a:bodyPr wrap="none" lIns="0" tIns="0" rIns="0" bIns="0" rtlCol="0" anchor="ctr">
            <a:normAutofit/>
          </a:bodyPr>
          <a:lstStyle/>
          <a:p>
            <a:pPr marL="0" indent="0" algn="ctr">
              <a:lnSpc>
                <a:spcPts val="1820"/>
              </a:lnSpc>
              <a:buNone/>
            </a:pPr>
            <a:r>
              <a:rPr lang="en-US" sz="1300" dirty="0">
                <a:solidFill>
                  <a:srgbClr val="16212C"/>
                </a:solidFill>
                <a:latin typeface="IBM Plex Sans" pitchFamily="34" charset="0"/>
                <a:ea typeface="IBM Plex Sans" pitchFamily="34" charset="-122"/>
                <a:cs typeface="IBM Plex Sans" pitchFamily="34" charset="-120"/>
              </a:rPr>
              <a:t>Clarity</a:t>
            </a:r>
            <a:endParaRPr lang="en-US" sz="1300" dirty="0"/>
          </a:p>
        </p:txBody>
      </p:sp>
      <p:sp>
        <p:nvSpPr>
          <p:cNvPr id="31" name="Text 24"/>
          <p:cNvSpPr/>
          <p:nvPr/>
        </p:nvSpPr>
        <p:spPr>
          <a:xfrm>
            <a:off x="2970970" y="4467727"/>
            <a:ext cx="1655871" cy="332698"/>
          </a:xfrm>
          <a:prstGeom prst="roundRect">
            <a:avLst>
              <a:gd name="adj" fmla="val 45807"/>
            </a:avLst>
          </a:prstGeom>
          <a:solidFill>
            <a:srgbClr val="F2A46B"/>
          </a:solidFill>
          <a:ln/>
        </p:spPr>
        <p:txBody>
          <a:bodyPr wrap="none" lIns="0" tIns="0" rIns="0" bIns="0" rtlCol="0" anchor="ctr">
            <a:normAutofit/>
          </a:bodyPr>
          <a:lstStyle/>
          <a:p>
            <a:pPr marL="0" indent="0" algn="ctr">
              <a:lnSpc>
                <a:spcPts val="1820"/>
              </a:lnSpc>
              <a:buNone/>
            </a:pPr>
            <a:r>
              <a:rPr lang="en-US" sz="1300" dirty="0">
                <a:solidFill>
                  <a:srgbClr val="16212C"/>
                </a:solidFill>
                <a:latin typeface="IBM Plex Sans" pitchFamily="34" charset="0"/>
                <a:ea typeface="IBM Plex Sans" pitchFamily="34" charset="-122"/>
                <a:cs typeface="IBM Plex Sans" pitchFamily="34" charset="-120"/>
              </a:rPr>
              <a:t>Technical accuracy</a:t>
            </a:r>
            <a:endParaRPr lang="en-US" sz="1300" dirty="0"/>
          </a:p>
        </p:txBody>
      </p:sp>
      <p:sp>
        <p:nvSpPr>
          <p:cNvPr id="32" name="Text 25"/>
          <p:cNvSpPr/>
          <p:nvPr/>
        </p:nvSpPr>
        <p:spPr>
          <a:xfrm>
            <a:off x="4728405" y="4467727"/>
            <a:ext cx="947449" cy="332698"/>
          </a:xfrm>
          <a:prstGeom prst="roundRect">
            <a:avLst>
              <a:gd name="adj" fmla="val 45807"/>
            </a:avLst>
          </a:prstGeom>
          <a:solidFill>
            <a:srgbClr val="F2A46B"/>
          </a:solidFill>
          <a:ln/>
        </p:spPr>
        <p:txBody>
          <a:bodyPr wrap="none" lIns="0" tIns="0" rIns="0" bIns="0" rtlCol="0" anchor="ctr">
            <a:normAutofit/>
          </a:bodyPr>
          <a:lstStyle/>
          <a:p>
            <a:pPr marL="0" indent="0" algn="ctr">
              <a:lnSpc>
                <a:spcPts val="1820"/>
              </a:lnSpc>
              <a:buNone/>
            </a:pPr>
            <a:r>
              <a:rPr lang="en-US" sz="1300" dirty="0">
                <a:solidFill>
                  <a:srgbClr val="16212C"/>
                </a:solidFill>
                <a:latin typeface="IBM Plex Sans" pitchFamily="34" charset="0"/>
                <a:ea typeface="IBM Plex Sans" pitchFamily="34" charset="-122"/>
                <a:cs typeface="IBM Plex Sans" pitchFamily="34" charset="-120"/>
              </a:rPr>
              <a:t>Structure</a:t>
            </a:r>
            <a:endParaRPr lang="en-US" sz="1300" dirty="0"/>
          </a:p>
        </p:txBody>
      </p:sp>
      <p:sp>
        <p:nvSpPr>
          <p:cNvPr id="33" name="Text 26"/>
          <p:cNvSpPr/>
          <p:nvPr/>
        </p:nvSpPr>
        <p:spPr>
          <a:xfrm>
            <a:off x="5777418" y="4467727"/>
            <a:ext cx="1182236" cy="332698"/>
          </a:xfrm>
          <a:prstGeom prst="roundRect">
            <a:avLst>
              <a:gd name="adj" fmla="val 45807"/>
            </a:avLst>
          </a:prstGeom>
          <a:solidFill>
            <a:srgbClr val="F2A46B"/>
          </a:solidFill>
          <a:ln/>
        </p:spPr>
        <p:txBody>
          <a:bodyPr wrap="none" lIns="0" tIns="0" rIns="0" bIns="0" rtlCol="0" anchor="ctr">
            <a:normAutofit/>
          </a:bodyPr>
          <a:lstStyle/>
          <a:p>
            <a:pPr marL="0" indent="0" algn="ctr">
              <a:lnSpc>
                <a:spcPts val="1820"/>
              </a:lnSpc>
              <a:buNone/>
            </a:pPr>
            <a:r>
              <a:rPr lang="en-US" sz="1300" dirty="0">
                <a:solidFill>
                  <a:srgbClr val="16212C"/>
                </a:solidFill>
                <a:latin typeface="IBM Plex Sans" pitchFamily="34" charset="0"/>
                <a:ea typeface="IBM Plex Sans" pitchFamily="34" charset="-122"/>
                <a:cs typeface="IBM Plex Sans" pitchFamily="34" charset="-120"/>
              </a:rPr>
              <a:t>Engagement</a:t>
            </a:r>
            <a:endParaRPr lang="en-US" sz="1300" dirty="0"/>
          </a:p>
        </p:txBody>
      </p:sp>
      <p:sp>
        <p:nvSpPr>
          <p:cNvPr id="34" name="Text 27"/>
          <p:cNvSpPr/>
          <p:nvPr/>
        </p:nvSpPr>
        <p:spPr>
          <a:xfrm>
            <a:off x="7061218" y="4467727"/>
            <a:ext cx="1215881" cy="332698"/>
          </a:xfrm>
          <a:prstGeom prst="roundRect">
            <a:avLst>
              <a:gd name="adj" fmla="val 45807"/>
            </a:avLst>
          </a:prstGeom>
          <a:solidFill>
            <a:srgbClr val="F2A46B"/>
          </a:solidFill>
          <a:ln/>
        </p:spPr>
        <p:txBody>
          <a:bodyPr wrap="none" lIns="0" tIns="0" rIns="0" bIns="0" rtlCol="0" anchor="ctr">
            <a:normAutofit/>
          </a:bodyPr>
          <a:lstStyle/>
          <a:p>
            <a:pPr marL="0" indent="0" algn="ctr">
              <a:lnSpc>
                <a:spcPts val="1820"/>
              </a:lnSpc>
              <a:buNone/>
            </a:pPr>
            <a:r>
              <a:rPr lang="en-US" sz="1300" dirty="0">
                <a:solidFill>
                  <a:srgbClr val="16212C"/>
                </a:solidFill>
                <a:latin typeface="IBM Plex Sans" pitchFamily="34" charset="0"/>
                <a:ea typeface="IBM Plex Sans" pitchFamily="34" charset="-122"/>
                <a:cs typeface="IBM Plex Sans" pitchFamily="34" charset="-120"/>
              </a:rPr>
              <a:t>Human voice</a:t>
            </a:r>
            <a:endParaRPr lang="en-US" sz="1300" dirty="0"/>
          </a:p>
        </p:txBody>
      </p:sp>
      <p:sp>
        <p:nvSpPr>
          <p:cNvPr id="35" name="Text 28"/>
          <p:cNvSpPr/>
          <p:nvPr/>
        </p:nvSpPr>
        <p:spPr>
          <a:xfrm>
            <a:off x="812782" y="6238286"/>
            <a:ext cx="967994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9AA9B8"/>
                </a:solidFill>
                <a:latin typeface="IBM Plex Sans" pitchFamily="34" charset="0"/>
                <a:ea typeface="IBM Plex Sans" pitchFamily="34" charset="-122"/>
                <a:cs typeface="IBM Plex Sans" pitchFamily="34" charset="-120"/>
              </a:rPr>
              <a:t>05-evaluator-optimizer/README.md · EvaluatorOptimizer in 01_evaluator_optimizer.py</a:t>
            </a:r>
            <a:endParaRPr lang="en-US" sz="1200" dirty="0"/>
          </a:p>
        </p:txBody>
      </p:sp>
      <p:sp>
        <p:nvSpPr>
          <p:cNvPr id="36" name="Text 29"/>
          <p:cNvSpPr/>
          <p:nvPr/>
        </p:nvSpPr>
        <p:spPr>
          <a:xfrm>
            <a:off x="10312418" y="6238286"/>
            <a:ext cx="1066800" cy="238720"/>
          </a:xfrm>
          <a:prstGeom prst="rect">
            <a:avLst/>
          </a:prstGeom>
          <a:noFill/>
          <a:ln/>
        </p:spPr>
        <p:txBody>
          <a:bodyPr wrap="square" lIns="0" tIns="0" rIns="0" bIns="0" rtlCol="0" anchor="t">
            <a:normAutofit/>
          </a:bodyPr>
          <a:lstStyle/>
          <a:p>
            <a:pPr marL="0" indent="0" algn="r">
              <a:lnSpc>
                <a:spcPts val="1680"/>
              </a:lnSpc>
              <a:buNone/>
            </a:pPr>
            <a:r>
              <a:rPr lang="en-US" sz="1200" b="1" dirty="0">
                <a:solidFill>
                  <a:srgbClr val="9AA9B8"/>
                </a:solidFill>
                <a:latin typeface="IBM Plex Sans" pitchFamily="34" charset="0"/>
                <a:ea typeface="IBM Plex Sans" pitchFamily="34" charset="-122"/>
                <a:cs typeface="IBM Plex Sans" pitchFamily="34" charset="-120"/>
              </a:rPr>
              <a:t>16 / 27</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4F2EC"/>
        </a:solidFill>
        <a:effectLst/>
      </p:bgPr>
    </p:bg>
    <p:spTree>
      <p:nvGrpSpPr>
        <p:cNvPr id="1" name=""/>
        <p:cNvGrpSpPr/>
        <p:nvPr/>
      </p:nvGrpSpPr>
      <p:grpSpPr>
        <a:xfrm>
          <a:off x="0" y="0"/>
          <a:ext cx="0" cy="0"/>
          <a:chOff x="0" y="0"/>
          <a:chExt cx="0" cy="0"/>
        </a:xfrm>
      </p:grpSpPr>
      <p:sp>
        <p:nvSpPr>
          <p:cNvPr id="2" name="Text 0"/>
          <p:cNvSpPr/>
          <p:nvPr/>
        </p:nvSpPr>
        <p:spPr>
          <a:xfrm>
            <a:off x="812782" y="711163"/>
            <a:ext cx="10883429"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04E17"/>
                </a:solidFill>
                <a:latin typeface="IBM Plex Sans" pitchFamily="34" charset="0"/>
                <a:ea typeface="IBM Plex Sans" pitchFamily="34" charset="-122"/>
                <a:cs typeface="IBM Plex Sans" pitchFamily="34" charset="-120"/>
              </a:rPr>
              <a:t>05 · EVALUATOR-OPTIMIZER · IN CODE</a:t>
            </a:r>
            <a:endParaRPr lang="en-US" sz="1200" dirty="0"/>
          </a:p>
        </p:txBody>
      </p:sp>
      <p:sp>
        <p:nvSpPr>
          <p:cNvPr id="3" name="Text 1"/>
          <p:cNvSpPr>
            <a:spLocks noGrp="1"/>
          </p:cNvSpPr>
          <p:nvPr>
            <p:ph type="title"/>
          </p:nvPr>
        </p:nvSpPr>
        <p:spPr>
          <a:xfrm>
            <a:off x="812782" y="1000658"/>
            <a:ext cx="10883429" cy="444464"/>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6212C"/>
                </a:solidFill>
                <a:latin typeface="IBM Plex Sans" pitchFamily="34" charset="0"/>
                <a:ea typeface="IBM Plex Sans" pitchFamily="34" charset="-122"/>
                <a:cs typeface="IBM Plex Sans" pitchFamily="34" charset="-120"/>
              </a:rPr>
              <a:t>A rubric in the prompt, scores in a schema</a:t>
            </a:r>
            <a:endParaRPr lang="en-US" sz="3000" dirty="0"/>
          </a:p>
        </p:txBody>
      </p:sp>
      <p:sp>
        <p:nvSpPr>
          <p:cNvPr id="4" name="Text 2"/>
          <p:cNvSpPr/>
          <p:nvPr/>
        </p:nvSpPr>
        <p:spPr>
          <a:xfrm>
            <a:off x="812782" y="1673721"/>
            <a:ext cx="304782" cy="304782"/>
          </a:xfrm>
          <a:custGeom>
            <a:avLst/>
            <a:gdLst/>
            <a:ahLst/>
            <a:cxnLst/>
            <a:rect l="l" t="t" r="r" b="b"/>
            <a:pathLst>
              <a:path w="304782" h="304782">
                <a:moveTo>
                  <a:pt x="152391" y="0"/>
                </a:moveTo>
                <a:lnTo>
                  <a:pt x="152391" y="0"/>
                </a:lnTo>
                <a:arcTo wR="152391" hR="152391" stAng="16200000" swAng="5400000"/>
                <a:lnTo>
                  <a:pt x="304782" y="152391"/>
                </a:lnTo>
                <a:arcTo wR="152391" hR="152391" stAng="0" swAng="5400000"/>
                <a:lnTo>
                  <a:pt x="152391" y="304782"/>
                </a:lnTo>
                <a:arcTo wR="152391" hR="152391" stAng="5400000" swAng="5400000"/>
                <a:lnTo>
                  <a:pt x="0" y="152391"/>
                </a:lnTo>
                <a:arcTo wR="152391" hR="152391" stAng="10800000" swAng="5400000"/>
                <a:close/>
              </a:path>
            </a:pathLst>
          </a:custGeom>
          <a:solidFill>
            <a:srgbClr val="E8843F"/>
          </a:solidFill>
          <a:ln/>
        </p:spPr>
        <p:txBody>
          <a:bodyPr wrap="square" lIns="0" tIns="0" rIns="0" bIns="0" rtlCol="0" anchor="t">
            <a:normAutofit/>
          </a:bodyPr>
          <a:lstStyle/>
          <a:p>
            <a:pPr marL="0" indent="0" algn="ctr">
              <a:lnSpc>
                <a:spcPts val="2405"/>
              </a:lnSpc>
              <a:buNone/>
            </a:pPr>
            <a:r>
              <a:rPr lang="en-US" sz="1300" b="1" dirty="0">
                <a:solidFill>
                  <a:srgbClr val="16212C"/>
                </a:solidFill>
                <a:latin typeface="IBM Plex Sans" pitchFamily="34" charset="0"/>
                <a:ea typeface="IBM Plex Sans" pitchFamily="34" charset="-122"/>
                <a:cs typeface="IBM Plex Sans" pitchFamily="34" charset="-120"/>
              </a:rPr>
              <a:t>1</a:t>
            </a:r>
            <a:endParaRPr lang="en-US" sz="1300" dirty="0"/>
          </a:p>
        </p:txBody>
      </p:sp>
      <p:sp>
        <p:nvSpPr>
          <p:cNvPr id="5" name="Text 3"/>
          <p:cNvSpPr/>
          <p:nvPr/>
        </p:nvSpPr>
        <p:spPr>
          <a:xfrm>
            <a:off x="1244564" y="1673721"/>
            <a:ext cx="3479564" cy="253964"/>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6212C"/>
                </a:solidFill>
                <a:latin typeface="IBM Plex Sans" pitchFamily="34" charset="0"/>
                <a:ea typeface="IBM Plex Sans" pitchFamily="34" charset="-122"/>
                <a:cs typeface="IBM Plex Sans" pitchFamily="34" charset="-120"/>
              </a:rPr>
              <a:t>Anchored rubric</a:t>
            </a:r>
            <a:endParaRPr lang="en-US" sz="1500" dirty="0"/>
          </a:p>
        </p:txBody>
      </p:sp>
      <p:sp>
        <p:nvSpPr>
          <p:cNvPr id="6" name="Text 4"/>
          <p:cNvSpPr/>
          <p:nvPr/>
        </p:nvSpPr>
        <p:spPr>
          <a:xfrm>
            <a:off x="1244564" y="1940359"/>
            <a:ext cx="3479564" cy="487669"/>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D4A57"/>
                </a:solidFill>
                <a:latin typeface="IBM Plex Sans" pitchFamily="34" charset="0"/>
                <a:ea typeface="IBM Plex Sans" pitchFamily="34" charset="-122"/>
                <a:cs typeface="IBM Plex Sans" pitchFamily="34" charset="-120"/>
              </a:rPr>
              <a:t>Score bands per dimension, and a demand for specific feedback.</a:t>
            </a:r>
            <a:endParaRPr lang="en-US" sz="1300" dirty="0"/>
          </a:p>
        </p:txBody>
      </p:sp>
      <p:sp>
        <p:nvSpPr>
          <p:cNvPr id="7" name="Text 5"/>
          <p:cNvSpPr/>
          <p:nvPr/>
        </p:nvSpPr>
        <p:spPr>
          <a:xfrm>
            <a:off x="812782" y="2567682"/>
            <a:ext cx="304782" cy="304782"/>
          </a:xfrm>
          <a:custGeom>
            <a:avLst/>
            <a:gdLst/>
            <a:ahLst/>
            <a:cxnLst/>
            <a:rect l="l" t="t" r="r" b="b"/>
            <a:pathLst>
              <a:path w="304782" h="304782">
                <a:moveTo>
                  <a:pt x="152391" y="0"/>
                </a:moveTo>
                <a:lnTo>
                  <a:pt x="152391" y="0"/>
                </a:lnTo>
                <a:arcTo wR="152391" hR="152391" stAng="16200000" swAng="5400000"/>
                <a:lnTo>
                  <a:pt x="304782" y="152391"/>
                </a:lnTo>
                <a:arcTo wR="152391" hR="152391" stAng="0" swAng="5400000"/>
                <a:lnTo>
                  <a:pt x="152391" y="304782"/>
                </a:lnTo>
                <a:arcTo wR="152391" hR="152391" stAng="5400000" swAng="5400000"/>
                <a:lnTo>
                  <a:pt x="0" y="152391"/>
                </a:lnTo>
                <a:arcTo wR="152391" hR="152391" stAng="10800000" swAng="5400000"/>
                <a:close/>
              </a:path>
            </a:pathLst>
          </a:custGeom>
          <a:solidFill>
            <a:srgbClr val="E8843F"/>
          </a:solidFill>
          <a:ln/>
        </p:spPr>
        <p:txBody>
          <a:bodyPr wrap="square" lIns="0" tIns="0" rIns="0" bIns="0" rtlCol="0" anchor="t">
            <a:normAutofit/>
          </a:bodyPr>
          <a:lstStyle/>
          <a:p>
            <a:pPr marL="0" indent="0" algn="ctr">
              <a:lnSpc>
                <a:spcPts val="2405"/>
              </a:lnSpc>
              <a:buNone/>
            </a:pPr>
            <a:r>
              <a:rPr lang="en-US" sz="1300" b="1" dirty="0">
                <a:solidFill>
                  <a:srgbClr val="16212C"/>
                </a:solidFill>
                <a:latin typeface="IBM Plex Sans" pitchFamily="34" charset="0"/>
                <a:ea typeface="IBM Plex Sans" pitchFamily="34" charset="-122"/>
                <a:cs typeface="IBM Plex Sans" pitchFamily="34" charset="-120"/>
              </a:rPr>
              <a:t>2</a:t>
            </a:r>
            <a:endParaRPr lang="en-US" sz="1300" dirty="0"/>
          </a:p>
        </p:txBody>
      </p:sp>
      <p:sp>
        <p:nvSpPr>
          <p:cNvPr id="8" name="Text 6"/>
          <p:cNvSpPr/>
          <p:nvPr/>
        </p:nvSpPr>
        <p:spPr>
          <a:xfrm>
            <a:off x="1244564" y="2567682"/>
            <a:ext cx="3479564" cy="253964"/>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6212C"/>
                </a:solidFill>
                <a:latin typeface="IBM Plex Sans" pitchFamily="34" charset="0"/>
                <a:ea typeface="IBM Plex Sans" pitchFamily="34" charset="-122"/>
                <a:cs typeface="IBM Plex Sans" pitchFamily="34" charset="-120"/>
              </a:rPr>
              <a:t>Bounded integers</a:t>
            </a:r>
            <a:endParaRPr lang="en-US" sz="1500" dirty="0"/>
          </a:p>
        </p:txBody>
      </p:sp>
      <p:sp>
        <p:nvSpPr>
          <p:cNvPr id="9" name="Text 7"/>
          <p:cNvSpPr/>
          <p:nvPr/>
        </p:nvSpPr>
        <p:spPr>
          <a:xfrm>
            <a:off x="1244564" y="2834320"/>
            <a:ext cx="3479564" cy="256535"/>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D4A57"/>
                </a:solidFill>
                <a:latin typeface="IBM Plex Sans" pitchFamily="34" charset="0"/>
                <a:ea typeface="IBM Plex Sans" pitchFamily="34" charset="-122"/>
                <a:cs typeface="IBM Plex Sans" pitchFamily="34" charset="-120"/>
              </a:rPr>
              <a:t>Five 1–10 fields; compact JSON, not prose.</a:t>
            </a:r>
            <a:endParaRPr lang="en-US" sz="1300" dirty="0"/>
          </a:p>
        </p:txBody>
      </p:sp>
      <p:sp>
        <p:nvSpPr>
          <p:cNvPr id="10" name="Text 8"/>
          <p:cNvSpPr/>
          <p:nvPr/>
        </p:nvSpPr>
        <p:spPr>
          <a:xfrm>
            <a:off x="812782" y="3230513"/>
            <a:ext cx="304782" cy="304782"/>
          </a:xfrm>
          <a:custGeom>
            <a:avLst/>
            <a:gdLst/>
            <a:ahLst/>
            <a:cxnLst/>
            <a:rect l="l" t="t" r="r" b="b"/>
            <a:pathLst>
              <a:path w="304782" h="304782">
                <a:moveTo>
                  <a:pt x="152391" y="0"/>
                </a:moveTo>
                <a:lnTo>
                  <a:pt x="152391" y="0"/>
                </a:lnTo>
                <a:arcTo wR="152391" hR="152391" stAng="16200000" swAng="5400000"/>
                <a:lnTo>
                  <a:pt x="304782" y="152391"/>
                </a:lnTo>
                <a:arcTo wR="152391" hR="152391" stAng="0" swAng="5400000"/>
                <a:lnTo>
                  <a:pt x="152391" y="304782"/>
                </a:lnTo>
                <a:arcTo wR="152391" hR="152391" stAng="5400000" swAng="5400000"/>
                <a:lnTo>
                  <a:pt x="0" y="152391"/>
                </a:lnTo>
                <a:arcTo wR="152391" hR="152391" stAng="10800000" swAng="5400000"/>
                <a:close/>
              </a:path>
            </a:pathLst>
          </a:custGeom>
          <a:solidFill>
            <a:srgbClr val="E8843F"/>
          </a:solidFill>
          <a:ln/>
        </p:spPr>
        <p:txBody>
          <a:bodyPr wrap="square" lIns="0" tIns="0" rIns="0" bIns="0" rtlCol="0" anchor="t">
            <a:normAutofit/>
          </a:bodyPr>
          <a:lstStyle/>
          <a:p>
            <a:pPr marL="0" indent="0" algn="ctr">
              <a:lnSpc>
                <a:spcPts val="2405"/>
              </a:lnSpc>
              <a:buNone/>
            </a:pPr>
            <a:r>
              <a:rPr lang="en-US" sz="1300" b="1" dirty="0">
                <a:solidFill>
                  <a:srgbClr val="16212C"/>
                </a:solidFill>
                <a:latin typeface="IBM Plex Sans" pitchFamily="34" charset="0"/>
                <a:ea typeface="IBM Plex Sans" pitchFamily="34" charset="-122"/>
                <a:cs typeface="IBM Plex Sans" pitchFamily="34" charset="-120"/>
              </a:rPr>
              <a:t>3</a:t>
            </a:r>
            <a:endParaRPr lang="en-US" sz="1300" dirty="0"/>
          </a:p>
        </p:txBody>
      </p:sp>
      <p:sp>
        <p:nvSpPr>
          <p:cNvPr id="11" name="Text 9"/>
          <p:cNvSpPr/>
          <p:nvPr/>
        </p:nvSpPr>
        <p:spPr>
          <a:xfrm>
            <a:off x="1244564" y="3230513"/>
            <a:ext cx="3479564" cy="253964"/>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6212C"/>
                </a:solidFill>
                <a:latin typeface="IBM Plex Sans" pitchFamily="34" charset="0"/>
                <a:ea typeface="IBM Plex Sans" pitchFamily="34" charset="-122"/>
                <a:cs typeface="IBM Plex Sans" pitchFamily="34" charset="-120"/>
              </a:rPr>
              <a:t>Feedback is data</a:t>
            </a:r>
            <a:endParaRPr lang="en-US" sz="1500" dirty="0"/>
          </a:p>
        </p:txBody>
      </p:sp>
      <p:sp>
        <p:nvSpPr>
          <p:cNvPr id="12" name="Text 10"/>
          <p:cNvSpPr/>
          <p:nvPr/>
        </p:nvSpPr>
        <p:spPr>
          <a:xfrm>
            <a:off x="1244564" y="3497138"/>
            <a:ext cx="3479564" cy="487669"/>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D4A57"/>
                </a:solidFill>
                <a:latin typeface="IBM Plex Sans" pitchFamily="34" charset="0"/>
                <a:ea typeface="IBM Plex Sans" pitchFamily="34" charset="-122"/>
                <a:cs typeface="IBM Plex Sans" pitchFamily="34" charset="-120"/>
              </a:rPr>
              <a:t>issues and suggestions go straight to the refiner.</a:t>
            </a:r>
            <a:endParaRPr lang="en-US" sz="1300" dirty="0"/>
          </a:p>
        </p:txBody>
      </p:sp>
      <p:sp>
        <p:nvSpPr>
          <p:cNvPr id="13" name="Text 11"/>
          <p:cNvSpPr/>
          <p:nvPr/>
        </p:nvSpPr>
        <p:spPr>
          <a:xfrm>
            <a:off x="812782" y="4124474"/>
            <a:ext cx="304782" cy="304782"/>
          </a:xfrm>
          <a:custGeom>
            <a:avLst/>
            <a:gdLst/>
            <a:ahLst/>
            <a:cxnLst/>
            <a:rect l="l" t="t" r="r" b="b"/>
            <a:pathLst>
              <a:path w="304782" h="304782">
                <a:moveTo>
                  <a:pt x="152391" y="0"/>
                </a:moveTo>
                <a:lnTo>
                  <a:pt x="152391" y="0"/>
                </a:lnTo>
                <a:arcTo wR="152391" hR="152391" stAng="16200000" swAng="5400000"/>
                <a:lnTo>
                  <a:pt x="304782" y="152391"/>
                </a:lnTo>
                <a:arcTo wR="152391" hR="152391" stAng="0" swAng="5400000"/>
                <a:lnTo>
                  <a:pt x="152391" y="304782"/>
                </a:lnTo>
                <a:arcTo wR="152391" hR="152391" stAng="5400000" swAng="5400000"/>
                <a:lnTo>
                  <a:pt x="0" y="152391"/>
                </a:lnTo>
                <a:arcTo wR="152391" hR="152391" stAng="10800000" swAng="5400000"/>
                <a:close/>
              </a:path>
            </a:pathLst>
          </a:custGeom>
          <a:solidFill>
            <a:srgbClr val="E8843F"/>
          </a:solidFill>
          <a:ln/>
        </p:spPr>
        <p:txBody>
          <a:bodyPr wrap="square" lIns="0" tIns="0" rIns="0" bIns="0" rtlCol="0" anchor="t">
            <a:normAutofit/>
          </a:bodyPr>
          <a:lstStyle/>
          <a:p>
            <a:pPr marL="0" indent="0" algn="ctr">
              <a:lnSpc>
                <a:spcPts val="2405"/>
              </a:lnSpc>
              <a:buNone/>
            </a:pPr>
            <a:r>
              <a:rPr lang="en-US" sz="1300" b="1" dirty="0">
                <a:solidFill>
                  <a:srgbClr val="16212C"/>
                </a:solidFill>
                <a:latin typeface="IBM Plex Sans" pitchFamily="34" charset="0"/>
                <a:ea typeface="IBM Plex Sans" pitchFamily="34" charset="-122"/>
                <a:cs typeface="IBM Plex Sans" pitchFamily="34" charset="-120"/>
              </a:rPr>
              <a:t>4</a:t>
            </a:r>
            <a:endParaRPr lang="en-US" sz="1300" dirty="0"/>
          </a:p>
        </p:txBody>
      </p:sp>
      <p:sp>
        <p:nvSpPr>
          <p:cNvPr id="14" name="Text 12"/>
          <p:cNvSpPr/>
          <p:nvPr/>
        </p:nvSpPr>
        <p:spPr>
          <a:xfrm>
            <a:off x="1244564" y="4124474"/>
            <a:ext cx="3479564" cy="253964"/>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6212C"/>
                </a:solidFill>
                <a:latin typeface="IBM Plex Sans" pitchFamily="34" charset="0"/>
                <a:ea typeface="IBM Plex Sans" pitchFamily="34" charset="-122"/>
                <a:cs typeface="IBM Plex Sans" pitchFamily="34" charset="-120"/>
              </a:rPr>
              <a:t>One number to stop on</a:t>
            </a:r>
            <a:endParaRPr lang="en-US" sz="1500" dirty="0"/>
          </a:p>
        </p:txBody>
      </p:sp>
      <p:sp>
        <p:nvSpPr>
          <p:cNvPr id="15" name="Text 13"/>
          <p:cNvSpPr/>
          <p:nvPr/>
        </p:nvSpPr>
        <p:spPr>
          <a:xfrm>
            <a:off x="1244564" y="4391099"/>
            <a:ext cx="3683000" cy="256535"/>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D4A57"/>
                </a:solidFill>
                <a:latin typeface="IBM Plex Sans" pitchFamily="34" charset="0"/>
                <a:ea typeface="IBM Plex Sans" pitchFamily="34" charset="-122"/>
                <a:cs typeface="IBM Plex Sans" pitchFamily="34" charset="-120"/>
              </a:rPr>
              <a:t>The mean of five scores vs the 7.0 threshold.</a:t>
            </a:r>
            <a:endParaRPr lang="en-US" sz="1300" dirty="0"/>
          </a:p>
        </p:txBody>
      </p:sp>
      <p:sp>
        <p:nvSpPr>
          <p:cNvPr id="16" name="Shape 14"/>
          <p:cNvSpPr/>
          <p:nvPr/>
        </p:nvSpPr>
        <p:spPr>
          <a:xfrm>
            <a:off x="4927564" y="1673721"/>
            <a:ext cx="6451564" cy="3679753"/>
          </a:xfrm>
          <a:prstGeom prst="roundRect">
            <a:avLst>
              <a:gd name="adj" fmla="val 2761"/>
            </a:avLst>
          </a:prstGeom>
          <a:solidFill>
            <a:srgbClr val="16212C"/>
          </a:solidFill>
          <a:ln/>
        </p:spPr>
        <p:txBody>
          <a:bodyPr/>
          <a:lstStyle/>
          <a:p>
            <a:endParaRPr lang="en-CN"/>
          </a:p>
        </p:txBody>
      </p:sp>
      <p:sp>
        <p:nvSpPr>
          <p:cNvPr id="17" name="Text 15"/>
          <p:cNvSpPr/>
          <p:nvPr/>
        </p:nvSpPr>
        <p:spPr>
          <a:xfrm>
            <a:off x="5105364" y="1826121"/>
            <a:ext cx="6278842" cy="238693"/>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9AA9B8"/>
                </a:solidFill>
                <a:latin typeface="JetBrains Mono" pitchFamily="49" charset="0"/>
                <a:ea typeface="JetBrains Mono" pitchFamily="49" charset="-122"/>
                <a:cs typeface="JetBrains Mono" pitchFamily="49" charset="-120"/>
              </a:rPr>
              <a:t>01_evaluator_optimizer.py</a:t>
            </a:r>
            <a:endParaRPr lang="en-US" sz="1200" dirty="0"/>
          </a:p>
        </p:txBody>
      </p:sp>
      <p:sp>
        <p:nvSpPr>
          <p:cNvPr id="18" name="Text 16"/>
          <p:cNvSpPr/>
          <p:nvPr/>
        </p:nvSpPr>
        <p:spPr>
          <a:xfrm>
            <a:off x="4927564" y="2115604"/>
            <a:ext cx="6451564" cy="205698"/>
          </a:xfrm>
          <a:prstGeom prst="rect">
            <a:avLst/>
          </a:prstGeom>
          <a:solidFill>
            <a:srgbClr val="3A2B20"/>
          </a:solidFill>
          <a:ln/>
        </p:spPr>
        <p:txBody>
          <a:bodyPr wrap="none" lIns="177223" tIns="0" rIns="0" bIns="0" rtlCol="0" anchor="t">
            <a:normAutofit/>
          </a:bodyPr>
          <a:lstStyle/>
          <a:p>
            <a:pPr marL="0" indent="0" algn="l">
              <a:lnSpc>
                <a:spcPts val="1620"/>
              </a:lnSpc>
              <a:buNone/>
            </a:pPr>
            <a:r>
              <a:rPr lang="en-US" sz="1200" dirty="0">
                <a:solidFill>
                  <a:srgbClr val="7C8FA3"/>
                </a:solidFill>
                <a:latin typeface="JetBrains Mono" pitchFamily="49" charset="0"/>
                <a:ea typeface="JetBrains Mono" pitchFamily="49" charset="-122"/>
                <a:cs typeface="JetBrains Mono" pitchFamily="49" charset="-120"/>
              </a:rPr>
              <a:t>064</a:t>
            </a:r>
            <a:r>
              <a:rPr lang="en-US" sz="1200" dirty="0">
                <a:solidFill>
                  <a:srgbClr val="D6DDE5"/>
                </a:solidFill>
                <a:latin typeface="JetBrains Mono" pitchFamily="49" charset="0"/>
                <a:ea typeface="JetBrains Mono" pitchFamily="49" charset="-122"/>
                <a:cs typeface="JetBrains Mono" pitchFamily="49" charset="-120"/>
              </a:rPr>
              <a:t> </a:t>
            </a:r>
            <a:r>
              <a:rPr lang="en-US" sz="1200" dirty="0">
                <a:solidFill>
                  <a:srgbClr val="A9CF8C"/>
                </a:solidFill>
                <a:latin typeface="JetBrains Mono" pitchFamily="49" charset="0"/>
                <a:ea typeface="JetBrains Mono" pitchFamily="49" charset="-122"/>
                <a:cs typeface="JetBrains Mono" pitchFamily="49" charset="-120"/>
              </a:rPr>
              <a:t>You are a demanding technical editor…</a:t>
            </a:r>
            <a:r>
              <a:rPr lang="en-US" sz="1200" dirty="0">
                <a:solidFill>
                  <a:srgbClr val="D6DDE5"/>
                </a:solidFill>
                <a:latin typeface="JetBrains Mono" pitchFamily="49" charset="0"/>
                <a:ea typeface="JetBrains Mono" pitchFamily="49" charset="-122"/>
                <a:cs typeface="JetBrains Mono" pitchFamily="49" charset="-120"/>
              </a:rPr>
              <a:t> </a:t>
            </a:r>
            <a:r>
              <a:rPr lang="en-US" sz="1200" b="1" dirty="0">
                <a:solidFill>
                  <a:srgbClr val="F2A46B"/>
                </a:solidFill>
                <a:latin typeface="JetBrains Mono" pitchFamily="49" charset="0"/>
                <a:ea typeface="JetBrains Mono" pitchFamily="49" charset="-122"/>
                <a:cs typeface="JetBrains Mono" pitchFamily="49" charset="-120"/>
              </a:rPr>
              <a:t>← 1</a:t>
            </a:r>
            <a:endParaRPr lang="en-US" sz="1200" dirty="0"/>
          </a:p>
        </p:txBody>
      </p:sp>
      <p:sp>
        <p:nvSpPr>
          <p:cNvPr id="19" name="Shape 17"/>
          <p:cNvSpPr/>
          <p:nvPr/>
        </p:nvSpPr>
        <p:spPr>
          <a:xfrm>
            <a:off x="4946614" y="2115604"/>
            <a:ext cx="0" cy="205698"/>
          </a:xfrm>
          <a:prstGeom prst="line">
            <a:avLst/>
          </a:prstGeom>
          <a:noFill/>
          <a:ln w="38100">
            <a:solidFill>
              <a:srgbClr val="E8843F"/>
            </a:solidFill>
            <a:prstDash val="solid"/>
          </a:ln>
        </p:spPr>
        <p:txBody>
          <a:bodyPr/>
          <a:lstStyle/>
          <a:p>
            <a:endParaRPr lang="en-CN"/>
          </a:p>
        </p:txBody>
      </p:sp>
      <p:sp>
        <p:nvSpPr>
          <p:cNvPr id="20" name="Text 18"/>
          <p:cNvSpPr/>
          <p:nvPr/>
        </p:nvSpPr>
        <p:spPr>
          <a:xfrm>
            <a:off x="4927564" y="2321309"/>
            <a:ext cx="6451564" cy="205698"/>
          </a:xfrm>
          <a:prstGeom prst="rect">
            <a:avLst/>
          </a:prstGeom>
          <a:solidFill>
            <a:srgbClr val="3A2B20"/>
          </a:solidFill>
          <a:ln/>
        </p:spPr>
        <p:txBody>
          <a:bodyPr wrap="none" lIns="177223" tIns="0" rIns="0" bIns="0" rtlCol="0" anchor="t">
            <a:normAutofit/>
          </a:bodyPr>
          <a:lstStyle/>
          <a:p>
            <a:pPr marL="0" indent="0" algn="l">
              <a:lnSpc>
                <a:spcPts val="1620"/>
              </a:lnSpc>
              <a:buNone/>
            </a:pPr>
            <a:r>
              <a:rPr lang="en-US" sz="1200" dirty="0">
                <a:solidFill>
                  <a:srgbClr val="7C8FA3"/>
                </a:solidFill>
                <a:latin typeface="JetBrains Mono" pitchFamily="49" charset="0"/>
                <a:ea typeface="JetBrains Mono" pitchFamily="49" charset="-122"/>
                <a:cs typeface="JetBrains Mono" pitchFamily="49" charset="-120"/>
              </a:rPr>
              <a:t>066</a:t>
            </a:r>
            <a:r>
              <a:rPr lang="en-US" sz="1200" dirty="0">
                <a:solidFill>
                  <a:srgbClr val="D6DDE5"/>
                </a:solidFill>
                <a:latin typeface="JetBrains Mono" pitchFamily="49" charset="0"/>
                <a:ea typeface="JetBrains Mono" pitchFamily="49" charset="-122"/>
                <a:cs typeface="JetBrains Mono" pitchFamily="49" charset="-120"/>
              </a:rPr>
              <a:t> </a:t>
            </a:r>
            <a:r>
              <a:rPr lang="en-US" sz="1200" dirty="0">
                <a:solidFill>
                  <a:srgbClr val="A9CF8C"/>
                </a:solidFill>
                <a:latin typeface="JetBrains Mono" pitchFamily="49" charset="0"/>
                <a:ea typeface="JetBrains Mono" pitchFamily="49" charset="-122"/>
                <a:cs typeface="JetBrains Mono" pitchFamily="49" charset="-120"/>
              </a:rPr>
              <a:t>1. CLARITY: … (9-10: crystal clear, 7-8: …)</a:t>
            </a:r>
            <a:endParaRPr lang="en-US" sz="1200" dirty="0"/>
          </a:p>
        </p:txBody>
      </p:sp>
      <p:sp>
        <p:nvSpPr>
          <p:cNvPr id="21" name="Shape 19"/>
          <p:cNvSpPr/>
          <p:nvPr/>
        </p:nvSpPr>
        <p:spPr>
          <a:xfrm>
            <a:off x="4946614" y="2321309"/>
            <a:ext cx="0" cy="205698"/>
          </a:xfrm>
          <a:prstGeom prst="line">
            <a:avLst/>
          </a:prstGeom>
          <a:noFill/>
          <a:ln w="38100">
            <a:solidFill>
              <a:srgbClr val="E8843F"/>
            </a:solidFill>
            <a:prstDash val="solid"/>
          </a:ln>
        </p:spPr>
        <p:txBody>
          <a:bodyPr/>
          <a:lstStyle/>
          <a:p>
            <a:endParaRPr lang="en-CN"/>
          </a:p>
        </p:txBody>
      </p:sp>
      <p:sp>
        <p:nvSpPr>
          <p:cNvPr id="22" name="Text 20"/>
          <p:cNvSpPr/>
          <p:nvPr/>
        </p:nvSpPr>
        <p:spPr>
          <a:xfrm>
            <a:off x="4927564" y="2527002"/>
            <a:ext cx="6451564" cy="205698"/>
          </a:xfrm>
          <a:prstGeom prst="rect">
            <a:avLst/>
          </a:prstGeom>
          <a:solidFill>
            <a:srgbClr val="3A2B20"/>
          </a:solidFill>
          <a:ln/>
        </p:spPr>
        <p:txBody>
          <a:bodyPr wrap="none" lIns="177223" tIns="0" rIns="0" bIns="0" rtlCol="0" anchor="t">
            <a:normAutofit/>
          </a:bodyPr>
          <a:lstStyle/>
          <a:p>
            <a:pPr marL="0" indent="0" algn="l">
              <a:lnSpc>
                <a:spcPts val="1620"/>
              </a:lnSpc>
              <a:buNone/>
            </a:pPr>
            <a:r>
              <a:rPr lang="en-US" sz="1200" dirty="0">
                <a:solidFill>
                  <a:srgbClr val="7C8FA3"/>
                </a:solidFill>
                <a:latin typeface="JetBrains Mono" pitchFamily="49" charset="0"/>
                <a:ea typeface="JetBrains Mono" pitchFamily="49" charset="-122"/>
                <a:cs typeface="JetBrains Mono" pitchFamily="49" charset="-120"/>
              </a:rPr>
              <a:t>077</a:t>
            </a:r>
            <a:r>
              <a:rPr lang="en-US" sz="1200" dirty="0">
                <a:solidFill>
                  <a:srgbClr val="D6DDE5"/>
                </a:solidFill>
                <a:latin typeface="JetBrains Mono" pitchFamily="49" charset="0"/>
                <a:ea typeface="JetBrains Mono" pitchFamily="49" charset="-122"/>
                <a:cs typeface="JetBrains Mono" pitchFamily="49" charset="-120"/>
              </a:rPr>
              <a:t> </a:t>
            </a:r>
            <a:r>
              <a:rPr lang="en-US" sz="1200" dirty="0">
                <a:solidFill>
                  <a:srgbClr val="A9CF8C"/>
                </a:solidFill>
                <a:latin typeface="JetBrains Mono" pitchFamily="49" charset="0"/>
                <a:ea typeface="JetBrains Mono" pitchFamily="49" charset="-122"/>
                <a:cs typeface="JetBrains Mono" pitchFamily="49" charset="-120"/>
              </a:rPr>
              <a:t>Be specific in feedback: "The intro is generic…"</a:t>
            </a:r>
            <a:endParaRPr lang="en-US" sz="1200" dirty="0"/>
          </a:p>
        </p:txBody>
      </p:sp>
      <p:sp>
        <p:nvSpPr>
          <p:cNvPr id="23" name="Shape 21"/>
          <p:cNvSpPr/>
          <p:nvPr/>
        </p:nvSpPr>
        <p:spPr>
          <a:xfrm>
            <a:off x="4946614" y="2527002"/>
            <a:ext cx="0" cy="205698"/>
          </a:xfrm>
          <a:prstGeom prst="line">
            <a:avLst/>
          </a:prstGeom>
          <a:noFill/>
          <a:ln w="38100">
            <a:solidFill>
              <a:srgbClr val="E8843F"/>
            </a:solidFill>
            <a:prstDash val="solid"/>
          </a:ln>
        </p:spPr>
        <p:txBody>
          <a:bodyPr/>
          <a:lstStyle/>
          <a:p>
            <a:endParaRPr lang="en-CN"/>
          </a:p>
        </p:txBody>
      </p:sp>
      <p:sp>
        <p:nvSpPr>
          <p:cNvPr id="24" name="Text 22"/>
          <p:cNvSpPr/>
          <p:nvPr/>
        </p:nvSpPr>
        <p:spPr>
          <a:xfrm>
            <a:off x="5105364" y="2732708"/>
            <a:ext cx="6278842" cy="231098"/>
          </a:xfrm>
          <a:prstGeom prst="rect">
            <a:avLst/>
          </a:prstGeom>
          <a:noFill/>
          <a:ln/>
        </p:spPr>
        <p:txBody>
          <a:bodyPr wrap="none" lIns="0" tIns="0" rIns="0" bIns="0" rtlCol="0" anchor="t">
            <a:normAutofit/>
          </a:bodyPr>
          <a:lstStyle/>
          <a:p>
            <a:pPr marL="0" indent="0" algn="l">
              <a:lnSpc>
                <a:spcPts val="1620"/>
              </a:lnSpc>
              <a:buNone/>
            </a:pPr>
            <a:r>
              <a:rPr lang="en-US" sz="1200" dirty="0">
                <a:solidFill>
                  <a:srgbClr val="7C8FA3"/>
                </a:solidFill>
                <a:latin typeface="JetBrains Mono" pitchFamily="49" charset="0"/>
                <a:ea typeface="JetBrains Mono" pitchFamily="49" charset="-122"/>
                <a:cs typeface="JetBrains Mono" pitchFamily="49" charset="-120"/>
              </a:rPr>
              <a:t>    ⋮</a:t>
            </a:r>
            <a:endParaRPr lang="en-US" sz="1200" dirty="0"/>
          </a:p>
        </p:txBody>
      </p:sp>
      <p:sp>
        <p:nvSpPr>
          <p:cNvPr id="25" name="Text 23"/>
          <p:cNvSpPr/>
          <p:nvPr/>
        </p:nvSpPr>
        <p:spPr>
          <a:xfrm>
            <a:off x="5105364" y="2938400"/>
            <a:ext cx="6278842" cy="231098"/>
          </a:xfrm>
          <a:prstGeom prst="rect">
            <a:avLst/>
          </a:prstGeom>
          <a:noFill/>
          <a:ln/>
        </p:spPr>
        <p:txBody>
          <a:bodyPr wrap="none" lIns="0" tIns="0" rIns="0" bIns="0" rtlCol="0" anchor="t">
            <a:normAutofit/>
          </a:bodyPr>
          <a:lstStyle/>
          <a:p>
            <a:pPr marL="0" indent="0" algn="l">
              <a:lnSpc>
                <a:spcPts val="1620"/>
              </a:lnSpc>
              <a:buNone/>
            </a:pPr>
            <a:r>
              <a:rPr lang="en-US" sz="1200" dirty="0">
                <a:solidFill>
                  <a:srgbClr val="7C8FA3"/>
                </a:solidFill>
                <a:latin typeface="JetBrains Mono" pitchFamily="49" charset="0"/>
                <a:ea typeface="JetBrains Mono" pitchFamily="49" charset="-122"/>
                <a:cs typeface="JetBrains Mono" pitchFamily="49" charset="-120"/>
              </a:rPr>
              <a:t>081</a:t>
            </a:r>
            <a:r>
              <a:rPr lang="en-US" sz="1200" dirty="0">
                <a:solidFill>
                  <a:srgbClr val="D6DDE5"/>
                </a:solidFill>
                <a:latin typeface="JetBrains Mono" pitchFamily="49" charset="0"/>
                <a:ea typeface="JetBrains Mono" pitchFamily="49" charset="-122"/>
                <a:cs typeface="JetBrains Mono" pitchFamily="49" charset="-120"/>
              </a:rPr>
              <a:t> EVALUATION_TOOLS = [{"name": "evaluate_draft",</a:t>
            </a:r>
            <a:endParaRPr lang="en-US" sz="1200" dirty="0"/>
          </a:p>
        </p:txBody>
      </p:sp>
      <p:sp>
        <p:nvSpPr>
          <p:cNvPr id="26" name="Text 24"/>
          <p:cNvSpPr/>
          <p:nvPr/>
        </p:nvSpPr>
        <p:spPr>
          <a:xfrm>
            <a:off x="4927564" y="3144106"/>
            <a:ext cx="6451564" cy="205698"/>
          </a:xfrm>
          <a:prstGeom prst="rect">
            <a:avLst/>
          </a:prstGeom>
          <a:solidFill>
            <a:srgbClr val="3A2B20"/>
          </a:solidFill>
          <a:ln/>
        </p:spPr>
        <p:txBody>
          <a:bodyPr wrap="none" lIns="177223" tIns="0" rIns="0" bIns="0" rtlCol="0" anchor="t">
            <a:normAutofit/>
          </a:bodyPr>
          <a:lstStyle/>
          <a:p>
            <a:pPr marL="0" indent="0" algn="l">
              <a:lnSpc>
                <a:spcPts val="1620"/>
              </a:lnSpc>
              <a:buNone/>
            </a:pPr>
            <a:r>
              <a:rPr lang="en-US" sz="1200" dirty="0">
                <a:solidFill>
                  <a:srgbClr val="7C8FA3"/>
                </a:solidFill>
                <a:latin typeface="JetBrains Mono" pitchFamily="49" charset="0"/>
                <a:ea typeface="JetBrains Mono" pitchFamily="49" charset="-122"/>
                <a:cs typeface="JetBrains Mono" pitchFamily="49" charset="-120"/>
              </a:rPr>
              <a:t>088</a:t>
            </a:r>
            <a:r>
              <a:rPr lang="en-US" sz="1200" dirty="0">
                <a:solidFill>
                  <a:srgbClr val="D6DDE5"/>
                </a:solidFill>
                <a:latin typeface="JetBrains Mono" pitchFamily="49" charset="0"/>
                <a:ea typeface="JetBrains Mono" pitchFamily="49" charset="-122"/>
                <a:cs typeface="JetBrains Mono" pitchFamily="49" charset="-120"/>
              </a:rPr>
              <a:t>   "clarity": {"type": "integer", </a:t>
            </a:r>
            <a:r>
              <a:rPr lang="en-US" sz="1200" b="1" dirty="0">
                <a:solidFill>
                  <a:srgbClr val="F2A46B"/>
                </a:solidFill>
                <a:latin typeface="JetBrains Mono" pitchFamily="49" charset="0"/>
                <a:ea typeface="JetBrains Mono" pitchFamily="49" charset="-122"/>
                <a:cs typeface="JetBrains Mono" pitchFamily="49" charset="-120"/>
              </a:rPr>
              <a:t>← 2</a:t>
            </a:r>
            <a:endParaRPr lang="en-US" sz="1200" dirty="0"/>
          </a:p>
        </p:txBody>
      </p:sp>
      <p:sp>
        <p:nvSpPr>
          <p:cNvPr id="27" name="Shape 25"/>
          <p:cNvSpPr/>
          <p:nvPr/>
        </p:nvSpPr>
        <p:spPr>
          <a:xfrm>
            <a:off x="4946614" y="3144106"/>
            <a:ext cx="0" cy="205698"/>
          </a:xfrm>
          <a:prstGeom prst="line">
            <a:avLst/>
          </a:prstGeom>
          <a:noFill/>
          <a:ln w="38100">
            <a:solidFill>
              <a:srgbClr val="E8843F"/>
            </a:solidFill>
            <a:prstDash val="solid"/>
          </a:ln>
        </p:spPr>
        <p:txBody>
          <a:bodyPr/>
          <a:lstStyle/>
          <a:p>
            <a:endParaRPr lang="en-CN"/>
          </a:p>
        </p:txBody>
      </p:sp>
      <p:sp>
        <p:nvSpPr>
          <p:cNvPr id="28" name="Text 26"/>
          <p:cNvSpPr/>
          <p:nvPr/>
        </p:nvSpPr>
        <p:spPr>
          <a:xfrm>
            <a:off x="4927564" y="3349799"/>
            <a:ext cx="6451564" cy="205698"/>
          </a:xfrm>
          <a:prstGeom prst="rect">
            <a:avLst/>
          </a:prstGeom>
          <a:solidFill>
            <a:srgbClr val="3A2B20"/>
          </a:solidFill>
          <a:ln/>
        </p:spPr>
        <p:txBody>
          <a:bodyPr wrap="none" lIns="177223" tIns="0" rIns="0" bIns="0" rtlCol="0" anchor="t">
            <a:normAutofit/>
          </a:bodyPr>
          <a:lstStyle/>
          <a:p>
            <a:pPr marL="0" indent="0" algn="l">
              <a:lnSpc>
                <a:spcPts val="1620"/>
              </a:lnSpc>
              <a:buNone/>
            </a:pPr>
            <a:r>
              <a:rPr lang="en-US" sz="1200" dirty="0">
                <a:solidFill>
                  <a:srgbClr val="7C8FA3"/>
                </a:solidFill>
                <a:latin typeface="JetBrains Mono" pitchFamily="49" charset="0"/>
                <a:ea typeface="JetBrains Mono" pitchFamily="49" charset="-122"/>
                <a:cs typeface="JetBrains Mono" pitchFamily="49" charset="-120"/>
              </a:rPr>
              <a:t>   </a:t>
            </a:r>
            <a:r>
              <a:rPr lang="en-US" sz="1200" dirty="0">
                <a:solidFill>
                  <a:srgbClr val="D6DDE5"/>
                </a:solidFill>
                <a:latin typeface="JetBrains Mono" pitchFamily="49" charset="0"/>
                <a:ea typeface="JetBrains Mono" pitchFamily="49" charset="-122"/>
                <a:cs typeface="JetBrains Mono" pitchFamily="49" charset="-120"/>
              </a:rPr>
              <a:t>     "minimum": 1, "maximum": 10},</a:t>
            </a:r>
            <a:endParaRPr lang="en-US" sz="1200" dirty="0"/>
          </a:p>
        </p:txBody>
      </p:sp>
      <p:sp>
        <p:nvSpPr>
          <p:cNvPr id="29" name="Shape 27"/>
          <p:cNvSpPr/>
          <p:nvPr/>
        </p:nvSpPr>
        <p:spPr>
          <a:xfrm>
            <a:off x="4946614" y="3349799"/>
            <a:ext cx="0" cy="205698"/>
          </a:xfrm>
          <a:prstGeom prst="line">
            <a:avLst/>
          </a:prstGeom>
          <a:noFill/>
          <a:ln w="38100">
            <a:solidFill>
              <a:srgbClr val="E8843F"/>
            </a:solidFill>
            <a:prstDash val="solid"/>
          </a:ln>
        </p:spPr>
        <p:txBody>
          <a:bodyPr/>
          <a:lstStyle/>
          <a:p>
            <a:endParaRPr lang="en-CN"/>
          </a:p>
        </p:txBody>
      </p:sp>
      <p:sp>
        <p:nvSpPr>
          <p:cNvPr id="30" name="Text 28"/>
          <p:cNvSpPr/>
          <p:nvPr/>
        </p:nvSpPr>
        <p:spPr>
          <a:xfrm>
            <a:off x="5105364" y="3555504"/>
            <a:ext cx="6278842" cy="231098"/>
          </a:xfrm>
          <a:prstGeom prst="rect">
            <a:avLst/>
          </a:prstGeom>
          <a:noFill/>
          <a:ln/>
        </p:spPr>
        <p:txBody>
          <a:bodyPr wrap="none" lIns="0" tIns="0" rIns="0" bIns="0" rtlCol="0" anchor="t">
            <a:normAutofit/>
          </a:bodyPr>
          <a:lstStyle/>
          <a:p>
            <a:pPr marL="0" indent="0" algn="l">
              <a:lnSpc>
                <a:spcPts val="1620"/>
              </a:lnSpc>
              <a:buNone/>
            </a:pPr>
            <a:r>
              <a:rPr lang="en-US" sz="1200" dirty="0">
                <a:solidFill>
                  <a:srgbClr val="7C8FA3"/>
                </a:solidFill>
                <a:latin typeface="JetBrains Mono" pitchFamily="49" charset="0"/>
                <a:ea typeface="JetBrains Mono" pitchFamily="49" charset="-122"/>
                <a:cs typeface="JetBrains Mono" pitchFamily="49" charset="-120"/>
              </a:rPr>
              <a:t>089</a:t>
            </a:r>
            <a:r>
              <a:rPr lang="en-US" sz="1200" dirty="0">
                <a:solidFill>
                  <a:srgbClr val="D6DDE5"/>
                </a:solidFill>
                <a:latin typeface="JetBrains Mono" pitchFamily="49" charset="0"/>
                <a:ea typeface="JetBrains Mono" pitchFamily="49" charset="-122"/>
                <a:cs typeface="JetBrains Mono" pitchFamily="49" charset="-120"/>
              </a:rPr>
              <a:t>   </a:t>
            </a:r>
            <a:r>
              <a:rPr lang="en-US" sz="1200" dirty="0">
                <a:solidFill>
                  <a:srgbClr val="8798AA"/>
                </a:solidFill>
                <a:latin typeface="JetBrains Mono" pitchFamily="49" charset="0"/>
                <a:ea typeface="JetBrains Mono" pitchFamily="49" charset="-122"/>
                <a:cs typeface="JetBrains Mono" pitchFamily="49" charset="-120"/>
              </a:rPr>
              <a:t># …accuracy, structure, engagement, voice</a:t>
            </a:r>
            <a:endParaRPr lang="en-US" sz="1200" dirty="0"/>
          </a:p>
        </p:txBody>
      </p:sp>
      <p:sp>
        <p:nvSpPr>
          <p:cNvPr id="31" name="Text 29"/>
          <p:cNvSpPr/>
          <p:nvPr/>
        </p:nvSpPr>
        <p:spPr>
          <a:xfrm>
            <a:off x="4927564" y="3761197"/>
            <a:ext cx="6451564" cy="205698"/>
          </a:xfrm>
          <a:prstGeom prst="rect">
            <a:avLst/>
          </a:prstGeom>
          <a:solidFill>
            <a:srgbClr val="3A2B20"/>
          </a:solidFill>
          <a:ln/>
        </p:spPr>
        <p:txBody>
          <a:bodyPr wrap="none" lIns="177223" tIns="0" rIns="0" bIns="0" rtlCol="0" anchor="t">
            <a:normAutofit/>
          </a:bodyPr>
          <a:lstStyle/>
          <a:p>
            <a:pPr marL="0" indent="0" algn="l">
              <a:lnSpc>
                <a:spcPts val="1620"/>
              </a:lnSpc>
              <a:buNone/>
            </a:pPr>
            <a:r>
              <a:rPr lang="en-US" sz="1200" dirty="0">
                <a:solidFill>
                  <a:srgbClr val="7C8FA3"/>
                </a:solidFill>
                <a:latin typeface="JetBrains Mono" pitchFamily="49" charset="0"/>
                <a:ea typeface="JetBrains Mono" pitchFamily="49" charset="-122"/>
                <a:cs typeface="JetBrains Mono" pitchFamily="49" charset="-120"/>
              </a:rPr>
              <a:t>098</a:t>
            </a:r>
            <a:r>
              <a:rPr lang="en-US" sz="1200" dirty="0">
                <a:solidFill>
                  <a:srgbClr val="D6DDE5"/>
                </a:solidFill>
                <a:latin typeface="JetBrains Mono" pitchFamily="49" charset="0"/>
                <a:ea typeface="JetBrains Mono" pitchFamily="49" charset="-122"/>
                <a:cs typeface="JetBrains Mono" pitchFamily="49" charset="-120"/>
              </a:rPr>
              <a:t>   "issues": {"type": "array", …}, </a:t>
            </a:r>
            <a:r>
              <a:rPr lang="en-US" sz="1200" b="1" dirty="0">
                <a:solidFill>
                  <a:srgbClr val="F2A46B"/>
                </a:solidFill>
                <a:latin typeface="JetBrains Mono" pitchFamily="49" charset="0"/>
                <a:ea typeface="JetBrains Mono" pitchFamily="49" charset="-122"/>
                <a:cs typeface="JetBrains Mono" pitchFamily="49" charset="-120"/>
              </a:rPr>
              <a:t>← 3</a:t>
            </a:r>
            <a:endParaRPr lang="en-US" sz="1200" dirty="0"/>
          </a:p>
        </p:txBody>
      </p:sp>
      <p:sp>
        <p:nvSpPr>
          <p:cNvPr id="32" name="Shape 30"/>
          <p:cNvSpPr/>
          <p:nvPr/>
        </p:nvSpPr>
        <p:spPr>
          <a:xfrm>
            <a:off x="4946614" y="3761197"/>
            <a:ext cx="0" cy="205698"/>
          </a:xfrm>
          <a:prstGeom prst="line">
            <a:avLst/>
          </a:prstGeom>
          <a:noFill/>
          <a:ln w="38100">
            <a:solidFill>
              <a:srgbClr val="E8843F"/>
            </a:solidFill>
            <a:prstDash val="solid"/>
          </a:ln>
        </p:spPr>
        <p:txBody>
          <a:bodyPr/>
          <a:lstStyle/>
          <a:p>
            <a:endParaRPr lang="en-CN"/>
          </a:p>
        </p:txBody>
      </p:sp>
      <p:sp>
        <p:nvSpPr>
          <p:cNvPr id="33" name="Text 31"/>
          <p:cNvSpPr/>
          <p:nvPr/>
        </p:nvSpPr>
        <p:spPr>
          <a:xfrm>
            <a:off x="4927564" y="3966902"/>
            <a:ext cx="6451564" cy="205698"/>
          </a:xfrm>
          <a:prstGeom prst="rect">
            <a:avLst/>
          </a:prstGeom>
          <a:solidFill>
            <a:srgbClr val="3A2B20"/>
          </a:solidFill>
          <a:ln/>
        </p:spPr>
        <p:txBody>
          <a:bodyPr wrap="none" lIns="177223" tIns="0" rIns="0" bIns="0" rtlCol="0" anchor="t">
            <a:normAutofit/>
          </a:bodyPr>
          <a:lstStyle/>
          <a:p>
            <a:pPr marL="0" indent="0" algn="l">
              <a:lnSpc>
                <a:spcPts val="1620"/>
              </a:lnSpc>
              <a:buNone/>
            </a:pPr>
            <a:r>
              <a:rPr lang="en-US" sz="1200" dirty="0">
                <a:solidFill>
                  <a:srgbClr val="7C8FA3"/>
                </a:solidFill>
                <a:latin typeface="JetBrains Mono" pitchFamily="49" charset="0"/>
                <a:ea typeface="JetBrains Mono" pitchFamily="49" charset="-122"/>
                <a:cs typeface="JetBrains Mono" pitchFamily="49" charset="-120"/>
              </a:rPr>
              <a:t>103</a:t>
            </a:r>
            <a:r>
              <a:rPr lang="en-US" sz="1200" dirty="0">
                <a:solidFill>
                  <a:srgbClr val="D6DDE5"/>
                </a:solidFill>
                <a:latin typeface="JetBrains Mono" pitchFamily="49" charset="0"/>
                <a:ea typeface="JetBrains Mono" pitchFamily="49" charset="-122"/>
                <a:cs typeface="JetBrains Mono" pitchFamily="49" charset="-120"/>
              </a:rPr>
              <a:t>   "suggestions": {"type": "array", …}}}]</a:t>
            </a:r>
            <a:endParaRPr lang="en-US" sz="1200" dirty="0"/>
          </a:p>
        </p:txBody>
      </p:sp>
      <p:sp>
        <p:nvSpPr>
          <p:cNvPr id="34" name="Shape 32"/>
          <p:cNvSpPr/>
          <p:nvPr/>
        </p:nvSpPr>
        <p:spPr>
          <a:xfrm>
            <a:off x="4946614" y="3966902"/>
            <a:ext cx="0" cy="205698"/>
          </a:xfrm>
          <a:prstGeom prst="line">
            <a:avLst/>
          </a:prstGeom>
          <a:noFill/>
          <a:ln w="38100">
            <a:solidFill>
              <a:srgbClr val="E8843F"/>
            </a:solidFill>
            <a:prstDash val="solid"/>
          </a:ln>
        </p:spPr>
        <p:txBody>
          <a:bodyPr/>
          <a:lstStyle/>
          <a:p>
            <a:endParaRPr lang="en-CN"/>
          </a:p>
        </p:txBody>
      </p:sp>
      <p:sp>
        <p:nvSpPr>
          <p:cNvPr id="35" name="Text 33"/>
          <p:cNvSpPr/>
          <p:nvPr/>
        </p:nvSpPr>
        <p:spPr>
          <a:xfrm>
            <a:off x="5105364" y="4172595"/>
            <a:ext cx="6278842" cy="231098"/>
          </a:xfrm>
          <a:prstGeom prst="rect">
            <a:avLst/>
          </a:prstGeom>
          <a:noFill/>
          <a:ln/>
        </p:spPr>
        <p:txBody>
          <a:bodyPr wrap="none" lIns="0" tIns="0" rIns="0" bIns="0" rtlCol="0" anchor="t">
            <a:normAutofit/>
          </a:bodyPr>
          <a:lstStyle/>
          <a:p>
            <a:pPr marL="0" indent="0" algn="l">
              <a:lnSpc>
                <a:spcPts val="1620"/>
              </a:lnSpc>
              <a:buNone/>
            </a:pPr>
            <a:r>
              <a:rPr lang="en-US" sz="1200" dirty="0">
                <a:solidFill>
                  <a:srgbClr val="7C8FA3"/>
                </a:solidFill>
                <a:latin typeface="JetBrains Mono" pitchFamily="49" charset="0"/>
                <a:ea typeface="JetBrains Mono" pitchFamily="49" charset="-122"/>
                <a:cs typeface="JetBrains Mono" pitchFamily="49" charset="-120"/>
              </a:rPr>
              <a:t>    ⋮</a:t>
            </a:r>
            <a:endParaRPr lang="en-US" sz="1200" dirty="0"/>
          </a:p>
        </p:txBody>
      </p:sp>
      <p:sp>
        <p:nvSpPr>
          <p:cNvPr id="36" name="Text 34"/>
          <p:cNvSpPr/>
          <p:nvPr/>
        </p:nvSpPr>
        <p:spPr>
          <a:xfrm>
            <a:off x="5105364" y="4378288"/>
            <a:ext cx="6278842" cy="231098"/>
          </a:xfrm>
          <a:prstGeom prst="rect">
            <a:avLst/>
          </a:prstGeom>
          <a:noFill/>
          <a:ln/>
        </p:spPr>
        <p:txBody>
          <a:bodyPr wrap="none" lIns="0" tIns="0" rIns="0" bIns="0" rtlCol="0" anchor="t">
            <a:normAutofit/>
          </a:bodyPr>
          <a:lstStyle/>
          <a:p>
            <a:pPr marL="0" indent="0" algn="l">
              <a:lnSpc>
                <a:spcPts val="1620"/>
              </a:lnSpc>
              <a:buNone/>
            </a:pPr>
            <a:r>
              <a:rPr lang="en-US" sz="1200" dirty="0">
                <a:solidFill>
                  <a:srgbClr val="7C8FA3"/>
                </a:solidFill>
                <a:latin typeface="JetBrains Mono" pitchFamily="49" charset="0"/>
                <a:ea typeface="JetBrains Mono" pitchFamily="49" charset="-122"/>
                <a:cs typeface="JetBrains Mono" pitchFamily="49" charset="-120"/>
              </a:rPr>
              <a:t>122</a:t>
            </a:r>
            <a:r>
              <a:rPr lang="en-US" sz="1200" dirty="0">
                <a:solidFill>
                  <a:srgbClr val="D6DDE5"/>
                </a:solidFill>
                <a:latin typeface="JetBrains Mono" pitchFamily="49" charset="0"/>
                <a:ea typeface="JetBrains Mono" pitchFamily="49" charset="-122"/>
                <a:cs typeface="JetBrains Mono" pitchFamily="49" charset="-120"/>
              </a:rPr>
              <a:t> SCORE_THRESHOLD = 7.0</a:t>
            </a:r>
            <a:endParaRPr lang="en-US" sz="1200" dirty="0"/>
          </a:p>
        </p:txBody>
      </p:sp>
      <p:sp>
        <p:nvSpPr>
          <p:cNvPr id="37" name="Text 35"/>
          <p:cNvSpPr/>
          <p:nvPr/>
        </p:nvSpPr>
        <p:spPr>
          <a:xfrm>
            <a:off x="5105364" y="4583993"/>
            <a:ext cx="6278842" cy="231098"/>
          </a:xfrm>
          <a:prstGeom prst="rect">
            <a:avLst/>
          </a:prstGeom>
          <a:noFill/>
          <a:ln/>
        </p:spPr>
        <p:txBody>
          <a:bodyPr wrap="none" lIns="0" tIns="0" rIns="0" bIns="0" rtlCol="0" anchor="t">
            <a:normAutofit/>
          </a:bodyPr>
          <a:lstStyle/>
          <a:p>
            <a:pPr marL="0" indent="0" algn="l">
              <a:lnSpc>
                <a:spcPts val="1620"/>
              </a:lnSpc>
              <a:buNone/>
            </a:pPr>
            <a:r>
              <a:rPr lang="en-US" sz="1200" dirty="0">
                <a:solidFill>
                  <a:srgbClr val="7C8FA3"/>
                </a:solidFill>
                <a:latin typeface="JetBrains Mono" pitchFamily="49" charset="0"/>
                <a:ea typeface="JetBrains Mono" pitchFamily="49" charset="-122"/>
                <a:cs typeface="JetBrains Mono" pitchFamily="49" charset="-120"/>
              </a:rPr>
              <a:t>132</a:t>
            </a:r>
            <a:r>
              <a:rPr lang="en-US" sz="1200" dirty="0">
                <a:solidFill>
                  <a:srgbClr val="D6DDE5"/>
                </a:solidFill>
                <a:latin typeface="JetBrains Mono" pitchFamily="49" charset="0"/>
                <a:ea typeface="JetBrains Mono" pitchFamily="49" charset="-122"/>
                <a:cs typeface="JetBrains Mono" pitchFamily="49" charset="-120"/>
              </a:rPr>
              <a:t> def _extract_scores(evaluation):</a:t>
            </a:r>
            <a:endParaRPr lang="en-US" sz="1200" dirty="0"/>
          </a:p>
        </p:txBody>
      </p:sp>
      <p:sp>
        <p:nvSpPr>
          <p:cNvPr id="38" name="Text 36"/>
          <p:cNvSpPr/>
          <p:nvPr/>
        </p:nvSpPr>
        <p:spPr>
          <a:xfrm>
            <a:off x="5105364" y="4789686"/>
            <a:ext cx="6278842" cy="231098"/>
          </a:xfrm>
          <a:prstGeom prst="rect">
            <a:avLst/>
          </a:prstGeom>
          <a:noFill/>
          <a:ln/>
        </p:spPr>
        <p:txBody>
          <a:bodyPr wrap="none" lIns="0" tIns="0" rIns="0" bIns="0" rtlCol="0" anchor="t">
            <a:normAutofit/>
          </a:bodyPr>
          <a:lstStyle/>
          <a:p>
            <a:pPr marL="0" indent="0" algn="l">
              <a:lnSpc>
                <a:spcPts val="1620"/>
              </a:lnSpc>
              <a:buNone/>
            </a:pPr>
            <a:r>
              <a:rPr lang="en-US" sz="1200" dirty="0">
                <a:solidFill>
                  <a:srgbClr val="7C8FA3"/>
                </a:solidFill>
                <a:latin typeface="JetBrains Mono" pitchFamily="49" charset="0"/>
                <a:ea typeface="JetBrains Mono" pitchFamily="49" charset="-122"/>
                <a:cs typeface="JetBrains Mono" pitchFamily="49" charset="-120"/>
              </a:rPr>
              <a:t>134</a:t>
            </a:r>
            <a:r>
              <a:rPr lang="en-US" sz="1200" dirty="0">
                <a:solidFill>
                  <a:srgbClr val="D6DDE5"/>
                </a:solidFill>
                <a:latin typeface="JetBrains Mono" pitchFamily="49" charset="0"/>
                <a:ea typeface="JetBrains Mono" pitchFamily="49" charset="-122"/>
                <a:cs typeface="JetBrains Mono" pitchFamily="49" charset="-120"/>
              </a:rPr>
              <a:t>   scores = dict(zip(SCORE_DIMENSIONS, …))</a:t>
            </a:r>
            <a:endParaRPr lang="en-US" sz="1200" dirty="0"/>
          </a:p>
        </p:txBody>
      </p:sp>
      <p:sp>
        <p:nvSpPr>
          <p:cNvPr id="39" name="Text 37"/>
          <p:cNvSpPr/>
          <p:nvPr/>
        </p:nvSpPr>
        <p:spPr>
          <a:xfrm>
            <a:off x="4927564" y="4995391"/>
            <a:ext cx="6451564" cy="205698"/>
          </a:xfrm>
          <a:prstGeom prst="rect">
            <a:avLst/>
          </a:prstGeom>
          <a:solidFill>
            <a:srgbClr val="3A2B20"/>
          </a:solidFill>
          <a:ln/>
        </p:spPr>
        <p:txBody>
          <a:bodyPr wrap="none" lIns="177223" tIns="0" rIns="0" bIns="0" rtlCol="0" anchor="t">
            <a:normAutofit/>
          </a:bodyPr>
          <a:lstStyle/>
          <a:p>
            <a:pPr marL="0" indent="0" algn="l">
              <a:lnSpc>
                <a:spcPts val="1620"/>
              </a:lnSpc>
              <a:buNone/>
            </a:pPr>
            <a:r>
              <a:rPr lang="en-US" sz="1200" dirty="0">
                <a:solidFill>
                  <a:srgbClr val="7C8FA3"/>
                </a:solidFill>
                <a:latin typeface="JetBrains Mono" pitchFamily="49" charset="0"/>
                <a:ea typeface="JetBrains Mono" pitchFamily="49" charset="-122"/>
                <a:cs typeface="JetBrains Mono" pitchFamily="49" charset="-120"/>
              </a:rPr>
              <a:t>135</a:t>
            </a:r>
            <a:r>
              <a:rPr lang="en-US" sz="1200" dirty="0">
                <a:solidFill>
                  <a:srgbClr val="D6DDE5"/>
                </a:solidFill>
                <a:latin typeface="JetBrains Mono" pitchFamily="49" charset="0"/>
                <a:ea typeface="JetBrains Mono" pitchFamily="49" charset="-122"/>
                <a:cs typeface="JetBrains Mono" pitchFamily="49" charset="-120"/>
              </a:rPr>
              <a:t>   return scores, sum(scores.values()) / len(scores) </a:t>
            </a:r>
            <a:r>
              <a:rPr lang="en-US" sz="1200" b="1" dirty="0">
                <a:solidFill>
                  <a:srgbClr val="F2A46B"/>
                </a:solidFill>
                <a:latin typeface="JetBrains Mono" pitchFamily="49" charset="0"/>
                <a:ea typeface="JetBrains Mono" pitchFamily="49" charset="-122"/>
                <a:cs typeface="JetBrains Mono" pitchFamily="49" charset="-120"/>
              </a:rPr>
              <a:t>← 4</a:t>
            </a:r>
            <a:endParaRPr lang="en-US" sz="1200" dirty="0"/>
          </a:p>
        </p:txBody>
      </p:sp>
      <p:sp>
        <p:nvSpPr>
          <p:cNvPr id="40" name="Shape 38"/>
          <p:cNvSpPr/>
          <p:nvPr/>
        </p:nvSpPr>
        <p:spPr>
          <a:xfrm>
            <a:off x="4946614" y="4995391"/>
            <a:ext cx="0" cy="205698"/>
          </a:xfrm>
          <a:prstGeom prst="line">
            <a:avLst/>
          </a:prstGeom>
          <a:noFill/>
          <a:ln w="38100">
            <a:solidFill>
              <a:srgbClr val="E8843F"/>
            </a:solidFill>
            <a:prstDash val="solid"/>
          </a:ln>
        </p:spPr>
        <p:txBody>
          <a:bodyPr/>
          <a:lstStyle/>
          <a:p>
            <a:endParaRPr lang="en-CN"/>
          </a:p>
        </p:txBody>
      </p:sp>
      <p:sp>
        <p:nvSpPr>
          <p:cNvPr id="41" name="Text 39"/>
          <p:cNvSpPr/>
          <p:nvPr/>
        </p:nvSpPr>
        <p:spPr>
          <a:xfrm>
            <a:off x="812782" y="6238280"/>
            <a:ext cx="967994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7684"/>
                </a:solidFill>
                <a:latin typeface="IBM Plex Sans" pitchFamily="34" charset="0"/>
                <a:ea typeface="IBM Plex Sans" pitchFamily="34" charset="-122"/>
                <a:cs typeface="IBM Plex Sans" pitchFamily="34" charset="-120"/>
              </a:rPr>
              <a:t>05-evaluator-optimizer/01_evaluator_optimizer.py L63–135 · lines condensed</a:t>
            </a:r>
            <a:endParaRPr lang="en-US" sz="1200" dirty="0"/>
          </a:p>
        </p:txBody>
      </p:sp>
      <p:sp>
        <p:nvSpPr>
          <p:cNvPr id="42" name="Text 40"/>
          <p:cNvSpPr/>
          <p:nvPr/>
        </p:nvSpPr>
        <p:spPr>
          <a:xfrm>
            <a:off x="10312418" y="6238280"/>
            <a:ext cx="1066800" cy="238720"/>
          </a:xfrm>
          <a:prstGeom prst="rect">
            <a:avLst/>
          </a:prstGeom>
          <a:noFill/>
          <a:ln/>
        </p:spPr>
        <p:txBody>
          <a:bodyPr wrap="square" lIns="0" tIns="0" rIns="0" bIns="0" rtlCol="0" anchor="t">
            <a:normAutofit/>
          </a:bodyPr>
          <a:lstStyle/>
          <a:p>
            <a:pPr marL="0" indent="0" algn="r">
              <a:lnSpc>
                <a:spcPts val="1680"/>
              </a:lnSpc>
              <a:buNone/>
            </a:pPr>
            <a:r>
              <a:rPr lang="en-US" sz="1200" b="1" dirty="0">
                <a:solidFill>
                  <a:srgbClr val="6A7684"/>
                </a:solidFill>
                <a:latin typeface="IBM Plex Sans" pitchFamily="34" charset="0"/>
                <a:ea typeface="IBM Plex Sans" pitchFamily="34" charset="-122"/>
                <a:cs typeface="IBM Plex Sans" pitchFamily="34" charset="-120"/>
              </a:rPr>
              <a:t>17 / 27</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4F2EC"/>
        </a:solidFill>
        <a:effectLst/>
      </p:bgPr>
    </p:bg>
    <p:spTree>
      <p:nvGrpSpPr>
        <p:cNvPr id="1" name=""/>
        <p:cNvGrpSpPr/>
        <p:nvPr/>
      </p:nvGrpSpPr>
      <p:grpSpPr>
        <a:xfrm>
          <a:off x="0" y="0"/>
          <a:ext cx="0" cy="0"/>
          <a:chOff x="0" y="0"/>
          <a:chExt cx="0" cy="0"/>
        </a:xfrm>
      </p:grpSpPr>
      <p:sp>
        <p:nvSpPr>
          <p:cNvPr id="2" name="Text 0"/>
          <p:cNvSpPr/>
          <p:nvPr/>
        </p:nvSpPr>
        <p:spPr>
          <a:xfrm>
            <a:off x="812782" y="711163"/>
            <a:ext cx="10883429"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04E17"/>
                </a:solidFill>
                <a:latin typeface="IBM Plex Sans" pitchFamily="34" charset="0"/>
                <a:ea typeface="IBM Plex Sans" pitchFamily="34" charset="-122"/>
                <a:cs typeface="IBM Plex Sans" pitchFamily="34" charset="-120"/>
              </a:rPr>
              <a:t>05 · EVALUATOR-OPTIMIZER · IN CODE</a:t>
            </a:r>
            <a:endParaRPr lang="en-US" sz="1200" dirty="0"/>
          </a:p>
        </p:txBody>
      </p:sp>
      <p:sp>
        <p:nvSpPr>
          <p:cNvPr id="3" name="Text 1"/>
          <p:cNvSpPr>
            <a:spLocks noGrp="1"/>
          </p:cNvSpPr>
          <p:nvPr>
            <p:ph type="title"/>
          </p:nvPr>
        </p:nvSpPr>
        <p:spPr>
          <a:xfrm>
            <a:off x="812782" y="1000658"/>
            <a:ext cx="10883429" cy="444464"/>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6212C"/>
                </a:solidFill>
                <a:latin typeface="IBM Plex Sans" pitchFamily="34" charset="0"/>
                <a:ea typeface="IBM Plex Sans" pitchFamily="34" charset="-122"/>
                <a:cs typeface="IBM Plex Sans" pitchFamily="34" charset="-120"/>
              </a:rPr>
              <a:t>A bounded loop with a clear exit</a:t>
            </a:r>
            <a:endParaRPr lang="en-US" sz="3000" dirty="0"/>
          </a:p>
        </p:txBody>
      </p:sp>
      <p:sp>
        <p:nvSpPr>
          <p:cNvPr id="4" name="Text 2"/>
          <p:cNvSpPr/>
          <p:nvPr/>
        </p:nvSpPr>
        <p:spPr>
          <a:xfrm>
            <a:off x="812782" y="1673721"/>
            <a:ext cx="304782" cy="304782"/>
          </a:xfrm>
          <a:custGeom>
            <a:avLst/>
            <a:gdLst/>
            <a:ahLst/>
            <a:cxnLst/>
            <a:rect l="l" t="t" r="r" b="b"/>
            <a:pathLst>
              <a:path w="304782" h="304782">
                <a:moveTo>
                  <a:pt x="152391" y="0"/>
                </a:moveTo>
                <a:lnTo>
                  <a:pt x="152391" y="0"/>
                </a:lnTo>
                <a:arcTo wR="152391" hR="152391" stAng="16200000" swAng="5400000"/>
                <a:lnTo>
                  <a:pt x="304782" y="152391"/>
                </a:lnTo>
                <a:arcTo wR="152391" hR="152391" stAng="0" swAng="5400000"/>
                <a:lnTo>
                  <a:pt x="152391" y="304782"/>
                </a:lnTo>
                <a:arcTo wR="152391" hR="152391" stAng="5400000" swAng="5400000"/>
                <a:lnTo>
                  <a:pt x="0" y="152391"/>
                </a:lnTo>
                <a:arcTo wR="152391" hR="152391" stAng="10800000" swAng="5400000"/>
                <a:close/>
              </a:path>
            </a:pathLst>
          </a:custGeom>
          <a:solidFill>
            <a:srgbClr val="E8843F"/>
          </a:solidFill>
          <a:ln/>
        </p:spPr>
        <p:txBody>
          <a:bodyPr wrap="square" lIns="0" tIns="0" rIns="0" bIns="0" rtlCol="0" anchor="t">
            <a:normAutofit/>
          </a:bodyPr>
          <a:lstStyle/>
          <a:p>
            <a:pPr marL="0" indent="0" algn="ctr">
              <a:lnSpc>
                <a:spcPts val="2405"/>
              </a:lnSpc>
              <a:buNone/>
            </a:pPr>
            <a:r>
              <a:rPr lang="en-US" sz="1300" b="1" dirty="0">
                <a:solidFill>
                  <a:srgbClr val="16212C"/>
                </a:solidFill>
                <a:latin typeface="IBM Plex Sans" pitchFamily="34" charset="0"/>
                <a:ea typeface="IBM Plex Sans" pitchFamily="34" charset="-122"/>
                <a:cs typeface="IBM Plex Sans" pitchFamily="34" charset="-120"/>
              </a:rPr>
              <a:t>1</a:t>
            </a:r>
            <a:endParaRPr lang="en-US" sz="1300" dirty="0"/>
          </a:p>
        </p:txBody>
      </p:sp>
      <p:sp>
        <p:nvSpPr>
          <p:cNvPr id="5" name="Text 3"/>
          <p:cNvSpPr/>
          <p:nvPr/>
        </p:nvSpPr>
        <p:spPr>
          <a:xfrm>
            <a:off x="1244564" y="1673721"/>
            <a:ext cx="3479564" cy="253964"/>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6212C"/>
                </a:solidFill>
                <a:latin typeface="IBM Plex Sans" pitchFamily="34" charset="0"/>
                <a:ea typeface="IBM Plex Sans" pitchFamily="34" charset="-122"/>
                <a:cs typeface="IBM Plex Sans" pitchFamily="34" charset="-120"/>
              </a:rPr>
              <a:t>Converge</a:t>
            </a:r>
            <a:endParaRPr lang="en-US" sz="1500" dirty="0"/>
          </a:p>
        </p:txBody>
      </p:sp>
      <p:sp>
        <p:nvSpPr>
          <p:cNvPr id="6" name="Text 4"/>
          <p:cNvSpPr/>
          <p:nvPr/>
        </p:nvSpPr>
        <p:spPr>
          <a:xfrm>
            <a:off x="1244564" y="1940359"/>
            <a:ext cx="3479564" cy="487669"/>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D4A57"/>
                </a:solidFill>
                <a:latin typeface="IBM Plex Sans" pitchFamily="34" charset="0"/>
                <a:ea typeface="IBM Plex Sans" pitchFamily="34" charset="-122"/>
                <a:cs typeface="IBM Plex Sans" pitchFamily="34" charset="-120"/>
              </a:rPr>
              <a:t>Good enough? Stop immediately; don't spend another call.</a:t>
            </a:r>
            <a:endParaRPr lang="en-US" sz="1300" dirty="0"/>
          </a:p>
        </p:txBody>
      </p:sp>
      <p:sp>
        <p:nvSpPr>
          <p:cNvPr id="7" name="Text 5"/>
          <p:cNvSpPr/>
          <p:nvPr/>
        </p:nvSpPr>
        <p:spPr>
          <a:xfrm>
            <a:off x="812782" y="2605794"/>
            <a:ext cx="304782" cy="304782"/>
          </a:xfrm>
          <a:custGeom>
            <a:avLst/>
            <a:gdLst/>
            <a:ahLst/>
            <a:cxnLst/>
            <a:rect l="l" t="t" r="r" b="b"/>
            <a:pathLst>
              <a:path w="304782" h="304782">
                <a:moveTo>
                  <a:pt x="152391" y="0"/>
                </a:moveTo>
                <a:lnTo>
                  <a:pt x="152391" y="0"/>
                </a:lnTo>
                <a:arcTo wR="152391" hR="152391" stAng="16200000" swAng="5400000"/>
                <a:lnTo>
                  <a:pt x="304782" y="152391"/>
                </a:lnTo>
                <a:arcTo wR="152391" hR="152391" stAng="0" swAng="5400000"/>
                <a:lnTo>
                  <a:pt x="152391" y="304782"/>
                </a:lnTo>
                <a:arcTo wR="152391" hR="152391" stAng="5400000" swAng="5400000"/>
                <a:lnTo>
                  <a:pt x="0" y="152391"/>
                </a:lnTo>
                <a:arcTo wR="152391" hR="152391" stAng="10800000" swAng="5400000"/>
                <a:close/>
              </a:path>
            </a:pathLst>
          </a:custGeom>
          <a:solidFill>
            <a:srgbClr val="E8843F"/>
          </a:solidFill>
          <a:ln/>
        </p:spPr>
        <p:txBody>
          <a:bodyPr wrap="square" lIns="0" tIns="0" rIns="0" bIns="0" rtlCol="0" anchor="t">
            <a:normAutofit/>
          </a:bodyPr>
          <a:lstStyle/>
          <a:p>
            <a:pPr marL="0" indent="0" algn="ctr">
              <a:lnSpc>
                <a:spcPts val="2405"/>
              </a:lnSpc>
              <a:buNone/>
            </a:pPr>
            <a:r>
              <a:rPr lang="en-US" sz="1300" b="1" dirty="0">
                <a:solidFill>
                  <a:srgbClr val="16212C"/>
                </a:solidFill>
                <a:latin typeface="IBM Plex Sans" pitchFamily="34" charset="0"/>
                <a:ea typeface="IBM Plex Sans" pitchFamily="34" charset="-122"/>
                <a:cs typeface="IBM Plex Sans" pitchFamily="34" charset="-120"/>
              </a:rPr>
              <a:t>2</a:t>
            </a:r>
            <a:endParaRPr lang="en-US" sz="1300" dirty="0"/>
          </a:p>
        </p:txBody>
      </p:sp>
      <p:sp>
        <p:nvSpPr>
          <p:cNvPr id="8" name="Text 6"/>
          <p:cNvSpPr/>
          <p:nvPr/>
        </p:nvSpPr>
        <p:spPr>
          <a:xfrm>
            <a:off x="1244564" y="2605794"/>
            <a:ext cx="3479564" cy="253964"/>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6212C"/>
                </a:solidFill>
                <a:latin typeface="IBM Plex Sans" pitchFamily="34" charset="0"/>
                <a:ea typeface="IBM Plex Sans" pitchFamily="34" charset="-122"/>
                <a:cs typeface="IBM Plex Sans" pitchFamily="34" charset="-120"/>
              </a:rPr>
              <a:t>Refine from fresh context</a:t>
            </a:r>
            <a:endParaRPr lang="en-US" sz="1500" dirty="0"/>
          </a:p>
        </p:txBody>
      </p:sp>
      <p:sp>
        <p:nvSpPr>
          <p:cNvPr id="9" name="Text 7"/>
          <p:cNvSpPr/>
          <p:nvPr/>
        </p:nvSpPr>
        <p:spPr>
          <a:xfrm>
            <a:off x="1244564" y="2872420"/>
            <a:ext cx="3479564" cy="487669"/>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D4A57"/>
                </a:solidFill>
                <a:latin typeface="IBM Plex Sans" pitchFamily="34" charset="0"/>
                <a:ea typeface="IBM Plex Sans" pitchFamily="34" charset="-122"/>
                <a:cs typeface="IBM Plex Sans" pitchFamily="34" charset="-120"/>
              </a:rPr>
              <a:t>Research + feedback + full draft, no chat history. Sonnet does the rewrite.</a:t>
            </a:r>
            <a:endParaRPr lang="en-US" sz="1300" dirty="0"/>
          </a:p>
        </p:txBody>
      </p:sp>
      <p:sp>
        <p:nvSpPr>
          <p:cNvPr id="10" name="Text 8"/>
          <p:cNvSpPr/>
          <p:nvPr/>
        </p:nvSpPr>
        <p:spPr>
          <a:xfrm>
            <a:off x="812782" y="3537868"/>
            <a:ext cx="304782" cy="304782"/>
          </a:xfrm>
          <a:custGeom>
            <a:avLst/>
            <a:gdLst/>
            <a:ahLst/>
            <a:cxnLst/>
            <a:rect l="l" t="t" r="r" b="b"/>
            <a:pathLst>
              <a:path w="304782" h="304782">
                <a:moveTo>
                  <a:pt x="152391" y="0"/>
                </a:moveTo>
                <a:lnTo>
                  <a:pt x="152391" y="0"/>
                </a:lnTo>
                <a:arcTo wR="152391" hR="152391" stAng="16200000" swAng="5400000"/>
                <a:lnTo>
                  <a:pt x="304782" y="152391"/>
                </a:lnTo>
                <a:arcTo wR="152391" hR="152391" stAng="0" swAng="5400000"/>
                <a:lnTo>
                  <a:pt x="152391" y="304782"/>
                </a:lnTo>
                <a:arcTo wR="152391" hR="152391" stAng="5400000" swAng="5400000"/>
                <a:lnTo>
                  <a:pt x="0" y="152391"/>
                </a:lnTo>
                <a:arcTo wR="152391" hR="152391" stAng="10800000" swAng="5400000"/>
                <a:close/>
              </a:path>
            </a:pathLst>
          </a:custGeom>
          <a:solidFill>
            <a:srgbClr val="E8843F"/>
          </a:solidFill>
          <a:ln/>
        </p:spPr>
        <p:txBody>
          <a:bodyPr wrap="square" lIns="0" tIns="0" rIns="0" bIns="0" rtlCol="0" anchor="t">
            <a:normAutofit/>
          </a:bodyPr>
          <a:lstStyle/>
          <a:p>
            <a:pPr marL="0" indent="0" algn="ctr">
              <a:lnSpc>
                <a:spcPts val="2405"/>
              </a:lnSpc>
              <a:buNone/>
            </a:pPr>
            <a:r>
              <a:rPr lang="en-US" sz="1300" b="1" dirty="0">
                <a:solidFill>
                  <a:srgbClr val="16212C"/>
                </a:solidFill>
                <a:latin typeface="IBM Plex Sans" pitchFamily="34" charset="0"/>
                <a:ea typeface="IBM Plex Sans" pitchFamily="34" charset="-122"/>
                <a:cs typeface="IBM Plex Sans" pitchFamily="34" charset="-120"/>
              </a:rPr>
              <a:t>3</a:t>
            </a:r>
            <a:endParaRPr lang="en-US" sz="1300" dirty="0"/>
          </a:p>
        </p:txBody>
      </p:sp>
      <p:sp>
        <p:nvSpPr>
          <p:cNvPr id="11" name="Text 9"/>
          <p:cNvSpPr/>
          <p:nvPr/>
        </p:nvSpPr>
        <p:spPr>
          <a:xfrm>
            <a:off x="1244564" y="3537868"/>
            <a:ext cx="3479564" cy="253964"/>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6212C"/>
                </a:solidFill>
                <a:latin typeface="IBM Plex Sans" pitchFamily="34" charset="0"/>
                <a:ea typeface="IBM Plex Sans" pitchFamily="34" charset="-122"/>
                <a:cs typeface="IBM Plex Sans" pitchFamily="34" charset="-120"/>
              </a:rPr>
              <a:t>Hard cap on cost</a:t>
            </a:r>
            <a:endParaRPr lang="en-US" sz="1500" dirty="0"/>
          </a:p>
        </p:txBody>
      </p:sp>
      <p:sp>
        <p:nvSpPr>
          <p:cNvPr id="12" name="Text 10"/>
          <p:cNvSpPr/>
          <p:nvPr/>
        </p:nvSpPr>
        <p:spPr>
          <a:xfrm>
            <a:off x="1244564" y="3804493"/>
            <a:ext cx="3479564" cy="487669"/>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D4A57"/>
                </a:solidFill>
                <a:latin typeface="IBM Plex Sans" pitchFamily="34" charset="0"/>
                <a:ea typeface="IBM Plex Sans" pitchFamily="34" charset="-122"/>
                <a:cs typeface="IBM Plex Sans" pitchFamily="34" charset="-120"/>
              </a:rPr>
              <a:t>MAX_REFINEMENTS bounds the loop whatever the scores.</a:t>
            </a:r>
            <a:endParaRPr lang="en-US" sz="1300" dirty="0"/>
          </a:p>
        </p:txBody>
      </p:sp>
      <p:sp>
        <p:nvSpPr>
          <p:cNvPr id="13" name="Shape 11"/>
          <p:cNvSpPr/>
          <p:nvPr/>
        </p:nvSpPr>
        <p:spPr>
          <a:xfrm>
            <a:off x="4927564" y="1673721"/>
            <a:ext cx="6451564" cy="3885451"/>
          </a:xfrm>
          <a:prstGeom prst="roundRect">
            <a:avLst>
              <a:gd name="adj" fmla="val 2615"/>
            </a:avLst>
          </a:prstGeom>
          <a:solidFill>
            <a:srgbClr val="16212C"/>
          </a:solidFill>
          <a:ln/>
        </p:spPr>
        <p:txBody>
          <a:bodyPr/>
          <a:lstStyle/>
          <a:p>
            <a:endParaRPr lang="en-CN"/>
          </a:p>
        </p:txBody>
      </p:sp>
      <p:sp>
        <p:nvSpPr>
          <p:cNvPr id="14" name="Text 12"/>
          <p:cNvSpPr/>
          <p:nvPr/>
        </p:nvSpPr>
        <p:spPr>
          <a:xfrm>
            <a:off x="5105364" y="1826121"/>
            <a:ext cx="6278842" cy="238693"/>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9AA9B8"/>
                </a:solidFill>
                <a:latin typeface="JetBrains Mono" pitchFamily="49" charset="0"/>
                <a:ea typeface="JetBrains Mono" pitchFamily="49" charset="-122"/>
                <a:cs typeface="JetBrains Mono" pitchFamily="49" charset="-120"/>
              </a:rPr>
              <a:t>01_evaluator_optimizer.py</a:t>
            </a:r>
            <a:endParaRPr lang="en-US" sz="1200" dirty="0"/>
          </a:p>
        </p:txBody>
      </p:sp>
      <p:sp>
        <p:nvSpPr>
          <p:cNvPr id="15" name="Text 13"/>
          <p:cNvSpPr/>
          <p:nvPr/>
        </p:nvSpPr>
        <p:spPr>
          <a:xfrm>
            <a:off x="5105364" y="2115604"/>
            <a:ext cx="6278842" cy="231098"/>
          </a:xfrm>
          <a:prstGeom prst="rect">
            <a:avLst/>
          </a:prstGeom>
          <a:noFill/>
          <a:ln/>
        </p:spPr>
        <p:txBody>
          <a:bodyPr wrap="none" lIns="0" tIns="0" rIns="0" bIns="0" rtlCol="0" anchor="t">
            <a:normAutofit/>
          </a:bodyPr>
          <a:lstStyle/>
          <a:p>
            <a:pPr marL="0" indent="0" algn="l">
              <a:lnSpc>
                <a:spcPts val="1620"/>
              </a:lnSpc>
              <a:buNone/>
            </a:pPr>
            <a:r>
              <a:rPr lang="en-US" sz="1200" dirty="0">
                <a:solidFill>
                  <a:srgbClr val="7C8FA3"/>
                </a:solidFill>
                <a:latin typeface="JetBrains Mono" pitchFamily="49" charset="0"/>
                <a:ea typeface="JetBrains Mono" pitchFamily="49" charset="-122"/>
                <a:cs typeface="JetBrains Mono" pitchFamily="49" charset="-120"/>
              </a:rPr>
              <a:t>203</a:t>
            </a:r>
            <a:r>
              <a:rPr lang="en-US" sz="1200" dirty="0">
                <a:solidFill>
                  <a:srgbClr val="D6DDE5"/>
                </a:solidFill>
                <a:latin typeface="JetBrains Mono" pitchFamily="49" charset="0"/>
                <a:ea typeface="JetBrains Mono" pitchFamily="49" charset="-122"/>
                <a:cs typeface="JetBrains Mono" pitchFamily="49" charset="-120"/>
              </a:rPr>
              <a:t> def _refine(self, topic, draft, research, evaluation):</a:t>
            </a:r>
            <a:endParaRPr lang="en-US" sz="1200" dirty="0"/>
          </a:p>
        </p:txBody>
      </p:sp>
      <p:sp>
        <p:nvSpPr>
          <p:cNvPr id="16" name="Text 14"/>
          <p:cNvSpPr/>
          <p:nvPr/>
        </p:nvSpPr>
        <p:spPr>
          <a:xfrm>
            <a:off x="4927564" y="2321309"/>
            <a:ext cx="6451564" cy="205698"/>
          </a:xfrm>
          <a:prstGeom prst="rect">
            <a:avLst/>
          </a:prstGeom>
          <a:solidFill>
            <a:srgbClr val="3A2B20"/>
          </a:solidFill>
          <a:ln/>
        </p:spPr>
        <p:txBody>
          <a:bodyPr wrap="none" lIns="177223" tIns="0" rIns="0" bIns="0" rtlCol="0" anchor="t">
            <a:normAutofit/>
          </a:bodyPr>
          <a:lstStyle/>
          <a:p>
            <a:pPr marL="0" indent="0" algn="l">
              <a:lnSpc>
                <a:spcPts val="1620"/>
              </a:lnSpc>
              <a:buNone/>
            </a:pPr>
            <a:r>
              <a:rPr lang="en-US" sz="1200" dirty="0">
                <a:solidFill>
                  <a:srgbClr val="7C8FA3"/>
                </a:solidFill>
                <a:latin typeface="JetBrains Mono" pitchFamily="49" charset="0"/>
                <a:ea typeface="JetBrains Mono" pitchFamily="49" charset="-122"/>
                <a:cs typeface="JetBrains Mono" pitchFamily="49" charset="-120"/>
              </a:rPr>
              <a:t>205</a:t>
            </a:r>
            <a:r>
              <a:rPr lang="en-US" sz="1200" dirty="0">
                <a:solidFill>
                  <a:srgbClr val="D6DDE5"/>
                </a:solidFill>
                <a:latin typeface="JetBrains Mono" pitchFamily="49" charset="0"/>
                <a:ea typeface="JetBrains Mono" pitchFamily="49" charset="-122"/>
                <a:cs typeface="JetBrains Mono" pitchFamily="49" charset="-120"/>
              </a:rPr>
              <a:t>   feedback = f"Issues: {…['issues']}\n…" </a:t>
            </a:r>
            <a:r>
              <a:rPr lang="en-US" sz="1200" b="1" dirty="0">
                <a:solidFill>
                  <a:srgbClr val="F2A46B"/>
                </a:solidFill>
                <a:latin typeface="JetBrains Mono" pitchFamily="49" charset="0"/>
                <a:ea typeface="JetBrains Mono" pitchFamily="49" charset="-122"/>
                <a:cs typeface="JetBrains Mono" pitchFamily="49" charset="-120"/>
              </a:rPr>
              <a:t>← 2</a:t>
            </a:r>
            <a:endParaRPr lang="en-US" sz="1200" dirty="0"/>
          </a:p>
        </p:txBody>
      </p:sp>
      <p:sp>
        <p:nvSpPr>
          <p:cNvPr id="17" name="Shape 15"/>
          <p:cNvSpPr/>
          <p:nvPr/>
        </p:nvSpPr>
        <p:spPr>
          <a:xfrm>
            <a:off x="4946614" y="2321309"/>
            <a:ext cx="0" cy="205698"/>
          </a:xfrm>
          <a:prstGeom prst="line">
            <a:avLst/>
          </a:prstGeom>
          <a:noFill/>
          <a:ln w="38100">
            <a:solidFill>
              <a:srgbClr val="E8843F"/>
            </a:solidFill>
            <a:prstDash val="solid"/>
          </a:ln>
        </p:spPr>
        <p:txBody>
          <a:bodyPr/>
          <a:lstStyle/>
          <a:p>
            <a:endParaRPr lang="en-CN"/>
          </a:p>
        </p:txBody>
      </p:sp>
      <p:sp>
        <p:nvSpPr>
          <p:cNvPr id="18" name="Text 16"/>
          <p:cNvSpPr/>
          <p:nvPr/>
        </p:nvSpPr>
        <p:spPr>
          <a:xfrm>
            <a:off x="4927564" y="2527002"/>
            <a:ext cx="6451564" cy="205698"/>
          </a:xfrm>
          <a:prstGeom prst="rect">
            <a:avLst/>
          </a:prstGeom>
          <a:solidFill>
            <a:srgbClr val="3A2B20"/>
          </a:solidFill>
          <a:ln/>
        </p:spPr>
        <p:txBody>
          <a:bodyPr wrap="none" lIns="177223" tIns="0" rIns="0" bIns="0" rtlCol="0" anchor="t">
            <a:normAutofit/>
          </a:bodyPr>
          <a:lstStyle/>
          <a:p>
            <a:pPr marL="0" indent="0" algn="l">
              <a:lnSpc>
                <a:spcPts val="1620"/>
              </a:lnSpc>
              <a:buNone/>
            </a:pPr>
            <a:r>
              <a:rPr lang="en-US" sz="1200" dirty="0">
                <a:solidFill>
                  <a:srgbClr val="7C8FA3"/>
                </a:solidFill>
                <a:latin typeface="JetBrains Mono" pitchFamily="49" charset="0"/>
                <a:ea typeface="JetBrains Mono" pitchFamily="49" charset="-122"/>
                <a:cs typeface="JetBrains Mono" pitchFamily="49" charset="-120"/>
              </a:rPr>
              <a:t>209</a:t>
            </a:r>
            <a:r>
              <a:rPr lang="en-US" sz="1200" dirty="0">
                <a:solidFill>
                  <a:srgbClr val="D6DDE5"/>
                </a:solidFill>
                <a:latin typeface="JetBrains Mono" pitchFamily="49" charset="0"/>
                <a:ea typeface="JetBrains Mono" pitchFamily="49" charset="-122"/>
                <a:cs typeface="JetBrains Mono" pitchFamily="49" charset="-120"/>
              </a:rPr>
              <a:t>   user_msg = f"…{research}…{feedback}…{draft}"</a:t>
            </a:r>
            <a:endParaRPr lang="en-US" sz="1200" dirty="0"/>
          </a:p>
        </p:txBody>
      </p:sp>
      <p:sp>
        <p:nvSpPr>
          <p:cNvPr id="19" name="Shape 17"/>
          <p:cNvSpPr/>
          <p:nvPr/>
        </p:nvSpPr>
        <p:spPr>
          <a:xfrm>
            <a:off x="4946614" y="2527002"/>
            <a:ext cx="0" cy="205698"/>
          </a:xfrm>
          <a:prstGeom prst="line">
            <a:avLst/>
          </a:prstGeom>
          <a:noFill/>
          <a:ln w="38100">
            <a:solidFill>
              <a:srgbClr val="E8843F"/>
            </a:solidFill>
            <a:prstDash val="solid"/>
          </a:ln>
        </p:spPr>
        <p:txBody>
          <a:bodyPr/>
          <a:lstStyle/>
          <a:p>
            <a:endParaRPr lang="en-CN"/>
          </a:p>
        </p:txBody>
      </p:sp>
      <p:sp>
        <p:nvSpPr>
          <p:cNvPr id="20" name="Text 18"/>
          <p:cNvSpPr/>
          <p:nvPr/>
        </p:nvSpPr>
        <p:spPr>
          <a:xfrm>
            <a:off x="4927564" y="2732708"/>
            <a:ext cx="6451564" cy="205698"/>
          </a:xfrm>
          <a:prstGeom prst="rect">
            <a:avLst/>
          </a:prstGeom>
          <a:solidFill>
            <a:srgbClr val="3A2B20"/>
          </a:solidFill>
          <a:ln/>
        </p:spPr>
        <p:txBody>
          <a:bodyPr wrap="none" lIns="177223" tIns="0" rIns="0" bIns="0" rtlCol="0" anchor="t">
            <a:normAutofit/>
          </a:bodyPr>
          <a:lstStyle/>
          <a:p>
            <a:pPr marL="0" indent="0" algn="l">
              <a:lnSpc>
                <a:spcPts val="1620"/>
              </a:lnSpc>
              <a:buNone/>
            </a:pPr>
            <a:r>
              <a:rPr lang="en-US" sz="1200" dirty="0">
                <a:solidFill>
                  <a:srgbClr val="7C8FA3"/>
                </a:solidFill>
                <a:latin typeface="JetBrains Mono" pitchFamily="49" charset="0"/>
                <a:ea typeface="JetBrains Mono" pitchFamily="49" charset="-122"/>
                <a:cs typeface="JetBrains Mono" pitchFamily="49" charset="-120"/>
              </a:rPr>
              <a:t>216</a:t>
            </a:r>
            <a:r>
              <a:rPr lang="en-US" sz="1200" dirty="0">
                <a:solidFill>
                  <a:srgbClr val="D6DDE5"/>
                </a:solidFill>
                <a:latin typeface="JetBrains Mono" pitchFamily="49" charset="0"/>
                <a:ea typeface="JetBrains Mono" pitchFamily="49" charset="-122"/>
                <a:cs typeface="JetBrains Mono" pitchFamily="49" charset="-120"/>
              </a:rPr>
              <a:t>   return self._call_llm_text(REFINER_SYSTEM_PROMPT, …)</a:t>
            </a:r>
            <a:endParaRPr lang="en-US" sz="1200" dirty="0"/>
          </a:p>
        </p:txBody>
      </p:sp>
      <p:sp>
        <p:nvSpPr>
          <p:cNvPr id="21" name="Shape 19"/>
          <p:cNvSpPr/>
          <p:nvPr/>
        </p:nvSpPr>
        <p:spPr>
          <a:xfrm>
            <a:off x="4946614" y="2732708"/>
            <a:ext cx="0" cy="205698"/>
          </a:xfrm>
          <a:prstGeom prst="line">
            <a:avLst/>
          </a:prstGeom>
          <a:noFill/>
          <a:ln w="38100">
            <a:solidFill>
              <a:srgbClr val="E8843F"/>
            </a:solidFill>
            <a:prstDash val="solid"/>
          </a:ln>
        </p:spPr>
        <p:txBody>
          <a:bodyPr/>
          <a:lstStyle/>
          <a:p>
            <a:endParaRPr lang="en-CN"/>
          </a:p>
        </p:txBody>
      </p:sp>
      <p:sp>
        <p:nvSpPr>
          <p:cNvPr id="22" name="Text 20"/>
          <p:cNvSpPr/>
          <p:nvPr/>
        </p:nvSpPr>
        <p:spPr>
          <a:xfrm>
            <a:off x="5105364" y="2938400"/>
            <a:ext cx="6278842" cy="231098"/>
          </a:xfrm>
          <a:prstGeom prst="rect">
            <a:avLst/>
          </a:prstGeom>
          <a:noFill/>
          <a:ln/>
        </p:spPr>
        <p:txBody>
          <a:bodyPr wrap="none" lIns="0" tIns="0" rIns="0" bIns="0" rtlCol="0" anchor="t">
            <a:normAutofit/>
          </a:bodyPr>
          <a:lstStyle/>
          <a:p>
            <a:pPr marL="0" indent="0" algn="l">
              <a:lnSpc>
                <a:spcPts val="1620"/>
              </a:lnSpc>
              <a:buNone/>
            </a:pPr>
            <a:r>
              <a:rPr lang="en-US" sz="1200" dirty="0">
                <a:solidFill>
                  <a:srgbClr val="7C8FA3"/>
                </a:solidFill>
                <a:latin typeface="JetBrains Mono" pitchFamily="49" charset="0"/>
                <a:ea typeface="JetBrains Mono" pitchFamily="49" charset="-122"/>
                <a:cs typeface="JetBrains Mono" pitchFamily="49" charset="-120"/>
              </a:rPr>
              <a:t>    ⋮ </a:t>
            </a:r>
            <a:r>
              <a:rPr lang="en-US" sz="1200" dirty="0">
                <a:solidFill>
                  <a:srgbClr val="8798AA"/>
                </a:solidFill>
                <a:latin typeface="JetBrains Mono" pitchFamily="49" charset="0"/>
                <a:ea typeface="JetBrains Mono" pitchFamily="49" charset="-122"/>
                <a:cs typeface="JetBrains Mono" pitchFamily="49" charset="-120"/>
              </a:rPr>
              <a:t># run()</a:t>
            </a:r>
            <a:endParaRPr lang="en-US" sz="1200" dirty="0"/>
          </a:p>
        </p:txBody>
      </p:sp>
      <p:sp>
        <p:nvSpPr>
          <p:cNvPr id="23" name="Text 21"/>
          <p:cNvSpPr/>
          <p:nvPr/>
        </p:nvSpPr>
        <p:spPr>
          <a:xfrm>
            <a:off x="4927564" y="3144106"/>
            <a:ext cx="6451564" cy="205698"/>
          </a:xfrm>
          <a:prstGeom prst="rect">
            <a:avLst/>
          </a:prstGeom>
          <a:solidFill>
            <a:srgbClr val="3A2B20"/>
          </a:solidFill>
          <a:ln/>
        </p:spPr>
        <p:txBody>
          <a:bodyPr wrap="none" lIns="177223" tIns="0" rIns="0" bIns="0" rtlCol="0" anchor="t">
            <a:normAutofit/>
          </a:bodyPr>
          <a:lstStyle/>
          <a:p>
            <a:pPr marL="0" indent="0" algn="l">
              <a:lnSpc>
                <a:spcPts val="1620"/>
              </a:lnSpc>
              <a:buNone/>
            </a:pPr>
            <a:r>
              <a:rPr lang="en-US" sz="1200" dirty="0">
                <a:solidFill>
                  <a:srgbClr val="7C8FA3"/>
                </a:solidFill>
                <a:latin typeface="JetBrains Mono" pitchFamily="49" charset="0"/>
                <a:ea typeface="JetBrains Mono" pitchFamily="49" charset="-122"/>
                <a:cs typeface="JetBrains Mono" pitchFamily="49" charset="-120"/>
              </a:rPr>
              <a:t>254</a:t>
            </a:r>
            <a:r>
              <a:rPr lang="en-US" sz="1200" dirty="0">
                <a:solidFill>
                  <a:srgbClr val="D6DDE5"/>
                </a:solidFill>
                <a:latin typeface="JetBrains Mono" pitchFamily="49" charset="0"/>
                <a:ea typeface="JetBrains Mono" pitchFamily="49" charset="-122"/>
                <a:cs typeface="JetBrains Mono" pitchFamily="49" charset="-120"/>
              </a:rPr>
              <a:t> for iteration in range(1, MAX_REFINEMENTS + 1): </a:t>
            </a:r>
            <a:r>
              <a:rPr lang="en-US" sz="1200" b="1" dirty="0">
                <a:solidFill>
                  <a:srgbClr val="F2A46B"/>
                </a:solidFill>
                <a:latin typeface="JetBrains Mono" pitchFamily="49" charset="0"/>
                <a:ea typeface="JetBrains Mono" pitchFamily="49" charset="-122"/>
                <a:cs typeface="JetBrains Mono" pitchFamily="49" charset="-120"/>
              </a:rPr>
              <a:t>← 3</a:t>
            </a:r>
            <a:endParaRPr lang="en-US" sz="1200" dirty="0"/>
          </a:p>
        </p:txBody>
      </p:sp>
      <p:sp>
        <p:nvSpPr>
          <p:cNvPr id="24" name="Shape 22"/>
          <p:cNvSpPr/>
          <p:nvPr/>
        </p:nvSpPr>
        <p:spPr>
          <a:xfrm>
            <a:off x="4946614" y="3144106"/>
            <a:ext cx="0" cy="205698"/>
          </a:xfrm>
          <a:prstGeom prst="line">
            <a:avLst/>
          </a:prstGeom>
          <a:noFill/>
          <a:ln w="38100">
            <a:solidFill>
              <a:srgbClr val="E8843F"/>
            </a:solidFill>
            <a:prstDash val="solid"/>
          </a:ln>
        </p:spPr>
        <p:txBody>
          <a:bodyPr/>
          <a:lstStyle/>
          <a:p>
            <a:endParaRPr lang="en-CN"/>
          </a:p>
        </p:txBody>
      </p:sp>
      <p:sp>
        <p:nvSpPr>
          <p:cNvPr id="25" name="Text 23"/>
          <p:cNvSpPr/>
          <p:nvPr/>
        </p:nvSpPr>
        <p:spPr>
          <a:xfrm>
            <a:off x="5105364" y="3349799"/>
            <a:ext cx="6278842" cy="231098"/>
          </a:xfrm>
          <a:prstGeom prst="rect">
            <a:avLst/>
          </a:prstGeom>
          <a:noFill/>
          <a:ln/>
        </p:spPr>
        <p:txBody>
          <a:bodyPr wrap="none" lIns="0" tIns="0" rIns="0" bIns="0" rtlCol="0" anchor="t">
            <a:normAutofit/>
          </a:bodyPr>
          <a:lstStyle/>
          <a:p>
            <a:pPr marL="0" indent="0" algn="l">
              <a:lnSpc>
                <a:spcPts val="1620"/>
              </a:lnSpc>
              <a:buNone/>
            </a:pPr>
            <a:r>
              <a:rPr lang="en-US" sz="1200" dirty="0">
                <a:solidFill>
                  <a:srgbClr val="7C8FA3"/>
                </a:solidFill>
                <a:latin typeface="JetBrains Mono" pitchFamily="49" charset="0"/>
                <a:ea typeface="JetBrains Mono" pitchFamily="49" charset="-122"/>
                <a:cs typeface="JetBrains Mono" pitchFamily="49" charset="-120"/>
              </a:rPr>
              <a:t>256</a:t>
            </a:r>
            <a:r>
              <a:rPr lang="en-US" sz="1200" dirty="0">
                <a:solidFill>
                  <a:srgbClr val="D6DDE5"/>
                </a:solidFill>
                <a:latin typeface="JetBrains Mono" pitchFamily="49" charset="0"/>
                <a:ea typeface="JetBrains Mono" pitchFamily="49" charset="-122"/>
                <a:cs typeface="JetBrains Mono" pitchFamily="49" charset="-120"/>
              </a:rPr>
              <a:t>   evaluation = self._evaluate(draft, topic)</a:t>
            </a:r>
            <a:endParaRPr lang="en-US" sz="1200" dirty="0"/>
          </a:p>
        </p:txBody>
      </p:sp>
      <p:sp>
        <p:nvSpPr>
          <p:cNvPr id="26" name="Text 24"/>
          <p:cNvSpPr/>
          <p:nvPr/>
        </p:nvSpPr>
        <p:spPr>
          <a:xfrm>
            <a:off x="5105364" y="3555504"/>
            <a:ext cx="6278842" cy="231098"/>
          </a:xfrm>
          <a:prstGeom prst="rect">
            <a:avLst/>
          </a:prstGeom>
          <a:noFill/>
          <a:ln/>
        </p:spPr>
        <p:txBody>
          <a:bodyPr wrap="none" lIns="0" tIns="0" rIns="0" bIns="0" rtlCol="0" anchor="t">
            <a:normAutofit/>
          </a:bodyPr>
          <a:lstStyle/>
          <a:p>
            <a:pPr marL="0" indent="0" algn="l">
              <a:lnSpc>
                <a:spcPts val="1620"/>
              </a:lnSpc>
              <a:buNone/>
            </a:pPr>
            <a:r>
              <a:rPr lang="en-US" sz="1200" dirty="0">
                <a:solidFill>
                  <a:srgbClr val="7C8FA3"/>
                </a:solidFill>
                <a:latin typeface="JetBrains Mono" pitchFamily="49" charset="0"/>
                <a:ea typeface="JetBrains Mono" pitchFamily="49" charset="-122"/>
                <a:cs typeface="JetBrains Mono" pitchFamily="49" charset="-120"/>
              </a:rPr>
              <a:t>257</a:t>
            </a:r>
            <a:r>
              <a:rPr lang="en-US" sz="1200" dirty="0">
                <a:solidFill>
                  <a:srgbClr val="D6DDE5"/>
                </a:solidFill>
                <a:latin typeface="JetBrains Mono" pitchFamily="49" charset="0"/>
                <a:ea typeface="JetBrains Mono" pitchFamily="49" charset="-122"/>
                <a:cs typeface="JetBrains Mono" pitchFamily="49" charset="-120"/>
              </a:rPr>
              <a:t>   scores, avg_score = _extract_scores(evaluation)</a:t>
            </a:r>
            <a:endParaRPr lang="en-US" sz="1200" dirty="0"/>
          </a:p>
        </p:txBody>
      </p:sp>
      <p:sp>
        <p:nvSpPr>
          <p:cNvPr id="27" name="Text 25"/>
          <p:cNvSpPr/>
          <p:nvPr/>
        </p:nvSpPr>
        <p:spPr>
          <a:xfrm>
            <a:off x="4927564" y="3761197"/>
            <a:ext cx="6451564" cy="205698"/>
          </a:xfrm>
          <a:prstGeom prst="rect">
            <a:avLst/>
          </a:prstGeom>
          <a:solidFill>
            <a:srgbClr val="3A2B20"/>
          </a:solidFill>
          <a:ln/>
        </p:spPr>
        <p:txBody>
          <a:bodyPr wrap="none" lIns="177223" tIns="0" rIns="0" bIns="0" rtlCol="0" anchor="t">
            <a:normAutofit/>
          </a:bodyPr>
          <a:lstStyle/>
          <a:p>
            <a:pPr marL="0" indent="0" algn="l">
              <a:lnSpc>
                <a:spcPts val="1620"/>
              </a:lnSpc>
              <a:buNone/>
            </a:pPr>
            <a:r>
              <a:rPr lang="en-US" sz="1200" dirty="0">
                <a:solidFill>
                  <a:srgbClr val="7C8FA3"/>
                </a:solidFill>
                <a:latin typeface="JetBrains Mono" pitchFamily="49" charset="0"/>
                <a:ea typeface="JetBrains Mono" pitchFamily="49" charset="-122"/>
                <a:cs typeface="JetBrains Mono" pitchFamily="49" charset="-120"/>
              </a:rPr>
              <a:t>271</a:t>
            </a:r>
            <a:r>
              <a:rPr lang="en-US" sz="1200" dirty="0">
                <a:solidFill>
                  <a:srgbClr val="D6DDE5"/>
                </a:solidFill>
                <a:latin typeface="JetBrains Mono" pitchFamily="49" charset="0"/>
                <a:ea typeface="JetBrains Mono" pitchFamily="49" charset="-122"/>
                <a:cs typeface="JetBrains Mono" pitchFamily="49" charset="-120"/>
              </a:rPr>
              <a:t>   if avg_score &gt;= SCORE_THRESHOLD: </a:t>
            </a:r>
            <a:r>
              <a:rPr lang="en-US" sz="1200" b="1" dirty="0">
                <a:solidFill>
                  <a:srgbClr val="F2A46B"/>
                </a:solidFill>
                <a:latin typeface="JetBrains Mono" pitchFamily="49" charset="0"/>
                <a:ea typeface="JetBrains Mono" pitchFamily="49" charset="-122"/>
                <a:cs typeface="JetBrains Mono" pitchFamily="49" charset="-120"/>
              </a:rPr>
              <a:t>← 1</a:t>
            </a:r>
            <a:endParaRPr lang="en-US" sz="1200" dirty="0"/>
          </a:p>
        </p:txBody>
      </p:sp>
      <p:sp>
        <p:nvSpPr>
          <p:cNvPr id="28" name="Shape 26"/>
          <p:cNvSpPr/>
          <p:nvPr/>
        </p:nvSpPr>
        <p:spPr>
          <a:xfrm>
            <a:off x="4946614" y="3761197"/>
            <a:ext cx="0" cy="205698"/>
          </a:xfrm>
          <a:prstGeom prst="line">
            <a:avLst/>
          </a:prstGeom>
          <a:noFill/>
          <a:ln w="38100">
            <a:solidFill>
              <a:srgbClr val="E8843F"/>
            </a:solidFill>
            <a:prstDash val="solid"/>
          </a:ln>
        </p:spPr>
        <p:txBody>
          <a:bodyPr/>
          <a:lstStyle/>
          <a:p>
            <a:endParaRPr lang="en-CN"/>
          </a:p>
        </p:txBody>
      </p:sp>
      <p:sp>
        <p:nvSpPr>
          <p:cNvPr id="29" name="Text 27"/>
          <p:cNvSpPr/>
          <p:nvPr/>
        </p:nvSpPr>
        <p:spPr>
          <a:xfrm>
            <a:off x="4927564" y="3966902"/>
            <a:ext cx="6451564" cy="205698"/>
          </a:xfrm>
          <a:prstGeom prst="rect">
            <a:avLst/>
          </a:prstGeom>
          <a:solidFill>
            <a:srgbClr val="3A2B20"/>
          </a:solidFill>
          <a:ln/>
        </p:spPr>
        <p:txBody>
          <a:bodyPr wrap="none" lIns="177223" tIns="0" rIns="0" bIns="0" rtlCol="0" anchor="t">
            <a:normAutofit/>
          </a:bodyPr>
          <a:lstStyle/>
          <a:p>
            <a:pPr marL="0" indent="0" algn="l">
              <a:lnSpc>
                <a:spcPts val="1620"/>
              </a:lnSpc>
              <a:buNone/>
            </a:pPr>
            <a:r>
              <a:rPr lang="en-US" sz="1200" dirty="0">
                <a:solidFill>
                  <a:srgbClr val="7C8FA3"/>
                </a:solidFill>
                <a:latin typeface="JetBrains Mono" pitchFamily="49" charset="0"/>
                <a:ea typeface="JetBrains Mono" pitchFamily="49" charset="-122"/>
                <a:cs typeface="JetBrains Mono" pitchFamily="49" charset="-120"/>
              </a:rPr>
              <a:t>272</a:t>
            </a:r>
            <a:r>
              <a:rPr lang="en-US" sz="1200" dirty="0">
                <a:solidFill>
                  <a:srgbClr val="D6DDE5"/>
                </a:solidFill>
                <a:latin typeface="JetBrains Mono" pitchFamily="49" charset="0"/>
                <a:ea typeface="JetBrains Mono" pitchFamily="49" charset="-122"/>
                <a:cs typeface="JetBrains Mono" pitchFamily="49" charset="-120"/>
              </a:rPr>
              <a:t>     self._notify("threshold_met", {"avg": avg_score})</a:t>
            </a:r>
            <a:endParaRPr lang="en-US" sz="1200" dirty="0"/>
          </a:p>
        </p:txBody>
      </p:sp>
      <p:sp>
        <p:nvSpPr>
          <p:cNvPr id="30" name="Shape 28"/>
          <p:cNvSpPr/>
          <p:nvPr/>
        </p:nvSpPr>
        <p:spPr>
          <a:xfrm>
            <a:off x="4946614" y="3966902"/>
            <a:ext cx="0" cy="205698"/>
          </a:xfrm>
          <a:prstGeom prst="line">
            <a:avLst/>
          </a:prstGeom>
          <a:noFill/>
          <a:ln w="38100">
            <a:solidFill>
              <a:srgbClr val="E8843F"/>
            </a:solidFill>
            <a:prstDash val="solid"/>
          </a:ln>
        </p:spPr>
        <p:txBody>
          <a:bodyPr/>
          <a:lstStyle/>
          <a:p>
            <a:endParaRPr lang="en-CN"/>
          </a:p>
        </p:txBody>
      </p:sp>
      <p:sp>
        <p:nvSpPr>
          <p:cNvPr id="31" name="Text 29"/>
          <p:cNvSpPr/>
          <p:nvPr/>
        </p:nvSpPr>
        <p:spPr>
          <a:xfrm>
            <a:off x="4927564" y="4172595"/>
            <a:ext cx="6451564" cy="205698"/>
          </a:xfrm>
          <a:prstGeom prst="rect">
            <a:avLst/>
          </a:prstGeom>
          <a:solidFill>
            <a:srgbClr val="3A2B20"/>
          </a:solidFill>
          <a:ln/>
        </p:spPr>
        <p:txBody>
          <a:bodyPr wrap="none" lIns="177223" tIns="0" rIns="0" bIns="0" rtlCol="0" anchor="t">
            <a:normAutofit/>
          </a:bodyPr>
          <a:lstStyle/>
          <a:p>
            <a:pPr marL="0" indent="0" algn="l">
              <a:lnSpc>
                <a:spcPts val="1620"/>
              </a:lnSpc>
              <a:buNone/>
            </a:pPr>
            <a:r>
              <a:rPr lang="en-US" sz="1200" dirty="0">
                <a:solidFill>
                  <a:srgbClr val="7C8FA3"/>
                </a:solidFill>
                <a:latin typeface="JetBrains Mono" pitchFamily="49" charset="0"/>
                <a:ea typeface="JetBrains Mono" pitchFamily="49" charset="-122"/>
                <a:cs typeface="JetBrains Mono" pitchFamily="49" charset="-120"/>
              </a:rPr>
              <a:t>273</a:t>
            </a:r>
            <a:r>
              <a:rPr lang="en-US" sz="1200" dirty="0">
                <a:solidFill>
                  <a:srgbClr val="D6DDE5"/>
                </a:solidFill>
                <a:latin typeface="JetBrains Mono" pitchFamily="49" charset="0"/>
                <a:ea typeface="JetBrains Mono" pitchFamily="49" charset="-122"/>
                <a:cs typeface="JetBrains Mono" pitchFamily="49" charset="-120"/>
              </a:rPr>
              <a:t>     break</a:t>
            </a:r>
            <a:endParaRPr lang="en-US" sz="1200" dirty="0"/>
          </a:p>
        </p:txBody>
      </p:sp>
      <p:sp>
        <p:nvSpPr>
          <p:cNvPr id="32" name="Shape 30"/>
          <p:cNvSpPr/>
          <p:nvPr/>
        </p:nvSpPr>
        <p:spPr>
          <a:xfrm>
            <a:off x="4946614" y="4172595"/>
            <a:ext cx="0" cy="205698"/>
          </a:xfrm>
          <a:prstGeom prst="line">
            <a:avLst/>
          </a:prstGeom>
          <a:noFill/>
          <a:ln w="38100">
            <a:solidFill>
              <a:srgbClr val="E8843F"/>
            </a:solidFill>
            <a:prstDash val="solid"/>
          </a:ln>
        </p:spPr>
        <p:txBody>
          <a:bodyPr/>
          <a:lstStyle/>
          <a:p>
            <a:endParaRPr lang="en-CN"/>
          </a:p>
        </p:txBody>
      </p:sp>
      <p:sp>
        <p:nvSpPr>
          <p:cNvPr id="33" name="Text 31"/>
          <p:cNvSpPr/>
          <p:nvPr/>
        </p:nvSpPr>
        <p:spPr>
          <a:xfrm>
            <a:off x="5105364" y="4378288"/>
            <a:ext cx="6278842" cy="231098"/>
          </a:xfrm>
          <a:prstGeom prst="rect">
            <a:avLst/>
          </a:prstGeom>
          <a:noFill/>
          <a:ln/>
        </p:spPr>
        <p:txBody>
          <a:bodyPr wrap="none" lIns="0" tIns="0" rIns="0" bIns="0" rtlCol="0" anchor="t">
            <a:normAutofit/>
          </a:bodyPr>
          <a:lstStyle/>
          <a:p>
            <a:pPr marL="0" indent="0" algn="l">
              <a:lnSpc>
                <a:spcPts val="1620"/>
              </a:lnSpc>
              <a:buNone/>
            </a:pPr>
            <a:r>
              <a:rPr lang="en-US" sz="1200" dirty="0">
                <a:solidFill>
                  <a:srgbClr val="7C8FA3"/>
                </a:solidFill>
                <a:latin typeface="JetBrains Mono" pitchFamily="49" charset="0"/>
                <a:ea typeface="JetBrains Mono" pitchFamily="49" charset="-122"/>
                <a:cs typeface="JetBrains Mono" pitchFamily="49" charset="-120"/>
              </a:rPr>
              <a:t>275</a:t>
            </a:r>
            <a:r>
              <a:rPr lang="en-US" sz="1200" dirty="0">
                <a:solidFill>
                  <a:srgbClr val="D6DDE5"/>
                </a:solidFill>
                <a:latin typeface="JetBrains Mono" pitchFamily="49" charset="0"/>
                <a:ea typeface="JetBrains Mono" pitchFamily="49" charset="-122"/>
                <a:cs typeface="JetBrains Mono" pitchFamily="49" charset="-120"/>
              </a:rPr>
              <a:t>   if iteration &lt; MAX_REFINEMENTS:</a:t>
            </a:r>
            <a:endParaRPr lang="en-US" sz="1200" dirty="0"/>
          </a:p>
        </p:txBody>
      </p:sp>
      <p:sp>
        <p:nvSpPr>
          <p:cNvPr id="34" name="Text 32"/>
          <p:cNvSpPr/>
          <p:nvPr/>
        </p:nvSpPr>
        <p:spPr>
          <a:xfrm>
            <a:off x="4927564" y="4583993"/>
            <a:ext cx="6451564" cy="205698"/>
          </a:xfrm>
          <a:prstGeom prst="rect">
            <a:avLst/>
          </a:prstGeom>
          <a:solidFill>
            <a:srgbClr val="3A2B20"/>
          </a:solidFill>
          <a:ln/>
        </p:spPr>
        <p:txBody>
          <a:bodyPr wrap="none" lIns="177223" tIns="0" rIns="0" bIns="0" rtlCol="0" anchor="t">
            <a:normAutofit/>
          </a:bodyPr>
          <a:lstStyle/>
          <a:p>
            <a:pPr marL="0" indent="0" algn="l">
              <a:lnSpc>
                <a:spcPts val="1620"/>
              </a:lnSpc>
              <a:buNone/>
            </a:pPr>
            <a:r>
              <a:rPr lang="en-US" sz="1200" dirty="0">
                <a:solidFill>
                  <a:srgbClr val="7C8FA3"/>
                </a:solidFill>
                <a:latin typeface="JetBrains Mono" pitchFamily="49" charset="0"/>
                <a:ea typeface="JetBrains Mono" pitchFamily="49" charset="-122"/>
                <a:cs typeface="JetBrains Mono" pitchFamily="49" charset="-120"/>
              </a:rPr>
              <a:t>277</a:t>
            </a:r>
            <a:r>
              <a:rPr lang="en-US" sz="1200" dirty="0">
                <a:solidFill>
                  <a:srgbClr val="D6DDE5"/>
                </a:solidFill>
                <a:latin typeface="JetBrains Mono" pitchFamily="49" charset="0"/>
                <a:ea typeface="JetBrains Mono" pitchFamily="49" charset="-122"/>
                <a:cs typeface="JetBrains Mono" pitchFamily="49" charset="-120"/>
              </a:rPr>
              <a:t>     draft = self._refine( </a:t>
            </a:r>
            <a:r>
              <a:rPr lang="en-US" sz="1200" b="1" dirty="0">
                <a:solidFill>
                  <a:srgbClr val="F2A46B"/>
                </a:solidFill>
                <a:latin typeface="JetBrains Mono" pitchFamily="49" charset="0"/>
                <a:ea typeface="JetBrains Mono" pitchFamily="49" charset="-122"/>
                <a:cs typeface="JetBrains Mono" pitchFamily="49" charset="-120"/>
              </a:rPr>
              <a:t>← 2</a:t>
            </a:r>
            <a:endParaRPr lang="en-US" sz="1200" dirty="0"/>
          </a:p>
        </p:txBody>
      </p:sp>
      <p:sp>
        <p:nvSpPr>
          <p:cNvPr id="35" name="Shape 33"/>
          <p:cNvSpPr/>
          <p:nvPr/>
        </p:nvSpPr>
        <p:spPr>
          <a:xfrm>
            <a:off x="4946614" y="4583993"/>
            <a:ext cx="0" cy="205698"/>
          </a:xfrm>
          <a:prstGeom prst="line">
            <a:avLst/>
          </a:prstGeom>
          <a:noFill/>
          <a:ln w="38100">
            <a:solidFill>
              <a:srgbClr val="E8843F"/>
            </a:solidFill>
            <a:prstDash val="solid"/>
          </a:ln>
        </p:spPr>
        <p:txBody>
          <a:bodyPr/>
          <a:lstStyle/>
          <a:p>
            <a:endParaRPr lang="en-CN"/>
          </a:p>
        </p:txBody>
      </p:sp>
      <p:sp>
        <p:nvSpPr>
          <p:cNvPr id="36" name="Text 34"/>
          <p:cNvSpPr/>
          <p:nvPr/>
        </p:nvSpPr>
        <p:spPr>
          <a:xfrm>
            <a:off x="4927564" y="4789686"/>
            <a:ext cx="6451564" cy="205698"/>
          </a:xfrm>
          <a:prstGeom prst="rect">
            <a:avLst/>
          </a:prstGeom>
          <a:solidFill>
            <a:srgbClr val="3A2B20"/>
          </a:solidFill>
          <a:ln/>
        </p:spPr>
        <p:txBody>
          <a:bodyPr wrap="none" lIns="177223" tIns="0" rIns="0" bIns="0" rtlCol="0" anchor="t">
            <a:normAutofit/>
          </a:bodyPr>
          <a:lstStyle/>
          <a:p>
            <a:pPr marL="0" indent="0" algn="l">
              <a:lnSpc>
                <a:spcPts val="1620"/>
              </a:lnSpc>
              <a:buNone/>
            </a:pPr>
            <a:r>
              <a:rPr lang="en-US" sz="1200" dirty="0">
                <a:solidFill>
                  <a:srgbClr val="7C8FA3"/>
                </a:solidFill>
                <a:latin typeface="JetBrains Mono" pitchFamily="49" charset="0"/>
                <a:ea typeface="JetBrains Mono" pitchFamily="49" charset="-122"/>
                <a:cs typeface="JetBrains Mono" pitchFamily="49" charset="-120"/>
              </a:rPr>
              <a:t>   </a:t>
            </a:r>
            <a:r>
              <a:rPr lang="en-US" sz="1200" dirty="0">
                <a:solidFill>
                  <a:srgbClr val="D6DDE5"/>
                </a:solidFill>
                <a:latin typeface="JetBrains Mono" pitchFamily="49" charset="0"/>
                <a:ea typeface="JetBrains Mono" pitchFamily="49" charset="-122"/>
                <a:cs typeface="JetBrains Mono" pitchFamily="49" charset="-120"/>
              </a:rPr>
              <a:t>       topic, draft, research, evaluation)</a:t>
            </a:r>
            <a:endParaRPr lang="en-US" sz="1200" dirty="0"/>
          </a:p>
        </p:txBody>
      </p:sp>
      <p:sp>
        <p:nvSpPr>
          <p:cNvPr id="37" name="Shape 35"/>
          <p:cNvSpPr/>
          <p:nvPr/>
        </p:nvSpPr>
        <p:spPr>
          <a:xfrm>
            <a:off x="4946614" y="4789686"/>
            <a:ext cx="0" cy="205698"/>
          </a:xfrm>
          <a:prstGeom prst="line">
            <a:avLst/>
          </a:prstGeom>
          <a:noFill/>
          <a:ln w="38100">
            <a:solidFill>
              <a:srgbClr val="E8843F"/>
            </a:solidFill>
            <a:prstDash val="solid"/>
          </a:ln>
        </p:spPr>
        <p:txBody>
          <a:bodyPr/>
          <a:lstStyle/>
          <a:p>
            <a:endParaRPr lang="en-CN"/>
          </a:p>
        </p:txBody>
      </p:sp>
      <p:sp>
        <p:nvSpPr>
          <p:cNvPr id="38" name="Text 36"/>
          <p:cNvSpPr/>
          <p:nvPr/>
        </p:nvSpPr>
        <p:spPr>
          <a:xfrm>
            <a:off x="5105364" y="4995391"/>
            <a:ext cx="6278842" cy="231098"/>
          </a:xfrm>
          <a:prstGeom prst="rect">
            <a:avLst/>
          </a:prstGeom>
          <a:noFill/>
          <a:ln/>
        </p:spPr>
        <p:txBody>
          <a:bodyPr wrap="none" lIns="0" tIns="0" rIns="0" bIns="0" rtlCol="0" anchor="t">
            <a:normAutofit/>
          </a:bodyPr>
          <a:lstStyle/>
          <a:p>
            <a:pPr marL="0" indent="0" algn="l">
              <a:lnSpc>
                <a:spcPts val="1620"/>
              </a:lnSpc>
              <a:buNone/>
            </a:pPr>
            <a:r>
              <a:rPr lang="en-US" sz="1200" dirty="0">
                <a:solidFill>
                  <a:srgbClr val="7C8FA3"/>
                </a:solidFill>
                <a:latin typeface="JetBrains Mono" pitchFamily="49" charset="0"/>
                <a:ea typeface="JetBrains Mono" pitchFamily="49" charset="-122"/>
                <a:cs typeface="JetBrains Mono" pitchFamily="49" charset="-120"/>
              </a:rPr>
              <a:t>279</a:t>
            </a:r>
            <a:r>
              <a:rPr lang="en-US" sz="1200" dirty="0">
                <a:solidFill>
                  <a:srgbClr val="D6DDE5"/>
                </a:solidFill>
                <a:latin typeface="JetBrains Mono" pitchFamily="49" charset="0"/>
                <a:ea typeface="JetBrains Mono" pitchFamily="49" charset="-122"/>
                <a:cs typeface="JetBrains Mono" pitchFamily="49" charset="-120"/>
              </a:rPr>
              <a:t>   else:</a:t>
            </a:r>
            <a:endParaRPr lang="en-US" sz="1200" dirty="0"/>
          </a:p>
        </p:txBody>
      </p:sp>
      <p:sp>
        <p:nvSpPr>
          <p:cNvPr id="39" name="Text 37"/>
          <p:cNvSpPr/>
          <p:nvPr/>
        </p:nvSpPr>
        <p:spPr>
          <a:xfrm>
            <a:off x="5105364" y="5201084"/>
            <a:ext cx="6278842" cy="231098"/>
          </a:xfrm>
          <a:prstGeom prst="rect">
            <a:avLst/>
          </a:prstGeom>
          <a:noFill/>
          <a:ln/>
        </p:spPr>
        <p:txBody>
          <a:bodyPr wrap="none" lIns="0" tIns="0" rIns="0" bIns="0" rtlCol="0" anchor="t">
            <a:normAutofit/>
          </a:bodyPr>
          <a:lstStyle/>
          <a:p>
            <a:pPr marL="0" indent="0" algn="l">
              <a:lnSpc>
                <a:spcPts val="1620"/>
              </a:lnSpc>
              <a:buNone/>
            </a:pPr>
            <a:r>
              <a:rPr lang="en-US" sz="1200" dirty="0">
                <a:solidFill>
                  <a:srgbClr val="7C8FA3"/>
                </a:solidFill>
                <a:latin typeface="JetBrains Mono" pitchFamily="49" charset="0"/>
                <a:ea typeface="JetBrains Mono" pitchFamily="49" charset="-122"/>
                <a:cs typeface="JetBrains Mono" pitchFamily="49" charset="-120"/>
              </a:rPr>
              <a:t>280</a:t>
            </a:r>
            <a:r>
              <a:rPr lang="en-US" sz="1200" dirty="0">
                <a:solidFill>
                  <a:srgbClr val="D6DDE5"/>
                </a:solidFill>
                <a:latin typeface="JetBrains Mono" pitchFamily="49" charset="0"/>
                <a:ea typeface="JetBrains Mono" pitchFamily="49" charset="-122"/>
                <a:cs typeface="JetBrains Mono" pitchFamily="49" charset="-120"/>
              </a:rPr>
              <a:t>     self._notify("max_iterations", {"avg": avg_score})</a:t>
            </a:r>
            <a:endParaRPr lang="en-US" sz="1200" dirty="0"/>
          </a:p>
        </p:txBody>
      </p:sp>
      <p:sp>
        <p:nvSpPr>
          <p:cNvPr id="40" name="Text 38"/>
          <p:cNvSpPr/>
          <p:nvPr/>
        </p:nvSpPr>
        <p:spPr>
          <a:xfrm>
            <a:off x="812782" y="6238280"/>
            <a:ext cx="967994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7684"/>
                </a:solidFill>
                <a:latin typeface="IBM Plex Sans" pitchFamily="34" charset="0"/>
                <a:ea typeface="IBM Plex Sans" pitchFamily="34" charset="-122"/>
                <a:cs typeface="IBM Plex Sans" pitchFamily="34" charset="-120"/>
              </a:rPr>
              <a:t>05-evaluator-optimizer/01_evaluator_optimizer.py · lines condensed</a:t>
            </a:r>
            <a:endParaRPr lang="en-US" sz="1200" dirty="0"/>
          </a:p>
        </p:txBody>
      </p:sp>
      <p:sp>
        <p:nvSpPr>
          <p:cNvPr id="41" name="Text 39"/>
          <p:cNvSpPr/>
          <p:nvPr/>
        </p:nvSpPr>
        <p:spPr>
          <a:xfrm>
            <a:off x="10312418" y="6238280"/>
            <a:ext cx="1066800" cy="238720"/>
          </a:xfrm>
          <a:prstGeom prst="rect">
            <a:avLst/>
          </a:prstGeom>
          <a:noFill/>
          <a:ln/>
        </p:spPr>
        <p:txBody>
          <a:bodyPr wrap="square" lIns="0" tIns="0" rIns="0" bIns="0" rtlCol="0" anchor="t">
            <a:normAutofit/>
          </a:bodyPr>
          <a:lstStyle/>
          <a:p>
            <a:pPr marL="0" indent="0" algn="r">
              <a:lnSpc>
                <a:spcPts val="1680"/>
              </a:lnSpc>
              <a:buNone/>
            </a:pPr>
            <a:r>
              <a:rPr lang="en-US" sz="1200" b="1" dirty="0">
                <a:solidFill>
                  <a:srgbClr val="6A7684"/>
                </a:solidFill>
                <a:latin typeface="IBM Plex Sans" pitchFamily="34" charset="0"/>
                <a:ea typeface="IBM Plex Sans" pitchFamily="34" charset="-122"/>
                <a:cs typeface="IBM Plex Sans" pitchFamily="34" charset="-120"/>
              </a:rPr>
              <a:t>18 / 27</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6212C"/>
        </a:solidFill>
        <a:effectLst/>
      </p:bgPr>
    </p:bg>
    <p:spTree>
      <p:nvGrpSpPr>
        <p:cNvPr id="1" name=""/>
        <p:cNvGrpSpPr/>
        <p:nvPr/>
      </p:nvGrpSpPr>
      <p:grpSpPr>
        <a:xfrm>
          <a:off x="0" y="0"/>
          <a:ext cx="0" cy="0"/>
          <a:chOff x="0" y="0"/>
          <a:chExt cx="0" cy="0"/>
        </a:xfrm>
      </p:grpSpPr>
      <p:sp>
        <p:nvSpPr>
          <p:cNvPr id="2" name="Text 0"/>
          <p:cNvSpPr/>
          <p:nvPr/>
        </p:nvSpPr>
        <p:spPr>
          <a:xfrm>
            <a:off x="812782" y="711163"/>
            <a:ext cx="10883429"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F2A46B"/>
                </a:solidFill>
                <a:latin typeface="IBM Plex Sans" pitchFamily="34" charset="0"/>
                <a:ea typeface="IBM Plex Sans" pitchFamily="34" charset="-122"/>
                <a:cs typeface="IBM Plex Sans" pitchFamily="34" charset="-120"/>
              </a:rPr>
              <a:t>06 · HUMAN-IN-THE-LOOP</a:t>
            </a:r>
            <a:endParaRPr lang="en-US" sz="1200" dirty="0"/>
          </a:p>
        </p:txBody>
      </p:sp>
      <p:sp>
        <p:nvSpPr>
          <p:cNvPr id="3" name="Text 1"/>
          <p:cNvSpPr>
            <a:spLocks noGrp="1"/>
          </p:cNvSpPr>
          <p:nvPr>
            <p:ph type="title"/>
          </p:nvPr>
        </p:nvSpPr>
        <p:spPr>
          <a:xfrm>
            <a:off x="812782" y="1000658"/>
            <a:ext cx="10883429" cy="444464"/>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F4F2EC"/>
                </a:solidFill>
                <a:latin typeface="IBM Plex Sans" pitchFamily="34" charset="0"/>
                <a:ea typeface="IBM Plex Sans" pitchFamily="34" charset="-122"/>
                <a:cs typeface="IBM Plex Sans" pitchFamily="34" charset="-120"/>
              </a:rPr>
              <a:t>Pause where a human adds the most leverage</a:t>
            </a:r>
            <a:endParaRPr lang="en-US" sz="3000" dirty="0"/>
          </a:p>
        </p:txBody>
      </p:sp>
      <p:sp>
        <p:nvSpPr>
          <p:cNvPr id="4" name="Shape 2"/>
          <p:cNvSpPr/>
          <p:nvPr/>
        </p:nvSpPr>
        <p:spPr>
          <a:xfrm>
            <a:off x="819132" y="1680071"/>
            <a:ext cx="2247954" cy="784974"/>
          </a:xfrm>
          <a:prstGeom prst="roundRect">
            <a:avLst>
              <a:gd name="adj" fmla="val 10516"/>
            </a:avLst>
          </a:prstGeom>
          <a:solidFill>
            <a:srgbClr val="22303E"/>
          </a:solidFill>
          <a:ln w="12700">
            <a:solidFill>
              <a:srgbClr val="3A4B5C"/>
            </a:solidFill>
            <a:prstDash val="solid"/>
          </a:ln>
        </p:spPr>
        <p:txBody>
          <a:bodyPr/>
          <a:lstStyle/>
          <a:p>
            <a:endParaRPr lang="en-CN"/>
          </a:p>
        </p:txBody>
      </p:sp>
      <p:sp>
        <p:nvSpPr>
          <p:cNvPr id="5" name="Text 3"/>
          <p:cNvSpPr/>
          <p:nvPr/>
        </p:nvSpPr>
        <p:spPr>
          <a:xfrm>
            <a:off x="964000" y="1824943"/>
            <a:ext cx="2016964" cy="269253"/>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4F2EC"/>
                </a:solidFill>
                <a:latin typeface="IBM Plex Sans" pitchFamily="34" charset="0"/>
                <a:ea typeface="IBM Plex Sans" pitchFamily="34" charset="-122"/>
                <a:cs typeface="IBM Plex Sans" pitchFamily="34" charset="-120"/>
              </a:rPr>
              <a:t>Draft email</a:t>
            </a:r>
            <a:endParaRPr lang="en-US" sz="1600" dirty="0"/>
          </a:p>
        </p:txBody>
      </p:sp>
      <p:sp>
        <p:nvSpPr>
          <p:cNvPr id="6" name="Text 4"/>
          <p:cNvSpPr/>
          <p:nvPr/>
        </p:nvSpPr>
        <p:spPr>
          <a:xfrm>
            <a:off x="964000" y="2106861"/>
            <a:ext cx="2016964"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FCAD6"/>
                </a:solidFill>
                <a:latin typeface="IBM Plex Sans" pitchFamily="34" charset="0"/>
                <a:ea typeface="IBM Plex Sans" pitchFamily="34" charset="-122"/>
                <a:cs typeface="IBM Plex Sans" pitchFamily="34" charset="-120"/>
              </a:rPr>
              <a:t>Haiku</a:t>
            </a:r>
            <a:endParaRPr lang="en-US" sz="1200" dirty="0"/>
          </a:p>
        </p:txBody>
      </p:sp>
      <p:pic>
        <p:nvPicPr>
          <p:cNvPr id="7" name="Image 0" descr="arrow-right"/>
          <p:cNvPicPr>
            <a:picLocks noChangeAspect="1"/>
          </p:cNvPicPr>
          <p:nvPr/>
        </p:nvPicPr>
        <p:blipFill>
          <a:blip r:embed="rId3"/>
          <a:srcRect/>
          <a:stretch/>
        </p:blipFill>
        <p:spPr>
          <a:xfrm>
            <a:off x="3175000" y="1996368"/>
            <a:ext cx="304782" cy="152391"/>
          </a:xfrm>
          <a:prstGeom prst="rect">
            <a:avLst/>
          </a:prstGeom>
        </p:spPr>
      </p:pic>
      <p:sp>
        <p:nvSpPr>
          <p:cNvPr id="8" name="Shape 5"/>
          <p:cNvSpPr/>
          <p:nvPr/>
        </p:nvSpPr>
        <p:spPr>
          <a:xfrm>
            <a:off x="3587696" y="1680071"/>
            <a:ext cx="2247999" cy="784974"/>
          </a:xfrm>
          <a:prstGeom prst="roundRect">
            <a:avLst>
              <a:gd name="adj" fmla="val 10516"/>
            </a:avLst>
          </a:prstGeom>
          <a:solidFill>
            <a:srgbClr val="3A2B20"/>
          </a:solidFill>
          <a:ln w="12700">
            <a:solidFill>
              <a:srgbClr val="E8843F"/>
            </a:solidFill>
            <a:prstDash val="solid"/>
          </a:ln>
        </p:spPr>
        <p:txBody>
          <a:bodyPr/>
          <a:lstStyle/>
          <a:p>
            <a:endParaRPr lang="en-CN"/>
          </a:p>
        </p:txBody>
      </p:sp>
      <p:pic>
        <p:nvPicPr>
          <p:cNvPr id="9" name="Image 1" descr="Users"/>
          <p:cNvPicPr>
            <a:picLocks noChangeAspect="1"/>
          </p:cNvPicPr>
          <p:nvPr/>
        </p:nvPicPr>
        <p:blipFill>
          <a:blip r:embed="rId4"/>
          <a:srcRect/>
          <a:stretch/>
        </p:blipFill>
        <p:spPr>
          <a:xfrm>
            <a:off x="3732564" y="1832570"/>
            <a:ext cx="228564" cy="228564"/>
          </a:xfrm>
          <a:prstGeom prst="rect">
            <a:avLst/>
          </a:prstGeom>
        </p:spPr>
      </p:pic>
      <p:sp>
        <p:nvSpPr>
          <p:cNvPr id="10" name="Text 6"/>
          <p:cNvSpPr/>
          <p:nvPr/>
        </p:nvSpPr>
        <p:spPr>
          <a:xfrm>
            <a:off x="4037301" y="1824943"/>
            <a:ext cx="1487091" cy="269253"/>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4F2EC"/>
                </a:solidFill>
                <a:latin typeface="IBM Plex Sans" pitchFamily="34" charset="0"/>
                <a:ea typeface="IBM Plex Sans" pitchFamily="34" charset="-122"/>
                <a:cs typeface="IBM Plex Sans" pitchFamily="34" charset="-120"/>
              </a:rPr>
              <a:t>Checkpoint 1</a:t>
            </a:r>
            <a:endParaRPr lang="en-US" sz="1600" dirty="0"/>
          </a:p>
        </p:txBody>
      </p:sp>
      <p:sp>
        <p:nvSpPr>
          <p:cNvPr id="11" name="Text 7"/>
          <p:cNvSpPr/>
          <p:nvPr/>
        </p:nvSpPr>
        <p:spPr>
          <a:xfrm>
            <a:off x="3732564" y="2106861"/>
            <a:ext cx="201701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2C6A4"/>
                </a:solidFill>
                <a:latin typeface="IBM Plex Sans" pitchFamily="34" charset="0"/>
                <a:ea typeface="IBM Plex Sans" pitchFamily="34" charset="-122"/>
                <a:cs typeface="IBM Plex Sans" pitchFamily="34" charset="-120"/>
              </a:rPr>
              <a:t>high leverage</a:t>
            </a:r>
            <a:endParaRPr lang="en-US" sz="1200" dirty="0"/>
          </a:p>
        </p:txBody>
      </p:sp>
      <p:pic>
        <p:nvPicPr>
          <p:cNvPr id="12" name="Image 2" descr="arrow-right"/>
          <p:cNvPicPr>
            <a:picLocks noChangeAspect="1"/>
          </p:cNvPicPr>
          <p:nvPr/>
        </p:nvPicPr>
        <p:blipFill>
          <a:blip r:embed="rId3"/>
          <a:srcRect/>
          <a:stretch/>
        </p:blipFill>
        <p:spPr>
          <a:xfrm>
            <a:off x="5943609" y="1996368"/>
            <a:ext cx="304782" cy="152391"/>
          </a:xfrm>
          <a:prstGeom prst="rect">
            <a:avLst/>
          </a:prstGeom>
        </p:spPr>
      </p:pic>
      <p:sp>
        <p:nvSpPr>
          <p:cNvPr id="13" name="Shape 8"/>
          <p:cNvSpPr/>
          <p:nvPr/>
        </p:nvSpPr>
        <p:spPr>
          <a:xfrm>
            <a:off x="6356305" y="1680071"/>
            <a:ext cx="2247954" cy="784974"/>
          </a:xfrm>
          <a:prstGeom prst="roundRect">
            <a:avLst>
              <a:gd name="adj" fmla="val 10516"/>
            </a:avLst>
          </a:prstGeom>
          <a:solidFill>
            <a:srgbClr val="22303E"/>
          </a:solidFill>
          <a:ln w="12700">
            <a:solidFill>
              <a:srgbClr val="3A4B5C"/>
            </a:solidFill>
            <a:prstDash val="solid"/>
          </a:ln>
        </p:spPr>
        <p:txBody>
          <a:bodyPr/>
          <a:lstStyle/>
          <a:p>
            <a:endParaRPr lang="en-CN"/>
          </a:p>
        </p:txBody>
      </p:sp>
      <p:sp>
        <p:nvSpPr>
          <p:cNvPr id="14" name="Text 9"/>
          <p:cNvSpPr/>
          <p:nvPr/>
        </p:nvSpPr>
        <p:spPr>
          <a:xfrm>
            <a:off x="6501173" y="1824943"/>
            <a:ext cx="2016964" cy="269253"/>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4F2EC"/>
                </a:solidFill>
                <a:latin typeface="IBM Plex Sans" pitchFamily="34" charset="0"/>
                <a:ea typeface="IBM Plex Sans" pitchFamily="34" charset="-122"/>
                <a:cs typeface="IBM Plex Sans" pitchFamily="34" charset="-120"/>
              </a:rPr>
              <a:t>Revise</a:t>
            </a:r>
            <a:endParaRPr lang="en-US" sz="1600" dirty="0"/>
          </a:p>
        </p:txBody>
      </p:sp>
      <p:sp>
        <p:nvSpPr>
          <p:cNvPr id="15" name="Text 10"/>
          <p:cNvSpPr/>
          <p:nvPr/>
        </p:nvSpPr>
        <p:spPr>
          <a:xfrm>
            <a:off x="6501173" y="2106861"/>
            <a:ext cx="2016964"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FCAD6"/>
                </a:solidFill>
                <a:latin typeface="IBM Plex Sans" pitchFamily="34" charset="0"/>
                <a:ea typeface="IBM Plex Sans" pitchFamily="34" charset="-122"/>
                <a:cs typeface="IBM Plex Sans" pitchFamily="34" charset="-120"/>
              </a:rPr>
              <a:t>with feedback</a:t>
            </a:r>
            <a:endParaRPr lang="en-US" sz="1200" dirty="0"/>
          </a:p>
        </p:txBody>
      </p:sp>
      <p:pic>
        <p:nvPicPr>
          <p:cNvPr id="16" name="Image 3" descr="arrow-right"/>
          <p:cNvPicPr>
            <a:picLocks noChangeAspect="1"/>
          </p:cNvPicPr>
          <p:nvPr/>
        </p:nvPicPr>
        <p:blipFill>
          <a:blip r:embed="rId3"/>
          <a:srcRect/>
          <a:stretch/>
        </p:blipFill>
        <p:spPr>
          <a:xfrm>
            <a:off x="8712173" y="1996368"/>
            <a:ext cx="304782" cy="152391"/>
          </a:xfrm>
          <a:prstGeom prst="rect">
            <a:avLst/>
          </a:prstGeom>
        </p:spPr>
      </p:pic>
      <p:sp>
        <p:nvSpPr>
          <p:cNvPr id="17" name="Shape 11"/>
          <p:cNvSpPr/>
          <p:nvPr/>
        </p:nvSpPr>
        <p:spPr>
          <a:xfrm>
            <a:off x="9124869" y="1680071"/>
            <a:ext cx="2247999" cy="784974"/>
          </a:xfrm>
          <a:prstGeom prst="roundRect">
            <a:avLst>
              <a:gd name="adj" fmla="val 10516"/>
            </a:avLst>
          </a:prstGeom>
          <a:solidFill>
            <a:srgbClr val="3A2B20"/>
          </a:solidFill>
          <a:ln w="12700">
            <a:solidFill>
              <a:srgbClr val="E8843F"/>
            </a:solidFill>
            <a:prstDash val="solid"/>
          </a:ln>
        </p:spPr>
        <p:txBody>
          <a:bodyPr/>
          <a:lstStyle/>
          <a:p>
            <a:endParaRPr lang="en-CN"/>
          </a:p>
        </p:txBody>
      </p:sp>
      <p:pic>
        <p:nvPicPr>
          <p:cNvPr id="18" name="Image 4" descr="Users"/>
          <p:cNvPicPr>
            <a:picLocks noChangeAspect="1"/>
          </p:cNvPicPr>
          <p:nvPr/>
        </p:nvPicPr>
        <p:blipFill>
          <a:blip r:embed="rId4"/>
          <a:srcRect/>
          <a:stretch/>
        </p:blipFill>
        <p:spPr>
          <a:xfrm>
            <a:off x="9269737" y="1832570"/>
            <a:ext cx="228564" cy="228564"/>
          </a:xfrm>
          <a:prstGeom prst="rect">
            <a:avLst/>
          </a:prstGeom>
        </p:spPr>
      </p:pic>
      <p:sp>
        <p:nvSpPr>
          <p:cNvPr id="19" name="Text 12"/>
          <p:cNvSpPr/>
          <p:nvPr/>
        </p:nvSpPr>
        <p:spPr>
          <a:xfrm>
            <a:off x="9574474" y="1824943"/>
            <a:ext cx="1487091" cy="269253"/>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4F2EC"/>
                </a:solidFill>
                <a:latin typeface="IBM Plex Sans" pitchFamily="34" charset="0"/>
                <a:ea typeface="IBM Plex Sans" pitchFamily="34" charset="-122"/>
                <a:cs typeface="IBM Plex Sans" pitchFamily="34" charset="-120"/>
              </a:rPr>
              <a:t>Checkpoint 2</a:t>
            </a:r>
            <a:endParaRPr lang="en-US" sz="1600" dirty="0"/>
          </a:p>
        </p:txBody>
      </p:sp>
      <p:sp>
        <p:nvSpPr>
          <p:cNvPr id="20" name="Text 13"/>
          <p:cNvSpPr/>
          <p:nvPr/>
        </p:nvSpPr>
        <p:spPr>
          <a:xfrm>
            <a:off x="9269737" y="2106861"/>
            <a:ext cx="201701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2C6A4"/>
                </a:solidFill>
                <a:latin typeface="IBM Plex Sans" pitchFamily="34" charset="0"/>
                <a:ea typeface="IBM Plex Sans" pitchFamily="34" charset="-122"/>
                <a:cs typeface="IBM Plex Sans" pitchFamily="34" charset="-120"/>
              </a:rPr>
              <a:t>confirm the fix</a:t>
            </a:r>
            <a:endParaRPr lang="en-US" sz="1200" dirty="0"/>
          </a:p>
        </p:txBody>
      </p:sp>
      <p:sp>
        <p:nvSpPr>
          <p:cNvPr id="21" name="Shape 14"/>
          <p:cNvSpPr/>
          <p:nvPr/>
        </p:nvSpPr>
        <p:spPr>
          <a:xfrm>
            <a:off x="812782" y="2725403"/>
            <a:ext cx="3420521" cy="1125186"/>
          </a:xfrm>
          <a:prstGeom prst="roundRect">
            <a:avLst>
              <a:gd name="adj" fmla="val 7901"/>
            </a:avLst>
          </a:prstGeom>
          <a:solidFill>
            <a:srgbClr val="1E2B38"/>
          </a:solidFill>
          <a:ln/>
        </p:spPr>
        <p:txBody>
          <a:bodyPr/>
          <a:lstStyle/>
          <a:p>
            <a:endParaRPr lang="en-CN"/>
          </a:p>
        </p:txBody>
      </p:sp>
      <p:sp>
        <p:nvSpPr>
          <p:cNvPr id="22" name="Text 15"/>
          <p:cNvSpPr/>
          <p:nvPr/>
        </p:nvSpPr>
        <p:spPr>
          <a:xfrm>
            <a:off x="990564" y="2903178"/>
            <a:ext cx="3156906" cy="269253"/>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2A46B"/>
                </a:solidFill>
                <a:latin typeface="JetBrains Mono" pitchFamily="49" charset="0"/>
                <a:ea typeface="JetBrains Mono" pitchFamily="49" charset="-122"/>
                <a:cs typeface="JetBrains Mono" pitchFamily="49" charset="-120"/>
              </a:rPr>
              <a:t>(y) Approve</a:t>
            </a:r>
            <a:endParaRPr lang="en-US" sz="1600" dirty="0"/>
          </a:p>
        </p:txBody>
      </p:sp>
      <p:sp>
        <p:nvSpPr>
          <p:cNvPr id="23" name="Text 16"/>
          <p:cNvSpPr/>
          <p:nvPr/>
        </p:nvSpPr>
        <p:spPr>
          <a:xfrm>
            <a:off x="990564" y="3210533"/>
            <a:ext cx="3156906" cy="256535"/>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D6DDE5"/>
                </a:solidFill>
                <a:latin typeface="IBM Plex Sans" pitchFamily="34" charset="0"/>
                <a:ea typeface="IBM Plex Sans" pitchFamily="34" charset="-122"/>
                <a:cs typeface="IBM Plex Sans" pitchFamily="34" charset="-120"/>
              </a:rPr>
              <a:t>Light touch: keep the output and finish.</a:t>
            </a:r>
            <a:endParaRPr lang="en-US" sz="1300" dirty="0"/>
          </a:p>
        </p:txBody>
      </p:sp>
      <p:sp>
        <p:nvSpPr>
          <p:cNvPr id="24" name="Shape 17"/>
          <p:cNvSpPr/>
          <p:nvPr/>
        </p:nvSpPr>
        <p:spPr>
          <a:xfrm>
            <a:off x="4385694" y="2725403"/>
            <a:ext cx="3420566" cy="1125186"/>
          </a:xfrm>
          <a:prstGeom prst="roundRect">
            <a:avLst>
              <a:gd name="adj" fmla="val 7901"/>
            </a:avLst>
          </a:prstGeom>
          <a:solidFill>
            <a:srgbClr val="1E2B38"/>
          </a:solidFill>
          <a:ln/>
        </p:spPr>
        <p:txBody>
          <a:bodyPr/>
          <a:lstStyle/>
          <a:p>
            <a:endParaRPr lang="en-CN"/>
          </a:p>
        </p:txBody>
      </p:sp>
      <p:sp>
        <p:nvSpPr>
          <p:cNvPr id="25" name="Text 18"/>
          <p:cNvSpPr/>
          <p:nvPr/>
        </p:nvSpPr>
        <p:spPr>
          <a:xfrm>
            <a:off x="4563476" y="2903178"/>
            <a:ext cx="3156953" cy="269253"/>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2A46B"/>
                </a:solidFill>
                <a:latin typeface="JetBrains Mono" pitchFamily="49" charset="0"/>
                <a:ea typeface="JetBrains Mono" pitchFamily="49" charset="-122"/>
                <a:cs typeface="JetBrains Mono" pitchFamily="49" charset="-120"/>
              </a:rPr>
              <a:t>(n) Reject</a:t>
            </a:r>
            <a:endParaRPr lang="en-US" sz="1600" dirty="0"/>
          </a:p>
        </p:txBody>
      </p:sp>
      <p:sp>
        <p:nvSpPr>
          <p:cNvPr id="26" name="Text 19"/>
          <p:cNvSpPr/>
          <p:nvPr/>
        </p:nvSpPr>
        <p:spPr>
          <a:xfrm>
            <a:off x="4563476" y="3210533"/>
            <a:ext cx="3156953" cy="487669"/>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D6DDE5"/>
                </a:solidFill>
                <a:latin typeface="IBM Plex Sans" pitchFamily="34" charset="0"/>
                <a:ea typeface="IBM Plex Sans" pitchFamily="34" charset="-122"/>
                <a:cs typeface="IBM Plex Sans" pitchFamily="34" charset="-120"/>
              </a:rPr>
              <a:t>Directed: give feedback, the agent revises.</a:t>
            </a:r>
            <a:endParaRPr lang="en-US" sz="1300" dirty="0"/>
          </a:p>
        </p:txBody>
      </p:sp>
      <p:sp>
        <p:nvSpPr>
          <p:cNvPr id="27" name="Shape 20"/>
          <p:cNvSpPr/>
          <p:nvPr/>
        </p:nvSpPr>
        <p:spPr>
          <a:xfrm>
            <a:off x="7958651" y="2725403"/>
            <a:ext cx="3420566" cy="1125186"/>
          </a:xfrm>
          <a:prstGeom prst="roundRect">
            <a:avLst>
              <a:gd name="adj" fmla="val 7901"/>
            </a:avLst>
          </a:prstGeom>
          <a:solidFill>
            <a:srgbClr val="1E2B38"/>
          </a:solidFill>
          <a:ln/>
        </p:spPr>
        <p:txBody>
          <a:bodyPr/>
          <a:lstStyle/>
          <a:p>
            <a:endParaRPr lang="en-CN"/>
          </a:p>
        </p:txBody>
      </p:sp>
      <p:sp>
        <p:nvSpPr>
          <p:cNvPr id="28" name="Text 21"/>
          <p:cNvSpPr/>
          <p:nvPr/>
        </p:nvSpPr>
        <p:spPr>
          <a:xfrm>
            <a:off x="8136434" y="2903178"/>
            <a:ext cx="3156953" cy="269253"/>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2A46B"/>
                </a:solidFill>
                <a:latin typeface="JetBrains Mono" pitchFamily="49" charset="0"/>
                <a:ea typeface="JetBrains Mono" pitchFamily="49" charset="-122"/>
                <a:cs typeface="JetBrains Mono" pitchFamily="49" charset="-120"/>
              </a:rPr>
              <a:t>(e) Edit</a:t>
            </a:r>
            <a:endParaRPr lang="en-US" sz="1600" dirty="0"/>
          </a:p>
        </p:txBody>
      </p:sp>
      <p:sp>
        <p:nvSpPr>
          <p:cNvPr id="29" name="Text 22"/>
          <p:cNvSpPr/>
          <p:nvPr/>
        </p:nvSpPr>
        <p:spPr>
          <a:xfrm>
            <a:off x="8136434" y="3210533"/>
            <a:ext cx="3156953" cy="256535"/>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D6DDE5"/>
                </a:solidFill>
                <a:latin typeface="IBM Plex Sans" pitchFamily="34" charset="0"/>
                <a:ea typeface="IBM Plex Sans" pitchFamily="34" charset="-122"/>
                <a:cs typeface="IBM Plex Sans" pitchFamily="34" charset="-120"/>
              </a:rPr>
              <a:t>Hands-on: replace the text yourself.</a:t>
            </a:r>
            <a:endParaRPr lang="en-US" sz="1300" dirty="0"/>
          </a:p>
        </p:txBody>
      </p:sp>
      <p:sp>
        <p:nvSpPr>
          <p:cNvPr id="30" name="Text 23"/>
          <p:cNvSpPr/>
          <p:nvPr/>
        </p:nvSpPr>
        <p:spPr>
          <a:xfrm>
            <a:off x="812782" y="4104580"/>
            <a:ext cx="10883429" cy="558746"/>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F2A46B"/>
                </a:solidFill>
                <a:latin typeface="IBM Plex Sans" pitchFamily="34" charset="0"/>
                <a:ea typeface="IBM Plex Sans" pitchFamily="34" charset="-122"/>
                <a:cs typeface="IBM Plex Sans" pitchFamily="34" charset="-120"/>
              </a:rPr>
              <a:t>Leverage principle:</a:t>
            </a:r>
            <a:r>
              <a:rPr lang="en-US" sz="1500" dirty="0">
                <a:solidFill>
                  <a:srgbClr val="D6DDE5"/>
                </a:solidFill>
                <a:latin typeface="IBM Plex Sans" pitchFamily="34" charset="0"/>
                <a:ea typeface="IBM Plex Sans" pitchFamily="34" charset="-122"/>
                <a:cs typeface="IBM Plex Sans" pitchFamily="34" charset="-120"/>
              </a:rPr>
              <a:t> catching a wrong tone at checkpoint 1 saves all revision work; catching a typo at checkpoint 2 saves nothing.</a:t>
            </a:r>
            <a:endParaRPr lang="en-US" sz="1500" dirty="0"/>
          </a:p>
        </p:txBody>
      </p:sp>
      <p:sp>
        <p:nvSpPr>
          <p:cNvPr id="31" name="Text 24"/>
          <p:cNvSpPr/>
          <p:nvPr/>
        </p:nvSpPr>
        <p:spPr>
          <a:xfrm>
            <a:off x="812782" y="6238280"/>
            <a:ext cx="967994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9AA9B8"/>
                </a:solidFill>
                <a:latin typeface="IBM Plex Sans" pitchFamily="34" charset="0"/>
                <a:ea typeface="IBM Plex Sans" pitchFamily="34" charset="-122"/>
                <a:cs typeface="IBM Plex Sans" pitchFamily="34" charset="-120"/>
              </a:rPr>
              <a:t>06-human-in-the-loop/README.md · EmailDrafter in 01_human_in_the_loop.py</a:t>
            </a:r>
            <a:endParaRPr lang="en-US" sz="1200" dirty="0"/>
          </a:p>
        </p:txBody>
      </p:sp>
      <p:sp>
        <p:nvSpPr>
          <p:cNvPr id="32" name="Text 25"/>
          <p:cNvSpPr/>
          <p:nvPr/>
        </p:nvSpPr>
        <p:spPr>
          <a:xfrm>
            <a:off x="10312418" y="6238280"/>
            <a:ext cx="1066800" cy="238720"/>
          </a:xfrm>
          <a:prstGeom prst="rect">
            <a:avLst/>
          </a:prstGeom>
          <a:noFill/>
          <a:ln/>
        </p:spPr>
        <p:txBody>
          <a:bodyPr wrap="square" lIns="0" tIns="0" rIns="0" bIns="0" rtlCol="0" anchor="t">
            <a:normAutofit/>
          </a:bodyPr>
          <a:lstStyle/>
          <a:p>
            <a:pPr marL="0" indent="0" algn="r">
              <a:lnSpc>
                <a:spcPts val="1680"/>
              </a:lnSpc>
              <a:buNone/>
            </a:pPr>
            <a:r>
              <a:rPr lang="en-US" sz="1200" b="1" dirty="0">
                <a:solidFill>
                  <a:srgbClr val="9AA9B8"/>
                </a:solidFill>
                <a:latin typeface="IBM Plex Sans" pitchFamily="34" charset="0"/>
                <a:ea typeface="IBM Plex Sans" pitchFamily="34" charset="-122"/>
                <a:cs typeface="IBM Plex Sans" pitchFamily="34" charset="-120"/>
              </a:rPr>
              <a:t>19 / 27</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4F2EC"/>
        </a:solidFill>
        <a:effectLst/>
      </p:bgPr>
    </p:bg>
    <p:spTree>
      <p:nvGrpSpPr>
        <p:cNvPr id="1" name=""/>
        <p:cNvGrpSpPr/>
        <p:nvPr/>
      </p:nvGrpSpPr>
      <p:grpSpPr>
        <a:xfrm>
          <a:off x="0" y="0"/>
          <a:ext cx="0" cy="0"/>
          <a:chOff x="0" y="0"/>
          <a:chExt cx="0" cy="0"/>
        </a:xfrm>
      </p:grpSpPr>
      <p:sp>
        <p:nvSpPr>
          <p:cNvPr id="2" name="Text 0"/>
          <p:cNvSpPr/>
          <p:nvPr/>
        </p:nvSpPr>
        <p:spPr>
          <a:xfrm>
            <a:off x="812782" y="711163"/>
            <a:ext cx="10883429"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04E17"/>
                </a:solidFill>
                <a:latin typeface="IBM Plex Sans" pitchFamily="34" charset="0"/>
                <a:ea typeface="IBM Plex Sans" pitchFamily="34" charset="-122"/>
                <a:cs typeface="IBM Plex Sans" pitchFamily="34" charset="-120"/>
              </a:rPr>
              <a:t>06 · HUMAN-IN-THE-LOOP · IN CODE</a:t>
            </a:r>
            <a:endParaRPr lang="en-US" sz="1200" dirty="0"/>
          </a:p>
        </p:txBody>
      </p:sp>
      <p:sp>
        <p:nvSpPr>
          <p:cNvPr id="3" name="Text 1"/>
          <p:cNvSpPr>
            <a:spLocks noGrp="1"/>
          </p:cNvSpPr>
          <p:nvPr>
            <p:ph type="title"/>
          </p:nvPr>
        </p:nvSpPr>
        <p:spPr>
          <a:xfrm>
            <a:off x="812782" y="1000658"/>
            <a:ext cx="10883429" cy="444464"/>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6212C"/>
                </a:solidFill>
                <a:latin typeface="IBM Plex Sans" pitchFamily="34" charset="0"/>
                <a:ea typeface="IBM Plex Sans" pitchFamily="34" charset="-122"/>
                <a:cs typeface="IBM Plex Sans" pitchFamily="34" charset="-120"/>
              </a:rPr>
              <a:t>The human is just a function you pass in</a:t>
            </a:r>
            <a:endParaRPr lang="en-US" sz="3000" dirty="0"/>
          </a:p>
        </p:txBody>
      </p:sp>
      <p:sp>
        <p:nvSpPr>
          <p:cNvPr id="4" name="Text 2"/>
          <p:cNvSpPr/>
          <p:nvPr/>
        </p:nvSpPr>
        <p:spPr>
          <a:xfrm>
            <a:off x="812782" y="1673721"/>
            <a:ext cx="304782" cy="304782"/>
          </a:xfrm>
          <a:custGeom>
            <a:avLst/>
            <a:gdLst/>
            <a:ahLst/>
            <a:cxnLst/>
            <a:rect l="l" t="t" r="r" b="b"/>
            <a:pathLst>
              <a:path w="304782" h="304782">
                <a:moveTo>
                  <a:pt x="152391" y="0"/>
                </a:moveTo>
                <a:lnTo>
                  <a:pt x="152391" y="0"/>
                </a:lnTo>
                <a:arcTo wR="152391" hR="152391" stAng="16200000" swAng="5400000"/>
                <a:lnTo>
                  <a:pt x="304782" y="152391"/>
                </a:lnTo>
                <a:arcTo wR="152391" hR="152391" stAng="0" swAng="5400000"/>
                <a:lnTo>
                  <a:pt x="152391" y="304782"/>
                </a:lnTo>
                <a:arcTo wR="152391" hR="152391" stAng="5400000" swAng="5400000"/>
                <a:lnTo>
                  <a:pt x="0" y="152391"/>
                </a:lnTo>
                <a:arcTo wR="152391" hR="152391" stAng="10800000" swAng="5400000"/>
                <a:close/>
              </a:path>
            </a:pathLst>
          </a:custGeom>
          <a:solidFill>
            <a:srgbClr val="E8843F"/>
          </a:solidFill>
          <a:ln/>
        </p:spPr>
        <p:txBody>
          <a:bodyPr wrap="square" lIns="0" tIns="0" rIns="0" bIns="0" rtlCol="0" anchor="t">
            <a:normAutofit/>
          </a:bodyPr>
          <a:lstStyle/>
          <a:p>
            <a:pPr marL="0" indent="0" algn="ctr">
              <a:lnSpc>
                <a:spcPts val="2405"/>
              </a:lnSpc>
              <a:buNone/>
            </a:pPr>
            <a:r>
              <a:rPr lang="en-US" sz="1300" b="1" dirty="0">
                <a:solidFill>
                  <a:srgbClr val="16212C"/>
                </a:solidFill>
                <a:latin typeface="IBM Plex Sans" pitchFamily="34" charset="0"/>
                <a:ea typeface="IBM Plex Sans" pitchFamily="34" charset="-122"/>
                <a:cs typeface="IBM Plex Sans" pitchFamily="34" charset="-120"/>
              </a:rPr>
              <a:t>1</a:t>
            </a:r>
            <a:endParaRPr lang="en-US" sz="1300" dirty="0"/>
          </a:p>
        </p:txBody>
      </p:sp>
      <p:sp>
        <p:nvSpPr>
          <p:cNvPr id="5" name="Text 3"/>
          <p:cNvSpPr/>
          <p:nvPr/>
        </p:nvSpPr>
        <p:spPr>
          <a:xfrm>
            <a:off x="1244564" y="1673721"/>
            <a:ext cx="3479564" cy="253964"/>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6212C"/>
                </a:solidFill>
                <a:latin typeface="IBM Plex Sans" pitchFamily="34" charset="0"/>
                <a:ea typeface="IBM Plex Sans" pitchFamily="34" charset="-122"/>
                <a:cs typeface="IBM Plex Sans" pitchFamily="34" charset="-120"/>
              </a:rPr>
              <a:t>Injectable checkpoint</a:t>
            </a:r>
            <a:endParaRPr lang="en-US" sz="1500" dirty="0"/>
          </a:p>
        </p:txBody>
      </p:sp>
      <p:sp>
        <p:nvSpPr>
          <p:cNvPr id="6" name="Text 4"/>
          <p:cNvSpPr/>
          <p:nvPr/>
        </p:nvSpPr>
        <p:spPr>
          <a:xfrm>
            <a:off x="1244564" y="1940359"/>
            <a:ext cx="3479564" cy="487669"/>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D4A57"/>
                </a:solidFill>
                <a:latin typeface="IBM Plex Sans" pitchFamily="34" charset="0"/>
                <a:ea typeface="IBM Plex Sans" pitchFamily="34" charset="-122"/>
                <a:cs typeface="IBM Plex Sans" pitchFamily="34" charset="-120"/>
              </a:rPr>
              <a:t>Terminal, test lambda or Slack webhook; defaults to auto-approve.</a:t>
            </a:r>
            <a:endParaRPr lang="en-US" sz="1300" dirty="0"/>
          </a:p>
        </p:txBody>
      </p:sp>
      <p:sp>
        <p:nvSpPr>
          <p:cNvPr id="7" name="Text 5"/>
          <p:cNvSpPr/>
          <p:nvPr/>
        </p:nvSpPr>
        <p:spPr>
          <a:xfrm>
            <a:off x="812782" y="2567682"/>
            <a:ext cx="304782" cy="304782"/>
          </a:xfrm>
          <a:custGeom>
            <a:avLst/>
            <a:gdLst/>
            <a:ahLst/>
            <a:cxnLst/>
            <a:rect l="l" t="t" r="r" b="b"/>
            <a:pathLst>
              <a:path w="304782" h="304782">
                <a:moveTo>
                  <a:pt x="152391" y="0"/>
                </a:moveTo>
                <a:lnTo>
                  <a:pt x="152391" y="0"/>
                </a:lnTo>
                <a:arcTo wR="152391" hR="152391" stAng="16200000" swAng="5400000"/>
                <a:lnTo>
                  <a:pt x="304782" y="152391"/>
                </a:lnTo>
                <a:arcTo wR="152391" hR="152391" stAng="0" swAng="5400000"/>
                <a:lnTo>
                  <a:pt x="152391" y="304782"/>
                </a:lnTo>
                <a:arcTo wR="152391" hR="152391" stAng="5400000" swAng="5400000"/>
                <a:lnTo>
                  <a:pt x="0" y="152391"/>
                </a:lnTo>
                <a:arcTo wR="152391" hR="152391" stAng="10800000" swAng="5400000"/>
                <a:close/>
              </a:path>
            </a:pathLst>
          </a:custGeom>
          <a:solidFill>
            <a:srgbClr val="E8843F"/>
          </a:solidFill>
          <a:ln/>
        </p:spPr>
        <p:txBody>
          <a:bodyPr wrap="square" lIns="0" tIns="0" rIns="0" bIns="0" rtlCol="0" anchor="t">
            <a:normAutofit/>
          </a:bodyPr>
          <a:lstStyle/>
          <a:p>
            <a:pPr marL="0" indent="0" algn="ctr">
              <a:lnSpc>
                <a:spcPts val="2405"/>
              </a:lnSpc>
              <a:buNone/>
            </a:pPr>
            <a:r>
              <a:rPr lang="en-US" sz="1300" b="1" dirty="0">
                <a:solidFill>
                  <a:srgbClr val="16212C"/>
                </a:solidFill>
                <a:latin typeface="IBM Plex Sans" pitchFamily="34" charset="0"/>
                <a:ea typeface="IBM Plex Sans" pitchFamily="34" charset="-122"/>
                <a:cs typeface="IBM Plex Sans" pitchFamily="34" charset="-120"/>
              </a:rPr>
              <a:t>2</a:t>
            </a:r>
            <a:endParaRPr lang="en-US" sz="1300" dirty="0"/>
          </a:p>
        </p:txBody>
      </p:sp>
      <p:sp>
        <p:nvSpPr>
          <p:cNvPr id="8" name="Text 6"/>
          <p:cNvSpPr/>
          <p:nvPr/>
        </p:nvSpPr>
        <p:spPr>
          <a:xfrm>
            <a:off x="1244564" y="2567682"/>
            <a:ext cx="3479564" cy="253964"/>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6212C"/>
                </a:solidFill>
                <a:latin typeface="IBM Plex Sans" pitchFamily="34" charset="0"/>
                <a:ea typeface="IBM Plex Sans" pitchFamily="34" charset="-122"/>
                <a:cs typeface="IBM Plex Sans" pitchFamily="34" charset="-120"/>
              </a:rPr>
              <a:t>Gate right after the draft</a:t>
            </a:r>
            <a:endParaRPr lang="en-US" sz="1500" dirty="0"/>
          </a:p>
        </p:txBody>
      </p:sp>
      <p:sp>
        <p:nvSpPr>
          <p:cNvPr id="9" name="Text 7"/>
          <p:cNvSpPr/>
          <p:nvPr/>
        </p:nvSpPr>
        <p:spPr>
          <a:xfrm>
            <a:off x="1244564" y="2834320"/>
            <a:ext cx="3479564" cy="487669"/>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D4A57"/>
                </a:solidFill>
                <a:latin typeface="IBM Plex Sans" pitchFamily="34" charset="0"/>
                <a:ea typeface="IBM Plex Sans" pitchFamily="34" charset="-122"/>
                <a:cs typeface="IBM Plex Sans" pitchFamily="34" charset="-120"/>
              </a:rPr>
              <a:t>The high-leverage spot, before any revision cost.</a:t>
            </a:r>
            <a:endParaRPr lang="en-US" sz="1300" dirty="0"/>
          </a:p>
        </p:txBody>
      </p:sp>
      <p:sp>
        <p:nvSpPr>
          <p:cNvPr id="10" name="Text 8"/>
          <p:cNvSpPr/>
          <p:nvPr/>
        </p:nvSpPr>
        <p:spPr>
          <a:xfrm>
            <a:off x="812782" y="3461643"/>
            <a:ext cx="304782" cy="304782"/>
          </a:xfrm>
          <a:custGeom>
            <a:avLst/>
            <a:gdLst/>
            <a:ahLst/>
            <a:cxnLst/>
            <a:rect l="l" t="t" r="r" b="b"/>
            <a:pathLst>
              <a:path w="304782" h="304782">
                <a:moveTo>
                  <a:pt x="152391" y="0"/>
                </a:moveTo>
                <a:lnTo>
                  <a:pt x="152391" y="0"/>
                </a:lnTo>
                <a:arcTo wR="152391" hR="152391" stAng="16200000" swAng="5400000"/>
                <a:lnTo>
                  <a:pt x="304782" y="152391"/>
                </a:lnTo>
                <a:arcTo wR="152391" hR="152391" stAng="0" swAng="5400000"/>
                <a:lnTo>
                  <a:pt x="152391" y="304782"/>
                </a:lnTo>
                <a:arcTo wR="152391" hR="152391" stAng="5400000" swAng="5400000"/>
                <a:lnTo>
                  <a:pt x="0" y="152391"/>
                </a:lnTo>
                <a:arcTo wR="152391" hR="152391" stAng="10800000" swAng="5400000"/>
                <a:close/>
              </a:path>
            </a:pathLst>
          </a:custGeom>
          <a:solidFill>
            <a:srgbClr val="E8843F"/>
          </a:solidFill>
          <a:ln/>
        </p:spPr>
        <p:txBody>
          <a:bodyPr wrap="square" lIns="0" tIns="0" rIns="0" bIns="0" rtlCol="0" anchor="t">
            <a:normAutofit/>
          </a:bodyPr>
          <a:lstStyle/>
          <a:p>
            <a:pPr marL="0" indent="0" algn="ctr">
              <a:lnSpc>
                <a:spcPts val="2405"/>
              </a:lnSpc>
              <a:buNone/>
            </a:pPr>
            <a:r>
              <a:rPr lang="en-US" sz="1300" b="1" dirty="0">
                <a:solidFill>
                  <a:srgbClr val="16212C"/>
                </a:solidFill>
                <a:latin typeface="IBM Plex Sans" pitchFamily="34" charset="0"/>
                <a:ea typeface="IBM Plex Sans" pitchFamily="34" charset="-122"/>
                <a:cs typeface="IBM Plex Sans" pitchFamily="34" charset="-120"/>
              </a:rPr>
              <a:t>3</a:t>
            </a:r>
            <a:endParaRPr lang="en-US" sz="1300" dirty="0"/>
          </a:p>
        </p:txBody>
      </p:sp>
      <p:sp>
        <p:nvSpPr>
          <p:cNvPr id="11" name="Text 9"/>
          <p:cNvSpPr/>
          <p:nvPr/>
        </p:nvSpPr>
        <p:spPr>
          <a:xfrm>
            <a:off x="1244564" y="3461643"/>
            <a:ext cx="3479564" cy="253964"/>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6212C"/>
                </a:solidFill>
                <a:latin typeface="IBM Plex Sans" pitchFamily="34" charset="0"/>
                <a:ea typeface="IBM Plex Sans" pitchFamily="34" charset="-122"/>
                <a:cs typeface="IBM Plex Sans" pitchFamily="34" charset="-120"/>
              </a:rPr>
              <a:t>(bool, str) = three modes</a:t>
            </a:r>
            <a:endParaRPr lang="en-US" sz="1500" dirty="0"/>
          </a:p>
        </p:txBody>
      </p:sp>
      <p:sp>
        <p:nvSpPr>
          <p:cNvPr id="12" name="Text 10"/>
          <p:cNvSpPr/>
          <p:nvPr/>
        </p:nvSpPr>
        <p:spPr>
          <a:xfrm>
            <a:off x="1244564" y="3728281"/>
            <a:ext cx="3479564" cy="256535"/>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D4A57"/>
                </a:solidFill>
                <a:latin typeface="IBM Plex Sans" pitchFamily="34" charset="0"/>
                <a:ea typeface="IBM Plex Sans" pitchFamily="34" charset="-122"/>
                <a:cs typeface="IBM Plex Sans" pitchFamily="34" charset="-120"/>
              </a:rPr>
              <a:t>Approve, edit (text replaces draft) or reject.</a:t>
            </a:r>
            <a:endParaRPr lang="en-US" sz="1300" dirty="0"/>
          </a:p>
        </p:txBody>
      </p:sp>
      <p:sp>
        <p:nvSpPr>
          <p:cNvPr id="13" name="Text 11"/>
          <p:cNvSpPr/>
          <p:nvPr/>
        </p:nvSpPr>
        <p:spPr>
          <a:xfrm>
            <a:off x="812782" y="4124474"/>
            <a:ext cx="304782" cy="304782"/>
          </a:xfrm>
          <a:custGeom>
            <a:avLst/>
            <a:gdLst/>
            <a:ahLst/>
            <a:cxnLst/>
            <a:rect l="l" t="t" r="r" b="b"/>
            <a:pathLst>
              <a:path w="304782" h="304782">
                <a:moveTo>
                  <a:pt x="152391" y="0"/>
                </a:moveTo>
                <a:lnTo>
                  <a:pt x="152391" y="0"/>
                </a:lnTo>
                <a:arcTo wR="152391" hR="152391" stAng="16200000" swAng="5400000"/>
                <a:lnTo>
                  <a:pt x="304782" y="152391"/>
                </a:lnTo>
                <a:arcTo wR="152391" hR="152391" stAng="0" swAng="5400000"/>
                <a:lnTo>
                  <a:pt x="152391" y="304782"/>
                </a:lnTo>
                <a:arcTo wR="152391" hR="152391" stAng="5400000" swAng="5400000"/>
                <a:lnTo>
                  <a:pt x="0" y="152391"/>
                </a:lnTo>
                <a:arcTo wR="152391" hR="152391" stAng="10800000" swAng="5400000"/>
                <a:close/>
              </a:path>
            </a:pathLst>
          </a:custGeom>
          <a:solidFill>
            <a:srgbClr val="E8843F"/>
          </a:solidFill>
          <a:ln/>
        </p:spPr>
        <p:txBody>
          <a:bodyPr wrap="square" lIns="0" tIns="0" rIns="0" bIns="0" rtlCol="0" anchor="t">
            <a:normAutofit/>
          </a:bodyPr>
          <a:lstStyle/>
          <a:p>
            <a:pPr marL="0" indent="0" algn="ctr">
              <a:lnSpc>
                <a:spcPts val="2405"/>
              </a:lnSpc>
              <a:buNone/>
            </a:pPr>
            <a:r>
              <a:rPr lang="en-US" sz="1300" b="1" dirty="0">
                <a:solidFill>
                  <a:srgbClr val="16212C"/>
                </a:solidFill>
                <a:latin typeface="IBM Plex Sans" pitchFamily="34" charset="0"/>
                <a:ea typeface="IBM Plex Sans" pitchFamily="34" charset="-122"/>
                <a:cs typeface="IBM Plex Sans" pitchFamily="34" charset="-120"/>
              </a:rPr>
              <a:t>4</a:t>
            </a:r>
            <a:endParaRPr lang="en-US" sz="1300" dirty="0"/>
          </a:p>
        </p:txBody>
      </p:sp>
      <p:sp>
        <p:nvSpPr>
          <p:cNvPr id="14" name="Text 12"/>
          <p:cNvSpPr/>
          <p:nvPr/>
        </p:nvSpPr>
        <p:spPr>
          <a:xfrm>
            <a:off x="1244564" y="4124474"/>
            <a:ext cx="3479564" cy="253964"/>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6212C"/>
                </a:solidFill>
                <a:latin typeface="IBM Plex Sans" pitchFamily="34" charset="0"/>
                <a:ea typeface="IBM Plex Sans" pitchFamily="34" charset="-122"/>
                <a:cs typeface="IBM Plex Sans" pitchFamily="34" charset="-120"/>
              </a:rPr>
              <a:t>Capped revision loop</a:t>
            </a:r>
            <a:endParaRPr lang="en-US" sz="1500" dirty="0"/>
          </a:p>
        </p:txBody>
      </p:sp>
      <p:sp>
        <p:nvSpPr>
          <p:cNvPr id="15" name="Text 13"/>
          <p:cNvSpPr/>
          <p:nvPr/>
        </p:nvSpPr>
        <p:spPr>
          <a:xfrm>
            <a:off x="1244564" y="4391099"/>
            <a:ext cx="3479564" cy="487669"/>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D4A57"/>
                </a:solidFill>
                <a:latin typeface="IBM Plex Sans" pitchFamily="34" charset="0"/>
                <a:ea typeface="IBM Plex Sans" pitchFamily="34" charset="-122"/>
                <a:cs typeface="IBM Plex Sans" pitchFamily="34" charset="-120"/>
              </a:rPr>
              <a:t>Same checks after each revise, at most MAX_REVISIONS.</a:t>
            </a:r>
            <a:endParaRPr lang="en-US" sz="1300" dirty="0"/>
          </a:p>
        </p:txBody>
      </p:sp>
      <p:sp>
        <p:nvSpPr>
          <p:cNvPr id="16" name="Shape 14"/>
          <p:cNvSpPr/>
          <p:nvPr/>
        </p:nvSpPr>
        <p:spPr>
          <a:xfrm>
            <a:off x="4927564" y="1673721"/>
            <a:ext cx="6451564" cy="3885451"/>
          </a:xfrm>
          <a:prstGeom prst="roundRect">
            <a:avLst>
              <a:gd name="adj" fmla="val 2615"/>
            </a:avLst>
          </a:prstGeom>
          <a:solidFill>
            <a:srgbClr val="16212C"/>
          </a:solidFill>
          <a:ln/>
        </p:spPr>
        <p:txBody>
          <a:bodyPr/>
          <a:lstStyle/>
          <a:p>
            <a:endParaRPr lang="en-CN"/>
          </a:p>
        </p:txBody>
      </p:sp>
      <p:sp>
        <p:nvSpPr>
          <p:cNvPr id="17" name="Text 15"/>
          <p:cNvSpPr/>
          <p:nvPr/>
        </p:nvSpPr>
        <p:spPr>
          <a:xfrm>
            <a:off x="5105364" y="1826121"/>
            <a:ext cx="6278842" cy="238693"/>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9AA9B8"/>
                </a:solidFill>
                <a:latin typeface="JetBrains Mono" pitchFamily="49" charset="0"/>
                <a:ea typeface="JetBrains Mono" pitchFamily="49" charset="-122"/>
                <a:cs typeface="JetBrains Mono" pitchFamily="49" charset="-120"/>
              </a:rPr>
              <a:t>01_human_in_the_loop.py · EmailDrafter</a:t>
            </a:r>
            <a:endParaRPr lang="en-US" sz="1200" dirty="0"/>
          </a:p>
        </p:txBody>
      </p:sp>
      <p:sp>
        <p:nvSpPr>
          <p:cNvPr id="18" name="Text 16"/>
          <p:cNvSpPr/>
          <p:nvPr/>
        </p:nvSpPr>
        <p:spPr>
          <a:xfrm>
            <a:off x="4927564" y="2115604"/>
            <a:ext cx="6451564" cy="205698"/>
          </a:xfrm>
          <a:prstGeom prst="rect">
            <a:avLst/>
          </a:prstGeom>
          <a:solidFill>
            <a:srgbClr val="3A2B20"/>
          </a:solidFill>
          <a:ln/>
        </p:spPr>
        <p:txBody>
          <a:bodyPr wrap="none" lIns="177223" tIns="0" rIns="0" bIns="0" rtlCol="0" anchor="t">
            <a:normAutofit/>
          </a:bodyPr>
          <a:lstStyle/>
          <a:p>
            <a:pPr marL="0" indent="0" algn="l">
              <a:lnSpc>
                <a:spcPts val="1620"/>
              </a:lnSpc>
              <a:buNone/>
            </a:pPr>
            <a:r>
              <a:rPr lang="en-US" sz="1200" dirty="0">
                <a:solidFill>
                  <a:srgbClr val="7C8FA3"/>
                </a:solidFill>
                <a:latin typeface="JetBrains Mono" pitchFamily="49" charset="0"/>
                <a:ea typeface="JetBrains Mono" pitchFamily="49" charset="-122"/>
                <a:cs typeface="JetBrains Mono" pitchFamily="49" charset="-120"/>
              </a:rPr>
              <a:t>046</a:t>
            </a:r>
            <a:r>
              <a:rPr lang="en-US" sz="1200" dirty="0">
                <a:solidFill>
                  <a:srgbClr val="D6DDE5"/>
                </a:solidFill>
                <a:latin typeface="JetBrains Mono" pitchFamily="49" charset="0"/>
                <a:ea typeface="JetBrains Mono" pitchFamily="49" charset="-122"/>
                <a:cs typeface="JetBrains Mono" pitchFamily="49" charset="-120"/>
              </a:rPr>
              <a:t> CheckpointFn = Callable[[str, str, str], tuple[bool, str]]</a:t>
            </a:r>
            <a:endParaRPr lang="en-US" sz="1200" dirty="0"/>
          </a:p>
        </p:txBody>
      </p:sp>
      <p:sp>
        <p:nvSpPr>
          <p:cNvPr id="19" name="Shape 17"/>
          <p:cNvSpPr/>
          <p:nvPr/>
        </p:nvSpPr>
        <p:spPr>
          <a:xfrm>
            <a:off x="4946614" y="2115604"/>
            <a:ext cx="0" cy="205698"/>
          </a:xfrm>
          <a:prstGeom prst="line">
            <a:avLst/>
          </a:prstGeom>
          <a:noFill/>
          <a:ln w="38100">
            <a:solidFill>
              <a:srgbClr val="E8843F"/>
            </a:solidFill>
            <a:prstDash val="solid"/>
          </a:ln>
        </p:spPr>
        <p:txBody>
          <a:bodyPr/>
          <a:lstStyle/>
          <a:p>
            <a:endParaRPr lang="en-CN"/>
          </a:p>
        </p:txBody>
      </p:sp>
      <p:sp>
        <p:nvSpPr>
          <p:cNvPr id="20" name="Text 18"/>
          <p:cNvSpPr/>
          <p:nvPr/>
        </p:nvSpPr>
        <p:spPr>
          <a:xfrm>
            <a:off x="5105364" y="2321309"/>
            <a:ext cx="6278842" cy="231098"/>
          </a:xfrm>
          <a:prstGeom prst="rect">
            <a:avLst/>
          </a:prstGeom>
          <a:noFill/>
          <a:ln/>
        </p:spPr>
        <p:txBody>
          <a:bodyPr wrap="none" lIns="0" tIns="0" rIns="0" bIns="0" rtlCol="0" anchor="t">
            <a:normAutofit/>
          </a:bodyPr>
          <a:lstStyle/>
          <a:p>
            <a:pPr marL="0" indent="0" algn="l">
              <a:lnSpc>
                <a:spcPts val="1620"/>
              </a:lnSpc>
              <a:buNone/>
            </a:pPr>
            <a:r>
              <a:rPr lang="en-US" sz="1200" dirty="0">
                <a:solidFill>
                  <a:srgbClr val="7C8FA3"/>
                </a:solidFill>
                <a:latin typeface="JetBrains Mono" pitchFamily="49" charset="0"/>
                <a:ea typeface="JetBrains Mono" pitchFamily="49" charset="-122"/>
                <a:cs typeface="JetBrains Mono" pitchFamily="49" charset="-120"/>
              </a:rPr>
              <a:t>    ⋮</a:t>
            </a:r>
            <a:endParaRPr lang="en-US" sz="1200" dirty="0"/>
          </a:p>
        </p:txBody>
      </p:sp>
      <p:sp>
        <p:nvSpPr>
          <p:cNvPr id="21" name="Text 19"/>
          <p:cNvSpPr/>
          <p:nvPr/>
        </p:nvSpPr>
        <p:spPr>
          <a:xfrm>
            <a:off x="5105364" y="2527002"/>
            <a:ext cx="6278842" cy="231098"/>
          </a:xfrm>
          <a:prstGeom prst="rect">
            <a:avLst/>
          </a:prstGeom>
          <a:noFill/>
          <a:ln/>
        </p:spPr>
        <p:txBody>
          <a:bodyPr wrap="none" lIns="0" tIns="0" rIns="0" bIns="0" rtlCol="0" anchor="t">
            <a:normAutofit/>
          </a:bodyPr>
          <a:lstStyle/>
          <a:p>
            <a:pPr marL="0" indent="0" algn="l">
              <a:lnSpc>
                <a:spcPts val="1620"/>
              </a:lnSpc>
              <a:buNone/>
            </a:pPr>
            <a:r>
              <a:rPr lang="en-US" sz="1200" dirty="0">
                <a:solidFill>
                  <a:srgbClr val="7C8FA3"/>
                </a:solidFill>
                <a:latin typeface="JetBrains Mono" pitchFamily="49" charset="0"/>
                <a:ea typeface="JetBrains Mono" pitchFamily="49" charset="-122"/>
                <a:cs typeface="JetBrains Mono" pitchFamily="49" charset="-120"/>
              </a:rPr>
              <a:t>078</a:t>
            </a:r>
            <a:r>
              <a:rPr lang="en-US" sz="1200" dirty="0">
                <a:solidFill>
                  <a:srgbClr val="D6DDE5"/>
                </a:solidFill>
                <a:latin typeface="JetBrains Mono" pitchFamily="49" charset="0"/>
                <a:ea typeface="JetBrains Mono" pitchFamily="49" charset="-122"/>
                <a:cs typeface="JetBrains Mono" pitchFamily="49" charset="-120"/>
              </a:rPr>
              <a:t> def run(self, scenario, *, checkpoint_fn=None):</a:t>
            </a:r>
            <a:endParaRPr lang="en-US" sz="1200" dirty="0"/>
          </a:p>
        </p:txBody>
      </p:sp>
      <p:sp>
        <p:nvSpPr>
          <p:cNvPr id="22" name="Text 20"/>
          <p:cNvSpPr/>
          <p:nvPr/>
        </p:nvSpPr>
        <p:spPr>
          <a:xfrm>
            <a:off x="4927564" y="2732708"/>
            <a:ext cx="6451564" cy="205698"/>
          </a:xfrm>
          <a:prstGeom prst="rect">
            <a:avLst/>
          </a:prstGeom>
          <a:solidFill>
            <a:srgbClr val="3A2B20"/>
          </a:solidFill>
          <a:ln/>
        </p:spPr>
        <p:txBody>
          <a:bodyPr wrap="none" lIns="177223" tIns="0" rIns="0" bIns="0" rtlCol="0" anchor="t">
            <a:normAutofit/>
          </a:bodyPr>
          <a:lstStyle/>
          <a:p>
            <a:pPr marL="0" indent="0" algn="l">
              <a:lnSpc>
                <a:spcPts val="1620"/>
              </a:lnSpc>
              <a:buNone/>
            </a:pPr>
            <a:r>
              <a:rPr lang="en-US" sz="1200" dirty="0">
                <a:solidFill>
                  <a:srgbClr val="7C8FA3"/>
                </a:solidFill>
                <a:latin typeface="JetBrains Mono" pitchFamily="49" charset="0"/>
                <a:ea typeface="JetBrains Mono" pitchFamily="49" charset="-122"/>
                <a:cs typeface="JetBrains Mono" pitchFamily="49" charset="-120"/>
              </a:rPr>
              <a:t>080</a:t>
            </a:r>
            <a:r>
              <a:rPr lang="en-US" sz="1200" dirty="0">
                <a:solidFill>
                  <a:srgbClr val="D6DDE5"/>
                </a:solidFill>
                <a:latin typeface="JetBrains Mono" pitchFamily="49" charset="0"/>
                <a:ea typeface="JetBrains Mono" pitchFamily="49" charset="-122"/>
                <a:cs typeface="JetBrains Mono" pitchFamily="49" charset="-120"/>
              </a:rPr>
              <a:t>   check = checkpoint_fn or (lambda *_: (True, "")) </a:t>
            </a:r>
            <a:r>
              <a:rPr lang="en-US" sz="1200" b="1" dirty="0">
                <a:solidFill>
                  <a:srgbClr val="F2A46B"/>
                </a:solidFill>
                <a:latin typeface="JetBrains Mono" pitchFamily="49" charset="0"/>
                <a:ea typeface="JetBrains Mono" pitchFamily="49" charset="-122"/>
                <a:cs typeface="JetBrains Mono" pitchFamily="49" charset="-120"/>
              </a:rPr>
              <a:t>← 1</a:t>
            </a:r>
            <a:endParaRPr lang="en-US" sz="1200" dirty="0"/>
          </a:p>
        </p:txBody>
      </p:sp>
      <p:sp>
        <p:nvSpPr>
          <p:cNvPr id="23" name="Shape 21"/>
          <p:cNvSpPr/>
          <p:nvPr/>
        </p:nvSpPr>
        <p:spPr>
          <a:xfrm>
            <a:off x="4946614" y="2732708"/>
            <a:ext cx="0" cy="205698"/>
          </a:xfrm>
          <a:prstGeom prst="line">
            <a:avLst/>
          </a:prstGeom>
          <a:noFill/>
          <a:ln w="38100">
            <a:solidFill>
              <a:srgbClr val="E8843F"/>
            </a:solidFill>
            <a:prstDash val="solid"/>
          </a:ln>
        </p:spPr>
        <p:txBody>
          <a:bodyPr/>
          <a:lstStyle/>
          <a:p>
            <a:endParaRPr lang="en-CN"/>
          </a:p>
        </p:txBody>
      </p:sp>
      <p:sp>
        <p:nvSpPr>
          <p:cNvPr id="24" name="Text 22"/>
          <p:cNvSpPr/>
          <p:nvPr/>
        </p:nvSpPr>
        <p:spPr>
          <a:xfrm>
            <a:off x="5105364" y="2938400"/>
            <a:ext cx="6278842" cy="231098"/>
          </a:xfrm>
          <a:prstGeom prst="rect">
            <a:avLst/>
          </a:prstGeom>
          <a:noFill/>
          <a:ln/>
        </p:spPr>
        <p:txBody>
          <a:bodyPr wrap="none" lIns="0" tIns="0" rIns="0" bIns="0" rtlCol="0" anchor="t">
            <a:normAutofit/>
          </a:bodyPr>
          <a:lstStyle/>
          <a:p>
            <a:pPr marL="0" indent="0" algn="l">
              <a:lnSpc>
                <a:spcPts val="1620"/>
              </a:lnSpc>
              <a:buNone/>
            </a:pPr>
            <a:r>
              <a:rPr lang="en-US" sz="1200" dirty="0">
                <a:solidFill>
                  <a:srgbClr val="7C8FA3"/>
                </a:solidFill>
                <a:latin typeface="JetBrains Mono" pitchFamily="49" charset="0"/>
                <a:ea typeface="JetBrains Mono" pitchFamily="49" charset="-122"/>
                <a:cs typeface="JetBrains Mono" pitchFamily="49" charset="-120"/>
              </a:rPr>
              <a:t>084</a:t>
            </a:r>
            <a:r>
              <a:rPr lang="en-US" sz="1200" dirty="0">
                <a:solidFill>
                  <a:srgbClr val="D6DDE5"/>
                </a:solidFill>
                <a:latin typeface="JetBrains Mono" pitchFamily="49" charset="0"/>
                <a:ea typeface="JetBrains Mono" pitchFamily="49" charset="-122"/>
                <a:cs typeface="JetBrains Mono" pitchFamily="49" charset="-120"/>
              </a:rPr>
              <a:t>   draft = self._draft(scenario)</a:t>
            </a:r>
            <a:endParaRPr lang="en-US" sz="1200" dirty="0"/>
          </a:p>
        </p:txBody>
      </p:sp>
      <p:sp>
        <p:nvSpPr>
          <p:cNvPr id="25" name="Text 23"/>
          <p:cNvSpPr/>
          <p:nvPr/>
        </p:nvSpPr>
        <p:spPr>
          <a:xfrm>
            <a:off x="4927564" y="3144106"/>
            <a:ext cx="6451564" cy="205698"/>
          </a:xfrm>
          <a:prstGeom prst="rect">
            <a:avLst/>
          </a:prstGeom>
          <a:solidFill>
            <a:srgbClr val="3A2B20"/>
          </a:solidFill>
          <a:ln/>
        </p:spPr>
        <p:txBody>
          <a:bodyPr wrap="none" lIns="177223" tIns="0" rIns="0" bIns="0" rtlCol="0" anchor="t">
            <a:normAutofit/>
          </a:bodyPr>
          <a:lstStyle/>
          <a:p>
            <a:pPr marL="0" indent="0" algn="l">
              <a:lnSpc>
                <a:spcPts val="1620"/>
              </a:lnSpc>
              <a:buNone/>
            </a:pPr>
            <a:r>
              <a:rPr lang="en-US" sz="1200" dirty="0">
                <a:solidFill>
                  <a:srgbClr val="7C8FA3"/>
                </a:solidFill>
                <a:latin typeface="JetBrains Mono" pitchFamily="49" charset="0"/>
                <a:ea typeface="JetBrains Mono" pitchFamily="49" charset="-122"/>
                <a:cs typeface="JetBrains Mono" pitchFamily="49" charset="-120"/>
              </a:rPr>
              <a:t>088</a:t>
            </a:r>
            <a:r>
              <a:rPr lang="en-US" sz="1200" dirty="0">
                <a:solidFill>
                  <a:srgbClr val="D6DDE5"/>
                </a:solidFill>
                <a:latin typeface="JetBrains Mono" pitchFamily="49" charset="0"/>
                <a:ea typeface="JetBrains Mono" pitchFamily="49" charset="-122"/>
                <a:cs typeface="JetBrains Mono" pitchFamily="49" charset="-120"/>
              </a:rPr>
              <a:t>   approved, feedback = check("Draft Review", draft, …) </a:t>
            </a:r>
            <a:r>
              <a:rPr lang="en-US" sz="1200" b="1" dirty="0">
                <a:solidFill>
                  <a:srgbClr val="F2A46B"/>
                </a:solidFill>
                <a:latin typeface="JetBrains Mono" pitchFamily="49" charset="0"/>
                <a:ea typeface="JetBrains Mono" pitchFamily="49" charset="-122"/>
                <a:cs typeface="JetBrains Mono" pitchFamily="49" charset="-120"/>
              </a:rPr>
              <a:t>← 2</a:t>
            </a:r>
            <a:endParaRPr lang="en-US" sz="1200" dirty="0"/>
          </a:p>
        </p:txBody>
      </p:sp>
      <p:sp>
        <p:nvSpPr>
          <p:cNvPr id="26" name="Shape 24"/>
          <p:cNvSpPr/>
          <p:nvPr/>
        </p:nvSpPr>
        <p:spPr>
          <a:xfrm>
            <a:off x="4946614" y="3144106"/>
            <a:ext cx="0" cy="205698"/>
          </a:xfrm>
          <a:prstGeom prst="line">
            <a:avLst/>
          </a:prstGeom>
          <a:noFill/>
          <a:ln w="38100">
            <a:solidFill>
              <a:srgbClr val="E8843F"/>
            </a:solidFill>
            <a:prstDash val="solid"/>
          </a:ln>
        </p:spPr>
        <p:txBody>
          <a:bodyPr/>
          <a:lstStyle/>
          <a:p>
            <a:endParaRPr lang="en-CN"/>
          </a:p>
        </p:txBody>
      </p:sp>
      <p:sp>
        <p:nvSpPr>
          <p:cNvPr id="27" name="Text 25"/>
          <p:cNvSpPr/>
          <p:nvPr/>
        </p:nvSpPr>
        <p:spPr>
          <a:xfrm>
            <a:off x="4927564" y="3349799"/>
            <a:ext cx="6451564" cy="205698"/>
          </a:xfrm>
          <a:prstGeom prst="rect">
            <a:avLst/>
          </a:prstGeom>
          <a:solidFill>
            <a:srgbClr val="3A2B20"/>
          </a:solidFill>
          <a:ln/>
        </p:spPr>
        <p:txBody>
          <a:bodyPr wrap="none" lIns="177223" tIns="0" rIns="0" bIns="0" rtlCol="0" anchor="t">
            <a:normAutofit/>
          </a:bodyPr>
          <a:lstStyle/>
          <a:p>
            <a:pPr marL="0" indent="0" algn="l">
              <a:lnSpc>
                <a:spcPts val="1620"/>
              </a:lnSpc>
              <a:buNone/>
            </a:pPr>
            <a:r>
              <a:rPr lang="en-US" sz="1200" dirty="0">
                <a:solidFill>
                  <a:srgbClr val="7C8FA3"/>
                </a:solidFill>
                <a:latin typeface="JetBrains Mono" pitchFamily="49" charset="0"/>
                <a:ea typeface="JetBrains Mono" pitchFamily="49" charset="-122"/>
                <a:cs typeface="JetBrains Mono" pitchFamily="49" charset="-120"/>
              </a:rPr>
              <a:t>094</a:t>
            </a:r>
            <a:r>
              <a:rPr lang="en-US" sz="1200" dirty="0">
                <a:solidFill>
                  <a:srgbClr val="D6DDE5"/>
                </a:solidFill>
                <a:latin typeface="JetBrains Mono" pitchFamily="49" charset="0"/>
                <a:ea typeface="JetBrains Mono" pitchFamily="49" charset="-122"/>
                <a:cs typeface="JetBrains Mono" pitchFamily="49" charset="-120"/>
              </a:rPr>
              <a:t>   if approved and not feedback: </a:t>
            </a:r>
            <a:r>
              <a:rPr lang="en-US" sz="1200" b="1" dirty="0">
                <a:solidFill>
                  <a:srgbClr val="F2A46B"/>
                </a:solidFill>
                <a:latin typeface="JetBrains Mono" pitchFamily="49" charset="0"/>
                <a:ea typeface="JetBrains Mono" pitchFamily="49" charset="-122"/>
                <a:cs typeface="JetBrains Mono" pitchFamily="49" charset="-120"/>
              </a:rPr>
              <a:t>← 3</a:t>
            </a:r>
            <a:endParaRPr lang="en-US" sz="1200" dirty="0"/>
          </a:p>
        </p:txBody>
      </p:sp>
      <p:sp>
        <p:nvSpPr>
          <p:cNvPr id="28" name="Shape 26"/>
          <p:cNvSpPr/>
          <p:nvPr/>
        </p:nvSpPr>
        <p:spPr>
          <a:xfrm>
            <a:off x="4946614" y="3349799"/>
            <a:ext cx="0" cy="205698"/>
          </a:xfrm>
          <a:prstGeom prst="line">
            <a:avLst/>
          </a:prstGeom>
          <a:noFill/>
          <a:ln w="38100">
            <a:solidFill>
              <a:srgbClr val="E8843F"/>
            </a:solidFill>
            <a:prstDash val="solid"/>
          </a:ln>
        </p:spPr>
        <p:txBody>
          <a:bodyPr/>
          <a:lstStyle/>
          <a:p>
            <a:endParaRPr lang="en-CN"/>
          </a:p>
        </p:txBody>
      </p:sp>
      <p:sp>
        <p:nvSpPr>
          <p:cNvPr id="29" name="Text 27"/>
          <p:cNvSpPr/>
          <p:nvPr/>
        </p:nvSpPr>
        <p:spPr>
          <a:xfrm>
            <a:off x="4927564" y="3555504"/>
            <a:ext cx="6451564" cy="205698"/>
          </a:xfrm>
          <a:prstGeom prst="rect">
            <a:avLst/>
          </a:prstGeom>
          <a:solidFill>
            <a:srgbClr val="3A2B20"/>
          </a:solidFill>
          <a:ln/>
        </p:spPr>
        <p:txBody>
          <a:bodyPr wrap="none" lIns="177223" tIns="0" rIns="0" bIns="0" rtlCol="0" anchor="t">
            <a:normAutofit/>
          </a:bodyPr>
          <a:lstStyle/>
          <a:p>
            <a:pPr marL="0" indent="0" algn="l">
              <a:lnSpc>
                <a:spcPts val="1620"/>
              </a:lnSpc>
              <a:buNone/>
            </a:pPr>
            <a:r>
              <a:rPr lang="en-US" sz="1200" dirty="0">
                <a:solidFill>
                  <a:srgbClr val="7C8FA3"/>
                </a:solidFill>
                <a:latin typeface="JetBrains Mono" pitchFamily="49" charset="0"/>
                <a:ea typeface="JetBrains Mono" pitchFamily="49" charset="-122"/>
                <a:cs typeface="JetBrains Mono" pitchFamily="49" charset="-120"/>
              </a:rPr>
              <a:t>095</a:t>
            </a:r>
            <a:r>
              <a:rPr lang="en-US" sz="1200" dirty="0">
                <a:solidFill>
                  <a:srgbClr val="D6DDE5"/>
                </a:solidFill>
                <a:latin typeface="JetBrains Mono" pitchFamily="49" charset="0"/>
                <a:ea typeface="JetBrains Mono" pitchFamily="49" charset="-122"/>
                <a:cs typeface="JetBrains Mono" pitchFamily="49" charset="-120"/>
              </a:rPr>
              <a:t>     return draft </a:t>
            </a:r>
            <a:r>
              <a:rPr lang="en-US" sz="1200" dirty="0">
                <a:solidFill>
                  <a:srgbClr val="8798AA"/>
                </a:solidFill>
                <a:latin typeface="JetBrains Mono" pitchFamily="49" charset="0"/>
                <a:ea typeface="JetBrains Mono" pitchFamily="49" charset="-122"/>
                <a:cs typeface="JetBrains Mono" pitchFamily="49" charset="-120"/>
              </a:rPr>
              <a:t># (y) approve</a:t>
            </a:r>
            <a:endParaRPr lang="en-US" sz="1200" dirty="0"/>
          </a:p>
        </p:txBody>
      </p:sp>
      <p:sp>
        <p:nvSpPr>
          <p:cNvPr id="30" name="Shape 28"/>
          <p:cNvSpPr/>
          <p:nvPr/>
        </p:nvSpPr>
        <p:spPr>
          <a:xfrm>
            <a:off x="4946614" y="3555504"/>
            <a:ext cx="0" cy="205698"/>
          </a:xfrm>
          <a:prstGeom prst="line">
            <a:avLst/>
          </a:prstGeom>
          <a:noFill/>
          <a:ln w="38100">
            <a:solidFill>
              <a:srgbClr val="E8843F"/>
            </a:solidFill>
            <a:prstDash val="solid"/>
          </a:ln>
        </p:spPr>
        <p:txBody>
          <a:bodyPr/>
          <a:lstStyle/>
          <a:p>
            <a:endParaRPr lang="en-CN"/>
          </a:p>
        </p:txBody>
      </p:sp>
      <p:sp>
        <p:nvSpPr>
          <p:cNvPr id="31" name="Text 29"/>
          <p:cNvSpPr/>
          <p:nvPr/>
        </p:nvSpPr>
        <p:spPr>
          <a:xfrm>
            <a:off x="4927564" y="3761197"/>
            <a:ext cx="6451564" cy="205698"/>
          </a:xfrm>
          <a:prstGeom prst="rect">
            <a:avLst/>
          </a:prstGeom>
          <a:solidFill>
            <a:srgbClr val="3A2B20"/>
          </a:solidFill>
          <a:ln/>
        </p:spPr>
        <p:txBody>
          <a:bodyPr wrap="none" lIns="177223" tIns="0" rIns="0" bIns="0" rtlCol="0" anchor="t">
            <a:normAutofit/>
          </a:bodyPr>
          <a:lstStyle/>
          <a:p>
            <a:pPr marL="0" indent="0" algn="l">
              <a:lnSpc>
                <a:spcPts val="1620"/>
              </a:lnSpc>
              <a:buNone/>
            </a:pPr>
            <a:r>
              <a:rPr lang="en-US" sz="1200" dirty="0">
                <a:solidFill>
                  <a:srgbClr val="7C8FA3"/>
                </a:solidFill>
                <a:latin typeface="JetBrains Mono" pitchFamily="49" charset="0"/>
                <a:ea typeface="JetBrains Mono" pitchFamily="49" charset="-122"/>
                <a:cs typeface="JetBrains Mono" pitchFamily="49" charset="-120"/>
              </a:rPr>
              <a:t>097</a:t>
            </a:r>
            <a:r>
              <a:rPr lang="en-US" sz="1200" dirty="0">
                <a:solidFill>
                  <a:srgbClr val="D6DDE5"/>
                </a:solidFill>
                <a:latin typeface="JetBrains Mono" pitchFamily="49" charset="0"/>
                <a:ea typeface="JetBrains Mono" pitchFamily="49" charset="-122"/>
                <a:cs typeface="JetBrains Mono" pitchFamily="49" charset="-120"/>
              </a:rPr>
              <a:t>   if approved and feedback:</a:t>
            </a:r>
            <a:endParaRPr lang="en-US" sz="1200" dirty="0"/>
          </a:p>
        </p:txBody>
      </p:sp>
      <p:sp>
        <p:nvSpPr>
          <p:cNvPr id="32" name="Shape 30"/>
          <p:cNvSpPr/>
          <p:nvPr/>
        </p:nvSpPr>
        <p:spPr>
          <a:xfrm>
            <a:off x="4946614" y="3761197"/>
            <a:ext cx="0" cy="205698"/>
          </a:xfrm>
          <a:prstGeom prst="line">
            <a:avLst/>
          </a:prstGeom>
          <a:noFill/>
          <a:ln w="38100">
            <a:solidFill>
              <a:srgbClr val="E8843F"/>
            </a:solidFill>
            <a:prstDash val="solid"/>
          </a:ln>
        </p:spPr>
        <p:txBody>
          <a:bodyPr/>
          <a:lstStyle/>
          <a:p>
            <a:endParaRPr lang="en-CN"/>
          </a:p>
        </p:txBody>
      </p:sp>
      <p:sp>
        <p:nvSpPr>
          <p:cNvPr id="33" name="Text 31"/>
          <p:cNvSpPr/>
          <p:nvPr/>
        </p:nvSpPr>
        <p:spPr>
          <a:xfrm>
            <a:off x="4927564" y="3966902"/>
            <a:ext cx="6451564" cy="205698"/>
          </a:xfrm>
          <a:prstGeom prst="rect">
            <a:avLst/>
          </a:prstGeom>
          <a:solidFill>
            <a:srgbClr val="3A2B20"/>
          </a:solidFill>
          <a:ln/>
        </p:spPr>
        <p:txBody>
          <a:bodyPr wrap="none" lIns="177223" tIns="0" rIns="0" bIns="0" rtlCol="0" anchor="t">
            <a:normAutofit/>
          </a:bodyPr>
          <a:lstStyle/>
          <a:p>
            <a:pPr marL="0" indent="0" algn="l">
              <a:lnSpc>
                <a:spcPts val="1620"/>
              </a:lnSpc>
              <a:buNone/>
            </a:pPr>
            <a:r>
              <a:rPr lang="en-US" sz="1200" dirty="0">
                <a:solidFill>
                  <a:srgbClr val="7C8FA3"/>
                </a:solidFill>
                <a:latin typeface="JetBrains Mono" pitchFamily="49" charset="0"/>
                <a:ea typeface="JetBrains Mono" pitchFamily="49" charset="-122"/>
                <a:cs typeface="JetBrains Mono" pitchFamily="49" charset="-120"/>
              </a:rPr>
              <a:t>098</a:t>
            </a:r>
            <a:r>
              <a:rPr lang="en-US" sz="1200" dirty="0">
                <a:solidFill>
                  <a:srgbClr val="D6DDE5"/>
                </a:solidFill>
                <a:latin typeface="JetBrains Mono" pitchFamily="49" charset="0"/>
                <a:ea typeface="JetBrains Mono" pitchFamily="49" charset="-122"/>
                <a:cs typeface="JetBrains Mono" pitchFamily="49" charset="-120"/>
              </a:rPr>
              <a:t>     return feedback </a:t>
            </a:r>
            <a:r>
              <a:rPr lang="en-US" sz="1200" dirty="0">
                <a:solidFill>
                  <a:srgbClr val="8798AA"/>
                </a:solidFill>
                <a:latin typeface="JetBrains Mono" pitchFamily="49" charset="0"/>
                <a:ea typeface="JetBrains Mono" pitchFamily="49" charset="-122"/>
                <a:cs typeface="JetBrains Mono" pitchFamily="49" charset="-120"/>
              </a:rPr>
              <a:t># (e) edit: human's text</a:t>
            </a:r>
            <a:endParaRPr lang="en-US" sz="1200" dirty="0"/>
          </a:p>
        </p:txBody>
      </p:sp>
      <p:sp>
        <p:nvSpPr>
          <p:cNvPr id="34" name="Shape 32"/>
          <p:cNvSpPr/>
          <p:nvPr/>
        </p:nvSpPr>
        <p:spPr>
          <a:xfrm>
            <a:off x="4946614" y="3966902"/>
            <a:ext cx="0" cy="205698"/>
          </a:xfrm>
          <a:prstGeom prst="line">
            <a:avLst/>
          </a:prstGeom>
          <a:noFill/>
          <a:ln w="38100">
            <a:solidFill>
              <a:srgbClr val="E8843F"/>
            </a:solidFill>
            <a:prstDash val="solid"/>
          </a:ln>
        </p:spPr>
        <p:txBody>
          <a:bodyPr/>
          <a:lstStyle/>
          <a:p>
            <a:endParaRPr lang="en-CN"/>
          </a:p>
        </p:txBody>
      </p:sp>
      <p:sp>
        <p:nvSpPr>
          <p:cNvPr id="35" name="Text 33"/>
          <p:cNvSpPr/>
          <p:nvPr/>
        </p:nvSpPr>
        <p:spPr>
          <a:xfrm>
            <a:off x="5105364" y="4172595"/>
            <a:ext cx="6278842" cy="231098"/>
          </a:xfrm>
          <a:prstGeom prst="rect">
            <a:avLst/>
          </a:prstGeom>
          <a:noFill/>
          <a:ln/>
        </p:spPr>
        <p:txBody>
          <a:bodyPr wrap="none" lIns="0" tIns="0" rIns="0" bIns="0" rtlCol="0" anchor="t">
            <a:normAutofit/>
          </a:bodyPr>
          <a:lstStyle/>
          <a:p>
            <a:pPr marL="0" indent="0" algn="l">
              <a:lnSpc>
                <a:spcPts val="1620"/>
              </a:lnSpc>
              <a:buNone/>
            </a:pPr>
            <a:r>
              <a:rPr lang="en-US" sz="1200" dirty="0">
                <a:solidFill>
                  <a:srgbClr val="7C8FA3"/>
                </a:solidFill>
                <a:latin typeface="JetBrains Mono" pitchFamily="49" charset="0"/>
                <a:ea typeface="JetBrains Mono" pitchFamily="49" charset="-122"/>
                <a:cs typeface="JetBrains Mono" pitchFamily="49" charset="-120"/>
              </a:rPr>
              <a:t>100</a:t>
            </a:r>
            <a:r>
              <a:rPr lang="en-US" sz="1200" dirty="0">
                <a:solidFill>
                  <a:srgbClr val="D6DDE5"/>
                </a:solidFill>
                <a:latin typeface="JetBrains Mono" pitchFamily="49" charset="0"/>
                <a:ea typeface="JetBrains Mono" pitchFamily="49" charset="-122"/>
                <a:cs typeface="JetBrains Mono" pitchFamily="49" charset="-120"/>
              </a:rPr>
              <a:t>   </a:t>
            </a:r>
            <a:r>
              <a:rPr lang="en-US" sz="1200" dirty="0">
                <a:solidFill>
                  <a:srgbClr val="8798AA"/>
                </a:solidFill>
                <a:latin typeface="JetBrains Mono" pitchFamily="49" charset="0"/>
                <a:ea typeface="JetBrains Mono" pitchFamily="49" charset="-122"/>
                <a:cs typeface="JetBrains Mono" pitchFamily="49" charset="-120"/>
              </a:rPr>
              <a:t># (n) rejected: enter revision loop</a:t>
            </a:r>
            <a:endParaRPr lang="en-US" sz="1200" dirty="0"/>
          </a:p>
        </p:txBody>
      </p:sp>
      <p:sp>
        <p:nvSpPr>
          <p:cNvPr id="36" name="Text 34"/>
          <p:cNvSpPr/>
          <p:nvPr/>
        </p:nvSpPr>
        <p:spPr>
          <a:xfrm>
            <a:off x="4927564" y="4378288"/>
            <a:ext cx="6451564" cy="205698"/>
          </a:xfrm>
          <a:prstGeom prst="rect">
            <a:avLst/>
          </a:prstGeom>
          <a:solidFill>
            <a:srgbClr val="3A2B20"/>
          </a:solidFill>
          <a:ln/>
        </p:spPr>
        <p:txBody>
          <a:bodyPr wrap="none" lIns="177223" tIns="0" rIns="0" bIns="0" rtlCol="0" anchor="t">
            <a:normAutofit/>
          </a:bodyPr>
          <a:lstStyle/>
          <a:p>
            <a:pPr marL="0" indent="0" algn="l">
              <a:lnSpc>
                <a:spcPts val="1620"/>
              </a:lnSpc>
              <a:buNone/>
            </a:pPr>
            <a:r>
              <a:rPr lang="en-US" sz="1200" dirty="0">
                <a:solidFill>
                  <a:srgbClr val="7C8FA3"/>
                </a:solidFill>
                <a:latin typeface="JetBrains Mono" pitchFamily="49" charset="0"/>
                <a:ea typeface="JetBrains Mono" pitchFamily="49" charset="-122"/>
                <a:cs typeface="JetBrains Mono" pitchFamily="49" charset="-120"/>
              </a:rPr>
              <a:t>101</a:t>
            </a:r>
            <a:r>
              <a:rPr lang="en-US" sz="1200" dirty="0">
                <a:solidFill>
                  <a:srgbClr val="D6DDE5"/>
                </a:solidFill>
                <a:latin typeface="JetBrains Mono" pitchFamily="49" charset="0"/>
                <a:ea typeface="JetBrains Mono" pitchFamily="49" charset="-122"/>
                <a:cs typeface="JetBrains Mono" pitchFamily="49" charset="-120"/>
              </a:rPr>
              <a:t>   for revision in range(1, MAX_REVISIONS + 1): </a:t>
            </a:r>
            <a:r>
              <a:rPr lang="en-US" sz="1200" b="1" dirty="0">
                <a:solidFill>
                  <a:srgbClr val="F2A46B"/>
                </a:solidFill>
                <a:latin typeface="JetBrains Mono" pitchFamily="49" charset="0"/>
                <a:ea typeface="JetBrains Mono" pitchFamily="49" charset="-122"/>
                <a:cs typeface="JetBrains Mono" pitchFamily="49" charset="-120"/>
              </a:rPr>
              <a:t>← 4</a:t>
            </a:r>
            <a:endParaRPr lang="en-US" sz="1200" dirty="0"/>
          </a:p>
        </p:txBody>
      </p:sp>
      <p:sp>
        <p:nvSpPr>
          <p:cNvPr id="37" name="Shape 35"/>
          <p:cNvSpPr/>
          <p:nvPr/>
        </p:nvSpPr>
        <p:spPr>
          <a:xfrm>
            <a:off x="4946614" y="4378288"/>
            <a:ext cx="0" cy="205698"/>
          </a:xfrm>
          <a:prstGeom prst="line">
            <a:avLst/>
          </a:prstGeom>
          <a:noFill/>
          <a:ln w="38100">
            <a:solidFill>
              <a:srgbClr val="E8843F"/>
            </a:solidFill>
            <a:prstDash val="solid"/>
          </a:ln>
        </p:spPr>
        <p:txBody>
          <a:bodyPr/>
          <a:lstStyle/>
          <a:p>
            <a:endParaRPr lang="en-CN"/>
          </a:p>
        </p:txBody>
      </p:sp>
      <p:sp>
        <p:nvSpPr>
          <p:cNvPr id="38" name="Text 36"/>
          <p:cNvSpPr/>
          <p:nvPr/>
        </p:nvSpPr>
        <p:spPr>
          <a:xfrm>
            <a:off x="5105364" y="4583993"/>
            <a:ext cx="6278842" cy="231098"/>
          </a:xfrm>
          <a:prstGeom prst="rect">
            <a:avLst/>
          </a:prstGeom>
          <a:noFill/>
          <a:ln/>
        </p:spPr>
        <p:txBody>
          <a:bodyPr wrap="none" lIns="0" tIns="0" rIns="0" bIns="0" rtlCol="0" anchor="t">
            <a:normAutofit/>
          </a:bodyPr>
          <a:lstStyle/>
          <a:p>
            <a:pPr marL="0" indent="0" algn="l">
              <a:lnSpc>
                <a:spcPts val="1620"/>
              </a:lnSpc>
              <a:buNone/>
            </a:pPr>
            <a:r>
              <a:rPr lang="en-US" sz="1200" dirty="0">
                <a:solidFill>
                  <a:srgbClr val="7C8FA3"/>
                </a:solidFill>
                <a:latin typeface="JetBrains Mono" pitchFamily="49" charset="0"/>
                <a:ea typeface="JetBrains Mono" pitchFamily="49" charset="-122"/>
                <a:cs typeface="JetBrains Mono" pitchFamily="49" charset="-120"/>
              </a:rPr>
              <a:t>103</a:t>
            </a:r>
            <a:r>
              <a:rPr lang="en-US" sz="1200" dirty="0">
                <a:solidFill>
                  <a:srgbClr val="D6DDE5"/>
                </a:solidFill>
                <a:latin typeface="JetBrains Mono" pitchFamily="49" charset="0"/>
                <a:ea typeface="JetBrains Mono" pitchFamily="49" charset="-122"/>
                <a:cs typeface="JetBrains Mono" pitchFamily="49" charset="-120"/>
              </a:rPr>
              <a:t>     draft = self._revise(draft, feedback)</a:t>
            </a:r>
            <a:endParaRPr lang="en-US" sz="1200" dirty="0"/>
          </a:p>
        </p:txBody>
      </p:sp>
      <p:sp>
        <p:nvSpPr>
          <p:cNvPr id="39" name="Text 37"/>
          <p:cNvSpPr/>
          <p:nvPr/>
        </p:nvSpPr>
        <p:spPr>
          <a:xfrm>
            <a:off x="5105364" y="4789686"/>
            <a:ext cx="6278842" cy="231098"/>
          </a:xfrm>
          <a:prstGeom prst="rect">
            <a:avLst/>
          </a:prstGeom>
          <a:noFill/>
          <a:ln/>
        </p:spPr>
        <p:txBody>
          <a:bodyPr wrap="none" lIns="0" tIns="0" rIns="0" bIns="0" rtlCol="0" anchor="t">
            <a:normAutofit/>
          </a:bodyPr>
          <a:lstStyle/>
          <a:p>
            <a:pPr marL="0" indent="0" algn="l">
              <a:lnSpc>
                <a:spcPts val="1620"/>
              </a:lnSpc>
              <a:buNone/>
            </a:pPr>
            <a:r>
              <a:rPr lang="en-US" sz="1200" dirty="0">
                <a:solidFill>
                  <a:srgbClr val="7C8FA3"/>
                </a:solidFill>
                <a:latin typeface="JetBrains Mono" pitchFamily="49" charset="0"/>
                <a:ea typeface="JetBrains Mono" pitchFamily="49" charset="-122"/>
                <a:cs typeface="JetBrains Mono" pitchFamily="49" charset="-120"/>
              </a:rPr>
              <a:t>107</a:t>
            </a:r>
            <a:r>
              <a:rPr lang="en-US" sz="1200" dirty="0">
                <a:solidFill>
                  <a:srgbClr val="D6DDE5"/>
                </a:solidFill>
                <a:latin typeface="JetBrains Mono" pitchFamily="49" charset="0"/>
                <a:ea typeface="JetBrains Mono" pitchFamily="49" charset="-122"/>
                <a:cs typeface="JetBrains Mono" pitchFamily="49" charset="-120"/>
              </a:rPr>
              <a:t>     approved, feedback = check("Revision Review", …)</a:t>
            </a:r>
            <a:endParaRPr lang="en-US" sz="1200" dirty="0"/>
          </a:p>
        </p:txBody>
      </p:sp>
      <p:sp>
        <p:nvSpPr>
          <p:cNvPr id="40" name="Text 38"/>
          <p:cNvSpPr/>
          <p:nvPr/>
        </p:nvSpPr>
        <p:spPr>
          <a:xfrm>
            <a:off x="5105364" y="4995391"/>
            <a:ext cx="6278842" cy="231098"/>
          </a:xfrm>
          <a:prstGeom prst="rect">
            <a:avLst/>
          </a:prstGeom>
          <a:noFill/>
          <a:ln/>
        </p:spPr>
        <p:txBody>
          <a:bodyPr wrap="none" lIns="0" tIns="0" rIns="0" bIns="0" rtlCol="0" anchor="t">
            <a:normAutofit/>
          </a:bodyPr>
          <a:lstStyle/>
          <a:p>
            <a:pPr marL="0" indent="0" algn="l">
              <a:lnSpc>
                <a:spcPts val="1620"/>
              </a:lnSpc>
              <a:buNone/>
            </a:pPr>
            <a:r>
              <a:rPr lang="en-US" sz="1200" dirty="0">
                <a:solidFill>
                  <a:srgbClr val="7C8FA3"/>
                </a:solidFill>
                <a:latin typeface="JetBrains Mono" pitchFamily="49" charset="0"/>
                <a:ea typeface="JetBrains Mono" pitchFamily="49" charset="-122"/>
                <a:cs typeface="JetBrains Mono" pitchFamily="49" charset="-120"/>
              </a:rPr>
              <a:t>113</a:t>
            </a:r>
            <a:r>
              <a:rPr lang="en-US" sz="1200" dirty="0">
                <a:solidFill>
                  <a:srgbClr val="D6DDE5"/>
                </a:solidFill>
                <a:latin typeface="JetBrains Mono" pitchFamily="49" charset="0"/>
                <a:ea typeface="JetBrains Mono" pitchFamily="49" charset="-122"/>
                <a:cs typeface="JetBrains Mono" pitchFamily="49" charset="-120"/>
              </a:rPr>
              <a:t>     </a:t>
            </a:r>
            <a:r>
              <a:rPr lang="en-US" sz="1200" dirty="0">
                <a:solidFill>
                  <a:srgbClr val="8798AA"/>
                </a:solidFill>
                <a:latin typeface="JetBrains Mono" pitchFamily="49" charset="0"/>
                <a:ea typeface="JetBrains Mono" pitchFamily="49" charset="-122"/>
                <a:cs typeface="JetBrains Mono" pitchFamily="49" charset="-120"/>
              </a:rPr>
              <a:t># same approve / edit returns</a:t>
            </a:r>
            <a:endParaRPr lang="en-US" sz="1200" dirty="0"/>
          </a:p>
        </p:txBody>
      </p:sp>
      <p:sp>
        <p:nvSpPr>
          <p:cNvPr id="41" name="Text 39"/>
          <p:cNvSpPr/>
          <p:nvPr/>
        </p:nvSpPr>
        <p:spPr>
          <a:xfrm>
            <a:off x="5105364" y="5201084"/>
            <a:ext cx="6278842" cy="231098"/>
          </a:xfrm>
          <a:prstGeom prst="rect">
            <a:avLst/>
          </a:prstGeom>
          <a:noFill/>
          <a:ln/>
        </p:spPr>
        <p:txBody>
          <a:bodyPr wrap="none" lIns="0" tIns="0" rIns="0" bIns="0" rtlCol="0" anchor="t">
            <a:normAutofit/>
          </a:bodyPr>
          <a:lstStyle/>
          <a:p>
            <a:pPr marL="0" indent="0" algn="l">
              <a:lnSpc>
                <a:spcPts val="1620"/>
              </a:lnSpc>
              <a:buNone/>
            </a:pPr>
            <a:r>
              <a:rPr lang="en-US" sz="1200" dirty="0">
                <a:solidFill>
                  <a:srgbClr val="7C8FA3"/>
                </a:solidFill>
                <a:latin typeface="JetBrains Mono" pitchFamily="49" charset="0"/>
                <a:ea typeface="JetBrains Mono" pitchFamily="49" charset="-122"/>
                <a:cs typeface="JetBrains Mono" pitchFamily="49" charset="-120"/>
              </a:rPr>
              <a:t>119</a:t>
            </a:r>
            <a:r>
              <a:rPr lang="en-US" sz="1200" dirty="0">
                <a:solidFill>
                  <a:srgbClr val="D6DDE5"/>
                </a:solidFill>
                <a:latin typeface="JetBrains Mono" pitchFamily="49" charset="0"/>
                <a:ea typeface="JetBrains Mono" pitchFamily="49" charset="-122"/>
                <a:cs typeface="JetBrains Mono" pitchFamily="49" charset="-120"/>
              </a:rPr>
              <a:t>   return draft </a:t>
            </a:r>
            <a:r>
              <a:rPr lang="en-US" sz="1200" dirty="0">
                <a:solidFill>
                  <a:srgbClr val="8798AA"/>
                </a:solidFill>
                <a:latin typeface="JetBrains Mono" pitchFamily="49" charset="0"/>
                <a:ea typeface="JetBrains Mono" pitchFamily="49" charset="-122"/>
                <a:cs typeface="JetBrains Mono" pitchFamily="49" charset="-120"/>
              </a:rPr>
              <a:t># max revisions reached</a:t>
            </a:r>
            <a:endParaRPr lang="en-US" sz="1200" dirty="0"/>
          </a:p>
        </p:txBody>
      </p:sp>
      <p:sp>
        <p:nvSpPr>
          <p:cNvPr id="42" name="Text 40"/>
          <p:cNvSpPr/>
          <p:nvPr/>
        </p:nvSpPr>
        <p:spPr>
          <a:xfrm>
            <a:off x="812782" y="6238280"/>
            <a:ext cx="967994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7684"/>
                </a:solidFill>
                <a:latin typeface="IBM Plex Sans" pitchFamily="34" charset="0"/>
                <a:ea typeface="IBM Plex Sans" pitchFamily="34" charset="-122"/>
                <a:cs typeface="IBM Plex Sans" pitchFamily="34" charset="-120"/>
              </a:rPr>
              <a:t>06-human-in-the-loop/01_human_in_the_loop.py L46–119 · lines condensed</a:t>
            </a:r>
            <a:endParaRPr lang="en-US" sz="1200" dirty="0"/>
          </a:p>
        </p:txBody>
      </p:sp>
      <p:sp>
        <p:nvSpPr>
          <p:cNvPr id="43" name="Text 41"/>
          <p:cNvSpPr/>
          <p:nvPr/>
        </p:nvSpPr>
        <p:spPr>
          <a:xfrm>
            <a:off x="10312418" y="6238280"/>
            <a:ext cx="1066800" cy="238720"/>
          </a:xfrm>
          <a:prstGeom prst="rect">
            <a:avLst/>
          </a:prstGeom>
          <a:noFill/>
          <a:ln/>
        </p:spPr>
        <p:txBody>
          <a:bodyPr wrap="square" lIns="0" tIns="0" rIns="0" bIns="0" rtlCol="0" anchor="t">
            <a:normAutofit/>
          </a:bodyPr>
          <a:lstStyle/>
          <a:p>
            <a:pPr marL="0" indent="0" algn="r">
              <a:lnSpc>
                <a:spcPts val="1680"/>
              </a:lnSpc>
              <a:buNone/>
            </a:pPr>
            <a:r>
              <a:rPr lang="en-US" sz="1200" b="1" dirty="0">
                <a:solidFill>
                  <a:srgbClr val="6A7684"/>
                </a:solidFill>
                <a:latin typeface="IBM Plex Sans" pitchFamily="34" charset="0"/>
                <a:ea typeface="IBM Plex Sans" pitchFamily="34" charset="-122"/>
                <a:cs typeface="IBM Plex Sans" pitchFamily="34" charset="-120"/>
              </a:rPr>
              <a:t>20 / 27</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4F2EC"/>
        </a:solidFill>
        <a:effectLst/>
      </p:bgPr>
    </p:bg>
    <p:spTree>
      <p:nvGrpSpPr>
        <p:cNvPr id="1" name=""/>
        <p:cNvGrpSpPr/>
        <p:nvPr/>
      </p:nvGrpSpPr>
      <p:grpSpPr>
        <a:xfrm>
          <a:off x="0" y="0"/>
          <a:ext cx="0" cy="0"/>
          <a:chOff x="0" y="0"/>
          <a:chExt cx="0" cy="0"/>
        </a:xfrm>
      </p:grpSpPr>
      <p:sp>
        <p:nvSpPr>
          <p:cNvPr id="2" name="Text 0"/>
          <p:cNvSpPr/>
          <p:nvPr/>
        </p:nvSpPr>
        <p:spPr>
          <a:xfrm>
            <a:off x="812782" y="711163"/>
            <a:ext cx="10883429"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04E17"/>
                </a:solidFill>
                <a:latin typeface="IBM Plex Sans" pitchFamily="34" charset="0"/>
                <a:ea typeface="IBM Plex Sans" pitchFamily="34" charset="-122"/>
                <a:cs typeface="IBM Plex Sans" pitchFamily="34" charset="-120"/>
              </a:rPr>
              <a:t>06 · HUMAN-IN-THE-LOOP · IN CODE</a:t>
            </a:r>
            <a:endParaRPr lang="en-US" sz="1200" dirty="0"/>
          </a:p>
        </p:txBody>
      </p:sp>
      <p:sp>
        <p:nvSpPr>
          <p:cNvPr id="3" name="Text 1"/>
          <p:cNvSpPr>
            <a:spLocks noGrp="1"/>
          </p:cNvSpPr>
          <p:nvPr>
            <p:ph type="title"/>
          </p:nvPr>
        </p:nvSpPr>
        <p:spPr>
          <a:xfrm>
            <a:off x="812782" y="1000658"/>
            <a:ext cx="10883429" cy="444464"/>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6212C"/>
                </a:solidFill>
                <a:latin typeface="IBM Plex Sans" pitchFamily="34" charset="0"/>
                <a:ea typeface="IBM Plex Sans" pitchFamily="34" charset="-122"/>
                <a:cs typeface="IBM Plex Sans" pitchFamily="34" charset="-120"/>
              </a:rPr>
              <a:t>Keystrokes in, a (bool, str) tuple out</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4327" y="1685267"/>
          <a:ext cx="3798455" cy="1664034"/>
        </p:xfrm>
        <a:graphic>
          <a:graphicData uri="http://schemas.openxmlformats.org/drawingml/2006/table">
            <a:tbl>
              <a:tblPr/>
              <a:tblGrid>
                <a:gridCol w="531784">
                  <a:extLst>
                    <a:ext uri="{9D8B030D-6E8A-4147-A177-3AD203B41FA5}">
                      <a16:colId xmlns:a16="http://schemas.microsoft.com/office/drawing/2014/main" val="20000"/>
                    </a:ext>
                  </a:extLst>
                </a:gridCol>
                <a:gridCol w="1139536">
                  <a:extLst>
                    <a:ext uri="{9D8B030D-6E8A-4147-A177-3AD203B41FA5}">
                      <a16:colId xmlns:a16="http://schemas.microsoft.com/office/drawing/2014/main" val="20001"/>
                    </a:ext>
                  </a:extLst>
                </a:gridCol>
                <a:gridCol w="2127135">
                  <a:extLst>
                    <a:ext uri="{9D8B030D-6E8A-4147-A177-3AD203B41FA5}">
                      <a16:colId xmlns:a16="http://schemas.microsoft.com/office/drawing/2014/main" val="20002"/>
                    </a:ext>
                  </a:extLst>
                </a:gridCol>
              </a:tblGrid>
              <a:tr h="358225">
                <a:tc>
                  <a:txBody>
                    <a:bodyPr/>
                    <a:lstStyle/>
                    <a:p>
                      <a:pPr marL="0" indent="0">
                        <a:lnSpc>
                          <a:spcPts val="1820"/>
                        </a:lnSpc>
                        <a:buNone/>
                      </a:pPr>
                      <a:r>
                        <a:rPr lang="en-US" sz="1300" b="1" dirty="0">
                          <a:solidFill>
                            <a:srgbClr val="1A2633"/>
                          </a:solidFill>
                          <a:latin typeface="IBM Plex Sans" pitchFamily="34" charset="0"/>
                          <a:ea typeface="IBM Plex Sans" pitchFamily="34" charset="-122"/>
                          <a:cs typeface="IBM Plex Sans" pitchFamily="34" charset="-120"/>
                        </a:rPr>
                        <a:t>#</a:t>
                      </a:r>
                      <a:endParaRPr lang="en-US" sz="1300" dirty="0">
                        <a:latin typeface="IBM Plex Sans" charset="0"/>
                        <a:ea typeface="IBM Plex Sans" charset="0"/>
                        <a:cs typeface="IBM Plex Sans" charset="0"/>
                      </a:endParaRPr>
                    </a:p>
                  </a:txBody>
                  <a:tcPr marL="57785" marR="57785" marT="57785" marB="57785">
                    <a:lnL w="12700" cap="flat" cmpd="sng" algn="ctr">
                      <a:solidFill>
                        <a:srgbClr val="C3C1BC"/>
                      </a:solidFill>
                      <a:prstDash val="solid"/>
                      <a:round/>
                      <a:headEnd type="none" w="med" len="med"/>
                      <a:tailEnd type="none" w="med" len="med"/>
                    </a:lnL>
                    <a:lnR w="12700" cap="flat" cmpd="sng" algn="ctr">
                      <a:solidFill>
                        <a:srgbClr val="B5B3AF"/>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B5B3AF"/>
                      </a:solidFill>
                      <a:prstDash val="solid"/>
                      <a:round/>
                      <a:headEnd type="none" w="med" len="med"/>
                      <a:tailEnd type="none" w="med" len="med"/>
                    </a:lnB>
                    <a:solidFill>
                      <a:srgbClr val="E2E0DB"/>
                    </a:solidFill>
                  </a:tcPr>
                </a:tc>
                <a:tc>
                  <a:txBody>
                    <a:bodyPr/>
                    <a:lstStyle/>
                    <a:p>
                      <a:pPr marL="0" indent="0">
                        <a:lnSpc>
                          <a:spcPts val="1820"/>
                        </a:lnSpc>
                        <a:buNone/>
                      </a:pPr>
                      <a:r>
                        <a:rPr lang="en-US" sz="1300" b="1" dirty="0">
                          <a:solidFill>
                            <a:srgbClr val="1A2633"/>
                          </a:solidFill>
                          <a:latin typeface="IBM Plex Sans" pitchFamily="34" charset="0"/>
                          <a:ea typeface="IBM Plex Sans" pitchFamily="34" charset="-122"/>
                          <a:cs typeface="IBM Plex Sans" pitchFamily="34" charset="-120"/>
                        </a:rPr>
                        <a:t>Key</a:t>
                      </a:r>
                      <a:endParaRPr lang="en-US" sz="1300" dirty="0">
                        <a:latin typeface="IBM Plex Sans" charset="0"/>
                        <a:ea typeface="IBM Plex Sans" charset="0"/>
                        <a:cs typeface="IBM Plex Sans" charset="0"/>
                      </a:endParaRPr>
                    </a:p>
                  </a:txBody>
                  <a:tcPr marL="57785" marR="57785" marT="57785" marB="57785">
                    <a:lnL w="12700" cap="flat" cmpd="sng" algn="ctr">
                      <a:solidFill>
                        <a:srgbClr val="B5B3AF"/>
                      </a:solidFill>
                      <a:prstDash val="solid"/>
                      <a:round/>
                      <a:headEnd type="none" w="med" len="med"/>
                      <a:tailEnd type="none" w="med" len="med"/>
                    </a:lnL>
                    <a:lnR w="12700" cap="flat" cmpd="sng" algn="ctr">
                      <a:solidFill>
                        <a:srgbClr val="B5B3AF"/>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B5B3AF"/>
                      </a:solidFill>
                      <a:prstDash val="solid"/>
                      <a:round/>
                      <a:headEnd type="none" w="med" len="med"/>
                      <a:tailEnd type="none" w="med" len="med"/>
                    </a:lnB>
                    <a:solidFill>
                      <a:srgbClr val="E2E0DB"/>
                    </a:solidFill>
                  </a:tcPr>
                </a:tc>
                <a:tc>
                  <a:txBody>
                    <a:bodyPr/>
                    <a:lstStyle/>
                    <a:p>
                      <a:pPr marL="0" indent="0">
                        <a:lnSpc>
                          <a:spcPts val="1820"/>
                        </a:lnSpc>
                        <a:buNone/>
                      </a:pPr>
                      <a:r>
                        <a:rPr lang="en-US" sz="1300" b="1" dirty="0">
                          <a:solidFill>
                            <a:srgbClr val="1A2633"/>
                          </a:solidFill>
                          <a:latin typeface="IBM Plex Sans" pitchFamily="34" charset="0"/>
                          <a:ea typeface="IBM Plex Sans" pitchFamily="34" charset="-122"/>
                          <a:cs typeface="IBM Plex Sans" pitchFamily="34" charset="-120"/>
                        </a:rPr>
                        <a:t>Returns</a:t>
                      </a:r>
                      <a:endParaRPr lang="en-US" sz="1300" dirty="0">
                        <a:latin typeface="IBM Plex Sans" charset="0"/>
                        <a:ea typeface="IBM Plex Sans" charset="0"/>
                        <a:cs typeface="IBM Plex Sans" charset="0"/>
                      </a:endParaRPr>
                    </a:p>
                  </a:txBody>
                  <a:tcPr marL="57785" marR="57785" marT="57785" marB="57785">
                    <a:lnL w="12700" cap="flat" cmpd="sng" algn="ctr">
                      <a:solidFill>
                        <a:srgbClr val="B5B3AF"/>
                      </a:solidFill>
                      <a:prstDash val="solid"/>
                      <a:round/>
                      <a:headEnd type="none" w="med" len="med"/>
                      <a:tailEnd type="none" w="med" len="med"/>
                    </a:lnL>
                    <a:lnR w="12700" cap="flat" cmpd="sng" algn="ctr">
                      <a:solidFill>
                        <a:srgbClr val="B5B3AF"/>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B5B3AF"/>
                      </a:solidFill>
                      <a:prstDash val="solid"/>
                      <a:round/>
                      <a:headEnd type="none" w="med" len="med"/>
                      <a:tailEnd type="none" w="med" len="med"/>
                    </a:lnB>
                    <a:solidFill>
                      <a:srgbClr val="E2E0DB"/>
                    </a:solidFill>
                  </a:tcPr>
                </a:tc>
                <a:extLst>
                  <a:ext uri="{0D108BD9-81ED-4DB2-BD59-A6C34878D82A}">
                    <a16:rowId xmlns:a16="http://schemas.microsoft.com/office/drawing/2014/main" val="10000"/>
                  </a:ext>
                </a:extLst>
              </a:tr>
              <a:tr h="358225">
                <a:tc>
                  <a:txBody>
                    <a:bodyPr/>
                    <a:lstStyle/>
                    <a:p>
                      <a:pPr marL="0" indent="0">
                        <a:lnSpc>
                          <a:spcPts val="1820"/>
                        </a:lnSpc>
                        <a:buNone/>
                      </a:pPr>
                      <a:r>
                        <a:rPr lang="en-US" sz="1300" dirty="0">
                          <a:solidFill>
                            <a:srgbClr val="B04E17"/>
                          </a:solidFill>
                          <a:latin typeface="IBM Plex Sans" pitchFamily="34" charset="0"/>
                          <a:ea typeface="IBM Plex Sans" pitchFamily="34" charset="-122"/>
                          <a:cs typeface="IBM Plex Sans" pitchFamily="34" charset="-120"/>
                        </a:rPr>
                        <a:t>1</a:t>
                      </a:r>
                      <a:endParaRPr lang="en-US" sz="1300" dirty="0">
                        <a:latin typeface="IBM Plex Sans" charset="0"/>
                        <a:ea typeface="IBM Plex Sans" charset="0"/>
                        <a:cs typeface="IBM Plex Sans" charset="0"/>
                      </a:endParaRPr>
                    </a:p>
                  </a:txBody>
                  <a:tcPr marL="57785" marR="57785" marT="57785" marB="57785">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B5B3AF"/>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marL="0" indent="0">
                        <a:lnSpc>
                          <a:spcPts val="1820"/>
                        </a:lnSpc>
                        <a:buNone/>
                      </a:pPr>
                      <a:r>
                        <a:rPr lang="en-US" sz="1300" dirty="0">
                          <a:solidFill>
                            <a:srgbClr val="1A2633"/>
                          </a:solidFill>
                          <a:latin typeface="IBM Plex Sans" pitchFamily="34" charset="0"/>
                          <a:ea typeface="IBM Plex Sans" pitchFamily="34" charset="-122"/>
                          <a:cs typeface="IBM Plex Sans" pitchFamily="34" charset="-120"/>
                        </a:rPr>
                        <a:t>y / Enter</a:t>
                      </a:r>
                      <a:endParaRPr lang="en-US" sz="1300" dirty="0">
                        <a:latin typeface="IBM Plex Sans" charset="0"/>
                        <a:ea typeface="IBM Plex Sans" charset="0"/>
                        <a:cs typeface="IBM Plex Sans" charset="0"/>
                      </a:endParaRPr>
                    </a:p>
                  </a:txBody>
                  <a:tcPr marL="57785" marR="57785" marT="57785" marB="57785">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B5B3AF"/>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marL="0" indent="0">
                        <a:lnSpc>
                          <a:spcPts val="1820"/>
                        </a:lnSpc>
                        <a:buNone/>
                      </a:pPr>
                      <a:r>
                        <a:rPr lang="en-US" sz="1300" dirty="0">
                          <a:solidFill>
                            <a:srgbClr val="1A2633"/>
                          </a:solidFill>
                          <a:latin typeface="IBM Plex Sans" pitchFamily="34" charset="0"/>
                          <a:ea typeface="IBM Plex Sans" pitchFamily="34" charset="-122"/>
                          <a:cs typeface="IBM Plex Sans" pitchFamily="34" charset="-120"/>
                        </a:rPr>
                        <a:t>(True, "")</a:t>
                      </a:r>
                      <a:endParaRPr lang="en-US" sz="1300" dirty="0">
                        <a:latin typeface="IBM Plex Sans" charset="0"/>
                        <a:ea typeface="IBM Plex Sans" charset="0"/>
                        <a:cs typeface="IBM Plex Sans" charset="0"/>
                      </a:endParaRPr>
                    </a:p>
                  </a:txBody>
                  <a:tcPr marL="57785" marR="57785" marT="57785" marB="57785">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B5B3AF"/>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extLst>
                  <a:ext uri="{0D108BD9-81ED-4DB2-BD59-A6C34878D82A}">
                    <a16:rowId xmlns:a16="http://schemas.microsoft.com/office/drawing/2014/main" val="10001"/>
                  </a:ext>
                </a:extLst>
              </a:tr>
              <a:tr h="358225">
                <a:tc>
                  <a:txBody>
                    <a:bodyPr/>
                    <a:lstStyle/>
                    <a:p>
                      <a:pPr marL="0" indent="0">
                        <a:lnSpc>
                          <a:spcPts val="1820"/>
                        </a:lnSpc>
                        <a:buNone/>
                      </a:pPr>
                      <a:r>
                        <a:rPr lang="en-US" sz="1300" dirty="0">
                          <a:solidFill>
                            <a:srgbClr val="B04E17"/>
                          </a:solidFill>
                          <a:latin typeface="IBM Plex Sans" pitchFamily="34" charset="0"/>
                          <a:ea typeface="IBM Plex Sans" pitchFamily="34" charset="-122"/>
                          <a:cs typeface="IBM Plex Sans" pitchFamily="34" charset="-120"/>
                        </a:rPr>
                        <a:t>2</a:t>
                      </a:r>
                      <a:endParaRPr lang="en-US" sz="1300" dirty="0">
                        <a:latin typeface="IBM Plex Sans" charset="0"/>
                        <a:ea typeface="IBM Plex Sans" charset="0"/>
                        <a:cs typeface="IBM Plex Sans" charset="0"/>
                      </a:endParaRPr>
                    </a:p>
                  </a:txBody>
                  <a:tcPr marL="57785" marR="57785" marT="57785" marB="57785">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marL="0" indent="0">
                        <a:lnSpc>
                          <a:spcPts val="1820"/>
                        </a:lnSpc>
                        <a:buNone/>
                      </a:pPr>
                      <a:r>
                        <a:rPr lang="en-US" sz="1300" dirty="0">
                          <a:solidFill>
                            <a:srgbClr val="1A2633"/>
                          </a:solidFill>
                          <a:latin typeface="IBM Plex Sans" pitchFamily="34" charset="0"/>
                          <a:ea typeface="IBM Plex Sans" pitchFamily="34" charset="-122"/>
                          <a:cs typeface="IBM Plex Sans" pitchFamily="34" charset="-120"/>
                        </a:rPr>
                        <a:t>e</a:t>
                      </a:r>
                      <a:endParaRPr lang="en-US" sz="1300" dirty="0">
                        <a:latin typeface="IBM Plex Sans" charset="0"/>
                        <a:ea typeface="IBM Plex Sans" charset="0"/>
                        <a:cs typeface="IBM Plex Sans" charset="0"/>
                      </a:endParaRPr>
                    </a:p>
                  </a:txBody>
                  <a:tcPr marL="57785" marR="57785" marT="57785" marB="57785">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marL="0" indent="0">
                        <a:lnSpc>
                          <a:spcPts val="1820"/>
                        </a:lnSpc>
                        <a:buNone/>
                      </a:pPr>
                      <a:r>
                        <a:rPr lang="en-US" sz="1300" dirty="0">
                          <a:solidFill>
                            <a:srgbClr val="1A2633"/>
                          </a:solidFill>
                          <a:latin typeface="IBM Plex Sans" pitchFamily="34" charset="0"/>
                          <a:ea typeface="IBM Plex Sans" pitchFamily="34" charset="-122"/>
                          <a:cs typeface="IBM Plex Sans" pitchFamily="34" charset="-120"/>
                        </a:rPr>
                        <a:t>(True, new text)</a:t>
                      </a:r>
                      <a:endParaRPr lang="en-US" sz="1300" dirty="0">
                        <a:latin typeface="IBM Plex Sans" charset="0"/>
                        <a:ea typeface="IBM Plex Sans" charset="0"/>
                        <a:cs typeface="IBM Plex Sans" charset="0"/>
                      </a:endParaRPr>
                    </a:p>
                  </a:txBody>
                  <a:tcPr marL="57785" marR="57785" marT="57785" marB="57785">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extLst>
                  <a:ext uri="{0D108BD9-81ED-4DB2-BD59-A6C34878D82A}">
                    <a16:rowId xmlns:a16="http://schemas.microsoft.com/office/drawing/2014/main" val="10002"/>
                  </a:ext>
                </a:extLst>
              </a:tr>
              <a:tr h="589359">
                <a:tc>
                  <a:txBody>
                    <a:bodyPr/>
                    <a:lstStyle/>
                    <a:p>
                      <a:pPr marL="0" indent="0">
                        <a:lnSpc>
                          <a:spcPts val="1820"/>
                        </a:lnSpc>
                        <a:buNone/>
                      </a:pPr>
                      <a:r>
                        <a:rPr lang="en-US" sz="1300" dirty="0">
                          <a:solidFill>
                            <a:srgbClr val="B04E17"/>
                          </a:solidFill>
                          <a:latin typeface="IBM Plex Sans" pitchFamily="34" charset="0"/>
                          <a:ea typeface="IBM Plex Sans" pitchFamily="34" charset="-122"/>
                          <a:cs typeface="IBM Plex Sans" pitchFamily="34" charset="-120"/>
                        </a:rPr>
                        <a:t>3</a:t>
                      </a:r>
                      <a:endParaRPr lang="en-US" sz="1300" dirty="0">
                        <a:latin typeface="IBM Plex Sans" charset="0"/>
                        <a:ea typeface="IBM Plex Sans" charset="0"/>
                        <a:cs typeface="IBM Plex Sans" charset="0"/>
                      </a:endParaRPr>
                    </a:p>
                  </a:txBody>
                  <a:tcPr marL="57785" marR="57785" marT="57785" marB="57785">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marL="0" indent="0">
                        <a:lnSpc>
                          <a:spcPts val="1820"/>
                        </a:lnSpc>
                        <a:buNone/>
                      </a:pPr>
                      <a:r>
                        <a:rPr lang="en-US" sz="1300" dirty="0">
                          <a:solidFill>
                            <a:srgbClr val="1A2633"/>
                          </a:solidFill>
                          <a:latin typeface="IBM Plex Sans" pitchFamily="34" charset="0"/>
                          <a:ea typeface="IBM Plex Sans" pitchFamily="34" charset="-122"/>
                          <a:cs typeface="IBM Plex Sans" pitchFamily="34" charset="-120"/>
                        </a:rPr>
                        <a:t>anything else</a:t>
                      </a:r>
                      <a:endParaRPr lang="en-US" sz="1300" dirty="0">
                        <a:latin typeface="IBM Plex Sans" charset="0"/>
                        <a:ea typeface="IBM Plex Sans" charset="0"/>
                        <a:cs typeface="IBM Plex Sans" charset="0"/>
                      </a:endParaRPr>
                    </a:p>
                  </a:txBody>
                  <a:tcPr marL="57785" marR="57785" marT="57785" marB="57785">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marL="0" indent="0">
                        <a:lnSpc>
                          <a:spcPts val="1820"/>
                        </a:lnSpc>
                        <a:buNone/>
                      </a:pPr>
                      <a:r>
                        <a:rPr lang="en-US" sz="1300" dirty="0">
                          <a:solidFill>
                            <a:srgbClr val="1A2633"/>
                          </a:solidFill>
                          <a:latin typeface="IBM Plex Sans" pitchFamily="34" charset="0"/>
                          <a:ea typeface="IBM Plex Sans" pitchFamily="34" charset="-122"/>
                          <a:cs typeface="IBM Plex Sans" pitchFamily="34" charset="-120"/>
                        </a:rPr>
                        <a:t>(False, feedback)</a:t>
                      </a:r>
                      <a:endParaRPr lang="en-US" sz="1300" dirty="0">
                        <a:latin typeface="IBM Plex Sans" charset="0"/>
                        <a:ea typeface="IBM Plex Sans" charset="0"/>
                        <a:cs typeface="IBM Plex Sans" charset="0"/>
                      </a:endParaRPr>
                    </a:p>
                  </a:txBody>
                  <a:tcPr marL="57785" marR="57785" marT="57785" marB="57785">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5" name="Shape 2"/>
          <p:cNvSpPr/>
          <p:nvPr/>
        </p:nvSpPr>
        <p:spPr>
          <a:xfrm>
            <a:off x="815957" y="3530265"/>
            <a:ext cx="3803650" cy="1577362"/>
          </a:xfrm>
          <a:prstGeom prst="roundRect">
            <a:avLst>
              <a:gd name="adj" fmla="val 5435"/>
            </a:avLst>
          </a:prstGeom>
          <a:solidFill>
            <a:srgbClr val="FFFDF8"/>
          </a:solidFill>
          <a:ln w="6350">
            <a:solidFill>
              <a:srgbClr val="E2DDD2"/>
            </a:solidFill>
            <a:prstDash val="solid"/>
          </a:ln>
        </p:spPr>
        <p:txBody>
          <a:bodyPr/>
          <a:lstStyle/>
          <a:p>
            <a:endParaRPr lang="en-CN"/>
          </a:p>
        </p:txBody>
      </p:sp>
      <p:sp>
        <p:nvSpPr>
          <p:cNvPr id="6" name="Text 3"/>
          <p:cNvSpPr/>
          <p:nvPr/>
        </p:nvSpPr>
        <p:spPr>
          <a:xfrm>
            <a:off x="996337" y="3710645"/>
            <a:ext cx="3546177" cy="253964"/>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6212C"/>
                </a:solidFill>
                <a:latin typeface="IBM Plex Sans" pitchFamily="34" charset="0"/>
                <a:ea typeface="IBM Plex Sans" pitchFamily="34" charset="-122"/>
                <a:cs typeface="IBM Plex Sans" pitchFamily="34" charset="-120"/>
              </a:rPr>
              <a:t>Swap the UI, keep the agent</a:t>
            </a:r>
            <a:endParaRPr lang="en-US" sz="1500" dirty="0"/>
          </a:p>
        </p:txBody>
      </p:sp>
      <p:sp>
        <p:nvSpPr>
          <p:cNvPr id="7" name="Text 4"/>
          <p:cNvSpPr/>
          <p:nvPr/>
        </p:nvSpPr>
        <p:spPr>
          <a:xfrm>
            <a:off x="996337" y="4002708"/>
            <a:ext cx="3546177" cy="949938"/>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D4A57"/>
                </a:solidFill>
                <a:latin typeface="IBM Plex Sans" pitchFamily="34" charset="0"/>
                <a:ea typeface="IBM Plex Sans" pitchFamily="34" charset="-122"/>
                <a:cs typeface="IBM Plex Sans" pitchFamily="34" charset="-120"/>
              </a:rPr>
              <a:t>main() wires this in on line 186: drafter.run(scenario, checkpoint_fn=…). In production, replace it with a Slack message or UI modal.</a:t>
            </a:r>
            <a:endParaRPr lang="en-US" sz="1300" dirty="0"/>
          </a:p>
        </p:txBody>
      </p:sp>
      <p:sp>
        <p:nvSpPr>
          <p:cNvPr id="8" name="Shape 5"/>
          <p:cNvSpPr/>
          <p:nvPr/>
        </p:nvSpPr>
        <p:spPr>
          <a:xfrm>
            <a:off x="4927564" y="1673721"/>
            <a:ext cx="6451564" cy="3062657"/>
          </a:xfrm>
          <a:prstGeom prst="roundRect">
            <a:avLst>
              <a:gd name="adj" fmla="val 3317"/>
            </a:avLst>
          </a:prstGeom>
          <a:solidFill>
            <a:srgbClr val="16212C"/>
          </a:solidFill>
          <a:ln/>
        </p:spPr>
        <p:txBody>
          <a:bodyPr/>
          <a:lstStyle/>
          <a:p>
            <a:endParaRPr lang="en-CN"/>
          </a:p>
        </p:txBody>
      </p:sp>
      <p:sp>
        <p:nvSpPr>
          <p:cNvPr id="9" name="Text 6"/>
          <p:cNvSpPr/>
          <p:nvPr/>
        </p:nvSpPr>
        <p:spPr>
          <a:xfrm>
            <a:off x="5105364" y="1826121"/>
            <a:ext cx="6278842" cy="238693"/>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9AA9B8"/>
                </a:solidFill>
                <a:latin typeface="JetBrains Mono" pitchFamily="49" charset="0"/>
                <a:ea typeface="JetBrains Mono" pitchFamily="49" charset="-122"/>
                <a:cs typeface="JetBrains Mono" pitchFamily="49" charset="-120"/>
              </a:rPr>
              <a:t>01_human_in_the_loop.py · terminal UI</a:t>
            </a:r>
            <a:endParaRPr lang="en-US" sz="1200" dirty="0"/>
          </a:p>
        </p:txBody>
      </p:sp>
      <p:sp>
        <p:nvSpPr>
          <p:cNvPr id="10" name="Text 7"/>
          <p:cNvSpPr/>
          <p:nvPr/>
        </p:nvSpPr>
        <p:spPr>
          <a:xfrm>
            <a:off x="5105364" y="2115604"/>
            <a:ext cx="6278842" cy="231098"/>
          </a:xfrm>
          <a:prstGeom prst="rect">
            <a:avLst/>
          </a:prstGeom>
          <a:noFill/>
          <a:ln/>
        </p:spPr>
        <p:txBody>
          <a:bodyPr wrap="none" lIns="0" tIns="0" rIns="0" bIns="0" rtlCol="0" anchor="t">
            <a:normAutofit/>
          </a:bodyPr>
          <a:lstStyle/>
          <a:p>
            <a:pPr marL="0" indent="0" algn="l">
              <a:lnSpc>
                <a:spcPts val="1620"/>
              </a:lnSpc>
              <a:buNone/>
            </a:pPr>
            <a:r>
              <a:rPr lang="en-US" sz="1200" dirty="0">
                <a:solidFill>
                  <a:srgbClr val="7C8FA3"/>
                </a:solidFill>
                <a:latin typeface="JetBrains Mono" pitchFamily="49" charset="0"/>
                <a:ea typeface="JetBrains Mono" pitchFamily="49" charset="-122"/>
                <a:cs typeface="JetBrains Mono" pitchFamily="49" charset="-120"/>
              </a:rPr>
              <a:t>122</a:t>
            </a:r>
            <a:r>
              <a:rPr lang="en-US" sz="1200" dirty="0">
                <a:solidFill>
                  <a:srgbClr val="D6DDE5"/>
                </a:solidFill>
                <a:latin typeface="JetBrains Mono" pitchFamily="49" charset="0"/>
                <a:ea typeface="JetBrains Mono" pitchFamily="49" charset="-122"/>
                <a:cs typeface="JetBrains Mono" pitchFamily="49" charset="-120"/>
              </a:rPr>
              <a:t> def human_checkpoint(console, title, content, question):</a:t>
            </a:r>
            <a:endParaRPr lang="en-US" sz="1200" dirty="0"/>
          </a:p>
        </p:txBody>
      </p:sp>
      <p:sp>
        <p:nvSpPr>
          <p:cNvPr id="11" name="Text 8"/>
          <p:cNvSpPr/>
          <p:nvPr/>
        </p:nvSpPr>
        <p:spPr>
          <a:xfrm>
            <a:off x="5105364" y="2321309"/>
            <a:ext cx="6278842" cy="231098"/>
          </a:xfrm>
          <a:prstGeom prst="rect">
            <a:avLst/>
          </a:prstGeom>
          <a:noFill/>
          <a:ln/>
        </p:spPr>
        <p:txBody>
          <a:bodyPr wrap="none" lIns="0" tIns="0" rIns="0" bIns="0" rtlCol="0" anchor="t">
            <a:normAutofit/>
          </a:bodyPr>
          <a:lstStyle/>
          <a:p>
            <a:pPr marL="0" indent="0" algn="l">
              <a:lnSpc>
                <a:spcPts val="1620"/>
              </a:lnSpc>
              <a:buNone/>
            </a:pPr>
            <a:r>
              <a:rPr lang="en-US" sz="1200" dirty="0">
                <a:solidFill>
                  <a:srgbClr val="7C8FA3"/>
                </a:solidFill>
                <a:latin typeface="JetBrains Mono" pitchFamily="49" charset="0"/>
                <a:ea typeface="JetBrains Mono" pitchFamily="49" charset="-122"/>
                <a:cs typeface="JetBrains Mono" pitchFamily="49" charset="-120"/>
              </a:rPr>
              <a:t>124</a:t>
            </a:r>
            <a:r>
              <a:rPr lang="en-US" sz="1200" dirty="0">
                <a:solidFill>
                  <a:srgbClr val="D6DDE5"/>
                </a:solidFill>
                <a:latin typeface="JetBrains Mono" pitchFamily="49" charset="0"/>
                <a:ea typeface="JetBrains Mono" pitchFamily="49" charset="-122"/>
                <a:cs typeface="JetBrains Mono" pitchFamily="49" charset="-120"/>
              </a:rPr>
              <a:t>   console.print(Panel(content, title=…))</a:t>
            </a:r>
            <a:endParaRPr lang="en-US" sz="1200" dirty="0"/>
          </a:p>
        </p:txBody>
      </p:sp>
      <p:sp>
        <p:nvSpPr>
          <p:cNvPr id="12" name="Text 9"/>
          <p:cNvSpPr/>
          <p:nvPr/>
        </p:nvSpPr>
        <p:spPr>
          <a:xfrm>
            <a:off x="5105364" y="2527002"/>
            <a:ext cx="6278842" cy="231098"/>
          </a:xfrm>
          <a:prstGeom prst="rect">
            <a:avLst/>
          </a:prstGeom>
          <a:noFill/>
          <a:ln/>
        </p:spPr>
        <p:txBody>
          <a:bodyPr wrap="none" lIns="0" tIns="0" rIns="0" bIns="0" rtlCol="0" anchor="t">
            <a:normAutofit/>
          </a:bodyPr>
          <a:lstStyle/>
          <a:p>
            <a:pPr marL="0" indent="0" algn="l">
              <a:lnSpc>
                <a:spcPts val="1620"/>
              </a:lnSpc>
              <a:buNone/>
            </a:pPr>
            <a:r>
              <a:rPr lang="en-US" sz="1200" dirty="0">
                <a:solidFill>
                  <a:srgbClr val="7C8FA3"/>
                </a:solidFill>
                <a:latin typeface="JetBrains Mono" pitchFamily="49" charset="0"/>
                <a:ea typeface="JetBrains Mono" pitchFamily="49" charset="-122"/>
                <a:cs typeface="JetBrains Mono" pitchFamily="49" charset="-120"/>
              </a:rPr>
              <a:t>126</a:t>
            </a:r>
            <a:r>
              <a:rPr lang="en-US" sz="1200" dirty="0">
                <a:solidFill>
                  <a:srgbClr val="D6DDE5"/>
                </a:solidFill>
                <a:latin typeface="JetBrains Mono" pitchFamily="49" charset="0"/>
                <a:ea typeface="JetBrains Mono" pitchFamily="49" charset="-122"/>
                <a:cs typeface="JetBrains Mono" pitchFamily="49" charset="-120"/>
              </a:rPr>
              <a:t>   console.print("(y)es / (n)o with feedback / (e)dit")</a:t>
            </a:r>
            <a:endParaRPr lang="en-US" sz="1200" dirty="0"/>
          </a:p>
        </p:txBody>
      </p:sp>
      <p:sp>
        <p:nvSpPr>
          <p:cNvPr id="13" name="Text 10"/>
          <p:cNvSpPr/>
          <p:nvPr/>
        </p:nvSpPr>
        <p:spPr>
          <a:xfrm>
            <a:off x="5105364" y="2732708"/>
            <a:ext cx="6278842" cy="231098"/>
          </a:xfrm>
          <a:prstGeom prst="rect">
            <a:avLst/>
          </a:prstGeom>
          <a:noFill/>
          <a:ln/>
        </p:spPr>
        <p:txBody>
          <a:bodyPr wrap="none" lIns="0" tIns="0" rIns="0" bIns="0" rtlCol="0" anchor="t">
            <a:normAutofit/>
          </a:bodyPr>
          <a:lstStyle/>
          <a:p>
            <a:pPr marL="0" indent="0" algn="l">
              <a:lnSpc>
                <a:spcPts val="1620"/>
              </a:lnSpc>
              <a:buNone/>
            </a:pPr>
            <a:r>
              <a:rPr lang="en-US" sz="1200" dirty="0">
                <a:solidFill>
                  <a:srgbClr val="7C8FA3"/>
                </a:solidFill>
                <a:latin typeface="JetBrains Mono" pitchFamily="49" charset="0"/>
                <a:ea typeface="JetBrains Mono" pitchFamily="49" charset="-122"/>
                <a:cs typeface="JetBrains Mono" pitchFamily="49" charset="-120"/>
              </a:rPr>
              <a:t>129</a:t>
            </a:r>
            <a:r>
              <a:rPr lang="en-US" sz="1200" dirty="0">
                <a:solidFill>
                  <a:srgbClr val="D6DDE5"/>
                </a:solidFill>
                <a:latin typeface="JetBrains Mono" pitchFamily="49" charset="0"/>
                <a:ea typeface="JetBrains Mono" pitchFamily="49" charset="-122"/>
                <a:cs typeface="JetBrains Mono" pitchFamily="49" charset="-120"/>
              </a:rPr>
              <a:t>   response = input().strip().lower()</a:t>
            </a:r>
            <a:endParaRPr lang="en-US" sz="1200" dirty="0"/>
          </a:p>
        </p:txBody>
      </p:sp>
      <p:sp>
        <p:nvSpPr>
          <p:cNvPr id="14" name="Text 11"/>
          <p:cNvSpPr/>
          <p:nvPr/>
        </p:nvSpPr>
        <p:spPr>
          <a:xfrm>
            <a:off x="4927564" y="2938400"/>
            <a:ext cx="6451564" cy="205698"/>
          </a:xfrm>
          <a:prstGeom prst="rect">
            <a:avLst/>
          </a:prstGeom>
          <a:solidFill>
            <a:srgbClr val="3A2B20"/>
          </a:solidFill>
          <a:ln/>
        </p:spPr>
        <p:txBody>
          <a:bodyPr wrap="none" lIns="177223" tIns="0" rIns="0" bIns="0" rtlCol="0" anchor="t">
            <a:normAutofit/>
          </a:bodyPr>
          <a:lstStyle/>
          <a:p>
            <a:pPr marL="0" indent="0" algn="l">
              <a:lnSpc>
                <a:spcPts val="1620"/>
              </a:lnSpc>
              <a:buNone/>
            </a:pPr>
            <a:r>
              <a:rPr lang="en-US" sz="1200" dirty="0">
                <a:solidFill>
                  <a:srgbClr val="7C8FA3"/>
                </a:solidFill>
                <a:latin typeface="JetBrains Mono" pitchFamily="49" charset="0"/>
                <a:ea typeface="JetBrains Mono" pitchFamily="49" charset="-122"/>
                <a:cs typeface="JetBrains Mono" pitchFamily="49" charset="-120"/>
              </a:rPr>
              <a:t>131</a:t>
            </a:r>
            <a:r>
              <a:rPr lang="en-US" sz="1200" dirty="0">
                <a:solidFill>
                  <a:srgbClr val="D6DDE5"/>
                </a:solidFill>
                <a:latin typeface="JetBrains Mono" pitchFamily="49" charset="0"/>
                <a:ea typeface="JetBrains Mono" pitchFamily="49" charset="-122"/>
                <a:cs typeface="JetBrains Mono" pitchFamily="49" charset="-120"/>
              </a:rPr>
              <a:t>   if response in ("y", "yes", ""): </a:t>
            </a:r>
            <a:r>
              <a:rPr lang="en-US" sz="1200" b="1" dirty="0">
                <a:solidFill>
                  <a:srgbClr val="F2A46B"/>
                </a:solidFill>
                <a:latin typeface="JetBrains Mono" pitchFamily="49" charset="0"/>
                <a:ea typeface="JetBrains Mono" pitchFamily="49" charset="-122"/>
                <a:cs typeface="JetBrains Mono" pitchFamily="49" charset="-120"/>
              </a:rPr>
              <a:t>← 1</a:t>
            </a:r>
            <a:endParaRPr lang="en-US" sz="1200" dirty="0"/>
          </a:p>
        </p:txBody>
      </p:sp>
      <p:sp>
        <p:nvSpPr>
          <p:cNvPr id="15" name="Shape 12"/>
          <p:cNvSpPr/>
          <p:nvPr/>
        </p:nvSpPr>
        <p:spPr>
          <a:xfrm>
            <a:off x="4946614" y="2938400"/>
            <a:ext cx="0" cy="205698"/>
          </a:xfrm>
          <a:prstGeom prst="line">
            <a:avLst/>
          </a:prstGeom>
          <a:noFill/>
          <a:ln w="38100">
            <a:solidFill>
              <a:srgbClr val="E8843F"/>
            </a:solidFill>
            <a:prstDash val="solid"/>
          </a:ln>
        </p:spPr>
        <p:txBody>
          <a:bodyPr/>
          <a:lstStyle/>
          <a:p>
            <a:endParaRPr lang="en-CN"/>
          </a:p>
        </p:txBody>
      </p:sp>
      <p:sp>
        <p:nvSpPr>
          <p:cNvPr id="16" name="Text 13"/>
          <p:cNvSpPr/>
          <p:nvPr/>
        </p:nvSpPr>
        <p:spPr>
          <a:xfrm>
            <a:off x="4927564" y="3144106"/>
            <a:ext cx="6451564" cy="205698"/>
          </a:xfrm>
          <a:prstGeom prst="rect">
            <a:avLst/>
          </a:prstGeom>
          <a:solidFill>
            <a:srgbClr val="3A2B20"/>
          </a:solidFill>
          <a:ln/>
        </p:spPr>
        <p:txBody>
          <a:bodyPr wrap="none" lIns="177223" tIns="0" rIns="0" bIns="0" rtlCol="0" anchor="t">
            <a:normAutofit/>
          </a:bodyPr>
          <a:lstStyle/>
          <a:p>
            <a:pPr marL="0" indent="0" algn="l">
              <a:lnSpc>
                <a:spcPts val="1620"/>
              </a:lnSpc>
              <a:buNone/>
            </a:pPr>
            <a:r>
              <a:rPr lang="en-US" sz="1200" dirty="0">
                <a:solidFill>
                  <a:srgbClr val="7C8FA3"/>
                </a:solidFill>
                <a:latin typeface="JetBrains Mono" pitchFamily="49" charset="0"/>
                <a:ea typeface="JetBrains Mono" pitchFamily="49" charset="-122"/>
                <a:cs typeface="JetBrains Mono" pitchFamily="49" charset="-120"/>
              </a:rPr>
              <a:t>132</a:t>
            </a:r>
            <a:r>
              <a:rPr lang="en-US" sz="1200" dirty="0">
                <a:solidFill>
                  <a:srgbClr val="D6DDE5"/>
                </a:solidFill>
                <a:latin typeface="JetBrains Mono" pitchFamily="49" charset="0"/>
                <a:ea typeface="JetBrains Mono" pitchFamily="49" charset="-122"/>
                <a:cs typeface="JetBrains Mono" pitchFamily="49" charset="-120"/>
              </a:rPr>
              <a:t>     return True, ""</a:t>
            </a:r>
            <a:endParaRPr lang="en-US" sz="1200" dirty="0"/>
          </a:p>
        </p:txBody>
      </p:sp>
      <p:sp>
        <p:nvSpPr>
          <p:cNvPr id="17" name="Shape 14"/>
          <p:cNvSpPr/>
          <p:nvPr/>
        </p:nvSpPr>
        <p:spPr>
          <a:xfrm>
            <a:off x="4946614" y="3144106"/>
            <a:ext cx="0" cy="205698"/>
          </a:xfrm>
          <a:prstGeom prst="line">
            <a:avLst/>
          </a:prstGeom>
          <a:noFill/>
          <a:ln w="38100">
            <a:solidFill>
              <a:srgbClr val="E8843F"/>
            </a:solidFill>
            <a:prstDash val="solid"/>
          </a:ln>
        </p:spPr>
        <p:txBody>
          <a:bodyPr/>
          <a:lstStyle/>
          <a:p>
            <a:endParaRPr lang="en-CN"/>
          </a:p>
        </p:txBody>
      </p:sp>
      <p:sp>
        <p:nvSpPr>
          <p:cNvPr id="18" name="Text 15"/>
          <p:cNvSpPr/>
          <p:nvPr/>
        </p:nvSpPr>
        <p:spPr>
          <a:xfrm>
            <a:off x="4927564" y="3349799"/>
            <a:ext cx="6451564" cy="205698"/>
          </a:xfrm>
          <a:prstGeom prst="rect">
            <a:avLst/>
          </a:prstGeom>
          <a:solidFill>
            <a:srgbClr val="3A2B20"/>
          </a:solidFill>
          <a:ln/>
        </p:spPr>
        <p:txBody>
          <a:bodyPr wrap="none" lIns="177223" tIns="0" rIns="0" bIns="0" rtlCol="0" anchor="t">
            <a:normAutofit/>
          </a:bodyPr>
          <a:lstStyle/>
          <a:p>
            <a:pPr marL="0" indent="0" algn="l">
              <a:lnSpc>
                <a:spcPts val="1620"/>
              </a:lnSpc>
              <a:buNone/>
            </a:pPr>
            <a:r>
              <a:rPr lang="en-US" sz="1200" dirty="0">
                <a:solidFill>
                  <a:srgbClr val="7C8FA3"/>
                </a:solidFill>
                <a:latin typeface="JetBrains Mono" pitchFamily="49" charset="0"/>
                <a:ea typeface="JetBrains Mono" pitchFamily="49" charset="-122"/>
                <a:cs typeface="JetBrains Mono" pitchFamily="49" charset="-120"/>
              </a:rPr>
              <a:t>133</a:t>
            </a:r>
            <a:r>
              <a:rPr lang="en-US" sz="1200" dirty="0">
                <a:solidFill>
                  <a:srgbClr val="D6DDE5"/>
                </a:solidFill>
                <a:latin typeface="JetBrains Mono" pitchFamily="49" charset="0"/>
                <a:ea typeface="JetBrains Mono" pitchFamily="49" charset="-122"/>
                <a:cs typeface="JetBrains Mono" pitchFamily="49" charset="-120"/>
              </a:rPr>
              <a:t>   elif response.startswith("e"): </a:t>
            </a:r>
            <a:r>
              <a:rPr lang="en-US" sz="1200" b="1" dirty="0">
                <a:solidFill>
                  <a:srgbClr val="F2A46B"/>
                </a:solidFill>
                <a:latin typeface="JetBrains Mono" pitchFamily="49" charset="0"/>
                <a:ea typeface="JetBrains Mono" pitchFamily="49" charset="-122"/>
                <a:cs typeface="JetBrains Mono" pitchFamily="49" charset="-120"/>
              </a:rPr>
              <a:t>← 2</a:t>
            </a:r>
            <a:endParaRPr lang="en-US" sz="1200" dirty="0"/>
          </a:p>
        </p:txBody>
      </p:sp>
      <p:sp>
        <p:nvSpPr>
          <p:cNvPr id="19" name="Shape 16"/>
          <p:cNvSpPr/>
          <p:nvPr/>
        </p:nvSpPr>
        <p:spPr>
          <a:xfrm>
            <a:off x="4946614" y="3349799"/>
            <a:ext cx="0" cy="205698"/>
          </a:xfrm>
          <a:prstGeom prst="line">
            <a:avLst/>
          </a:prstGeom>
          <a:noFill/>
          <a:ln w="38100">
            <a:solidFill>
              <a:srgbClr val="E8843F"/>
            </a:solidFill>
            <a:prstDash val="solid"/>
          </a:ln>
        </p:spPr>
        <p:txBody>
          <a:bodyPr/>
          <a:lstStyle/>
          <a:p>
            <a:endParaRPr lang="en-CN"/>
          </a:p>
        </p:txBody>
      </p:sp>
      <p:sp>
        <p:nvSpPr>
          <p:cNvPr id="20" name="Text 17"/>
          <p:cNvSpPr/>
          <p:nvPr/>
        </p:nvSpPr>
        <p:spPr>
          <a:xfrm>
            <a:off x="5105364" y="3555504"/>
            <a:ext cx="6278842" cy="231098"/>
          </a:xfrm>
          <a:prstGeom prst="rect">
            <a:avLst/>
          </a:prstGeom>
          <a:noFill/>
          <a:ln/>
        </p:spPr>
        <p:txBody>
          <a:bodyPr wrap="none" lIns="0" tIns="0" rIns="0" bIns="0" rtlCol="0" anchor="t">
            <a:normAutofit/>
          </a:bodyPr>
          <a:lstStyle/>
          <a:p>
            <a:pPr marL="0" indent="0" algn="l">
              <a:lnSpc>
                <a:spcPts val="1620"/>
              </a:lnSpc>
              <a:buNone/>
            </a:pPr>
            <a:r>
              <a:rPr lang="en-US" sz="1200" dirty="0">
                <a:solidFill>
                  <a:srgbClr val="7C8FA3"/>
                </a:solidFill>
                <a:latin typeface="JetBrains Mono" pitchFamily="49" charset="0"/>
                <a:ea typeface="JetBrains Mono" pitchFamily="49" charset="-122"/>
                <a:cs typeface="JetBrains Mono" pitchFamily="49" charset="-120"/>
              </a:rPr>
              <a:t>137</a:t>
            </a:r>
            <a:r>
              <a:rPr lang="en-US" sz="1200" dirty="0">
                <a:solidFill>
                  <a:srgbClr val="D6DDE5"/>
                </a:solidFill>
                <a:latin typeface="JetBrains Mono" pitchFamily="49" charset="0"/>
                <a:ea typeface="JetBrains Mono" pitchFamily="49" charset="-122"/>
                <a:cs typeface="JetBrains Mono" pitchFamily="49" charset="-120"/>
              </a:rPr>
              <a:t>     </a:t>
            </a:r>
            <a:r>
              <a:rPr lang="en-US" sz="1200" dirty="0">
                <a:solidFill>
                  <a:srgbClr val="8798AA"/>
                </a:solidFill>
                <a:latin typeface="JetBrains Mono" pitchFamily="49" charset="0"/>
                <a:ea typeface="JetBrains Mono" pitchFamily="49" charset="-122"/>
                <a:cs typeface="JetBrains Mono" pitchFamily="49" charset="-120"/>
              </a:rPr>
              <a:t># read lines until a blank one</a:t>
            </a:r>
            <a:endParaRPr lang="en-US" sz="1200" dirty="0"/>
          </a:p>
        </p:txBody>
      </p:sp>
      <p:sp>
        <p:nvSpPr>
          <p:cNvPr id="21" name="Text 18"/>
          <p:cNvSpPr/>
          <p:nvPr/>
        </p:nvSpPr>
        <p:spPr>
          <a:xfrm>
            <a:off x="4927564" y="3761197"/>
            <a:ext cx="6451564" cy="205698"/>
          </a:xfrm>
          <a:prstGeom prst="rect">
            <a:avLst/>
          </a:prstGeom>
          <a:solidFill>
            <a:srgbClr val="3A2B20"/>
          </a:solidFill>
          <a:ln/>
        </p:spPr>
        <p:txBody>
          <a:bodyPr wrap="none" lIns="177223" tIns="0" rIns="0" bIns="0" rtlCol="0" anchor="t">
            <a:normAutofit/>
          </a:bodyPr>
          <a:lstStyle/>
          <a:p>
            <a:pPr marL="0" indent="0" algn="l">
              <a:lnSpc>
                <a:spcPts val="1620"/>
              </a:lnSpc>
              <a:buNone/>
            </a:pPr>
            <a:r>
              <a:rPr lang="en-US" sz="1200" dirty="0">
                <a:solidFill>
                  <a:srgbClr val="7C8FA3"/>
                </a:solidFill>
                <a:latin typeface="JetBrains Mono" pitchFamily="49" charset="0"/>
                <a:ea typeface="JetBrains Mono" pitchFamily="49" charset="-122"/>
                <a:cs typeface="JetBrains Mono" pitchFamily="49" charset="-120"/>
              </a:rPr>
              <a:t>144</a:t>
            </a:r>
            <a:r>
              <a:rPr lang="en-US" sz="1200" dirty="0">
                <a:solidFill>
                  <a:srgbClr val="D6DDE5"/>
                </a:solidFill>
                <a:latin typeface="JetBrains Mono" pitchFamily="49" charset="0"/>
                <a:ea typeface="JetBrains Mono" pitchFamily="49" charset="-122"/>
                <a:cs typeface="JetBrains Mono" pitchFamily="49" charset="-120"/>
              </a:rPr>
              <a:t>     return True, "\n".join(lines)</a:t>
            </a:r>
            <a:endParaRPr lang="en-US" sz="1200" dirty="0"/>
          </a:p>
        </p:txBody>
      </p:sp>
      <p:sp>
        <p:nvSpPr>
          <p:cNvPr id="22" name="Shape 19"/>
          <p:cNvSpPr/>
          <p:nvPr/>
        </p:nvSpPr>
        <p:spPr>
          <a:xfrm>
            <a:off x="4946614" y="3761197"/>
            <a:ext cx="0" cy="205698"/>
          </a:xfrm>
          <a:prstGeom prst="line">
            <a:avLst/>
          </a:prstGeom>
          <a:noFill/>
          <a:ln w="38100">
            <a:solidFill>
              <a:srgbClr val="E8843F"/>
            </a:solidFill>
            <a:prstDash val="solid"/>
          </a:ln>
        </p:spPr>
        <p:txBody>
          <a:bodyPr/>
          <a:lstStyle/>
          <a:p>
            <a:endParaRPr lang="en-CN"/>
          </a:p>
        </p:txBody>
      </p:sp>
      <p:sp>
        <p:nvSpPr>
          <p:cNvPr id="23" name="Text 20"/>
          <p:cNvSpPr/>
          <p:nvPr/>
        </p:nvSpPr>
        <p:spPr>
          <a:xfrm>
            <a:off x="4927564" y="3966902"/>
            <a:ext cx="6451564" cy="205698"/>
          </a:xfrm>
          <a:prstGeom prst="rect">
            <a:avLst/>
          </a:prstGeom>
          <a:solidFill>
            <a:srgbClr val="3A2B20"/>
          </a:solidFill>
          <a:ln/>
        </p:spPr>
        <p:txBody>
          <a:bodyPr wrap="none" lIns="177223" tIns="0" rIns="0" bIns="0" rtlCol="0" anchor="t">
            <a:normAutofit/>
          </a:bodyPr>
          <a:lstStyle/>
          <a:p>
            <a:pPr marL="0" indent="0" algn="l">
              <a:lnSpc>
                <a:spcPts val="1620"/>
              </a:lnSpc>
              <a:buNone/>
            </a:pPr>
            <a:r>
              <a:rPr lang="en-US" sz="1200" dirty="0">
                <a:solidFill>
                  <a:srgbClr val="7C8FA3"/>
                </a:solidFill>
                <a:latin typeface="JetBrains Mono" pitchFamily="49" charset="0"/>
                <a:ea typeface="JetBrains Mono" pitchFamily="49" charset="-122"/>
                <a:cs typeface="JetBrains Mono" pitchFamily="49" charset="-120"/>
              </a:rPr>
              <a:t>145</a:t>
            </a:r>
            <a:r>
              <a:rPr lang="en-US" sz="1200" dirty="0">
                <a:solidFill>
                  <a:srgbClr val="D6DDE5"/>
                </a:solidFill>
                <a:latin typeface="JetBrains Mono" pitchFamily="49" charset="0"/>
                <a:ea typeface="JetBrains Mono" pitchFamily="49" charset="-122"/>
                <a:cs typeface="JetBrains Mono" pitchFamily="49" charset="-120"/>
              </a:rPr>
              <a:t>   else: </a:t>
            </a:r>
            <a:r>
              <a:rPr lang="en-US" sz="1200" b="1" dirty="0">
                <a:solidFill>
                  <a:srgbClr val="F2A46B"/>
                </a:solidFill>
                <a:latin typeface="JetBrains Mono" pitchFamily="49" charset="0"/>
                <a:ea typeface="JetBrains Mono" pitchFamily="49" charset="-122"/>
                <a:cs typeface="JetBrains Mono" pitchFamily="49" charset="-120"/>
              </a:rPr>
              <a:t>← 3</a:t>
            </a:r>
            <a:endParaRPr lang="en-US" sz="1200" dirty="0"/>
          </a:p>
        </p:txBody>
      </p:sp>
      <p:sp>
        <p:nvSpPr>
          <p:cNvPr id="24" name="Shape 21"/>
          <p:cNvSpPr/>
          <p:nvPr/>
        </p:nvSpPr>
        <p:spPr>
          <a:xfrm>
            <a:off x="4946614" y="3966902"/>
            <a:ext cx="0" cy="205698"/>
          </a:xfrm>
          <a:prstGeom prst="line">
            <a:avLst/>
          </a:prstGeom>
          <a:noFill/>
          <a:ln w="38100">
            <a:solidFill>
              <a:srgbClr val="E8843F"/>
            </a:solidFill>
            <a:prstDash val="solid"/>
          </a:ln>
        </p:spPr>
        <p:txBody>
          <a:bodyPr/>
          <a:lstStyle/>
          <a:p>
            <a:endParaRPr lang="en-CN"/>
          </a:p>
        </p:txBody>
      </p:sp>
      <p:sp>
        <p:nvSpPr>
          <p:cNvPr id="25" name="Text 22"/>
          <p:cNvSpPr/>
          <p:nvPr/>
        </p:nvSpPr>
        <p:spPr>
          <a:xfrm>
            <a:off x="5105364" y="4172595"/>
            <a:ext cx="6278842" cy="231098"/>
          </a:xfrm>
          <a:prstGeom prst="rect">
            <a:avLst/>
          </a:prstGeom>
          <a:noFill/>
          <a:ln/>
        </p:spPr>
        <p:txBody>
          <a:bodyPr wrap="none" lIns="0" tIns="0" rIns="0" bIns="0" rtlCol="0" anchor="t">
            <a:normAutofit/>
          </a:bodyPr>
          <a:lstStyle/>
          <a:p>
            <a:pPr marL="0" indent="0" algn="l">
              <a:lnSpc>
                <a:spcPts val="1620"/>
              </a:lnSpc>
              <a:buNone/>
            </a:pPr>
            <a:r>
              <a:rPr lang="en-US" sz="1200" dirty="0">
                <a:solidFill>
                  <a:srgbClr val="7C8FA3"/>
                </a:solidFill>
                <a:latin typeface="JetBrains Mono" pitchFamily="49" charset="0"/>
                <a:ea typeface="JetBrains Mono" pitchFamily="49" charset="-122"/>
                <a:cs typeface="JetBrains Mono" pitchFamily="49" charset="-120"/>
              </a:rPr>
              <a:t>147</a:t>
            </a:r>
            <a:r>
              <a:rPr lang="en-US" sz="1200" dirty="0">
                <a:solidFill>
                  <a:srgbClr val="D6DDE5"/>
                </a:solidFill>
                <a:latin typeface="JetBrains Mono" pitchFamily="49" charset="0"/>
                <a:ea typeface="JetBrains Mono" pitchFamily="49" charset="-122"/>
                <a:cs typeface="JetBrains Mono" pitchFamily="49" charset="-120"/>
              </a:rPr>
              <a:t>     feedback = input().strip()</a:t>
            </a:r>
            <a:endParaRPr lang="en-US" sz="1200" dirty="0"/>
          </a:p>
        </p:txBody>
      </p:sp>
      <p:sp>
        <p:nvSpPr>
          <p:cNvPr id="26" name="Text 23"/>
          <p:cNvSpPr/>
          <p:nvPr/>
        </p:nvSpPr>
        <p:spPr>
          <a:xfrm>
            <a:off x="4927564" y="4378288"/>
            <a:ext cx="6451564" cy="205698"/>
          </a:xfrm>
          <a:prstGeom prst="rect">
            <a:avLst/>
          </a:prstGeom>
          <a:solidFill>
            <a:srgbClr val="3A2B20"/>
          </a:solidFill>
          <a:ln/>
        </p:spPr>
        <p:txBody>
          <a:bodyPr wrap="none" lIns="177223" tIns="0" rIns="0" bIns="0" rtlCol="0" anchor="t">
            <a:normAutofit/>
          </a:bodyPr>
          <a:lstStyle/>
          <a:p>
            <a:pPr marL="0" indent="0" algn="l">
              <a:lnSpc>
                <a:spcPts val="1620"/>
              </a:lnSpc>
              <a:buNone/>
            </a:pPr>
            <a:r>
              <a:rPr lang="en-US" sz="1200" dirty="0">
                <a:solidFill>
                  <a:srgbClr val="7C8FA3"/>
                </a:solidFill>
                <a:latin typeface="JetBrains Mono" pitchFamily="49" charset="0"/>
                <a:ea typeface="JetBrains Mono" pitchFamily="49" charset="-122"/>
                <a:cs typeface="JetBrains Mono" pitchFamily="49" charset="-120"/>
              </a:rPr>
              <a:t>148</a:t>
            </a:r>
            <a:r>
              <a:rPr lang="en-US" sz="1200" dirty="0">
                <a:solidFill>
                  <a:srgbClr val="D6DDE5"/>
                </a:solidFill>
                <a:latin typeface="JetBrains Mono" pitchFamily="49" charset="0"/>
                <a:ea typeface="JetBrains Mono" pitchFamily="49" charset="-122"/>
                <a:cs typeface="JetBrains Mono" pitchFamily="49" charset="-120"/>
              </a:rPr>
              <a:t>     return False, feedback</a:t>
            </a:r>
            <a:endParaRPr lang="en-US" sz="1200" dirty="0"/>
          </a:p>
        </p:txBody>
      </p:sp>
      <p:sp>
        <p:nvSpPr>
          <p:cNvPr id="27" name="Shape 24"/>
          <p:cNvSpPr/>
          <p:nvPr/>
        </p:nvSpPr>
        <p:spPr>
          <a:xfrm>
            <a:off x="4946614" y="4378288"/>
            <a:ext cx="0" cy="205698"/>
          </a:xfrm>
          <a:prstGeom prst="line">
            <a:avLst/>
          </a:prstGeom>
          <a:noFill/>
          <a:ln w="38100">
            <a:solidFill>
              <a:srgbClr val="E8843F"/>
            </a:solidFill>
            <a:prstDash val="solid"/>
          </a:ln>
        </p:spPr>
        <p:txBody>
          <a:bodyPr/>
          <a:lstStyle/>
          <a:p>
            <a:endParaRPr lang="en-CN"/>
          </a:p>
        </p:txBody>
      </p:sp>
      <p:sp>
        <p:nvSpPr>
          <p:cNvPr id="28" name="Text 25"/>
          <p:cNvSpPr/>
          <p:nvPr/>
        </p:nvSpPr>
        <p:spPr>
          <a:xfrm>
            <a:off x="812782" y="6238280"/>
            <a:ext cx="967994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7684"/>
                </a:solidFill>
                <a:latin typeface="IBM Plex Sans" pitchFamily="34" charset="0"/>
                <a:ea typeface="IBM Plex Sans" pitchFamily="34" charset="-122"/>
                <a:cs typeface="IBM Plex Sans" pitchFamily="34" charset="-120"/>
              </a:rPr>
              <a:t>06-human-in-the-loop/01_human_in_the_loop.py L122–148 · lines condensed</a:t>
            </a:r>
            <a:endParaRPr lang="en-US" sz="1200" dirty="0"/>
          </a:p>
        </p:txBody>
      </p:sp>
      <p:sp>
        <p:nvSpPr>
          <p:cNvPr id="29" name="Text 26"/>
          <p:cNvSpPr/>
          <p:nvPr/>
        </p:nvSpPr>
        <p:spPr>
          <a:xfrm>
            <a:off x="10312418" y="6238280"/>
            <a:ext cx="1066800" cy="238720"/>
          </a:xfrm>
          <a:prstGeom prst="rect">
            <a:avLst/>
          </a:prstGeom>
          <a:noFill/>
          <a:ln/>
        </p:spPr>
        <p:txBody>
          <a:bodyPr wrap="square" lIns="0" tIns="0" rIns="0" bIns="0" rtlCol="0" anchor="t">
            <a:normAutofit/>
          </a:bodyPr>
          <a:lstStyle/>
          <a:p>
            <a:pPr marL="0" indent="0" algn="r">
              <a:lnSpc>
                <a:spcPts val="1680"/>
              </a:lnSpc>
              <a:buNone/>
            </a:pPr>
            <a:r>
              <a:rPr lang="en-US" sz="1200" b="1" dirty="0">
                <a:solidFill>
                  <a:srgbClr val="6A7684"/>
                </a:solidFill>
                <a:latin typeface="IBM Plex Sans" pitchFamily="34" charset="0"/>
                <a:ea typeface="IBM Plex Sans" pitchFamily="34" charset="-122"/>
                <a:cs typeface="IBM Plex Sans" pitchFamily="34" charset="-120"/>
              </a:rPr>
              <a:t>21 / 27</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6212C"/>
        </a:solidFill>
        <a:effectLst/>
      </p:bgPr>
    </p:bg>
    <p:spTree>
      <p:nvGrpSpPr>
        <p:cNvPr id="1" name=""/>
        <p:cNvGrpSpPr/>
        <p:nvPr/>
      </p:nvGrpSpPr>
      <p:grpSpPr>
        <a:xfrm>
          <a:off x="0" y="0"/>
          <a:ext cx="0" cy="0"/>
          <a:chOff x="0" y="0"/>
          <a:chExt cx="0" cy="0"/>
        </a:xfrm>
      </p:grpSpPr>
      <p:sp>
        <p:nvSpPr>
          <p:cNvPr id="2" name="Text 0"/>
          <p:cNvSpPr/>
          <p:nvPr/>
        </p:nvSpPr>
        <p:spPr>
          <a:xfrm>
            <a:off x="812782" y="711163"/>
            <a:ext cx="10883429"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F2A46B"/>
                </a:solidFill>
                <a:latin typeface="IBM Plex Sans" pitchFamily="34" charset="0"/>
                <a:ea typeface="IBM Plex Sans" pitchFamily="34" charset="-122"/>
                <a:cs typeface="IBM Plex Sans" pitchFamily="34" charset="-120"/>
              </a:rPr>
              <a:t>07 · CONTENT WRITER · CAPSTONE</a:t>
            </a:r>
            <a:endParaRPr lang="en-US" sz="1200" dirty="0"/>
          </a:p>
        </p:txBody>
      </p:sp>
      <p:sp>
        <p:nvSpPr>
          <p:cNvPr id="3" name="Text 1"/>
          <p:cNvSpPr>
            <a:spLocks noGrp="1"/>
          </p:cNvSpPr>
          <p:nvPr>
            <p:ph type="title"/>
          </p:nvPr>
        </p:nvSpPr>
        <p:spPr>
          <a:xfrm>
            <a:off x="812782" y="1000658"/>
            <a:ext cx="10883429" cy="444464"/>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F4F2EC"/>
                </a:solidFill>
                <a:latin typeface="IBM Plex Sans" pitchFamily="34" charset="0"/>
                <a:ea typeface="IBM Plex Sans" pitchFamily="34" charset="-122"/>
                <a:cs typeface="IBM Plex Sans" pitchFamily="34" charset="-120"/>
              </a:rPr>
              <a:t>Every pipeline phase is a pattern you've seen</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4327" y="1685267"/>
          <a:ext cx="10554891" cy="3224025"/>
        </p:xfrm>
        <a:graphic>
          <a:graphicData uri="http://schemas.openxmlformats.org/drawingml/2006/table">
            <a:tbl>
              <a:tblPr/>
              <a:tblGrid>
                <a:gridCol w="3166467">
                  <a:extLst>
                    <a:ext uri="{9D8B030D-6E8A-4147-A177-3AD203B41FA5}">
                      <a16:colId xmlns:a16="http://schemas.microsoft.com/office/drawing/2014/main" val="20000"/>
                    </a:ext>
                  </a:extLst>
                </a:gridCol>
                <a:gridCol w="2533174">
                  <a:extLst>
                    <a:ext uri="{9D8B030D-6E8A-4147-A177-3AD203B41FA5}">
                      <a16:colId xmlns:a16="http://schemas.microsoft.com/office/drawing/2014/main" val="20001"/>
                    </a:ext>
                  </a:extLst>
                </a:gridCol>
                <a:gridCol w="738842">
                  <a:extLst>
                    <a:ext uri="{9D8B030D-6E8A-4147-A177-3AD203B41FA5}">
                      <a16:colId xmlns:a16="http://schemas.microsoft.com/office/drawing/2014/main" val="20002"/>
                    </a:ext>
                  </a:extLst>
                </a:gridCol>
                <a:gridCol w="1583234">
                  <a:extLst>
                    <a:ext uri="{9D8B030D-6E8A-4147-A177-3AD203B41FA5}">
                      <a16:colId xmlns:a16="http://schemas.microsoft.com/office/drawing/2014/main" val="20003"/>
                    </a:ext>
                  </a:extLst>
                </a:gridCol>
                <a:gridCol w="2533174">
                  <a:extLst>
                    <a:ext uri="{9D8B030D-6E8A-4147-A177-3AD203B41FA5}">
                      <a16:colId xmlns:a16="http://schemas.microsoft.com/office/drawing/2014/main" val="20004"/>
                    </a:ext>
                  </a:extLst>
                </a:gridCol>
              </a:tblGrid>
              <a:tr h="358225">
                <a:tc>
                  <a:txBody>
                    <a:bodyPr/>
                    <a:lstStyle/>
                    <a:p>
                      <a:pPr marL="0" indent="0">
                        <a:lnSpc>
                          <a:spcPts val="1820"/>
                        </a:lnSpc>
                        <a:buNone/>
                      </a:pPr>
                      <a:r>
                        <a:rPr lang="en-US" sz="1300" b="1" dirty="0">
                          <a:solidFill>
                            <a:srgbClr val="D6DDE5"/>
                          </a:solidFill>
                          <a:latin typeface="IBM Plex Sans" pitchFamily="34" charset="0"/>
                          <a:ea typeface="IBM Plex Sans" pitchFamily="34" charset="-122"/>
                          <a:cs typeface="IBM Plex Sans" pitchFamily="34" charset="-120"/>
                        </a:rPr>
                        <a:t>Phase</a:t>
                      </a:r>
                      <a:endParaRPr lang="en-US" sz="1300" dirty="0">
                        <a:latin typeface="IBM Plex Sans" charset="0"/>
                        <a:ea typeface="IBM Plex Sans" charset="0"/>
                        <a:cs typeface="IBM Plex Sans" charset="0"/>
                      </a:endParaRPr>
                    </a:p>
                  </a:txBody>
                  <a:tcPr marL="57785" marR="57785" marT="57785" marB="57785">
                    <a:lnL w="12700" cap="flat" cmpd="sng" algn="ctr">
                      <a:solidFill>
                        <a:srgbClr val="485158"/>
                      </a:solidFill>
                      <a:prstDash val="solid"/>
                      <a:round/>
                      <a:headEnd type="none" w="med" len="med"/>
                      <a:tailEnd type="none" w="med" len="med"/>
                    </a:lnL>
                    <a:lnR w="12700" cap="flat" cmpd="sng" algn="ctr">
                      <a:solidFill>
                        <a:srgbClr val="525C66"/>
                      </a:solidFill>
                      <a:prstDash val="solid"/>
                      <a:round/>
                      <a:headEnd type="none" w="med" len="med"/>
                      <a:tailEnd type="none" w="med" len="med"/>
                    </a:lnR>
                    <a:lnT w="12700" cap="flat" cmpd="sng" algn="ctr">
                      <a:solidFill>
                        <a:srgbClr val="485158"/>
                      </a:solidFill>
                      <a:prstDash val="solid"/>
                      <a:round/>
                      <a:headEnd type="none" w="med" len="med"/>
                      <a:tailEnd type="none" w="med" len="med"/>
                    </a:lnT>
                    <a:lnB w="12700" cap="flat" cmpd="sng" algn="ctr">
                      <a:solidFill>
                        <a:srgbClr val="525C66"/>
                      </a:solidFill>
                      <a:prstDash val="solid"/>
                      <a:round/>
                      <a:headEnd type="none" w="med" len="med"/>
                      <a:tailEnd type="none" w="med" len="med"/>
                    </a:lnB>
                    <a:solidFill>
                      <a:srgbClr val="22303E"/>
                    </a:solidFill>
                  </a:tcPr>
                </a:tc>
                <a:tc>
                  <a:txBody>
                    <a:bodyPr/>
                    <a:lstStyle/>
                    <a:p>
                      <a:pPr marL="0" indent="0">
                        <a:lnSpc>
                          <a:spcPts val="1820"/>
                        </a:lnSpc>
                        <a:buNone/>
                      </a:pPr>
                      <a:r>
                        <a:rPr lang="en-US" sz="1300" b="1" dirty="0">
                          <a:solidFill>
                            <a:srgbClr val="D6DDE5"/>
                          </a:solidFill>
                          <a:latin typeface="IBM Plex Sans" pitchFamily="34" charset="0"/>
                          <a:ea typeface="IBM Plex Sans" pitchFamily="34" charset="-122"/>
                          <a:cs typeface="IBM Plex Sans" pitchFamily="34" charset="-120"/>
                        </a:rPr>
                        <a:t>Pattern</a:t>
                      </a:r>
                      <a:endParaRPr lang="en-US" sz="1300" dirty="0">
                        <a:latin typeface="IBM Plex Sans" charset="0"/>
                        <a:ea typeface="IBM Plex Sans" charset="0"/>
                        <a:cs typeface="IBM Plex Sans" charset="0"/>
                      </a:endParaRPr>
                    </a:p>
                  </a:txBody>
                  <a:tcPr marL="57785" marR="57785" marT="57785" marB="57785">
                    <a:lnL w="12700" cap="flat" cmpd="sng" algn="ctr">
                      <a:solidFill>
                        <a:srgbClr val="525C66"/>
                      </a:solidFill>
                      <a:prstDash val="solid"/>
                      <a:round/>
                      <a:headEnd type="none" w="med" len="med"/>
                      <a:tailEnd type="none" w="med" len="med"/>
                    </a:lnL>
                    <a:lnR w="12700" cap="flat" cmpd="sng" algn="ctr">
                      <a:solidFill>
                        <a:srgbClr val="525C66"/>
                      </a:solidFill>
                      <a:prstDash val="solid"/>
                      <a:round/>
                      <a:headEnd type="none" w="med" len="med"/>
                      <a:tailEnd type="none" w="med" len="med"/>
                    </a:lnR>
                    <a:lnT w="12700" cap="flat" cmpd="sng" algn="ctr">
                      <a:solidFill>
                        <a:srgbClr val="485158"/>
                      </a:solidFill>
                      <a:prstDash val="solid"/>
                      <a:round/>
                      <a:headEnd type="none" w="med" len="med"/>
                      <a:tailEnd type="none" w="med" len="med"/>
                    </a:lnT>
                    <a:lnB w="12700" cap="flat" cmpd="sng" algn="ctr">
                      <a:solidFill>
                        <a:srgbClr val="525C66"/>
                      </a:solidFill>
                      <a:prstDash val="solid"/>
                      <a:round/>
                      <a:headEnd type="none" w="med" len="med"/>
                      <a:tailEnd type="none" w="med" len="med"/>
                    </a:lnB>
                    <a:solidFill>
                      <a:srgbClr val="22303E"/>
                    </a:solidFill>
                  </a:tcPr>
                </a:tc>
                <a:tc>
                  <a:txBody>
                    <a:bodyPr/>
                    <a:lstStyle/>
                    <a:p>
                      <a:pPr marL="0" indent="0">
                        <a:lnSpc>
                          <a:spcPts val="1820"/>
                        </a:lnSpc>
                        <a:buNone/>
                      </a:pPr>
                      <a:r>
                        <a:rPr lang="en-US" sz="1300" b="1" dirty="0">
                          <a:solidFill>
                            <a:srgbClr val="D6DDE5"/>
                          </a:solidFill>
                          <a:latin typeface="IBM Plex Sans" pitchFamily="34" charset="0"/>
                          <a:ea typeface="IBM Plex Sans" pitchFamily="34" charset="-122"/>
                          <a:cs typeface="IBM Plex Sans" pitchFamily="34" charset="-120"/>
                        </a:rPr>
                        <a:t>From</a:t>
                      </a:r>
                      <a:endParaRPr lang="en-US" sz="1300" dirty="0">
                        <a:latin typeface="IBM Plex Sans" charset="0"/>
                        <a:ea typeface="IBM Plex Sans" charset="0"/>
                        <a:cs typeface="IBM Plex Sans" charset="0"/>
                      </a:endParaRPr>
                    </a:p>
                  </a:txBody>
                  <a:tcPr marL="57785" marR="57785" marT="57785" marB="57785">
                    <a:lnL w="12700" cap="flat" cmpd="sng" algn="ctr">
                      <a:solidFill>
                        <a:srgbClr val="525C66"/>
                      </a:solidFill>
                      <a:prstDash val="solid"/>
                      <a:round/>
                      <a:headEnd type="none" w="med" len="med"/>
                      <a:tailEnd type="none" w="med" len="med"/>
                    </a:lnL>
                    <a:lnR w="12700" cap="flat" cmpd="sng" algn="ctr">
                      <a:solidFill>
                        <a:srgbClr val="525C66"/>
                      </a:solidFill>
                      <a:prstDash val="solid"/>
                      <a:round/>
                      <a:headEnd type="none" w="med" len="med"/>
                      <a:tailEnd type="none" w="med" len="med"/>
                    </a:lnR>
                    <a:lnT w="12700" cap="flat" cmpd="sng" algn="ctr">
                      <a:solidFill>
                        <a:srgbClr val="485158"/>
                      </a:solidFill>
                      <a:prstDash val="solid"/>
                      <a:round/>
                      <a:headEnd type="none" w="med" len="med"/>
                      <a:tailEnd type="none" w="med" len="med"/>
                    </a:lnT>
                    <a:lnB w="12700" cap="flat" cmpd="sng" algn="ctr">
                      <a:solidFill>
                        <a:srgbClr val="525C66"/>
                      </a:solidFill>
                      <a:prstDash val="solid"/>
                      <a:round/>
                      <a:headEnd type="none" w="med" len="med"/>
                      <a:tailEnd type="none" w="med" len="med"/>
                    </a:lnB>
                    <a:solidFill>
                      <a:srgbClr val="22303E"/>
                    </a:solidFill>
                  </a:tcPr>
                </a:tc>
                <a:tc>
                  <a:txBody>
                    <a:bodyPr/>
                    <a:lstStyle/>
                    <a:p>
                      <a:pPr marL="0" indent="0">
                        <a:lnSpc>
                          <a:spcPts val="1820"/>
                        </a:lnSpc>
                        <a:buNone/>
                      </a:pPr>
                      <a:r>
                        <a:rPr lang="en-US" sz="1300" b="1" dirty="0">
                          <a:solidFill>
                            <a:srgbClr val="D6DDE5"/>
                          </a:solidFill>
                          <a:latin typeface="IBM Plex Sans" pitchFamily="34" charset="0"/>
                          <a:ea typeface="IBM Plex Sans" pitchFamily="34" charset="-122"/>
                          <a:cs typeface="IBM Plex Sans" pitchFamily="34" charset="-120"/>
                        </a:rPr>
                        <a:t>Model</a:t>
                      </a:r>
                      <a:endParaRPr lang="en-US" sz="1300" dirty="0">
                        <a:latin typeface="IBM Plex Sans" charset="0"/>
                        <a:ea typeface="IBM Plex Sans" charset="0"/>
                        <a:cs typeface="IBM Plex Sans" charset="0"/>
                      </a:endParaRPr>
                    </a:p>
                  </a:txBody>
                  <a:tcPr marL="57785" marR="57785" marT="57785" marB="57785">
                    <a:lnL w="12700" cap="flat" cmpd="sng" algn="ctr">
                      <a:solidFill>
                        <a:srgbClr val="525C66"/>
                      </a:solidFill>
                      <a:prstDash val="solid"/>
                      <a:round/>
                      <a:headEnd type="none" w="med" len="med"/>
                      <a:tailEnd type="none" w="med" len="med"/>
                    </a:lnL>
                    <a:lnR w="12700" cap="flat" cmpd="sng" algn="ctr">
                      <a:solidFill>
                        <a:srgbClr val="525C66"/>
                      </a:solidFill>
                      <a:prstDash val="solid"/>
                      <a:round/>
                      <a:headEnd type="none" w="med" len="med"/>
                      <a:tailEnd type="none" w="med" len="med"/>
                    </a:lnR>
                    <a:lnT w="12700" cap="flat" cmpd="sng" algn="ctr">
                      <a:solidFill>
                        <a:srgbClr val="485158"/>
                      </a:solidFill>
                      <a:prstDash val="solid"/>
                      <a:round/>
                      <a:headEnd type="none" w="med" len="med"/>
                      <a:tailEnd type="none" w="med" len="med"/>
                    </a:lnT>
                    <a:lnB w="12700" cap="flat" cmpd="sng" algn="ctr">
                      <a:solidFill>
                        <a:srgbClr val="525C66"/>
                      </a:solidFill>
                      <a:prstDash val="solid"/>
                      <a:round/>
                      <a:headEnd type="none" w="med" len="med"/>
                      <a:tailEnd type="none" w="med" len="med"/>
                    </a:lnB>
                    <a:solidFill>
                      <a:srgbClr val="22303E"/>
                    </a:solidFill>
                  </a:tcPr>
                </a:tc>
                <a:tc>
                  <a:txBody>
                    <a:bodyPr/>
                    <a:lstStyle/>
                    <a:p>
                      <a:pPr marL="0" indent="0">
                        <a:lnSpc>
                          <a:spcPts val="1820"/>
                        </a:lnSpc>
                        <a:buNone/>
                      </a:pPr>
                      <a:r>
                        <a:rPr lang="en-US" sz="1300" b="1" dirty="0">
                          <a:solidFill>
                            <a:srgbClr val="D6DDE5"/>
                          </a:solidFill>
                          <a:latin typeface="IBM Plex Sans" pitchFamily="34" charset="0"/>
                          <a:ea typeface="IBM Plex Sans" pitchFamily="34" charset="-122"/>
                          <a:cs typeface="IBM Plex Sans" pitchFamily="34" charset="-120"/>
                        </a:rPr>
                        <a:t>Method in agent.py</a:t>
                      </a:r>
                      <a:endParaRPr lang="en-US" sz="1300" dirty="0">
                        <a:latin typeface="IBM Plex Sans" charset="0"/>
                        <a:ea typeface="IBM Plex Sans" charset="0"/>
                        <a:cs typeface="IBM Plex Sans" charset="0"/>
                      </a:endParaRPr>
                    </a:p>
                  </a:txBody>
                  <a:tcPr marL="57785" marR="57785" marT="57785" marB="57785">
                    <a:lnL w="12700" cap="flat" cmpd="sng" algn="ctr">
                      <a:solidFill>
                        <a:srgbClr val="525C66"/>
                      </a:solidFill>
                      <a:prstDash val="solid"/>
                      <a:round/>
                      <a:headEnd type="none" w="med" len="med"/>
                      <a:tailEnd type="none" w="med" len="med"/>
                    </a:lnL>
                    <a:lnR w="12700" cap="flat" cmpd="sng" algn="ctr">
                      <a:solidFill>
                        <a:srgbClr val="525C66"/>
                      </a:solidFill>
                      <a:prstDash val="solid"/>
                      <a:round/>
                      <a:headEnd type="none" w="med" len="med"/>
                      <a:tailEnd type="none" w="med" len="med"/>
                    </a:lnR>
                    <a:lnT w="12700" cap="flat" cmpd="sng" algn="ctr">
                      <a:solidFill>
                        <a:srgbClr val="485158"/>
                      </a:solidFill>
                      <a:prstDash val="solid"/>
                      <a:round/>
                      <a:headEnd type="none" w="med" len="med"/>
                      <a:tailEnd type="none" w="med" len="med"/>
                    </a:lnT>
                    <a:lnB w="12700" cap="flat" cmpd="sng" algn="ctr">
                      <a:solidFill>
                        <a:srgbClr val="525C66"/>
                      </a:solidFill>
                      <a:prstDash val="solid"/>
                      <a:round/>
                      <a:headEnd type="none" w="med" len="med"/>
                      <a:tailEnd type="none" w="med" len="med"/>
                    </a:lnB>
                    <a:solidFill>
                      <a:srgbClr val="22303E"/>
                    </a:solidFill>
                  </a:tcPr>
                </a:tc>
                <a:extLst>
                  <a:ext uri="{0D108BD9-81ED-4DB2-BD59-A6C34878D82A}">
                    <a16:rowId xmlns:a16="http://schemas.microsoft.com/office/drawing/2014/main" val="10000"/>
                  </a:ext>
                </a:extLst>
              </a:tr>
              <a:tr h="358225">
                <a:tc>
                  <a:txBody>
                    <a:bodyPr/>
                    <a:lstStyle/>
                    <a:p>
                      <a:pPr marL="0" indent="0">
                        <a:lnSpc>
                          <a:spcPts val="1820"/>
                        </a:lnSpc>
                        <a:buNone/>
                      </a:pPr>
                      <a:r>
                        <a:rPr lang="en-US" sz="1300" dirty="0">
                          <a:solidFill>
                            <a:srgbClr val="D6DDE5"/>
                          </a:solidFill>
                          <a:latin typeface="IBM Plex Sans" pitchFamily="34" charset="0"/>
                          <a:ea typeface="IBM Plex Sans" pitchFamily="34" charset="-122"/>
                          <a:cs typeface="IBM Plex Sans" pitchFamily="34" charset="-120"/>
                        </a:rPr>
                        <a:t>Classify content type</a:t>
                      </a:r>
                      <a:endParaRPr lang="en-US" sz="1300" dirty="0">
                        <a:latin typeface="IBM Plex Sans" charset="0"/>
                        <a:ea typeface="IBM Plex Sans" charset="0"/>
                        <a:cs typeface="IBM Plex Sans" charset="0"/>
                      </a:endParaRPr>
                    </a:p>
                  </a:txBody>
                  <a:tcPr marL="57785" marR="57785" marT="57785" marB="57785">
                    <a:lnL w="12700" cap="flat" cmpd="sng" algn="ctr">
                      <a:solidFill>
                        <a:srgbClr val="485158"/>
                      </a:solidFill>
                      <a:prstDash val="solid"/>
                      <a:round/>
                      <a:headEnd type="none" w="med" len="med"/>
                      <a:tailEnd type="none" w="med" len="med"/>
                    </a:lnL>
                    <a:lnR w="12700" cap="flat" cmpd="sng" algn="ctr">
                      <a:solidFill>
                        <a:srgbClr val="485158"/>
                      </a:solidFill>
                      <a:prstDash val="solid"/>
                      <a:round/>
                      <a:headEnd type="none" w="med" len="med"/>
                      <a:tailEnd type="none" w="med" len="med"/>
                    </a:lnR>
                    <a:lnT w="12700" cap="flat" cmpd="sng" algn="ctr">
                      <a:solidFill>
                        <a:srgbClr val="525C66"/>
                      </a:solidFill>
                      <a:prstDash val="solid"/>
                      <a:round/>
                      <a:headEnd type="none" w="med" len="med"/>
                      <a:tailEnd type="none" w="med" len="med"/>
                    </a:lnT>
                    <a:lnB w="12700" cap="flat" cmpd="sng" algn="ctr">
                      <a:solidFill>
                        <a:srgbClr val="485158"/>
                      </a:solidFill>
                      <a:prstDash val="solid"/>
                      <a:round/>
                      <a:headEnd type="none" w="med" len="med"/>
                      <a:tailEnd type="none" w="med" len="med"/>
                    </a:lnB>
                  </a:tcPr>
                </a:tc>
                <a:tc>
                  <a:txBody>
                    <a:bodyPr/>
                    <a:lstStyle/>
                    <a:p>
                      <a:pPr marL="0" indent="0">
                        <a:lnSpc>
                          <a:spcPts val="1820"/>
                        </a:lnSpc>
                        <a:buNone/>
                      </a:pPr>
                      <a:r>
                        <a:rPr lang="en-US" sz="1300" dirty="0">
                          <a:solidFill>
                            <a:srgbClr val="D6DDE5"/>
                          </a:solidFill>
                          <a:latin typeface="IBM Plex Sans" pitchFamily="34" charset="0"/>
                          <a:ea typeface="IBM Plex Sans" pitchFamily="34" charset="-122"/>
                          <a:cs typeface="IBM Plex Sans" pitchFamily="34" charset="-120"/>
                        </a:rPr>
                        <a:t>Routing</a:t>
                      </a:r>
                      <a:endParaRPr lang="en-US" sz="1300" dirty="0">
                        <a:latin typeface="IBM Plex Sans" charset="0"/>
                        <a:ea typeface="IBM Plex Sans" charset="0"/>
                        <a:cs typeface="IBM Plex Sans" charset="0"/>
                      </a:endParaRPr>
                    </a:p>
                  </a:txBody>
                  <a:tcPr marL="57785" marR="57785" marT="57785" marB="57785">
                    <a:lnL w="12700" cap="flat" cmpd="sng" algn="ctr">
                      <a:solidFill>
                        <a:srgbClr val="485158"/>
                      </a:solidFill>
                      <a:prstDash val="solid"/>
                      <a:round/>
                      <a:headEnd type="none" w="med" len="med"/>
                      <a:tailEnd type="none" w="med" len="med"/>
                    </a:lnL>
                    <a:lnR w="12700" cap="flat" cmpd="sng" algn="ctr">
                      <a:solidFill>
                        <a:srgbClr val="485158"/>
                      </a:solidFill>
                      <a:prstDash val="solid"/>
                      <a:round/>
                      <a:headEnd type="none" w="med" len="med"/>
                      <a:tailEnd type="none" w="med" len="med"/>
                    </a:lnR>
                    <a:lnT w="12700" cap="flat" cmpd="sng" algn="ctr">
                      <a:solidFill>
                        <a:srgbClr val="525C66"/>
                      </a:solidFill>
                      <a:prstDash val="solid"/>
                      <a:round/>
                      <a:headEnd type="none" w="med" len="med"/>
                      <a:tailEnd type="none" w="med" len="med"/>
                    </a:lnT>
                    <a:lnB w="12700" cap="flat" cmpd="sng" algn="ctr">
                      <a:solidFill>
                        <a:srgbClr val="485158"/>
                      </a:solidFill>
                      <a:prstDash val="solid"/>
                      <a:round/>
                      <a:headEnd type="none" w="med" len="med"/>
                      <a:tailEnd type="none" w="med" len="med"/>
                    </a:lnB>
                  </a:tcPr>
                </a:tc>
                <a:tc>
                  <a:txBody>
                    <a:bodyPr/>
                    <a:lstStyle/>
                    <a:p>
                      <a:pPr marL="0" indent="0">
                        <a:lnSpc>
                          <a:spcPts val="1820"/>
                        </a:lnSpc>
                        <a:buNone/>
                      </a:pPr>
                      <a:r>
                        <a:rPr lang="en-US" sz="1300" dirty="0">
                          <a:solidFill>
                            <a:srgbClr val="D6DDE5"/>
                          </a:solidFill>
                          <a:latin typeface="IBM Plex Sans" pitchFamily="34" charset="0"/>
                          <a:ea typeface="IBM Plex Sans" pitchFamily="34" charset="-122"/>
                          <a:cs typeface="IBM Plex Sans" pitchFamily="34" charset="-120"/>
                        </a:rPr>
                        <a:t>02</a:t>
                      </a:r>
                      <a:endParaRPr lang="en-US" sz="1300" dirty="0">
                        <a:latin typeface="IBM Plex Sans" charset="0"/>
                        <a:ea typeface="IBM Plex Sans" charset="0"/>
                        <a:cs typeface="IBM Plex Sans" charset="0"/>
                      </a:endParaRPr>
                    </a:p>
                  </a:txBody>
                  <a:tcPr marL="57785" marR="57785" marT="57785" marB="57785">
                    <a:lnL w="12700" cap="flat" cmpd="sng" algn="ctr">
                      <a:solidFill>
                        <a:srgbClr val="485158"/>
                      </a:solidFill>
                      <a:prstDash val="solid"/>
                      <a:round/>
                      <a:headEnd type="none" w="med" len="med"/>
                      <a:tailEnd type="none" w="med" len="med"/>
                    </a:lnL>
                    <a:lnR w="12700" cap="flat" cmpd="sng" algn="ctr">
                      <a:solidFill>
                        <a:srgbClr val="485158"/>
                      </a:solidFill>
                      <a:prstDash val="solid"/>
                      <a:round/>
                      <a:headEnd type="none" w="med" len="med"/>
                      <a:tailEnd type="none" w="med" len="med"/>
                    </a:lnR>
                    <a:lnT w="12700" cap="flat" cmpd="sng" algn="ctr">
                      <a:solidFill>
                        <a:srgbClr val="525C66"/>
                      </a:solidFill>
                      <a:prstDash val="solid"/>
                      <a:round/>
                      <a:headEnd type="none" w="med" len="med"/>
                      <a:tailEnd type="none" w="med" len="med"/>
                    </a:lnT>
                    <a:lnB w="12700" cap="flat" cmpd="sng" algn="ctr">
                      <a:solidFill>
                        <a:srgbClr val="485158"/>
                      </a:solidFill>
                      <a:prstDash val="solid"/>
                      <a:round/>
                      <a:headEnd type="none" w="med" len="med"/>
                      <a:tailEnd type="none" w="med" len="med"/>
                    </a:lnB>
                  </a:tcPr>
                </a:tc>
                <a:tc>
                  <a:txBody>
                    <a:bodyPr/>
                    <a:lstStyle/>
                    <a:p>
                      <a:pPr marL="0" indent="0">
                        <a:lnSpc>
                          <a:spcPts val="1820"/>
                        </a:lnSpc>
                        <a:buNone/>
                      </a:pPr>
                      <a:r>
                        <a:rPr lang="en-US" sz="1300" dirty="0">
                          <a:solidFill>
                            <a:srgbClr val="D6DDE5"/>
                          </a:solidFill>
                          <a:latin typeface="IBM Plex Sans" pitchFamily="34" charset="0"/>
                          <a:ea typeface="IBM Plex Sans" pitchFamily="34" charset="-122"/>
                          <a:cs typeface="IBM Plex Sans" pitchFamily="34" charset="-120"/>
                        </a:rPr>
                        <a:t>Sonnet</a:t>
                      </a:r>
                      <a:endParaRPr lang="en-US" sz="1300" dirty="0">
                        <a:latin typeface="IBM Plex Sans" charset="0"/>
                        <a:ea typeface="IBM Plex Sans" charset="0"/>
                        <a:cs typeface="IBM Plex Sans" charset="0"/>
                      </a:endParaRPr>
                    </a:p>
                  </a:txBody>
                  <a:tcPr marL="57785" marR="57785" marT="57785" marB="57785">
                    <a:lnL w="12700" cap="flat" cmpd="sng" algn="ctr">
                      <a:solidFill>
                        <a:srgbClr val="485158"/>
                      </a:solidFill>
                      <a:prstDash val="solid"/>
                      <a:round/>
                      <a:headEnd type="none" w="med" len="med"/>
                      <a:tailEnd type="none" w="med" len="med"/>
                    </a:lnL>
                    <a:lnR w="12700" cap="flat" cmpd="sng" algn="ctr">
                      <a:solidFill>
                        <a:srgbClr val="485158"/>
                      </a:solidFill>
                      <a:prstDash val="solid"/>
                      <a:round/>
                      <a:headEnd type="none" w="med" len="med"/>
                      <a:tailEnd type="none" w="med" len="med"/>
                    </a:lnR>
                    <a:lnT w="12700" cap="flat" cmpd="sng" algn="ctr">
                      <a:solidFill>
                        <a:srgbClr val="525C66"/>
                      </a:solidFill>
                      <a:prstDash val="solid"/>
                      <a:round/>
                      <a:headEnd type="none" w="med" len="med"/>
                      <a:tailEnd type="none" w="med" len="med"/>
                    </a:lnT>
                    <a:lnB w="12700" cap="flat" cmpd="sng" algn="ctr">
                      <a:solidFill>
                        <a:srgbClr val="485158"/>
                      </a:solidFill>
                      <a:prstDash val="solid"/>
                      <a:round/>
                      <a:headEnd type="none" w="med" len="med"/>
                      <a:tailEnd type="none" w="med" len="med"/>
                    </a:lnB>
                  </a:tcPr>
                </a:tc>
                <a:tc>
                  <a:txBody>
                    <a:bodyPr/>
                    <a:lstStyle/>
                    <a:p>
                      <a:pPr marL="0" indent="0">
                        <a:lnSpc>
                          <a:spcPts val="1820"/>
                        </a:lnSpc>
                        <a:buNone/>
                      </a:pPr>
                      <a:r>
                        <a:rPr lang="en-US" sz="1300" dirty="0">
                          <a:solidFill>
                            <a:srgbClr val="F2A46B"/>
                          </a:solidFill>
                          <a:latin typeface="IBM Plex Sans" pitchFamily="34" charset="0"/>
                          <a:ea typeface="IBM Plex Sans" pitchFamily="34" charset="-122"/>
                          <a:cs typeface="IBM Plex Sans" pitchFamily="34" charset="-120"/>
                        </a:rPr>
                        <a:t>_classify</a:t>
                      </a:r>
                      <a:endParaRPr lang="en-US" sz="1300" dirty="0">
                        <a:latin typeface="IBM Plex Sans" charset="0"/>
                        <a:ea typeface="IBM Plex Sans" charset="0"/>
                        <a:cs typeface="IBM Plex Sans" charset="0"/>
                      </a:endParaRPr>
                    </a:p>
                  </a:txBody>
                  <a:tcPr marL="57785" marR="57785" marT="57785" marB="57785">
                    <a:lnL w="12700" cap="flat" cmpd="sng" algn="ctr">
                      <a:solidFill>
                        <a:srgbClr val="485158"/>
                      </a:solidFill>
                      <a:prstDash val="solid"/>
                      <a:round/>
                      <a:headEnd type="none" w="med" len="med"/>
                      <a:tailEnd type="none" w="med" len="med"/>
                    </a:lnL>
                    <a:lnR w="12700" cap="flat" cmpd="sng" algn="ctr">
                      <a:solidFill>
                        <a:srgbClr val="485158"/>
                      </a:solidFill>
                      <a:prstDash val="solid"/>
                      <a:round/>
                      <a:headEnd type="none" w="med" len="med"/>
                      <a:tailEnd type="none" w="med" len="med"/>
                    </a:lnR>
                    <a:lnT w="12700" cap="flat" cmpd="sng" algn="ctr">
                      <a:solidFill>
                        <a:srgbClr val="525C66"/>
                      </a:solidFill>
                      <a:prstDash val="solid"/>
                      <a:round/>
                      <a:headEnd type="none" w="med" len="med"/>
                      <a:tailEnd type="none" w="med" len="med"/>
                    </a:lnT>
                    <a:lnB w="12700" cap="flat" cmpd="sng" algn="ctr">
                      <a:solidFill>
                        <a:srgbClr val="485158"/>
                      </a:solidFill>
                      <a:prstDash val="solid"/>
                      <a:round/>
                      <a:headEnd type="none" w="med" len="med"/>
                      <a:tailEnd type="none" w="med" len="med"/>
                    </a:lnB>
                  </a:tcPr>
                </a:tc>
                <a:extLst>
                  <a:ext uri="{0D108BD9-81ED-4DB2-BD59-A6C34878D82A}">
                    <a16:rowId xmlns:a16="http://schemas.microsoft.com/office/drawing/2014/main" val="10001"/>
                  </a:ext>
                </a:extLst>
              </a:tr>
              <a:tr h="358225">
                <a:tc>
                  <a:txBody>
                    <a:bodyPr/>
                    <a:lstStyle/>
                    <a:p>
                      <a:pPr marL="0" indent="0">
                        <a:lnSpc>
                          <a:spcPts val="1820"/>
                        </a:lnSpc>
                        <a:buNone/>
                      </a:pPr>
                      <a:r>
                        <a:rPr lang="en-US" sz="1300" dirty="0">
                          <a:solidFill>
                            <a:srgbClr val="D6DDE5"/>
                          </a:solidFill>
                          <a:latin typeface="IBM Plex Sans" pitchFamily="34" charset="0"/>
                          <a:ea typeface="IBM Plex Sans" pitchFamily="34" charset="-122"/>
                          <a:cs typeface="IBM Plex Sans" pitchFamily="34" charset="-120"/>
                        </a:rPr>
                        <a:t>Plan research subtopics</a:t>
                      </a:r>
                      <a:endParaRPr lang="en-US" sz="1300" dirty="0">
                        <a:latin typeface="IBM Plex Sans" charset="0"/>
                        <a:ea typeface="IBM Plex Sans" charset="0"/>
                        <a:cs typeface="IBM Plex Sans" charset="0"/>
                      </a:endParaRPr>
                    </a:p>
                  </a:txBody>
                  <a:tcPr marL="57785" marR="57785" marT="57785" marB="57785">
                    <a:lnL w="12700" cap="flat" cmpd="sng" algn="ctr">
                      <a:solidFill>
                        <a:srgbClr val="485158"/>
                      </a:solidFill>
                      <a:prstDash val="solid"/>
                      <a:round/>
                      <a:headEnd type="none" w="med" len="med"/>
                      <a:tailEnd type="none" w="med" len="med"/>
                    </a:lnL>
                    <a:lnR w="12700" cap="flat" cmpd="sng" algn="ctr">
                      <a:solidFill>
                        <a:srgbClr val="485158"/>
                      </a:solidFill>
                      <a:prstDash val="solid"/>
                      <a:round/>
                      <a:headEnd type="none" w="med" len="med"/>
                      <a:tailEnd type="none" w="med" len="med"/>
                    </a:lnR>
                    <a:lnT w="12700" cap="flat" cmpd="sng" algn="ctr">
                      <a:solidFill>
                        <a:srgbClr val="485158"/>
                      </a:solidFill>
                      <a:prstDash val="solid"/>
                      <a:round/>
                      <a:headEnd type="none" w="med" len="med"/>
                      <a:tailEnd type="none" w="med" len="med"/>
                    </a:lnT>
                    <a:lnB w="12700" cap="flat" cmpd="sng" algn="ctr">
                      <a:solidFill>
                        <a:srgbClr val="485158"/>
                      </a:solidFill>
                      <a:prstDash val="solid"/>
                      <a:round/>
                      <a:headEnd type="none" w="med" len="med"/>
                      <a:tailEnd type="none" w="med" len="med"/>
                    </a:lnB>
                  </a:tcPr>
                </a:tc>
                <a:tc>
                  <a:txBody>
                    <a:bodyPr/>
                    <a:lstStyle/>
                    <a:p>
                      <a:pPr marL="0" indent="0">
                        <a:lnSpc>
                          <a:spcPts val="1820"/>
                        </a:lnSpc>
                        <a:buNone/>
                      </a:pPr>
                      <a:r>
                        <a:rPr lang="en-US" sz="1300" dirty="0">
                          <a:solidFill>
                            <a:srgbClr val="D6DDE5"/>
                          </a:solidFill>
                          <a:latin typeface="IBM Plex Sans" pitchFamily="34" charset="0"/>
                          <a:ea typeface="IBM Plex Sans" pitchFamily="34" charset="-122"/>
                          <a:cs typeface="IBM Plex Sans" pitchFamily="34" charset="-120"/>
                        </a:rPr>
                        <a:t>Orchestrator</a:t>
                      </a:r>
                      <a:endParaRPr lang="en-US" sz="1300" dirty="0">
                        <a:latin typeface="IBM Plex Sans" charset="0"/>
                        <a:ea typeface="IBM Plex Sans" charset="0"/>
                        <a:cs typeface="IBM Plex Sans" charset="0"/>
                      </a:endParaRPr>
                    </a:p>
                  </a:txBody>
                  <a:tcPr marL="57785" marR="57785" marT="57785" marB="57785">
                    <a:lnL w="12700" cap="flat" cmpd="sng" algn="ctr">
                      <a:solidFill>
                        <a:srgbClr val="485158"/>
                      </a:solidFill>
                      <a:prstDash val="solid"/>
                      <a:round/>
                      <a:headEnd type="none" w="med" len="med"/>
                      <a:tailEnd type="none" w="med" len="med"/>
                    </a:lnL>
                    <a:lnR w="12700" cap="flat" cmpd="sng" algn="ctr">
                      <a:solidFill>
                        <a:srgbClr val="485158"/>
                      </a:solidFill>
                      <a:prstDash val="solid"/>
                      <a:round/>
                      <a:headEnd type="none" w="med" len="med"/>
                      <a:tailEnd type="none" w="med" len="med"/>
                    </a:lnR>
                    <a:lnT w="12700" cap="flat" cmpd="sng" algn="ctr">
                      <a:solidFill>
                        <a:srgbClr val="485158"/>
                      </a:solidFill>
                      <a:prstDash val="solid"/>
                      <a:round/>
                      <a:headEnd type="none" w="med" len="med"/>
                      <a:tailEnd type="none" w="med" len="med"/>
                    </a:lnT>
                    <a:lnB w="12700" cap="flat" cmpd="sng" algn="ctr">
                      <a:solidFill>
                        <a:srgbClr val="485158"/>
                      </a:solidFill>
                      <a:prstDash val="solid"/>
                      <a:round/>
                      <a:headEnd type="none" w="med" len="med"/>
                      <a:tailEnd type="none" w="med" len="med"/>
                    </a:lnB>
                  </a:tcPr>
                </a:tc>
                <a:tc>
                  <a:txBody>
                    <a:bodyPr/>
                    <a:lstStyle/>
                    <a:p>
                      <a:pPr marL="0" indent="0">
                        <a:lnSpc>
                          <a:spcPts val="1820"/>
                        </a:lnSpc>
                        <a:buNone/>
                      </a:pPr>
                      <a:r>
                        <a:rPr lang="en-US" sz="1300" dirty="0">
                          <a:solidFill>
                            <a:srgbClr val="D6DDE5"/>
                          </a:solidFill>
                          <a:latin typeface="IBM Plex Sans" pitchFamily="34" charset="0"/>
                          <a:ea typeface="IBM Plex Sans" pitchFamily="34" charset="-122"/>
                          <a:cs typeface="IBM Plex Sans" pitchFamily="34" charset="-120"/>
                        </a:rPr>
                        <a:t>04</a:t>
                      </a:r>
                      <a:endParaRPr lang="en-US" sz="1300" dirty="0">
                        <a:latin typeface="IBM Plex Sans" charset="0"/>
                        <a:ea typeface="IBM Plex Sans" charset="0"/>
                        <a:cs typeface="IBM Plex Sans" charset="0"/>
                      </a:endParaRPr>
                    </a:p>
                  </a:txBody>
                  <a:tcPr marL="57785" marR="57785" marT="57785" marB="57785">
                    <a:lnL w="12700" cap="flat" cmpd="sng" algn="ctr">
                      <a:solidFill>
                        <a:srgbClr val="485158"/>
                      </a:solidFill>
                      <a:prstDash val="solid"/>
                      <a:round/>
                      <a:headEnd type="none" w="med" len="med"/>
                      <a:tailEnd type="none" w="med" len="med"/>
                    </a:lnL>
                    <a:lnR w="12700" cap="flat" cmpd="sng" algn="ctr">
                      <a:solidFill>
                        <a:srgbClr val="485158"/>
                      </a:solidFill>
                      <a:prstDash val="solid"/>
                      <a:round/>
                      <a:headEnd type="none" w="med" len="med"/>
                      <a:tailEnd type="none" w="med" len="med"/>
                    </a:lnR>
                    <a:lnT w="12700" cap="flat" cmpd="sng" algn="ctr">
                      <a:solidFill>
                        <a:srgbClr val="485158"/>
                      </a:solidFill>
                      <a:prstDash val="solid"/>
                      <a:round/>
                      <a:headEnd type="none" w="med" len="med"/>
                      <a:tailEnd type="none" w="med" len="med"/>
                    </a:lnT>
                    <a:lnB w="12700" cap="flat" cmpd="sng" algn="ctr">
                      <a:solidFill>
                        <a:srgbClr val="485158"/>
                      </a:solidFill>
                      <a:prstDash val="solid"/>
                      <a:round/>
                      <a:headEnd type="none" w="med" len="med"/>
                      <a:tailEnd type="none" w="med" len="med"/>
                    </a:lnB>
                  </a:tcPr>
                </a:tc>
                <a:tc>
                  <a:txBody>
                    <a:bodyPr/>
                    <a:lstStyle/>
                    <a:p>
                      <a:pPr marL="0" indent="0">
                        <a:lnSpc>
                          <a:spcPts val="1820"/>
                        </a:lnSpc>
                        <a:buNone/>
                      </a:pPr>
                      <a:r>
                        <a:rPr lang="en-US" sz="1300" dirty="0">
                          <a:solidFill>
                            <a:srgbClr val="D6DDE5"/>
                          </a:solidFill>
                          <a:latin typeface="IBM Plex Sans" pitchFamily="34" charset="0"/>
                          <a:ea typeface="IBM Plex Sans" pitchFamily="34" charset="-122"/>
                          <a:cs typeface="IBM Plex Sans" pitchFamily="34" charset="-120"/>
                        </a:rPr>
                        <a:t>Sonnet</a:t>
                      </a:r>
                      <a:endParaRPr lang="en-US" sz="1300" dirty="0">
                        <a:latin typeface="IBM Plex Sans" charset="0"/>
                        <a:ea typeface="IBM Plex Sans" charset="0"/>
                        <a:cs typeface="IBM Plex Sans" charset="0"/>
                      </a:endParaRPr>
                    </a:p>
                  </a:txBody>
                  <a:tcPr marL="57785" marR="57785" marT="57785" marB="57785">
                    <a:lnL w="12700" cap="flat" cmpd="sng" algn="ctr">
                      <a:solidFill>
                        <a:srgbClr val="485158"/>
                      </a:solidFill>
                      <a:prstDash val="solid"/>
                      <a:round/>
                      <a:headEnd type="none" w="med" len="med"/>
                      <a:tailEnd type="none" w="med" len="med"/>
                    </a:lnL>
                    <a:lnR w="12700" cap="flat" cmpd="sng" algn="ctr">
                      <a:solidFill>
                        <a:srgbClr val="485158"/>
                      </a:solidFill>
                      <a:prstDash val="solid"/>
                      <a:round/>
                      <a:headEnd type="none" w="med" len="med"/>
                      <a:tailEnd type="none" w="med" len="med"/>
                    </a:lnR>
                    <a:lnT w="12700" cap="flat" cmpd="sng" algn="ctr">
                      <a:solidFill>
                        <a:srgbClr val="485158"/>
                      </a:solidFill>
                      <a:prstDash val="solid"/>
                      <a:round/>
                      <a:headEnd type="none" w="med" len="med"/>
                      <a:tailEnd type="none" w="med" len="med"/>
                    </a:lnT>
                    <a:lnB w="12700" cap="flat" cmpd="sng" algn="ctr">
                      <a:solidFill>
                        <a:srgbClr val="485158"/>
                      </a:solidFill>
                      <a:prstDash val="solid"/>
                      <a:round/>
                      <a:headEnd type="none" w="med" len="med"/>
                      <a:tailEnd type="none" w="med" len="med"/>
                    </a:lnB>
                  </a:tcPr>
                </a:tc>
                <a:tc>
                  <a:txBody>
                    <a:bodyPr/>
                    <a:lstStyle/>
                    <a:p>
                      <a:pPr marL="0" indent="0">
                        <a:lnSpc>
                          <a:spcPts val="1820"/>
                        </a:lnSpc>
                        <a:buNone/>
                      </a:pPr>
                      <a:r>
                        <a:rPr lang="en-US" sz="1300" dirty="0">
                          <a:solidFill>
                            <a:srgbClr val="F2A46B"/>
                          </a:solidFill>
                          <a:latin typeface="IBM Plex Sans" pitchFamily="34" charset="0"/>
                          <a:ea typeface="IBM Plex Sans" pitchFamily="34" charset="-122"/>
                          <a:cs typeface="IBM Plex Sans" pitchFamily="34" charset="-120"/>
                        </a:rPr>
                        <a:t>_plan</a:t>
                      </a:r>
                      <a:endParaRPr lang="en-US" sz="1300" dirty="0">
                        <a:latin typeface="IBM Plex Sans" charset="0"/>
                        <a:ea typeface="IBM Plex Sans" charset="0"/>
                        <a:cs typeface="IBM Plex Sans" charset="0"/>
                      </a:endParaRPr>
                    </a:p>
                  </a:txBody>
                  <a:tcPr marL="57785" marR="57785" marT="57785" marB="57785">
                    <a:lnL w="12700" cap="flat" cmpd="sng" algn="ctr">
                      <a:solidFill>
                        <a:srgbClr val="485158"/>
                      </a:solidFill>
                      <a:prstDash val="solid"/>
                      <a:round/>
                      <a:headEnd type="none" w="med" len="med"/>
                      <a:tailEnd type="none" w="med" len="med"/>
                    </a:lnL>
                    <a:lnR w="12700" cap="flat" cmpd="sng" algn="ctr">
                      <a:solidFill>
                        <a:srgbClr val="485158"/>
                      </a:solidFill>
                      <a:prstDash val="solid"/>
                      <a:round/>
                      <a:headEnd type="none" w="med" len="med"/>
                      <a:tailEnd type="none" w="med" len="med"/>
                    </a:lnR>
                    <a:lnT w="12700" cap="flat" cmpd="sng" algn="ctr">
                      <a:solidFill>
                        <a:srgbClr val="485158"/>
                      </a:solidFill>
                      <a:prstDash val="solid"/>
                      <a:round/>
                      <a:headEnd type="none" w="med" len="med"/>
                      <a:tailEnd type="none" w="med" len="med"/>
                    </a:lnT>
                    <a:lnB w="12700" cap="flat" cmpd="sng" algn="ctr">
                      <a:solidFill>
                        <a:srgbClr val="485158"/>
                      </a:solidFill>
                      <a:prstDash val="solid"/>
                      <a:round/>
                      <a:headEnd type="none" w="med" len="med"/>
                      <a:tailEnd type="none" w="med" len="med"/>
                    </a:lnB>
                  </a:tcPr>
                </a:tc>
                <a:extLst>
                  <a:ext uri="{0D108BD9-81ED-4DB2-BD59-A6C34878D82A}">
                    <a16:rowId xmlns:a16="http://schemas.microsoft.com/office/drawing/2014/main" val="10002"/>
                  </a:ext>
                </a:extLst>
              </a:tr>
              <a:tr h="358225">
                <a:tc>
                  <a:txBody>
                    <a:bodyPr/>
                    <a:lstStyle/>
                    <a:p>
                      <a:pPr marL="0" indent="0">
                        <a:lnSpc>
                          <a:spcPts val="1820"/>
                        </a:lnSpc>
                        <a:buNone/>
                      </a:pPr>
                      <a:r>
                        <a:rPr lang="en-US" sz="1300" dirty="0">
                          <a:solidFill>
                            <a:srgbClr val="D6DDE5"/>
                          </a:solidFill>
                          <a:latin typeface="IBM Plex Sans" pitchFamily="34" charset="0"/>
                          <a:ea typeface="IBM Plex Sans" pitchFamily="34" charset="-122"/>
                          <a:cs typeface="IBM Plex Sans" pitchFamily="34" charset="-120"/>
                        </a:rPr>
                        <a:t>Research in parallel</a:t>
                      </a:r>
                      <a:endParaRPr lang="en-US" sz="1300" dirty="0">
                        <a:latin typeface="IBM Plex Sans" charset="0"/>
                        <a:ea typeface="IBM Plex Sans" charset="0"/>
                        <a:cs typeface="IBM Plex Sans" charset="0"/>
                      </a:endParaRPr>
                    </a:p>
                  </a:txBody>
                  <a:tcPr marL="57785" marR="57785" marT="57785" marB="57785">
                    <a:lnL w="12700" cap="flat" cmpd="sng" algn="ctr">
                      <a:solidFill>
                        <a:srgbClr val="485158"/>
                      </a:solidFill>
                      <a:prstDash val="solid"/>
                      <a:round/>
                      <a:headEnd type="none" w="med" len="med"/>
                      <a:tailEnd type="none" w="med" len="med"/>
                    </a:lnL>
                    <a:lnR w="12700" cap="flat" cmpd="sng" algn="ctr">
                      <a:solidFill>
                        <a:srgbClr val="485158"/>
                      </a:solidFill>
                      <a:prstDash val="solid"/>
                      <a:round/>
                      <a:headEnd type="none" w="med" len="med"/>
                      <a:tailEnd type="none" w="med" len="med"/>
                    </a:lnR>
                    <a:lnT w="12700" cap="flat" cmpd="sng" algn="ctr">
                      <a:solidFill>
                        <a:srgbClr val="485158"/>
                      </a:solidFill>
                      <a:prstDash val="solid"/>
                      <a:round/>
                      <a:headEnd type="none" w="med" len="med"/>
                      <a:tailEnd type="none" w="med" len="med"/>
                    </a:lnT>
                    <a:lnB w="12700" cap="flat" cmpd="sng" algn="ctr">
                      <a:solidFill>
                        <a:srgbClr val="485158"/>
                      </a:solidFill>
                      <a:prstDash val="solid"/>
                      <a:round/>
                      <a:headEnd type="none" w="med" len="med"/>
                      <a:tailEnd type="none" w="med" len="med"/>
                    </a:lnB>
                  </a:tcPr>
                </a:tc>
                <a:tc>
                  <a:txBody>
                    <a:bodyPr/>
                    <a:lstStyle/>
                    <a:p>
                      <a:pPr marL="0" indent="0">
                        <a:lnSpc>
                          <a:spcPts val="1820"/>
                        </a:lnSpc>
                        <a:buNone/>
                      </a:pPr>
                      <a:r>
                        <a:rPr lang="en-US" sz="1300" dirty="0">
                          <a:solidFill>
                            <a:srgbClr val="D6DDE5"/>
                          </a:solidFill>
                          <a:latin typeface="IBM Plex Sans" pitchFamily="34" charset="0"/>
                          <a:ea typeface="IBM Plex Sans" pitchFamily="34" charset="-122"/>
                          <a:cs typeface="IBM Plex Sans" pitchFamily="34" charset="-120"/>
                        </a:rPr>
                        <a:t>Workers</a:t>
                      </a:r>
                      <a:endParaRPr lang="en-US" sz="1300" dirty="0">
                        <a:latin typeface="IBM Plex Sans" charset="0"/>
                        <a:ea typeface="IBM Plex Sans" charset="0"/>
                        <a:cs typeface="IBM Plex Sans" charset="0"/>
                      </a:endParaRPr>
                    </a:p>
                  </a:txBody>
                  <a:tcPr marL="57785" marR="57785" marT="57785" marB="57785">
                    <a:lnL w="12700" cap="flat" cmpd="sng" algn="ctr">
                      <a:solidFill>
                        <a:srgbClr val="485158"/>
                      </a:solidFill>
                      <a:prstDash val="solid"/>
                      <a:round/>
                      <a:headEnd type="none" w="med" len="med"/>
                      <a:tailEnd type="none" w="med" len="med"/>
                    </a:lnL>
                    <a:lnR w="12700" cap="flat" cmpd="sng" algn="ctr">
                      <a:solidFill>
                        <a:srgbClr val="485158"/>
                      </a:solidFill>
                      <a:prstDash val="solid"/>
                      <a:round/>
                      <a:headEnd type="none" w="med" len="med"/>
                      <a:tailEnd type="none" w="med" len="med"/>
                    </a:lnR>
                    <a:lnT w="12700" cap="flat" cmpd="sng" algn="ctr">
                      <a:solidFill>
                        <a:srgbClr val="485158"/>
                      </a:solidFill>
                      <a:prstDash val="solid"/>
                      <a:round/>
                      <a:headEnd type="none" w="med" len="med"/>
                      <a:tailEnd type="none" w="med" len="med"/>
                    </a:lnT>
                    <a:lnB w="12700" cap="flat" cmpd="sng" algn="ctr">
                      <a:solidFill>
                        <a:srgbClr val="485158"/>
                      </a:solidFill>
                      <a:prstDash val="solid"/>
                      <a:round/>
                      <a:headEnd type="none" w="med" len="med"/>
                      <a:tailEnd type="none" w="med" len="med"/>
                    </a:lnB>
                  </a:tcPr>
                </a:tc>
                <a:tc>
                  <a:txBody>
                    <a:bodyPr/>
                    <a:lstStyle/>
                    <a:p>
                      <a:pPr marL="0" indent="0">
                        <a:lnSpc>
                          <a:spcPts val="1820"/>
                        </a:lnSpc>
                        <a:buNone/>
                      </a:pPr>
                      <a:r>
                        <a:rPr lang="en-US" sz="1300" dirty="0">
                          <a:solidFill>
                            <a:srgbClr val="D6DDE5"/>
                          </a:solidFill>
                          <a:latin typeface="IBM Plex Sans" pitchFamily="34" charset="0"/>
                          <a:ea typeface="IBM Plex Sans" pitchFamily="34" charset="-122"/>
                          <a:cs typeface="IBM Plex Sans" pitchFamily="34" charset="-120"/>
                        </a:rPr>
                        <a:t>04</a:t>
                      </a:r>
                      <a:endParaRPr lang="en-US" sz="1300" dirty="0">
                        <a:latin typeface="IBM Plex Sans" charset="0"/>
                        <a:ea typeface="IBM Plex Sans" charset="0"/>
                        <a:cs typeface="IBM Plex Sans" charset="0"/>
                      </a:endParaRPr>
                    </a:p>
                  </a:txBody>
                  <a:tcPr marL="57785" marR="57785" marT="57785" marB="57785">
                    <a:lnL w="12700" cap="flat" cmpd="sng" algn="ctr">
                      <a:solidFill>
                        <a:srgbClr val="485158"/>
                      </a:solidFill>
                      <a:prstDash val="solid"/>
                      <a:round/>
                      <a:headEnd type="none" w="med" len="med"/>
                      <a:tailEnd type="none" w="med" len="med"/>
                    </a:lnL>
                    <a:lnR w="12700" cap="flat" cmpd="sng" algn="ctr">
                      <a:solidFill>
                        <a:srgbClr val="485158"/>
                      </a:solidFill>
                      <a:prstDash val="solid"/>
                      <a:round/>
                      <a:headEnd type="none" w="med" len="med"/>
                      <a:tailEnd type="none" w="med" len="med"/>
                    </a:lnR>
                    <a:lnT w="12700" cap="flat" cmpd="sng" algn="ctr">
                      <a:solidFill>
                        <a:srgbClr val="485158"/>
                      </a:solidFill>
                      <a:prstDash val="solid"/>
                      <a:round/>
                      <a:headEnd type="none" w="med" len="med"/>
                      <a:tailEnd type="none" w="med" len="med"/>
                    </a:lnT>
                    <a:lnB w="12700" cap="flat" cmpd="sng" algn="ctr">
                      <a:solidFill>
                        <a:srgbClr val="485158"/>
                      </a:solidFill>
                      <a:prstDash val="solid"/>
                      <a:round/>
                      <a:headEnd type="none" w="med" len="med"/>
                      <a:tailEnd type="none" w="med" len="med"/>
                    </a:lnB>
                  </a:tcPr>
                </a:tc>
                <a:tc>
                  <a:txBody>
                    <a:bodyPr/>
                    <a:lstStyle/>
                    <a:p>
                      <a:pPr marL="0" indent="0">
                        <a:lnSpc>
                          <a:spcPts val="1820"/>
                        </a:lnSpc>
                        <a:buNone/>
                      </a:pPr>
                      <a:r>
                        <a:rPr lang="en-US" sz="1300" dirty="0">
                          <a:solidFill>
                            <a:srgbClr val="D6DDE5"/>
                          </a:solidFill>
                          <a:latin typeface="IBM Plex Sans" pitchFamily="34" charset="0"/>
                          <a:ea typeface="IBM Plex Sans" pitchFamily="34" charset="-122"/>
                          <a:cs typeface="IBM Plex Sans" pitchFamily="34" charset="-120"/>
                        </a:rPr>
                        <a:t>Haiku</a:t>
                      </a:r>
                      <a:endParaRPr lang="en-US" sz="1300" dirty="0">
                        <a:latin typeface="IBM Plex Sans" charset="0"/>
                        <a:ea typeface="IBM Plex Sans" charset="0"/>
                        <a:cs typeface="IBM Plex Sans" charset="0"/>
                      </a:endParaRPr>
                    </a:p>
                  </a:txBody>
                  <a:tcPr marL="57785" marR="57785" marT="57785" marB="57785">
                    <a:lnL w="12700" cap="flat" cmpd="sng" algn="ctr">
                      <a:solidFill>
                        <a:srgbClr val="485158"/>
                      </a:solidFill>
                      <a:prstDash val="solid"/>
                      <a:round/>
                      <a:headEnd type="none" w="med" len="med"/>
                      <a:tailEnd type="none" w="med" len="med"/>
                    </a:lnL>
                    <a:lnR w="12700" cap="flat" cmpd="sng" algn="ctr">
                      <a:solidFill>
                        <a:srgbClr val="485158"/>
                      </a:solidFill>
                      <a:prstDash val="solid"/>
                      <a:round/>
                      <a:headEnd type="none" w="med" len="med"/>
                      <a:tailEnd type="none" w="med" len="med"/>
                    </a:lnR>
                    <a:lnT w="12700" cap="flat" cmpd="sng" algn="ctr">
                      <a:solidFill>
                        <a:srgbClr val="485158"/>
                      </a:solidFill>
                      <a:prstDash val="solid"/>
                      <a:round/>
                      <a:headEnd type="none" w="med" len="med"/>
                      <a:tailEnd type="none" w="med" len="med"/>
                    </a:lnT>
                    <a:lnB w="12700" cap="flat" cmpd="sng" algn="ctr">
                      <a:solidFill>
                        <a:srgbClr val="485158"/>
                      </a:solidFill>
                      <a:prstDash val="solid"/>
                      <a:round/>
                      <a:headEnd type="none" w="med" len="med"/>
                      <a:tailEnd type="none" w="med" len="med"/>
                    </a:lnB>
                  </a:tcPr>
                </a:tc>
                <a:tc>
                  <a:txBody>
                    <a:bodyPr/>
                    <a:lstStyle/>
                    <a:p>
                      <a:pPr marL="0" indent="0">
                        <a:lnSpc>
                          <a:spcPts val="1820"/>
                        </a:lnSpc>
                        <a:buNone/>
                      </a:pPr>
                      <a:r>
                        <a:rPr lang="en-US" sz="1300" dirty="0">
                          <a:solidFill>
                            <a:srgbClr val="F2A46B"/>
                          </a:solidFill>
                          <a:latin typeface="IBM Plex Sans" pitchFamily="34" charset="0"/>
                          <a:ea typeface="IBM Plex Sans" pitchFamily="34" charset="-122"/>
                          <a:cs typeface="IBM Plex Sans" pitchFamily="34" charset="-120"/>
                        </a:rPr>
                        <a:t>_research_section</a:t>
                      </a:r>
                      <a:endParaRPr lang="en-US" sz="1300" dirty="0">
                        <a:latin typeface="IBM Plex Sans" charset="0"/>
                        <a:ea typeface="IBM Plex Sans" charset="0"/>
                        <a:cs typeface="IBM Plex Sans" charset="0"/>
                      </a:endParaRPr>
                    </a:p>
                  </a:txBody>
                  <a:tcPr marL="57785" marR="57785" marT="57785" marB="57785">
                    <a:lnL w="12700" cap="flat" cmpd="sng" algn="ctr">
                      <a:solidFill>
                        <a:srgbClr val="485158"/>
                      </a:solidFill>
                      <a:prstDash val="solid"/>
                      <a:round/>
                      <a:headEnd type="none" w="med" len="med"/>
                      <a:tailEnd type="none" w="med" len="med"/>
                    </a:lnL>
                    <a:lnR w="12700" cap="flat" cmpd="sng" algn="ctr">
                      <a:solidFill>
                        <a:srgbClr val="485158"/>
                      </a:solidFill>
                      <a:prstDash val="solid"/>
                      <a:round/>
                      <a:headEnd type="none" w="med" len="med"/>
                      <a:tailEnd type="none" w="med" len="med"/>
                    </a:lnR>
                    <a:lnT w="12700" cap="flat" cmpd="sng" algn="ctr">
                      <a:solidFill>
                        <a:srgbClr val="485158"/>
                      </a:solidFill>
                      <a:prstDash val="solid"/>
                      <a:round/>
                      <a:headEnd type="none" w="med" len="med"/>
                      <a:tailEnd type="none" w="med" len="med"/>
                    </a:lnT>
                    <a:lnB w="12700" cap="flat" cmpd="sng" algn="ctr">
                      <a:solidFill>
                        <a:srgbClr val="485158"/>
                      </a:solidFill>
                      <a:prstDash val="solid"/>
                      <a:round/>
                      <a:headEnd type="none" w="med" len="med"/>
                      <a:tailEnd type="none" w="med" len="med"/>
                    </a:lnB>
                  </a:tcPr>
                </a:tc>
                <a:extLst>
                  <a:ext uri="{0D108BD9-81ED-4DB2-BD59-A6C34878D82A}">
                    <a16:rowId xmlns:a16="http://schemas.microsoft.com/office/drawing/2014/main" val="10003"/>
                  </a:ext>
                </a:extLst>
              </a:tr>
              <a:tr h="358225">
                <a:tc>
                  <a:txBody>
                    <a:bodyPr/>
                    <a:lstStyle/>
                    <a:p>
                      <a:pPr marL="0" indent="0">
                        <a:lnSpc>
                          <a:spcPts val="1820"/>
                        </a:lnSpc>
                        <a:buNone/>
                      </a:pPr>
                      <a:r>
                        <a:rPr lang="en-US" sz="1300" dirty="0">
                          <a:solidFill>
                            <a:srgbClr val="D6DDE5"/>
                          </a:solidFill>
                          <a:latin typeface="IBM Plex Sans" pitchFamily="34" charset="0"/>
                          <a:ea typeface="IBM Plex Sans" pitchFamily="34" charset="-122"/>
                          <a:cs typeface="IBM Plex Sans" pitchFamily="34" charset="-120"/>
                        </a:rPr>
                        <a:t>Write, type-specific voice</a:t>
                      </a:r>
                      <a:endParaRPr lang="en-US" sz="1300" dirty="0">
                        <a:latin typeface="IBM Plex Sans" charset="0"/>
                        <a:ea typeface="IBM Plex Sans" charset="0"/>
                        <a:cs typeface="IBM Plex Sans" charset="0"/>
                      </a:endParaRPr>
                    </a:p>
                  </a:txBody>
                  <a:tcPr marL="57785" marR="57785" marT="57785" marB="57785">
                    <a:lnL w="12700" cap="flat" cmpd="sng" algn="ctr">
                      <a:solidFill>
                        <a:srgbClr val="485158"/>
                      </a:solidFill>
                      <a:prstDash val="solid"/>
                      <a:round/>
                      <a:headEnd type="none" w="med" len="med"/>
                      <a:tailEnd type="none" w="med" len="med"/>
                    </a:lnL>
                    <a:lnR w="12700" cap="flat" cmpd="sng" algn="ctr">
                      <a:solidFill>
                        <a:srgbClr val="485158"/>
                      </a:solidFill>
                      <a:prstDash val="solid"/>
                      <a:round/>
                      <a:headEnd type="none" w="med" len="med"/>
                      <a:tailEnd type="none" w="med" len="med"/>
                    </a:lnR>
                    <a:lnT w="12700" cap="flat" cmpd="sng" algn="ctr">
                      <a:solidFill>
                        <a:srgbClr val="485158"/>
                      </a:solidFill>
                      <a:prstDash val="solid"/>
                      <a:round/>
                      <a:headEnd type="none" w="med" len="med"/>
                      <a:tailEnd type="none" w="med" len="med"/>
                    </a:lnT>
                    <a:lnB w="12700" cap="flat" cmpd="sng" algn="ctr">
                      <a:solidFill>
                        <a:srgbClr val="485158"/>
                      </a:solidFill>
                      <a:prstDash val="solid"/>
                      <a:round/>
                      <a:headEnd type="none" w="med" len="med"/>
                      <a:tailEnd type="none" w="med" len="med"/>
                    </a:lnB>
                  </a:tcPr>
                </a:tc>
                <a:tc>
                  <a:txBody>
                    <a:bodyPr/>
                    <a:lstStyle/>
                    <a:p>
                      <a:pPr marL="0" indent="0">
                        <a:lnSpc>
                          <a:spcPts val="1820"/>
                        </a:lnSpc>
                        <a:buNone/>
                      </a:pPr>
                      <a:r>
                        <a:rPr lang="en-US" sz="1300" dirty="0">
                          <a:solidFill>
                            <a:srgbClr val="D6DDE5"/>
                          </a:solidFill>
                          <a:latin typeface="IBM Plex Sans" pitchFamily="34" charset="0"/>
                          <a:ea typeface="IBM Plex Sans" pitchFamily="34" charset="-122"/>
                          <a:cs typeface="IBM Plex Sans" pitchFamily="34" charset="-120"/>
                        </a:rPr>
                        <a:t>Prompt chaining</a:t>
                      </a:r>
                      <a:endParaRPr lang="en-US" sz="1300" dirty="0">
                        <a:latin typeface="IBM Plex Sans" charset="0"/>
                        <a:ea typeface="IBM Plex Sans" charset="0"/>
                        <a:cs typeface="IBM Plex Sans" charset="0"/>
                      </a:endParaRPr>
                    </a:p>
                  </a:txBody>
                  <a:tcPr marL="57785" marR="57785" marT="57785" marB="57785">
                    <a:lnL w="12700" cap="flat" cmpd="sng" algn="ctr">
                      <a:solidFill>
                        <a:srgbClr val="485158"/>
                      </a:solidFill>
                      <a:prstDash val="solid"/>
                      <a:round/>
                      <a:headEnd type="none" w="med" len="med"/>
                      <a:tailEnd type="none" w="med" len="med"/>
                    </a:lnL>
                    <a:lnR w="12700" cap="flat" cmpd="sng" algn="ctr">
                      <a:solidFill>
                        <a:srgbClr val="485158"/>
                      </a:solidFill>
                      <a:prstDash val="solid"/>
                      <a:round/>
                      <a:headEnd type="none" w="med" len="med"/>
                      <a:tailEnd type="none" w="med" len="med"/>
                    </a:lnR>
                    <a:lnT w="12700" cap="flat" cmpd="sng" algn="ctr">
                      <a:solidFill>
                        <a:srgbClr val="485158"/>
                      </a:solidFill>
                      <a:prstDash val="solid"/>
                      <a:round/>
                      <a:headEnd type="none" w="med" len="med"/>
                      <a:tailEnd type="none" w="med" len="med"/>
                    </a:lnT>
                    <a:lnB w="12700" cap="flat" cmpd="sng" algn="ctr">
                      <a:solidFill>
                        <a:srgbClr val="485158"/>
                      </a:solidFill>
                      <a:prstDash val="solid"/>
                      <a:round/>
                      <a:headEnd type="none" w="med" len="med"/>
                      <a:tailEnd type="none" w="med" len="med"/>
                    </a:lnB>
                  </a:tcPr>
                </a:tc>
                <a:tc>
                  <a:txBody>
                    <a:bodyPr/>
                    <a:lstStyle/>
                    <a:p>
                      <a:pPr marL="0" indent="0">
                        <a:lnSpc>
                          <a:spcPts val="1820"/>
                        </a:lnSpc>
                        <a:buNone/>
                      </a:pPr>
                      <a:r>
                        <a:rPr lang="en-US" sz="1300" dirty="0">
                          <a:solidFill>
                            <a:srgbClr val="D6DDE5"/>
                          </a:solidFill>
                          <a:latin typeface="IBM Plex Sans" pitchFamily="34" charset="0"/>
                          <a:ea typeface="IBM Plex Sans" pitchFamily="34" charset="-122"/>
                          <a:cs typeface="IBM Plex Sans" pitchFamily="34" charset="-120"/>
                        </a:rPr>
                        <a:t>01</a:t>
                      </a:r>
                      <a:endParaRPr lang="en-US" sz="1300" dirty="0">
                        <a:latin typeface="IBM Plex Sans" charset="0"/>
                        <a:ea typeface="IBM Plex Sans" charset="0"/>
                        <a:cs typeface="IBM Plex Sans" charset="0"/>
                      </a:endParaRPr>
                    </a:p>
                  </a:txBody>
                  <a:tcPr marL="57785" marR="57785" marT="57785" marB="57785">
                    <a:lnL w="12700" cap="flat" cmpd="sng" algn="ctr">
                      <a:solidFill>
                        <a:srgbClr val="485158"/>
                      </a:solidFill>
                      <a:prstDash val="solid"/>
                      <a:round/>
                      <a:headEnd type="none" w="med" len="med"/>
                      <a:tailEnd type="none" w="med" len="med"/>
                    </a:lnL>
                    <a:lnR w="12700" cap="flat" cmpd="sng" algn="ctr">
                      <a:solidFill>
                        <a:srgbClr val="485158"/>
                      </a:solidFill>
                      <a:prstDash val="solid"/>
                      <a:round/>
                      <a:headEnd type="none" w="med" len="med"/>
                      <a:tailEnd type="none" w="med" len="med"/>
                    </a:lnR>
                    <a:lnT w="12700" cap="flat" cmpd="sng" algn="ctr">
                      <a:solidFill>
                        <a:srgbClr val="485158"/>
                      </a:solidFill>
                      <a:prstDash val="solid"/>
                      <a:round/>
                      <a:headEnd type="none" w="med" len="med"/>
                      <a:tailEnd type="none" w="med" len="med"/>
                    </a:lnT>
                    <a:lnB w="12700" cap="flat" cmpd="sng" algn="ctr">
                      <a:solidFill>
                        <a:srgbClr val="485158"/>
                      </a:solidFill>
                      <a:prstDash val="solid"/>
                      <a:round/>
                      <a:headEnd type="none" w="med" len="med"/>
                      <a:tailEnd type="none" w="med" len="med"/>
                    </a:lnB>
                  </a:tcPr>
                </a:tc>
                <a:tc>
                  <a:txBody>
                    <a:bodyPr/>
                    <a:lstStyle/>
                    <a:p>
                      <a:pPr marL="0" indent="0">
                        <a:lnSpc>
                          <a:spcPts val="1820"/>
                        </a:lnSpc>
                        <a:buNone/>
                      </a:pPr>
                      <a:r>
                        <a:rPr lang="en-US" sz="1300" dirty="0">
                          <a:solidFill>
                            <a:srgbClr val="D6DDE5"/>
                          </a:solidFill>
                          <a:latin typeface="IBM Plex Sans" pitchFamily="34" charset="0"/>
                          <a:ea typeface="IBM Plex Sans" pitchFamily="34" charset="-122"/>
                          <a:cs typeface="IBM Plex Sans" pitchFamily="34" charset="-120"/>
                        </a:rPr>
                        <a:t>Sonnet</a:t>
                      </a:r>
                      <a:endParaRPr lang="en-US" sz="1300" dirty="0">
                        <a:latin typeface="IBM Plex Sans" charset="0"/>
                        <a:ea typeface="IBM Plex Sans" charset="0"/>
                        <a:cs typeface="IBM Plex Sans" charset="0"/>
                      </a:endParaRPr>
                    </a:p>
                  </a:txBody>
                  <a:tcPr marL="57785" marR="57785" marT="57785" marB="57785">
                    <a:lnL w="12700" cap="flat" cmpd="sng" algn="ctr">
                      <a:solidFill>
                        <a:srgbClr val="485158"/>
                      </a:solidFill>
                      <a:prstDash val="solid"/>
                      <a:round/>
                      <a:headEnd type="none" w="med" len="med"/>
                      <a:tailEnd type="none" w="med" len="med"/>
                    </a:lnL>
                    <a:lnR w="12700" cap="flat" cmpd="sng" algn="ctr">
                      <a:solidFill>
                        <a:srgbClr val="485158"/>
                      </a:solidFill>
                      <a:prstDash val="solid"/>
                      <a:round/>
                      <a:headEnd type="none" w="med" len="med"/>
                      <a:tailEnd type="none" w="med" len="med"/>
                    </a:lnR>
                    <a:lnT w="12700" cap="flat" cmpd="sng" algn="ctr">
                      <a:solidFill>
                        <a:srgbClr val="485158"/>
                      </a:solidFill>
                      <a:prstDash val="solid"/>
                      <a:round/>
                      <a:headEnd type="none" w="med" len="med"/>
                      <a:tailEnd type="none" w="med" len="med"/>
                    </a:lnT>
                    <a:lnB w="12700" cap="flat" cmpd="sng" algn="ctr">
                      <a:solidFill>
                        <a:srgbClr val="485158"/>
                      </a:solidFill>
                      <a:prstDash val="solid"/>
                      <a:round/>
                      <a:headEnd type="none" w="med" len="med"/>
                      <a:tailEnd type="none" w="med" len="med"/>
                    </a:lnB>
                  </a:tcPr>
                </a:tc>
                <a:tc>
                  <a:txBody>
                    <a:bodyPr/>
                    <a:lstStyle/>
                    <a:p>
                      <a:pPr marL="0" indent="0">
                        <a:lnSpc>
                          <a:spcPts val="1820"/>
                        </a:lnSpc>
                        <a:buNone/>
                      </a:pPr>
                      <a:r>
                        <a:rPr lang="en-US" sz="1300" dirty="0">
                          <a:solidFill>
                            <a:srgbClr val="F2A46B"/>
                          </a:solidFill>
                          <a:latin typeface="IBM Plex Sans" pitchFamily="34" charset="0"/>
                          <a:ea typeface="IBM Plex Sans" pitchFamily="34" charset="-122"/>
                          <a:cs typeface="IBM Plex Sans" pitchFamily="34" charset="-120"/>
                        </a:rPr>
                        <a:t>_write</a:t>
                      </a:r>
                      <a:endParaRPr lang="en-US" sz="1300" dirty="0">
                        <a:latin typeface="IBM Plex Sans" charset="0"/>
                        <a:ea typeface="IBM Plex Sans" charset="0"/>
                        <a:cs typeface="IBM Plex Sans" charset="0"/>
                      </a:endParaRPr>
                    </a:p>
                  </a:txBody>
                  <a:tcPr marL="57785" marR="57785" marT="57785" marB="57785">
                    <a:lnL w="12700" cap="flat" cmpd="sng" algn="ctr">
                      <a:solidFill>
                        <a:srgbClr val="485158"/>
                      </a:solidFill>
                      <a:prstDash val="solid"/>
                      <a:round/>
                      <a:headEnd type="none" w="med" len="med"/>
                      <a:tailEnd type="none" w="med" len="med"/>
                    </a:lnL>
                    <a:lnR w="12700" cap="flat" cmpd="sng" algn="ctr">
                      <a:solidFill>
                        <a:srgbClr val="485158"/>
                      </a:solidFill>
                      <a:prstDash val="solid"/>
                      <a:round/>
                      <a:headEnd type="none" w="med" len="med"/>
                      <a:tailEnd type="none" w="med" len="med"/>
                    </a:lnR>
                    <a:lnT w="12700" cap="flat" cmpd="sng" algn="ctr">
                      <a:solidFill>
                        <a:srgbClr val="485158"/>
                      </a:solidFill>
                      <a:prstDash val="solid"/>
                      <a:round/>
                      <a:headEnd type="none" w="med" len="med"/>
                      <a:tailEnd type="none" w="med" len="med"/>
                    </a:lnT>
                    <a:lnB w="12700" cap="flat" cmpd="sng" algn="ctr">
                      <a:solidFill>
                        <a:srgbClr val="485158"/>
                      </a:solidFill>
                      <a:prstDash val="solid"/>
                      <a:round/>
                      <a:headEnd type="none" w="med" len="med"/>
                      <a:tailEnd type="none" w="med" len="med"/>
                    </a:lnB>
                  </a:tcPr>
                </a:tc>
                <a:extLst>
                  <a:ext uri="{0D108BD9-81ED-4DB2-BD59-A6C34878D82A}">
                    <a16:rowId xmlns:a16="http://schemas.microsoft.com/office/drawing/2014/main" val="10004"/>
                  </a:ext>
                </a:extLst>
              </a:tr>
              <a:tr h="358225">
                <a:tc>
                  <a:txBody>
                    <a:bodyPr/>
                    <a:lstStyle/>
                    <a:p>
                      <a:pPr marL="0" indent="0">
                        <a:lnSpc>
                          <a:spcPts val="1820"/>
                        </a:lnSpc>
                        <a:buNone/>
                      </a:pPr>
                      <a:r>
                        <a:rPr lang="en-US" sz="1300" dirty="0">
                          <a:solidFill>
                            <a:srgbClr val="D6DDE5"/>
                          </a:solidFill>
                          <a:latin typeface="IBM Plex Sans" pitchFamily="34" charset="0"/>
                          <a:ea typeface="IBM Plex Sans" pitchFamily="34" charset="-122"/>
                          <a:cs typeface="IBM Plex Sans" pitchFamily="34" charset="-120"/>
                        </a:rPr>
                        <a:t>Evaluate + refine loop</a:t>
                      </a:r>
                      <a:endParaRPr lang="en-US" sz="1300" dirty="0">
                        <a:latin typeface="IBM Plex Sans" charset="0"/>
                        <a:ea typeface="IBM Plex Sans" charset="0"/>
                        <a:cs typeface="IBM Plex Sans" charset="0"/>
                      </a:endParaRPr>
                    </a:p>
                  </a:txBody>
                  <a:tcPr marL="57785" marR="57785" marT="57785" marB="57785">
                    <a:lnL w="12700" cap="flat" cmpd="sng" algn="ctr">
                      <a:solidFill>
                        <a:srgbClr val="485158"/>
                      </a:solidFill>
                      <a:prstDash val="solid"/>
                      <a:round/>
                      <a:headEnd type="none" w="med" len="med"/>
                      <a:tailEnd type="none" w="med" len="med"/>
                    </a:lnL>
                    <a:lnR w="12700" cap="flat" cmpd="sng" algn="ctr">
                      <a:solidFill>
                        <a:srgbClr val="485158"/>
                      </a:solidFill>
                      <a:prstDash val="solid"/>
                      <a:round/>
                      <a:headEnd type="none" w="med" len="med"/>
                      <a:tailEnd type="none" w="med" len="med"/>
                    </a:lnR>
                    <a:lnT w="12700" cap="flat" cmpd="sng" algn="ctr">
                      <a:solidFill>
                        <a:srgbClr val="485158"/>
                      </a:solidFill>
                      <a:prstDash val="solid"/>
                      <a:round/>
                      <a:headEnd type="none" w="med" len="med"/>
                      <a:tailEnd type="none" w="med" len="med"/>
                    </a:lnT>
                    <a:lnB w="12700" cap="flat" cmpd="sng" algn="ctr">
                      <a:solidFill>
                        <a:srgbClr val="485158"/>
                      </a:solidFill>
                      <a:prstDash val="solid"/>
                      <a:round/>
                      <a:headEnd type="none" w="med" len="med"/>
                      <a:tailEnd type="none" w="med" len="med"/>
                    </a:lnB>
                  </a:tcPr>
                </a:tc>
                <a:tc>
                  <a:txBody>
                    <a:bodyPr/>
                    <a:lstStyle/>
                    <a:p>
                      <a:pPr marL="0" indent="0">
                        <a:lnSpc>
                          <a:spcPts val="1820"/>
                        </a:lnSpc>
                        <a:buNone/>
                      </a:pPr>
                      <a:r>
                        <a:rPr lang="en-US" sz="1300" dirty="0">
                          <a:solidFill>
                            <a:srgbClr val="D6DDE5"/>
                          </a:solidFill>
                          <a:latin typeface="IBM Plex Sans" pitchFamily="34" charset="0"/>
                          <a:ea typeface="IBM Plex Sans" pitchFamily="34" charset="-122"/>
                          <a:cs typeface="IBM Plex Sans" pitchFamily="34" charset="-120"/>
                        </a:rPr>
                        <a:t>Evaluator-Optimizer</a:t>
                      </a:r>
                      <a:endParaRPr lang="en-US" sz="1300" dirty="0">
                        <a:latin typeface="IBM Plex Sans" charset="0"/>
                        <a:ea typeface="IBM Plex Sans" charset="0"/>
                        <a:cs typeface="IBM Plex Sans" charset="0"/>
                      </a:endParaRPr>
                    </a:p>
                  </a:txBody>
                  <a:tcPr marL="57785" marR="57785" marT="57785" marB="57785">
                    <a:lnL w="12700" cap="flat" cmpd="sng" algn="ctr">
                      <a:solidFill>
                        <a:srgbClr val="485158"/>
                      </a:solidFill>
                      <a:prstDash val="solid"/>
                      <a:round/>
                      <a:headEnd type="none" w="med" len="med"/>
                      <a:tailEnd type="none" w="med" len="med"/>
                    </a:lnL>
                    <a:lnR w="12700" cap="flat" cmpd="sng" algn="ctr">
                      <a:solidFill>
                        <a:srgbClr val="485158"/>
                      </a:solidFill>
                      <a:prstDash val="solid"/>
                      <a:round/>
                      <a:headEnd type="none" w="med" len="med"/>
                      <a:tailEnd type="none" w="med" len="med"/>
                    </a:lnR>
                    <a:lnT w="12700" cap="flat" cmpd="sng" algn="ctr">
                      <a:solidFill>
                        <a:srgbClr val="485158"/>
                      </a:solidFill>
                      <a:prstDash val="solid"/>
                      <a:round/>
                      <a:headEnd type="none" w="med" len="med"/>
                      <a:tailEnd type="none" w="med" len="med"/>
                    </a:lnT>
                    <a:lnB w="12700" cap="flat" cmpd="sng" algn="ctr">
                      <a:solidFill>
                        <a:srgbClr val="485158"/>
                      </a:solidFill>
                      <a:prstDash val="solid"/>
                      <a:round/>
                      <a:headEnd type="none" w="med" len="med"/>
                      <a:tailEnd type="none" w="med" len="med"/>
                    </a:lnB>
                  </a:tcPr>
                </a:tc>
                <a:tc>
                  <a:txBody>
                    <a:bodyPr/>
                    <a:lstStyle/>
                    <a:p>
                      <a:pPr marL="0" indent="0">
                        <a:lnSpc>
                          <a:spcPts val="1820"/>
                        </a:lnSpc>
                        <a:buNone/>
                      </a:pPr>
                      <a:r>
                        <a:rPr lang="en-US" sz="1300" dirty="0">
                          <a:solidFill>
                            <a:srgbClr val="D6DDE5"/>
                          </a:solidFill>
                          <a:latin typeface="IBM Plex Sans" pitchFamily="34" charset="0"/>
                          <a:ea typeface="IBM Plex Sans" pitchFamily="34" charset="-122"/>
                          <a:cs typeface="IBM Plex Sans" pitchFamily="34" charset="-120"/>
                        </a:rPr>
                        <a:t>05</a:t>
                      </a:r>
                      <a:endParaRPr lang="en-US" sz="1300" dirty="0">
                        <a:latin typeface="IBM Plex Sans" charset="0"/>
                        <a:ea typeface="IBM Plex Sans" charset="0"/>
                        <a:cs typeface="IBM Plex Sans" charset="0"/>
                      </a:endParaRPr>
                    </a:p>
                  </a:txBody>
                  <a:tcPr marL="57785" marR="57785" marT="57785" marB="57785">
                    <a:lnL w="12700" cap="flat" cmpd="sng" algn="ctr">
                      <a:solidFill>
                        <a:srgbClr val="485158"/>
                      </a:solidFill>
                      <a:prstDash val="solid"/>
                      <a:round/>
                      <a:headEnd type="none" w="med" len="med"/>
                      <a:tailEnd type="none" w="med" len="med"/>
                    </a:lnL>
                    <a:lnR w="12700" cap="flat" cmpd="sng" algn="ctr">
                      <a:solidFill>
                        <a:srgbClr val="485158"/>
                      </a:solidFill>
                      <a:prstDash val="solid"/>
                      <a:round/>
                      <a:headEnd type="none" w="med" len="med"/>
                      <a:tailEnd type="none" w="med" len="med"/>
                    </a:lnR>
                    <a:lnT w="12700" cap="flat" cmpd="sng" algn="ctr">
                      <a:solidFill>
                        <a:srgbClr val="485158"/>
                      </a:solidFill>
                      <a:prstDash val="solid"/>
                      <a:round/>
                      <a:headEnd type="none" w="med" len="med"/>
                      <a:tailEnd type="none" w="med" len="med"/>
                    </a:lnT>
                    <a:lnB w="12700" cap="flat" cmpd="sng" algn="ctr">
                      <a:solidFill>
                        <a:srgbClr val="485158"/>
                      </a:solidFill>
                      <a:prstDash val="solid"/>
                      <a:round/>
                      <a:headEnd type="none" w="med" len="med"/>
                      <a:tailEnd type="none" w="med" len="med"/>
                    </a:lnB>
                  </a:tcPr>
                </a:tc>
                <a:tc>
                  <a:txBody>
                    <a:bodyPr/>
                    <a:lstStyle/>
                    <a:p>
                      <a:pPr marL="0" indent="0">
                        <a:lnSpc>
                          <a:spcPts val="1820"/>
                        </a:lnSpc>
                        <a:buNone/>
                      </a:pPr>
                      <a:r>
                        <a:rPr lang="en-US" sz="1300" dirty="0">
                          <a:solidFill>
                            <a:srgbClr val="D6DDE5"/>
                          </a:solidFill>
                          <a:latin typeface="IBM Plex Sans" pitchFamily="34" charset="0"/>
                          <a:ea typeface="IBM Plex Sans" pitchFamily="34" charset="-122"/>
                          <a:cs typeface="IBM Plex Sans" pitchFamily="34" charset="-120"/>
                        </a:rPr>
                        <a:t>Sonnet</a:t>
                      </a:r>
                      <a:endParaRPr lang="en-US" sz="1300" dirty="0">
                        <a:latin typeface="IBM Plex Sans" charset="0"/>
                        <a:ea typeface="IBM Plex Sans" charset="0"/>
                        <a:cs typeface="IBM Plex Sans" charset="0"/>
                      </a:endParaRPr>
                    </a:p>
                  </a:txBody>
                  <a:tcPr marL="57785" marR="57785" marT="57785" marB="57785">
                    <a:lnL w="12700" cap="flat" cmpd="sng" algn="ctr">
                      <a:solidFill>
                        <a:srgbClr val="485158"/>
                      </a:solidFill>
                      <a:prstDash val="solid"/>
                      <a:round/>
                      <a:headEnd type="none" w="med" len="med"/>
                      <a:tailEnd type="none" w="med" len="med"/>
                    </a:lnL>
                    <a:lnR w="12700" cap="flat" cmpd="sng" algn="ctr">
                      <a:solidFill>
                        <a:srgbClr val="485158"/>
                      </a:solidFill>
                      <a:prstDash val="solid"/>
                      <a:round/>
                      <a:headEnd type="none" w="med" len="med"/>
                      <a:tailEnd type="none" w="med" len="med"/>
                    </a:lnR>
                    <a:lnT w="12700" cap="flat" cmpd="sng" algn="ctr">
                      <a:solidFill>
                        <a:srgbClr val="485158"/>
                      </a:solidFill>
                      <a:prstDash val="solid"/>
                      <a:round/>
                      <a:headEnd type="none" w="med" len="med"/>
                      <a:tailEnd type="none" w="med" len="med"/>
                    </a:lnT>
                    <a:lnB w="12700" cap="flat" cmpd="sng" algn="ctr">
                      <a:solidFill>
                        <a:srgbClr val="485158"/>
                      </a:solidFill>
                      <a:prstDash val="solid"/>
                      <a:round/>
                      <a:headEnd type="none" w="med" len="med"/>
                      <a:tailEnd type="none" w="med" len="med"/>
                    </a:lnB>
                  </a:tcPr>
                </a:tc>
                <a:tc>
                  <a:txBody>
                    <a:bodyPr/>
                    <a:lstStyle/>
                    <a:p>
                      <a:pPr marL="0" indent="0">
                        <a:lnSpc>
                          <a:spcPts val="1820"/>
                        </a:lnSpc>
                        <a:buNone/>
                      </a:pPr>
                      <a:r>
                        <a:rPr lang="en-US" sz="1300" dirty="0">
                          <a:solidFill>
                            <a:srgbClr val="F2A46B"/>
                          </a:solidFill>
                          <a:latin typeface="IBM Plex Sans" pitchFamily="34" charset="0"/>
                          <a:ea typeface="IBM Plex Sans" pitchFamily="34" charset="-122"/>
                          <a:cs typeface="IBM Plex Sans" pitchFamily="34" charset="-120"/>
                        </a:rPr>
                        <a:t>_evaluate</a:t>
                      </a:r>
                      <a:endParaRPr lang="en-US" sz="1300" dirty="0">
                        <a:latin typeface="IBM Plex Sans" charset="0"/>
                        <a:ea typeface="IBM Plex Sans" charset="0"/>
                        <a:cs typeface="IBM Plex Sans" charset="0"/>
                      </a:endParaRPr>
                    </a:p>
                  </a:txBody>
                  <a:tcPr marL="57785" marR="57785" marT="57785" marB="57785">
                    <a:lnL w="12700" cap="flat" cmpd="sng" algn="ctr">
                      <a:solidFill>
                        <a:srgbClr val="485158"/>
                      </a:solidFill>
                      <a:prstDash val="solid"/>
                      <a:round/>
                      <a:headEnd type="none" w="med" len="med"/>
                      <a:tailEnd type="none" w="med" len="med"/>
                    </a:lnL>
                    <a:lnR w="12700" cap="flat" cmpd="sng" algn="ctr">
                      <a:solidFill>
                        <a:srgbClr val="485158"/>
                      </a:solidFill>
                      <a:prstDash val="solid"/>
                      <a:round/>
                      <a:headEnd type="none" w="med" len="med"/>
                      <a:tailEnd type="none" w="med" len="med"/>
                    </a:lnR>
                    <a:lnT w="12700" cap="flat" cmpd="sng" algn="ctr">
                      <a:solidFill>
                        <a:srgbClr val="485158"/>
                      </a:solidFill>
                      <a:prstDash val="solid"/>
                      <a:round/>
                      <a:headEnd type="none" w="med" len="med"/>
                      <a:tailEnd type="none" w="med" len="med"/>
                    </a:lnT>
                    <a:lnB w="12700" cap="flat" cmpd="sng" algn="ctr">
                      <a:solidFill>
                        <a:srgbClr val="485158"/>
                      </a:solidFill>
                      <a:prstDash val="solid"/>
                      <a:round/>
                      <a:headEnd type="none" w="med" len="med"/>
                      <a:tailEnd type="none" w="med" len="med"/>
                    </a:lnB>
                  </a:tcPr>
                </a:tc>
                <a:extLst>
                  <a:ext uri="{0D108BD9-81ED-4DB2-BD59-A6C34878D82A}">
                    <a16:rowId xmlns:a16="http://schemas.microsoft.com/office/drawing/2014/main" val="10005"/>
                  </a:ext>
                </a:extLst>
              </a:tr>
              <a:tr h="358225">
                <a:tc>
                  <a:txBody>
                    <a:bodyPr/>
                    <a:lstStyle/>
                    <a:p>
                      <a:pPr marL="0" indent="0">
                        <a:lnSpc>
                          <a:spcPts val="1820"/>
                        </a:lnSpc>
                        <a:buNone/>
                      </a:pPr>
                      <a:r>
                        <a:rPr lang="en-US" sz="1300" dirty="0">
                          <a:solidFill>
                            <a:srgbClr val="D6DDE5"/>
                          </a:solidFill>
                          <a:latin typeface="IBM Plex Sans" pitchFamily="34" charset="0"/>
                          <a:ea typeface="IBM Plex Sans" pitchFamily="34" charset="-122"/>
                          <a:cs typeface="IBM Plex Sans" pitchFamily="34" charset="-120"/>
                        </a:rPr>
                        <a:t>Human checkpoints</a:t>
                      </a:r>
                      <a:endParaRPr lang="en-US" sz="1300" dirty="0">
                        <a:latin typeface="IBM Plex Sans" charset="0"/>
                        <a:ea typeface="IBM Plex Sans" charset="0"/>
                        <a:cs typeface="IBM Plex Sans" charset="0"/>
                      </a:endParaRPr>
                    </a:p>
                  </a:txBody>
                  <a:tcPr marL="57785" marR="57785" marT="57785" marB="57785">
                    <a:lnL w="12700" cap="flat" cmpd="sng" algn="ctr">
                      <a:solidFill>
                        <a:srgbClr val="485158"/>
                      </a:solidFill>
                      <a:prstDash val="solid"/>
                      <a:round/>
                      <a:headEnd type="none" w="med" len="med"/>
                      <a:tailEnd type="none" w="med" len="med"/>
                    </a:lnL>
                    <a:lnR w="12700" cap="flat" cmpd="sng" algn="ctr">
                      <a:solidFill>
                        <a:srgbClr val="485158"/>
                      </a:solidFill>
                      <a:prstDash val="solid"/>
                      <a:round/>
                      <a:headEnd type="none" w="med" len="med"/>
                      <a:tailEnd type="none" w="med" len="med"/>
                    </a:lnR>
                    <a:lnT w="12700" cap="flat" cmpd="sng" algn="ctr">
                      <a:solidFill>
                        <a:srgbClr val="485158"/>
                      </a:solidFill>
                      <a:prstDash val="solid"/>
                      <a:round/>
                      <a:headEnd type="none" w="med" len="med"/>
                      <a:tailEnd type="none" w="med" len="med"/>
                    </a:lnT>
                    <a:lnB w="12700" cap="flat" cmpd="sng" algn="ctr">
                      <a:solidFill>
                        <a:srgbClr val="485158"/>
                      </a:solidFill>
                      <a:prstDash val="solid"/>
                      <a:round/>
                      <a:headEnd type="none" w="med" len="med"/>
                      <a:tailEnd type="none" w="med" len="med"/>
                    </a:lnB>
                  </a:tcPr>
                </a:tc>
                <a:tc>
                  <a:txBody>
                    <a:bodyPr/>
                    <a:lstStyle/>
                    <a:p>
                      <a:pPr marL="0" indent="0">
                        <a:lnSpc>
                          <a:spcPts val="1820"/>
                        </a:lnSpc>
                        <a:buNone/>
                      </a:pPr>
                      <a:r>
                        <a:rPr lang="en-US" sz="1300" dirty="0">
                          <a:solidFill>
                            <a:srgbClr val="D6DDE5"/>
                          </a:solidFill>
                          <a:latin typeface="IBM Plex Sans" pitchFamily="34" charset="0"/>
                          <a:ea typeface="IBM Plex Sans" pitchFamily="34" charset="-122"/>
                          <a:cs typeface="IBM Plex Sans" pitchFamily="34" charset="-120"/>
                        </a:rPr>
                        <a:t>Human-in-the-Loop</a:t>
                      </a:r>
                      <a:endParaRPr lang="en-US" sz="1300" dirty="0">
                        <a:latin typeface="IBM Plex Sans" charset="0"/>
                        <a:ea typeface="IBM Plex Sans" charset="0"/>
                        <a:cs typeface="IBM Plex Sans" charset="0"/>
                      </a:endParaRPr>
                    </a:p>
                  </a:txBody>
                  <a:tcPr marL="57785" marR="57785" marT="57785" marB="57785">
                    <a:lnL w="12700" cap="flat" cmpd="sng" algn="ctr">
                      <a:solidFill>
                        <a:srgbClr val="485158"/>
                      </a:solidFill>
                      <a:prstDash val="solid"/>
                      <a:round/>
                      <a:headEnd type="none" w="med" len="med"/>
                      <a:tailEnd type="none" w="med" len="med"/>
                    </a:lnL>
                    <a:lnR w="12700" cap="flat" cmpd="sng" algn="ctr">
                      <a:solidFill>
                        <a:srgbClr val="485158"/>
                      </a:solidFill>
                      <a:prstDash val="solid"/>
                      <a:round/>
                      <a:headEnd type="none" w="med" len="med"/>
                      <a:tailEnd type="none" w="med" len="med"/>
                    </a:lnR>
                    <a:lnT w="12700" cap="flat" cmpd="sng" algn="ctr">
                      <a:solidFill>
                        <a:srgbClr val="485158"/>
                      </a:solidFill>
                      <a:prstDash val="solid"/>
                      <a:round/>
                      <a:headEnd type="none" w="med" len="med"/>
                      <a:tailEnd type="none" w="med" len="med"/>
                    </a:lnT>
                    <a:lnB w="12700" cap="flat" cmpd="sng" algn="ctr">
                      <a:solidFill>
                        <a:srgbClr val="485158"/>
                      </a:solidFill>
                      <a:prstDash val="solid"/>
                      <a:round/>
                      <a:headEnd type="none" w="med" len="med"/>
                      <a:tailEnd type="none" w="med" len="med"/>
                    </a:lnB>
                  </a:tcPr>
                </a:tc>
                <a:tc>
                  <a:txBody>
                    <a:bodyPr/>
                    <a:lstStyle/>
                    <a:p>
                      <a:pPr marL="0" indent="0">
                        <a:lnSpc>
                          <a:spcPts val="1820"/>
                        </a:lnSpc>
                        <a:buNone/>
                      </a:pPr>
                      <a:r>
                        <a:rPr lang="en-US" sz="1300" dirty="0">
                          <a:solidFill>
                            <a:srgbClr val="D6DDE5"/>
                          </a:solidFill>
                          <a:latin typeface="IBM Plex Sans" pitchFamily="34" charset="0"/>
                          <a:ea typeface="IBM Plex Sans" pitchFamily="34" charset="-122"/>
                          <a:cs typeface="IBM Plex Sans" pitchFamily="34" charset="-120"/>
                        </a:rPr>
                        <a:t>06</a:t>
                      </a:r>
                      <a:endParaRPr lang="en-US" sz="1300" dirty="0">
                        <a:latin typeface="IBM Plex Sans" charset="0"/>
                        <a:ea typeface="IBM Plex Sans" charset="0"/>
                        <a:cs typeface="IBM Plex Sans" charset="0"/>
                      </a:endParaRPr>
                    </a:p>
                  </a:txBody>
                  <a:tcPr marL="57785" marR="57785" marT="57785" marB="57785">
                    <a:lnL w="12700" cap="flat" cmpd="sng" algn="ctr">
                      <a:solidFill>
                        <a:srgbClr val="485158"/>
                      </a:solidFill>
                      <a:prstDash val="solid"/>
                      <a:round/>
                      <a:headEnd type="none" w="med" len="med"/>
                      <a:tailEnd type="none" w="med" len="med"/>
                    </a:lnL>
                    <a:lnR w="12700" cap="flat" cmpd="sng" algn="ctr">
                      <a:solidFill>
                        <a:srgbClr val="485158"/>
                      </a:solidFill>
                      <a:prstDash val="solid"/>
                      <a:round/>
                      <a:headEnd type="none" w="med" len="med"/>
                      <a:tailEnd type="none" w="med" len="med"/>
                    </a:lnR>
                    <a:lnT w="12700" cap="flat" cmpd="sng" algn="ctr">
                      <a:solidFill>
                        <a:srgbClr val="485158"/>
                      </a:solidFill>
                      <a:prstDash val="solid"/>
                      <a:round/>
                      <a:headEnd type="none" w="med" len="med"/>
                      <a:tailEnd type="none" w="med" len="med"/>
                    </a:lnT>
                    <a:lnB w="12700" cap="flat" cmpd="sng" algn="ctr">
                      <a:solidFill>
                        <a:srgbClr val="485158"/>
                      </a:solidFill>
                      <a:prstDash val="solid"/>
                      <a:round/>
                      <a:headEnd type="none" w="med" len="med"/>
                      <a:tailEnd type="none" w="med" len="med"/>
                    </a:lnB>
                  </a:tcPr>
                </a:tc>
                <a:tc>
                  <a:txBody>
                    <a:bodyPr/>
                    <a:lstStyle/>
                    <a:p>
                      <a:pPr marL="0" indent="0">
                        <a:lnSpc>
                          <a:spcPts val="1820"/>
                        </a:lnSpc>
                        <a:buNone/>
                      </a:pPr>
                      <a:r>
                        <a:rPr lang="en-US" sz="1300" dirty="0">
                          <a:solidFill>
                            <a:srgbClr val="D6DDE5"/>
                          </a:solidFill>
                          <a:latin typeface="IBM Plex Sans" pitchFamily="34" charset="0"/>
                          <a:ea typeface="IBM Plex Sans" pitchFamily="34" charset="-122"/>
                          <a:cs typeface="IBM Plex Sans" pitchFamily="34" charset="-120"/>
                        </a:rPr>
                        <a:t>—</a:t>
                      </a:r>
                      <a:endParaRPr lang="en-US" sz="1300" dirty="0">
                        <a:latin typeface="IBM Plex Sans" charset="0"/>
                        <a:ea typeface="IBM Plex Sans" charset="0"/>
                        <a:cs typeface="IBM Plex Sans" charset="0"/>
                      </a:endParaRPr>
                    </a:p>
                  </a:txBody>
                  <a:tcPr marL="57785" marR="57785" marT="57785" marB="57785">
                    <a:lnL w="12700" cap="flat" cmpd="sng" algn="ctr">
                      <a:solidFill>
                        <a:srgbClr val="485158"/>
                      </a:solidFill>
                      <a:prstDash val="solid"/>
                      <a:round/>
                      <a:headEnd type="none" w="med" len="med"/>
                      <a:tailEnd type="none" w="med" len="med"/>
                    </a:lnL>
                    <a:lnR w="12700" cap="flat" cmpd="sng" algn="ctr">
                      <a:solidFill>
                        <a:srgbClr val="485158"/>
                      </a:solidFill>
                      <a:prstDash val="solid"/>
                      <a:round/>
                      <a:headEnd type="none" w="med" len="med"/>
                      <a:tailEnd type="none" w="med" len="med"/>
                    </a:lnR>
                    <a:lnT w="12700" cap="flat" cmpd="sng" algn="ctr">
                      <a:solidFill>
                        <a:srgbClr val="485158"/>
                      </a:solidFill>
                      <a:prstDash val="solid"/>
                      <a:round/>
                      <a:headEnd type="none" w="med" len="med"/>
                      <a:tailEnd type="none" w="med" len="med"/>
                    </a:lnT>
                    <a:lnB w="12700" cap="flat" cmpd="sng" algn="ctr">
                      <a:solidFill>
                        <a:srgbClr val="485158"/>
                      </a:solidFill>
                      <a:prstDash val="solid"/>
                      <a:round/>
                      <a:headEnd type="none" w="med" len="med"/>
                      <a:tailEnd type="none" w="med" len="med"/>
                    </a:lnB>
                  </a:tcPr>
                </a:tc>
                <a:tc>
                  <a:txBody>
                    <a:bodyPr/>
                    <a:lstStyle/>
                    <a:p>
                      <a:pPr marL="0" indent="0">
                        <a:lnSpc>
                          <a:spcPts val="1820"/>
                        </a:lnSpc>
                        <a:buNone/>
                      </a:pPr>
                      <a:r>
                        <a:rPr lang="en-US" sz="1300" dirty="0">
                          <a:solidFill>
                            <a:srgbClr val="F2A46B"/>
                          </a:solidFill>
                          <a:latin typeface="IBM Plex Sans" pitchFamily="34" charset="0"/>
                          <a:ea typeface="IBM Plex Sans" pitchFamily="34" charset="-122"/>
                          <a:cs typeface="IBM Plex Sans" pitchFamily="34" charset="-120"/>
                        </a:rPr>
                        <a:t>_checkpoint</a:t>
                      </a:r>
                      <a:endParaRPr lang="en-US" sz="1300" dirty="0">
                        <a:latin typeface="IBM Plex Sans" charset="0"/>
                        <a:ea typeface="IBM Plex Sans" charset="0"/>
                        <a:cs typeface="IBM Plex Sans" charset="0"/>
                      </a:endParaRPr>
                    </a:p>
                  </a:txBody>
                  <a:tcPr marL="57785" marR="57785" marT="57785" marB="57785">
                    <a:lnL w="12700" cap="flat" cmpd="sng" algn="ctr">
                      <a:solidFill>
                        <a:srgbClr val="485158"/>
                      </a:solidFill>
                      <a:prstDash val="solid"/>
                      <a:round/>
                      <a:headEnd type="none" w="med" len="med"/>
                      <a:tailEnd type="none" w="med" len="med"/>
                    </a:lnL>
                    <a:lnR w="12700" cap="flat" cmpd="sng" algn="ctr">
                      <a:solidFill>
                        <a:srgbClr val="485158"/>
                      </a:solidFill>
                      <a:prstDash val="solid"/>
                      <a:round/>
                      <a:headEnd type="none" w="med" len="med"/>
                      <a:tailEnd type="none" w="med" len="med"/>
                    </a:lnR>
                    <a:lnT w="12700" cap="flat" cmpd="sng" algn="ctr">
                      <a:solidFill>
                        <a:srgbClr val="485158"/>
                      </a:solidFill>
                      <a:prstDash val="solid"/>
                      <a:round/>
                      <a:headEnd type="none" w="med" len="med"/>
                      <a:tailEnd type="none" w="med" len="med"/>
                    </a:lnT>
                    <a:lnB w="12700" cap="flat" cmpd="sng" algn="ctr">
                      <a:solidFill>
                        <a:srgbClr val="485158"/>
                      </a:solidFill>
                      <a:prstDash val="solid"/>
                      <a:round/>
                      <a:headEnd type="none" w="med" len="med"/>
                      <a:tailEnd type="none" w="med" len="med"/>
                    </a:lnB>
                  </a:tcPr>
                </a:tc>
                <a:extLst>
                  <a:ext uri="{0D108BD9-81ED-4DB2-BD59-A6C34878D82A}">
                    <a16:rowId xmlns:a16="http://schemas.microsoft.com/office/drawing/2014/main" val="10006"/>
                  </a:ext>
                </a:extLst>
              </a:tr>
              <a:tr h="358225">
                <a:tc>
                  <a:txBody>
                    <a:bodyPr/>
                    <a:lstStyle/>
                    <a:p>
                      <a:pPr marL="0" indent="0">
                        <a:lnSpc>
                          <a:spcPts val="1820"/>
                        </a:lnSpc>
                        <a:buNone/>
                      </a:pPr>
                      <a:r>
                        <a:rPr lang="en-US" sz="1300" dirty="0">
                          <a:solidFill>
                            <a:srgbClr val="D6DDE5"/>
                          </a:solidFill>
                          <a:latin typeface="IBM Plex Sans" pitchFamily="34" charset="0"/>
                          <a:ea typeface="IBM Plex Sans" pitchFamily="34" charset="-122"/>
                          <a:cs typeface="IBM Plex Sans" pitchFamily="34" charset="-120"/>
                        </a:rPr>
                        <a:t>Social media fan-out</a:t>
                      </a:r>
                      <a:endParaRPr lang="en-US" sz="1300" dirty="0">
                        <a:latin typeface="IBM Plex Sans" charset="0"/>
                        <a:ea typeface="IBM Plex Sans" charset="0"/>
                        <a:cs typeface="IBM Plex Sans" charset="0"/>
                      </a:endParaRPr>
                    </a:p>
                  </a:txBody>
                  <a:tcPr marL="57785" marR="57785" marT="57785" marB="57785">
                    <a:lnL w="12700" cap="flat" cmpd="sng" algn="ctr">
                      <a:solidFill>
                        <a:srgbClr val="485158"/>
                      </a:solidFill>
                      <a:prstDash val="solid"/>
                      <a:round/>
                      <a:headEnd type="none" w="med" len="med"/>
                      <a:tailEnd type="none" w="med" len="med"/>
                    </a:lnL>
                    <a:lnR w="12700" cap="flat" cmpd="sng" algn="ctr">
                      <a:solidFill>
                        <a:srgbClr val="485158"/>
                      </a:solidFill>
                      <a:prstDash val="solid"/>
                      <a:round/>
                      <a:headEnd type="none" w="med" len="med"/>
                      <a:tailEnd type="none" w="med" len="med"/>
                    </a:lnR>
                    <a:lnT w="12700" cap="flat" cmpd="sng" algn="ctr">
                      <a:solidFill>
                        <a:srgbClr val="485158"/>
                      </a:solidFill>
                      <a:prstDash val="solid"/>
                      <a:round/>
                      <a:headEnd type="none" w="med" len="med"/>
                      <a:tailEnd type="none" w="med" len="med"/>
                    </a:lnT>
                    <a:lnB w="12700" cap="flat" cmpd="sng" algn="ctr">
                      <a:solidFill>
                        <a:srgbClr val="485158"/>
                      </a:solidFill>
                      <a:prstDash val="solid"/>
                      <a:round/>
                      <a:headEnd type="none" w="med" len="med"/>
                      <a:tailEnd type="none" w="med" len="med"/>
                    </a:lnB>
                  </a:tcPr>
                </a:tc>
                <a:tc>
                  <a:txBody>
                    <a:bodyPr/>
                    <a:lstStyle/>
                    <a:p>
                      <a:pPr marL="0" indent="0">
                        <a:lnSpc>
                          <a:spcPts val="1820"/>
                        </a:lnSpc>
                        <a:buNone/>
                      </a:pPr>
                      <a:r>
                        <a:rPr lang="en-US" sz="1300" dirty="0">
                          <a:solidFill>
                            <a:srgbClr val="D6DDE5"/>
                          </a:solidFill>
                          <a:latin typeface="IBM Plex Sans" pitchFamily="34" charset="0"/>
                          <a:ea typeface="IBM Plex Sans" pitchFamily="34" charset="-122"/>
                          <a:cs typeface="IBM Plex Sans" pitchFamily="34" charset="-120"/>
                        </a:rPr>
                        <a:t>Parallelization</a:t>
                      </a:r>
                      <a:endParaRPr lang="en-US" sz="1300" dirty="0">
                        <a:latin typeface="IBM Plex Sans" charset="0"/>
                        <a:ea typeface="IBM Plex Sans" charset="0"/>
                        <a:cs typeface="IBM Plex Sans" charset="0"/>
                      </a:endParaRPr>
                    </a:p>
                  </a:txBody>
                  <a:tcPr marL="57785" marR="57785" marT="57785" marB="57785">
                    <a:lnL w="12700" cap="flat" cmpd="sng" algn="ctr">
                      <a:solidFill>
                        <a:srgbClr val="485158"/>
                      </a:solidFill>
                      <a:prstDash val="solid"/>
                      <a:round/>
                      <a:headEnd type="none" w="med" len="med"/>
                      <a:tailEnd type="none" w="med" len="med"/>
                    </a:lnL>
                    <a:lnR w="12700" cap="flat" cmpd="sng" algn="ctr">
                      <a:solidFill>
                        <a:srgbClr val="485158"/>
                      </a:solidFill>
                      <a:prstDash val="solid"/>
                      <a:round/>
                      <a:headEnd type="none" w="med" len="med"/>
                      <a:tailEnd type="none" w="med" len="med"/>
                    </a:lnR>
                    <a:lnT w="12700" cap="flat" cmpd="sng" algn="ctr">
                      <a:solidFill>
                        <a:srgbClr val="485158"/>
                      </a:solidFill>
                      <a:prstDash val="solid"/>
                      <a:round/>
                      <a:headEnd type="none" w="med" len="med"/>
                      <a:tailEnd type="none" w="med" len="med"/>
                    </a:lnT>
                    <a:lnB w="12700" cap="flat" cmpd="sng" algn="ctr">
                      <a:solidFill>
                        <a:srgbClr val="485158"/>
                      </a:solidFill>
                      <a:prstDash val="solid"/>
                      <a:round/>
                      <a:headEnd type="none" w="med" len="med"/>
                      <a:tailEnd type="none" w="med" len="med"/>
                    </a:lnB>
                  </a:tcPr>
                </a:tc>
                <a:tc>
                  <a:txBody>
                    <a:bodyPr/>
                    <a:lstStyle/>
                    <a:p>
                      <a:pPr marL="0" indent="0">
                        <a:lnSpc>
                          <a:spcPts val="1820"/>
                        </a:lnSpc>
                        <a:buNone/>
                      </a:pPr>
                      <a:r>
                        <a:rPr lang="en-US" sz="1300" dirty="0">
                          <a:solidFill>
                            <a:srgbClr val="D6DDE5"/>
                          </a:solidFill>
                          <a:latin typeface="IBM Plex Sans" pitchFamily="34" charset="0"/>
                          <a:ea typeface="IBM Plex Sans" pitchFamily="34" charset="-122"/>
                          <a:cs typeface="IBM Plex Sans" pitchFamily="34" charset="-120"/>
                        </a:rPr>
                        <a:t>03</a:t>
                      </a:r>
                      <a:endParaRPr lang="en-US" sz="1300" dirty="0">
                        <a:latin typeface="IBM Plex Sans" charset="0"/>
                        <a:ea typeface="IBM Plex Sans" charset="0"/>
                        <a:cs typeface="IBM Plex Sans" charset="0"/>
                      </a:endParaRPr>
                    </a:p>
                  </a:txBody>
                  <a:tcPr marL="57785" marR="57785" marT="57785" marB="57785">
                    <a:lnL w="12700" cap="flat" cmpd="sng" algn="ctr">
                      <a:solidFill>
                        <a:srgbClr val="485158"/>
                      </a:solidFill>
                      <a:prstDash val="solid"/>
                      <a:round/>
                      <a:headEnd type="none" w="med" len="med"/>
                      <a:tailEnd type="none" w="med" len="med"/>
                    </a:lnL>
                    <a:lnR w="12700" cap="flat" cmpd="sng" algn="ctr">
                      <a:solidFill>
                        <a:srgbClr val="485158"/>
                      </a:solidFill>
                      <a:prstDash val="solid"/>
                      <a:round/>
                      <a:headEnd type="none" w="med" len="med"/>
                      <a:tailEnd type="none" w="med" len="med"/>
                    </a:lnR>
                    <a:lnT w="12700" cap="flat" cmpd="sng" algn="ctr">
                      <a:solidFill>
                        <a:srgbClr val="485158"/>
                      </a:solidFill>
                      <a:prstDash val="solid"/>
                      <a:round/>
                      <a:headEnd type="none" w="med" len="med"/>
                      <a:tailEnd type="none" w="med" len="med"/>
                    </a:lnT>
                    <a:lnB w="12700" cap="flat" cmpd="sng" algn="ctr">
                      <a:solidFill>
                        <a:srgbClr val="485158"/>
                      </a:solidFill>
                      <a:prstDash val="solid"/>
                      <a:round/>
                      <a:headEnd type="none" w="med" len="med"/>
                      <a:tailEnd type="none" w="med" len="med"/>
                    </a:lnB>
                  </a:tcPr>
                </a:tc>
                <a:tc>
                  <a:txBody>
                    <a:bodyPr/>
                    <a:lstStyle/>
                    <a:p>
                      <a:pPr marL="0" indent="0">
                        <a:lnSpc>
                          <a:spcPts val="1820"/>
                        </a:lnSpc>
                        <a:buNone/>
                      </a:pPr>
                      <a:r>
                        <a:rPr lang="en-US" sz="1300" dirty="0">
                          <a:solidFill>
                            <a:srgbClr val="D6DDE5"/>
                          </a:solidFill>
                          <a:latin typeface="IBM Plex Sans" pitchFamily="34" charset="0"/>
                          <a:ea typeface="IBM Plex Sans" pitchFamily="34" charset="-122"/>
                          <a:cs typeface="IBM Plex Sans" pitchFamily="34" charset="-120"/>
                        </a:rPr>
                        <a:t>Haiku</a:t>
                      </a:r>
                      <a:endParaRPr lang="en-US" sz="1300" dirty="0">
                        <a:latin typeface="IBM Plex Sans" charset="0"/>
                        <a:ea typeface="IBM Plex Sans" charset="0"/>
                        <a:cs typeface="IBM Plex Sans" charset="0"/>
                      </a:endParaRPr>
                    </a:p>
                  </a:txBody>
                  <a:tcPr marL="57785" marR="57785" marT="57785" marB="57785">
                    <a:lnL w="12700" cap="flat" cmpd="sng" algn="ctr">
                      <a:solidFill>
                        <a:srgbClr val="485158"/>
                      </a:solidFill>
                      <a:prstDash val="solid"/>
                      <a:round/>
                      <a:headEnd type="none" w="med" len="med"/>
                      <a:tailEnd type="none" w="med" len="med"/>
                    </a:lnL>
                    <a:lnR w="12700" cap="flat" cmpd="sng" algn="ctr">
                      <a:solidFill>
                        <a:srgbClr val="485158"/>
                      </a:solidFill>
                      <a:prstDash val="solid"/>
                      <a:round/>
                      <a:headEnd type="none" w="med" len="med"/>
                      <a:tailEnd type="none" w="med" len="med"/>
                    </a:lnR>
                    <a:lnT w="12700" cap="flat" cmpd="sng" algn="ctr">
                      <a:solidFill>
                        <a:srgbClr val="485158"/>
                      </a:solidFill>
                      <a:prstDash val="solid"/>
                      <a:round/>
                      <a:headEnd type="none" w="med" len="med"/>
                      <a:tailEnd type="none" w="med" len="med"/>
                    </a:lnT>
                    <a:lnB w="12700" cap="flat" cmpd="sng" algn="ctr">
                      <a:solidFill>
                        <a:srgbClr val="485158"/>
                      </a:solidFill>
                      <a:prstDash val="solid"/>
                      <a:round/>
                      <a:headEnd type="none" w="med" len="med"/>
                      <a:tailEnd type="none" w="med" len="med"/>
                    </a:lnB>
                  </a:tcPr>
                </a:tc>
                <a:tc>
                  <a:txBody>
                    <a:bodyPr/>
                    <a:lstStyle/>
                    <a:p>
                      <a:pPr marL="0" indent="0">
                        <a:lnSpc>
                          <a:spcPts val="1820"/>
                        </a:lnSpc>
                        <a:buNone/>
                      </a:pPr>
                      <a:r>
                        <a:rPr lang="en-US" sz="1300" dirty="0">
                          <a:solidFill>
                            <a:srgbClr val="F2A46B"/>
                          </a:solidFill>
                          <a:latin typeface="IBM Plex Sans" pitchFamily="34" charset="0"/>
                          <a:ea typeface="IBM Plex Sans" pitchFamily="34" charset="-122"/>
                          <a:cs typeface="IBM Plex Sans" pitchFamily="34" charset="-120"/>
                        </a:rPr>
                        <a:t>_write_social</a:t>
                      </a:r>
                      <a:endParaRPr lang="en-US" sz="1300" dirty="0">
                        <a:latin typeface="IBM Plex Sans" charset="0"/>
                        <a:ea typeface="IBM Plex Sans" charset="0"/>
                        <a:cs typeface="IBM Plex Sans" charset="0"/>
                      </a:endParaRPr>
                    </a:p>
                  </a:txBody>
                  <a:tcPr marL="57785" marR="57785" marT="57785" marB="57785">
                    <a:lnL w="12700" cap="flat" cmpd="sng" algn="ctr">
                      <a:solidFill>
                        <a:srgbClr val="485158"/>
                      </a:solidFill>
                      <a:prstDash val="solid"/>
                      <a:round/>
                      <a:headEnd type="none" w="med" len="med"/>
                      <a:tailEnd type="none" w="med" len="med"/>
                    </a:lnL>
                    <a:lnR w="12700" cap="flat" cmpd="sng" algn="ctr">
                      <a:solidFill>
                        <a:srgbClr val="485158"/>
                      </a:solidFill>
                      <a:prstDash val="solid"/>
                      <a:round/>
                      <a:headEnd type="none" w="med" len="med"/>
                      <a:tailEnd type="none" w="med" len="med"/>
                    </a:lnR>
                    <a:lnT w="12700" cap="flat" cmpd="sng" algn="ctr">
                      <a:solidFill>
                        <a:srgbClr val="485158"/>
                      </a:solidFill>
                      <a:prstDash val="solid"/>
                      <a:round/>
                      <a:headEnd type="none" w="med" len="med"/>
                      <a:tailEnd type="none" w="med" len="med"/>
                    </a:lnT>
                    <a:lnB w="12700" cap="flat" cmpd="sng" algn="ctr">
                      <a:solidFill>
                        <a:srgbClr val="485158"/>
                      </a:solidFill>
                      <a:prstDash val="solid"/>
                      <a:round/>
                      <a:headEnd type="none" w="med" len="med"/>
                      <a:tailEnd type="none" w="med" len="med"/>
                    </a:lnB>
                  </a:tcPr>
                </a:tc>
                <a:extLst>
                  <a:ext uri="{0D108BD9-81ED-4DB2-BD59-A6C34878D82A}">
                    <a16:rowId xmlns:a16="http://schemas.microsoft.com/office/drawing/2014/main" val="10007"/>
                  </a:ext>
                </a:extLst>
              </a:tr>
              <a:tr h="358225">
                <a:tc>
                  <a:txBody>
                    <a:bodyPr/>
                    <a:lstStyle/>
                    <a:p>
                      <a:pPr marL="0" indent="0">
                        <a:lnSpc>
                          <a:spcPts val="1820"/>
                        </a:lnSpc>
                        <a:buNone/>
                      </a:pPr>
                      <a:r>
                        <a:rPr lang="en-US" sz="1300" dirty="0">
                          <a:solidFill>
                            <a:srgbClr val="D6DDE5"/>
                          </a:solidFill>
                          <a:latin typeface="IBM Plex Sans" pitchFamily="34" charset="0"/>
                          <a:ea typeface="IBM Plex Sans" pitchFamily="34" charset="-122"/>
                          <a:cs typeface="IBM Plex Sans" pitchFamily="34" charset="-120"/>
                        </a:rPr>
                        <a:t>SEO title voting</a:t>
                      </a:r>
                      <a:endParaRPr lang="en-US" sz="1300" dirty="0">
                        <a:latin typeface="IBM Plex Sans" charset="0"/>
                        <a:ea typeface="IBM Plex Sans" charset="0"/>
                        <a:cs typeface="IBM Plex Sans" charset="0"/>
                      </a:endParaRPr>
                    </a:p>
                  </a:txBody>
                  <a:tcPr marL="57785" marR="57785" marT="57785" marB="57785">
                    <a:lnL w="12700" cap="flat" cmpd="sng" algn="ctr">
                      <a:solidFill>
                        <a:srgbClr val="485158"/>
                      </a:solidFill>
                      <a:prstDash val="solid"/>
                      <a:round/>
                      <a:headEnd type="none" w="med" len="med"/>
                      <a:tailEnd type="none" w="med" len="med"/>
                    </a:lnL>
                    <a:lnR w="12700" cap="flat" cmpd="sng" algn="ctr">
                      <a:solidFill>
                        <a:srgbClr val="485158"/>
                      </a:solidFill>
                      <a:prstDash val="solid"/>
                      <a:round/>
                      <a:headEnd type="none" w="med" len="med"/>
                      <a:tailEnd type="none" w="med" len="med"/>
                    </a:lnR>
                    <a:lnT w="12700" cap="flat" cmpd="sng" algn="ctr">
                      <a:solidFill>
                        <a:srgbClr val="485158"/>
                      </a:solidFill>
                      <a:prstDash val="solid"/>
                      <a:round/>
                      <a:headEnd type="none" w="med" len="med"/>
                      <a:tailEnd type="none" w="med" len="med"/>
                    </a:lnT>
                    <a:lnB w="12700" cap="flat" cmpd="sng" algn="ctr">
                      <a:solidFill>
                        <a:srgbClr val="485158"/>
                      </a:solidFill>
                      <a:prstDash val="solid"/>
                      <a:round/>
                      <a:headEnd type="none" w="med" len="med"/>
                      <a:tailEnd type="none" w="med" len="med"/>
                    </a:lnB>
                  </a:tcPr>
                </a:tc>
                <a:tc>
                  <a:txBody>
                    <a:bodyPr/>
                    <a:lstStyle/>
                    <a:p>
                      <a:pPr marL="0" indent="0">
                        <a:lnSpc>
                          <a:spcPts val="1820"/>
                        </a:lnSpc>
                        <a:buNone/>
                      </a:pPr>
                      <a:r>
                        <a:rPr lang="en-US" sz="1300" dirty="0">
                          <a:solidFill>
                            <a:srgbClr val="D6DDE5"/>
                          </a:solidFill>
                          <a:latin typeface="IBM Plex Sans" pitchFamily="34" charset="0"/>
                          <a:ea typeface="IBM Plex Sans" pitchFamily="34" charset="-122"/>
                          <a:cs typeface="IBM Plex Sans" pitchFamily="34" charset="-120"/>
                        </a:rPr>
                        <a:t>Voting</a:t>
                      </a:r>
                      <a:endParaRPr lang="en-US" sz="1300" dirty="0">
                        <a:latin typeface="IBM Plex Sans" charset="0"/>
                        <a:ea typeface="IBM Plex Sans" charset="0"/>
                        <a:cs typeface="IBM Plex Sans" charset="0"/>
                      </a:endParaRPr>
                    </a:p>
                  </a:txBody>
                  <a:tcPr marL="57785" marR="57785" marT="57785" marB="57785">
                    <a:lnL w="12700" cap="flat" cmpd="sng" algn="ctr">
                      <a:solidFill>
                        <a:srgbClr val="485158"/>
                      </a:solidFill>
                      <a:prstDash val="solid"/>
                      <a:round/>
                      <a:headEnd type="none" w="med" len="med"/>
                      <a:tailEnd type="none" w="med" len="med"/>
                    </a:lnL>
                    <a:lnR w="12700" cap="flat" cmpd="sng" algn="ctr">
                      <a:solidFill>
                        <a:srgbClr val="485158"/>
                      </a:solidFill>
                      <a:prstDash val="solid"/>
                      <a:round/>
                      <a:headEnd type="none" w="med" len="med"/>
                      <a:tailEnd type="none" w="med" len="med"/>
                    </a:lnR>
                    <a:lnT w="12700" cap="flat" cmpd="sng" algn="ctr">
                      <a:solidFill>
                        <a:srgbClr val="485158"/>
                      </a:solidFill>
                      <a:prstDash val="solid"/>
                      <a:round/>
                      <a:headEnd type="none" w="med" len="med"/>
                      <a:tailEnd type="none" w="med" len="med"/>
                    </a:lnT>
                    <a:lnB w="12700" cap="flat" cmpd="sng" algn="ctr">
                      <a:solidFill>
                        <a:srgbClr val="485158"/>
                      </a:solidFill>
                      <a:prstDash val="solid"/>
                      <a:round/>
                      <a:headEnd type="none" w="med" len="med"/>
                      <a:tailEnd type="none" w="med" len="med"/>
                    </a:lnB>
                  </a:tcPr>
                </a:tc>
                <a:tc>
                  <a:txBody>
                    <a:bodyPr/>
                    <a:lstStyle/>
                    <a:p>
                      <a:pPr marL="0" indent="0">
                        <a:lnSpc>
                          <a:spcPts val="1820"/>
                        </a:lnSpc>
                        <a:buNone/>
                      </a:pPr>
                      <a:r>
                        <a:rPr lang="en-US" sz="1300" dirty="0">
                          <a:solidFill>
                            <a:srgbClr val="D6DDE5"/>
                          </a:solidFill>
                          <a:latin typeface="IBM Plex Sans" pitchFamily="34" charset="0"/>
                          <a:ea typeface="IBM Plex Sans" pitchFamily="34" charset="-122"/>
                          <a:cs typeface="IBM Plex Sans" pitchFamily="34" charset="-120"/>
                        </a:rPr>
                        <a:t>03</a:t>
                      </a:r>
                      <a:endParaRPr lang="en-US" sz="1300" dirty="0">
                        <a:latin typeface="IBM Plex Sans" charset="0"/>
                        <a:ea typeface="IBM Plex Sans" charset="0"/>
                        <a:cs typeface="IBM Plex Sans" charset="0"/>
                      </a:endParaRPr>
                    </a:p>
                  </a:txBody>
                  <a:tcPr marL="57785" marR="57785" marT="57785" marB="57785">
                    <a:lnL w="12700" cap="flat" cmpd="sng" algn="ctr">
                      <a:solidFill>
                        <a:srgbClr val="485158"/>
                      </a:solidFill>
                      <a:prstDash val="solid"/>
                      <a:round/>
                      <a:headEnd type="none" w="med" len="med"/>
                      <a:tailEnd type="none" w="med" len="med"/>
                    </a:lnL>
                    <a:lnR w="12700" cap="flat" cmpd="sng" algn="ctr">
                      <a:solidFill>
                        <a:srgbClr val="485158"/>
                      </a:solidFill>
                      <a:prstDash val="solid"/>
                      <a:round/>
                      <a:headEnd type="none" w="med" len="med"/>
                      <a:tailEnd type="none" w="med" len="med"/>
                    </a:lnR>
                    <a:lnT w="12700" cap="flat" cmpd="sng" algn="ctr">
                      <a:solidFill>
                        <a:srgbClr val="485158"/>
                      </a:solidFill>
                      <a:prstDash val="solid"/>
                      <a:round/>
                      <a:headEnd type="none" w="med" len="med"/>
                      <a:tailEnd type="none" w="med" len="med"/>
                    </a:lnT>
                    <a:lnB w="12700" cap="flat" cmpd="sng" algn="ctr">
                      <a:solidFill>
                        <a:srgbClr val="485158"/>
                      </a:solidFill>
                      <a:prstDash val="solid"/>
                      <a:round/>
                      <a:headEnd type="none" w="med" len="med"/>
                      <a:tailEnd type="none" w="med" len="med"/>
                    </a:lnB>
                  </a:tcPr>
                </a:tc>
                <a:tc>
                  <a:txBody>
                    <a:bodyPr/>
                    <a:lstStyle/>
                    <a:p>
                      <a:pPr marL="0" indent="0">
                        <a:lnSpc>
                          <a:spcPts val="1820"/>
                        </a:lnSpc>
                        <a:buNone/>
                      </a:pPr>
                      <a:r>
                        <a:rPr lang="en-US" sz="1300" dirty="0">
                          <a:solidFill>
                            <a:srgbClr val="D6DDE5"/>
                          </a:solidFill>
                          <a:latin typeface="IBM Plex Sans" pitchFamily="34" charset="0"/>
                          <a:ea typeface="IBM Plex Sans" pitchFamily="34" charset="-122"/>
                          <a:cs typeface="IBM Plex Sans" pitchFamily="34" charset="-120"/>
                        </a:rPr>
                        <a:t>Haiku + Sonnet</a:t>
                      </a:r>
                      <a:endParaRPr lang="en-US" sz="1300" dirty="0">
                        <a:latin typeface="IBM Plex Sans" charset="0"/>
                        <a:ea typeface="IBM Plex Sans" charset="0"/>
                        <a:cs typeface="IBM Plex Sans" charset="0"/>
                      </a:endParaRPr>
                    </a:p>
                  </a:txBody>
                  <a:tcPr marL="57785" marR="57785" marT="57785" marB="57785">
                    <a:lnL w="12700" cap="flat" cmpd="sng" algn="ctr">
                      <a:solidFill>
                        <a:srgbClr val="485158"/>
                      </a:solidFill>
                      <a:prstDash val="solid"/>
                      <a:round/>
                      <a:headEnd type="none" w="med" len="med"/>
                      <a:tailEnd type="none" w="med" len="med"/>
                    </a:lnL>
                    <a:lnR w="12700" cap="flat" cmpd="sng" algn="ctr">
                      <a:solidFill>
                        <a:srgbClr val="485158"/>
                      </a:solidFill>
                      <a:prstDash val="solid"/>
                      <a:round/>
                      <a:headEnd type="none" w="med" len="med"/>
                      <a:tailEnd type="none" w="med" len="med"/>
                    </a:lnR>
                    <a:lnT w="12700" cap="flat" cmpd="sng" algn="ctr">
                      <a:solidFill>
                        <a:srgbClr val="485158"/>
                      </a:solidFill>
                      <a:prstDash val="solid"/>
                      <a:round/>
                      <a:headEnd type="none" w="med" len="med"/>
                      <a:tailEnd type="none" w="med" len="med"/>
                    </a:lnT>
                    <a:lnB w="12700" cap="flat" cmpd="sng" algn="ctr">
                      <a:solidFill>
                        <a:srgbClr val="485158"/>
                      </a:solidFill>
                      <a:prstDash val="solid"/>
                      <a:round/>
                      <a:headEnd type="none" w="med" len="med"/>
                      <a:tailEnd type="none" w="med" len="med"/>
                    </a:lnB>
                  </a:tcPr>
                </a:tc>
                <a:tc>
                  <a:txBody>
                    <a:bodyPr/>
                    <a:lstStyle/>
                    <a:p>
                      <a:pPr marL="0" indent="0">
                        <a:lnSpc>
                          <a:spcPts val="1820"/>
                        </a:lnSpc>
                        <a:buNone/>
                      </a:pPr>
                      <a:r>
                        <a:rPr lang="en-US" sz="1300" dirty="0">
                          <a:solidFill>
                            <a:srgbClr val="F2A46B"/>
                          </a:solidFill>
                          <a:latin typeface="IBM Plex Sans" pitchFamily="34" charset="0"/>
                          <a:ea typeface="IBM Plex Sans" pitchFamily="34" charset="-122"/>
                          <a:cs typeface="IBM Plex Sans" pitchFamily="34" charset="-120"/>
                        </a:rPr>
                        <a:t>_generate_seo</a:t>
                      </a:r>
                      <a:endParaRPr lang="en-US" sz="1300" dirty="0">
                        <a:latin typeface="IBM Plex Sans" charset="0"/>
                        <a:ea typeface="IBM Plex Sans" charset="0"/>
                        <a:cs typeface="IBM Plex Sans" charset="0"/>
                      </a:endParaRPr>
                    </a:p>
                  </a:txBody>
                  <a:tcPr marL="57785" marR="57785" marT="57785" marB="57785">
                    <a:lnL w="12700" cap="flat" cmpd="sng" algn="ctr">
                      <a:solidFill>
                        <a:srgbClr val="485158"/>
                      </a:solidFill>
                      <a:prstDash val="solid"/>
                      <a:round/>
                      <a:headEnd type="none" w="med" len="med"/>
                      <a:tailEnd type="none" w="med" len="med"/>
                    </a:lnL>
                    <a:lnR w="12700" cap="flat" cmpd="sng" algn="ctr">
                      <a:solidFill>
                        <a:srgbClr val="485158"/>
                      </a:solidFill>
                      <a:prstDash val="solid"/>
                      <a:round/>
                      <a:headEnd type="none" w="med" len="med"/>
                      <a:tailEnd type="none" w="med" len="med"/>
                    </a:lnR>
                    <a:lnT w="12700" cap="flat" cmpd="sng" algn="ctr">
                      <a:solidFill>
                        <a:srgbClr val="485158"/>
                      </a:solidFill>
                      <a:prstDash val="solid"/>
                      <a:round/>
                      <a:headEnd type="none" w="med" len="med"/>
                      <a:tailEnd type="none" w="med" len="med"/>
                    </a:lnT>
                    <a:lnB w="12700" cap="flat" cmpd="sng" algn="ctr">
                      <a:solidFill>
                        <a:srgbClr val="485158"/>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sp>
        <p:nvSpPr>
          <p:cNvPr id="5" name="Text 2"/>
          <p:cNvSpPr/>
          <p:nvPr/>
        </p:nvSpPr>
        <p:spPr>
          <a:xfrm>
            <a:off x="812782" y="5163294"/>
            <a:ext cx="10883429" cy="274259"/>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BFCAD6"/>
                </a:solidFill>
                <a:latin typeface="IBM Plex Sans" pitchFamily="34" charset="0"/>
                <a:ea typeface="IBM Plex Sans" pitchFamily="34" charset="-122"/>
                <a:cs typeface="IBM Plex Sans" pitchFamily="34" charset="-120"/>
              </a:rPr>
              <a:t>About 15–22 API calls per topic. Social + SEO run only after the final human approval — no tokens spent on rejected articles.</a:t>
            </a:r>
            <a:endParaRPr lang="en-US" sz="1400" dirty="0"/>
          </a:p>
        </p:txBody>
      </p:sp>
      <p:sp>
        <p:nvSpPr>
          <p:cNvPr id="6" name="Text 3"/>
          <p:cNvSpPr/>
          <p:nvPr/>
        </p:nvSpPr>
        <p:spPr>
          <a:xfrm>
            <a:off x="812782" y="6238280"/>
            <a:ext cx="967994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9AA9B8"/>
                </a:solidFill>
                <a:latin typeface="IBM Plex Sans" pitchFamily="34" charset="0"/>
                <a:ea typeface="IBM Plex Sans" pitchFamily="34" charset="-122"/>
                <a:cs typeface="IBM Plex Sans" pitchFamily="34" charset="-120"/>
              </a:rPr>
              <a:t>07-content-writer/README.md · content_writer/agent.py, models.py</a:t>
            </a:r>
            <a:endParaRPr lang="en-US" sz="1200" dirty="0"/>
          </a:p>
        </p:txBody>
      </p:sp>
      <p:sp>
        <p:nvSpPr>
          <p:cNvPr id="7" name="Text 4"/>
          <p:cNvSpPr/>
          <p:nvPr/>
        </p:nvSpPr>
        <p:spPr>
          <a:xfrm>
            <a:off x="10312418" y="6238280"/>
            <a:ext cx="1066800" cy="238720"/>
          </a:xfrm>
          <a:prstGeom prst="rect">
            <a:avLst/>
          </a:prstGeom>
          <a:noFill/>
          <a:ln/>
        </p:spPr>
        <p:txBody>
          <a:bodyPr wrap="square" lIns="0" tIns="0" rIns="0" bIns="0" rtlCol="0" anchor="t">
            <a:normAutofit/>
          </a:bodyPr>
          <a:lstStyle/>
          <a:p>
            <a:pPr marL="0" indent="0" algn="r">
              <a:lnSpc>
                <a:spcPts val="1680"/>
              </a:lnSpc>
              <a:buNone/>
            </a:pPr>
            <a:r>
              <a:rPr lang="en-US" sz="1200" b="1" dirty="0">
                <a:solidFill>
                  <a:srgbClr val="9AA9B8"/>
                </a:solidFill>
                <a:latin typeface="IBM Plex Sans" pitchFamily="34" charset="0"/>
                <a:ea typeface="IBM Plex Sans" pitchFamily="34" charset="-122"/>
                <a:cs typeface="IBM Plex Sans" pitchFamily="34" charset="-120"/>
              </a:rPr>
              <a:t>22 / 27</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4F2EC"/>
        </a:solidFill>
        <a:effectLst/>
      </p:bgPr>
    </p:bg>
    <p:spTree>
      <p:nvGrpSpPr>
        <p:cNvPr id="1" name=""/>
        <p:cNvGrpSpPr/>
        <p:nvPr/>
      </p:nvGrpSpPr>
      <p:grpSpPr>
        <a:xfrm>
          <a:off x="0" y="0"/>
          <a:ext cx="0" cy="0"/>
          <a:chOff x="0" y="0"/>
          <a:chExt cx="0" cy="0"/>
        </a:xfrm>
      </p:grpSpPr>
      <p:sp>
        <p:nvSpPr>
          <p:cNvPr id="2" name="Text 0"/>
          <p:cNvSpPr/>
          <p:nvPr/>
        </p:nvSpPr>
        <p:spPr>
          <a:xfrm>
            <a:off x="812782" y="711163"/>
            <a:ext cx="10883429"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04E17"/>
                </a:solidFill>
                <a:latin typeface="IBM Plex Sans" pitchFamily="34" charset="0"/>
                <a:ea typeface="IBM Plex Sans" pitchFamily="34" charset="-122"/>
                <a:cs typeface="IBM Plex Sans" pitchFamily="34" charset="-120"/>
              </a:rPr>
              <a:t>07 · CONTENT WRITER · IN CODE</a:t>
            </a:r>
            <a:endParaRPr lang="en-US" sz="1200" dirty="0"/>
          </a:p>
        </p:txBody>
      </p:sp>
      <p:sp>
        <p:nvSpPr>
          <p:cNvPr id="3" name="Text 1"/>
          <p:cNvSpPr>
            <a:spLocks noGrp="1"/>
          </p:cNvSpPr>
          <p:nvPr>
            <p:ph type="title"/>
          </p:nvPr>
        </p:nvSpPr>
        <p:spPr>
          <a:xfrm>
            <a:off x="812782" y="1000658"/>
            <a:ext cx="10883429" cy="444464"/>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6212C"/>
                </a:solidFill>
                <a:latin typeface="IBM Plex Sans" pitchFamily="34" charset="0"/>
                <a:ea typeface="IBM Plex Sans" pitchFamily="34" charset="-122"/>
                <a:cs typeface="IBM Plex Sans" pitchFamily="34" charset="-120"/>
              </a:rPr>
              <a:t>run_stream(): six patterns, one generator</a:t>
            </a:r>
            <a:endParaRPr lang="en-US" sz="3000" dirty="0"/>
          </a:p>
        </p:txBody>
      </p:sp>
      <p:sp>
        <p:nvSpPr>
          <p:cNvPr id="4" name="Text 2"/>
          <p:cNvSpPr/>
          <p:nvPr/>
        </p:nvSpPr>
        <p:spPr>
          <a:xfrm>
            <a:off x="812782" y="1673721"/>
            <a:ext cx="3924300" cy="487669"/>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D4A57"/>
                </a:solidFill>
                <a:latin typeface="IBM Plex Sans" pitchFamily="34" charset="0"/>
                <a:ea typeface="IBM Plex Sans" pitchFamily="34" charset="-122"/>
                <a:cs typeface="IBM Plex Sans" pitchFamily="34" charset="-120"/>
              </a:rPr>
              <a:t>Badges = tutorial numbers. Follow them down the code.</a:t>
            </a:r>
            <a:endParaRPr lang="en-US" sz="1300" dirty="0"/>
          </a:p>
        </p:txBody>
      </p:sp>
      <p:sp>
        <p:nvSpPr>
          <p:cNvPr id="5" name="Text 3"/>
          <p:cNvSpPr/>
          <p:nvPr/>
        </p:nvSpPr>
        <p:spPr>
          <a:xfrm>
            <a:off x="812782" y="2262994"/>
            <a:ext cx="457173" cy="279391"/>
          </a:xfrm>
          <a:custGeom>
            <a:avLst/>
            <a:gdLst/>
            <a:ahLst/>
            <a:cxnLst/>
            <a:rect l="l" t="t" r="r" b="b"/>
            <a:pathLst>
              <a:path w="457173" h="279391">
                <a:moveTo>
                  <a:pt x="139695" y="0"/>
                </a:moveTo>
                <a:lnTo>
                  <a:pt x="317477" y="0"/>
                </a:lnTo>
                <a:arcTo wR="139695" hR="139695" stAng="16200000" swAng="5400000"/>
                <a:lnTo>
                  <a:pt x="457173" y="139695"/>
                </a:lnTo>
                <a:arcTo wR="139695" hR="139695" stAng="0" swAng="5400000"/>
                <a:lnTo>
                  <a:pt x="139695" y="279391"/>
                </a:lnTo>
                <a:arcTo wR="139695" hR="139695" stAng="5400000" swAng="5400000"/>
                <a:lnTo>
                  <a:pt x="0" y="139695"/>
                </a:lnTo>
                <a:arcTo wR="139695" hR="139695" stAng="10800000" swAng="5400000"/>
                <a:close/>
              </a:path>
            </a:pathLst>
          </a:custGeom>
          <a:solidFill>
            <a:srgbClr val="E8843F"/>
          </a:solidFill>
          <a:ln/>
        </p:spPr>
        <p:txBody>
          <a:bodyPr wrap="square" lIns="0" tIns="0" rIns="0" bIns="0" rtlCol="0" anchor="t">
            <a:normAutofit/>
          </a:bodyPr>
          <a:lstStyle/>
          <a:p>
            <a:pPr marL="0" indent="0" algn="ctr">
              <a:lnSpc>
                <a:spcPts val="2196"/>
              </a:lnSpc>
              <a:buNone/>
            </a:pPr>
            <a:r>
              <a:rPr lang="en-US" sz="1200" b="1" dirty="0">
                <a:solidFill>
                  <a:srgbClr val="16212C"/>
                </a:solidFill>
                <a:latin typeface="IBM Plex Sans" pitchFamily="34" charset="0"/>
                <a:ea typeface="IBM Plex Sans" pitchFamily="34" charset="-122"/>
                <a:cs typeface="IBM Plex Sans" pitchFamily="34" charset="-120"/>
              </a:rPr>
              <a:t>02</a:t>
            </a:r>
            <a:endParaRPr lang="en-US" sz="1200" dirty="0"/>
          </a:p>
        </p:txBody>
      </p:sp>
      <p:sp>
        <p:nvSpPr>
          <p:cNvPr id="6" name="Text 4"/>
          <p:cNvSpPr/>
          <p:nvPr/>
        </p:nvSpPr>
        <p:spPr>
          <a:xfrm>
            <a:off x="1396955" y="2287116"/>
            <a:ext cx="3322602" cy="256535"/>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A2633"/>
                </a:solidFill>
                <a:latin typeface="IBM Plex Sans" pitchFamily="34" charset="0"/>
                <a:ea typeface="IBM Plex Sans" pitchFamily="34" charset="-122"/>
                <a:cs typeface="IBM Plex Sans" pitchFamily="34" charset="-120"/>
              </a:rPr>
              <a:t>Routing</a:t>
            </a:r>
            <a:r>
              <a:rPr lang="en-US" sz="1300" dirty="0">
                <a:solidFill>
                  <a:srgbClr val="1A2633"/>
                </a:solidFill>
                <a:latin typeface="IBM Plex Sans" pitchFamily="34" charset="0"/>
                <a:ea typeface="IBM Plex Sans" pitchFamily="34" charset="-122"/>
                <a:cs typeface="IBM Plex Sans" pitchFamily="34" charset="-120"/>
              </a:rPr>
              <a:t> — classify the type</a:t>
            </a:r>
            <a:endParaRPr lang="en-US" sz="1300" dirty="0"/>
          </a:p>
        </p:txBody>
      </p:sp>
      <p:sp>
        <p:nvSpPr>
          <p:cNvPr id="7" name="Text 5"/>
          <p:cNvSpPr/>
          <p:nvPr/>
        </p:nvSpPr>
        <p:spPr>
          <a:xfrm>
            <a:off x="812782" y="2669381"/>
            <a:ext cx="457173" cy="279391"/>
          </a:xfrm>
          <a:custGeom>
            <a:avLst/>
            <a:gdLst/>
            <a:ahLst/>
            <a:cxnLst/>
            <a:rect l="l" t="t" r="r" b="b"/>
            <a:pathLst>
              <a:path w="457173" h="279391">
                <a:moveTo>
                  <a:pt x="139695" y="0"/>
                </a:moveTo>
                <a:lnTo>
                  <a:pt x="317477" y="0"/>
                </a:lnTo>
                <a:arcTo wR="139695" hR="139695" stAng="16200000" swAng="5400000"/>
                <a:lnTo>
                  <a:pt x="457173" y="139695"/>
                </a:lnTo>
                <a:arcTo wR="139695" hR="139695" stAng="0" swAng="5400000"/>
                <a:lnTo>
                  <a:pt x="139695" y="279391"/>
                </a:lnTo>
                <a:arcTo wR="139695" hR="139695" stAng="5400000" swAng="5400000"/>
                <a:lnTo>
                  <a:pt x="0" y="139695"/>
                </a:lnTo>
                <a:arcTo wR="139695" hR="139695" stAng="10800000" swAng="5400000"/>
                <a:close/>
              </a:path>
            </a:pathLst>
          </a:custGeom>
          <a:solidFill>
            <a:srgbClr val="E8843F"/>
          </a:solidFill>
          <a:ln/>
        </p:spPr>
        <p:txBody>
          <a:bodyPr wrap="square" lIns="0" tIns="0" rIns="0" bIns="0" rtlCol="0" anchor="t">
            <a:normAutofit/>
          </a:bodyPr>
          <a:lstStyle/>
          <a:p>
            <a:pPr marL="0" indent="0" algn="ctr">
              <a:lnSpc>
                <a:spcPts val="2196"/>
              </a:lnSpc>
              <a:buNone/>
            </a:pPr>
            <a:r>
              <a:rPr lang="en-US" sz="1200" b="1" dirty="0">
                <a:solidFill>
                  <a:srgbClr val="16212C"/>
                </a:solidFill>
                <a:latin typeface="IBM Plex Sans" pitchFamily="34" charset="0"/>
                <a:ea typeface="IBM Plex Sans" pitchFamily="34" charset="-122"/>
                <a:cs typeface="IBM Plex Sans" pitchFamily="34" charset="-120"/>
              </a:rPr>
              <a:t>06</a:t>
            </a:r>
            <a:endParaRPr lang="en-US" sz="1200" dirty="0"/>
          </a:p>
        </p:txBody>
      </p:sp>
      <p:sp>
        <p:nvSpPr>
          <p:cNvPr id="8" name="Text 6"/>
          <p:cNvSpPr/>
          <p:nvPr/>
        </p:nvSpPr>
        <p:spPr>
          <a:xfrm>
            <a:off x="1396955" y="2693516"/>
            <a:ext cx="3322602" cy="256535"/>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A2633"/>
                </a:solidFill>
                <a:latin typeface="IBM Plex Sans" pitchFamily="34" charset="0"/>
                <a:ea typeface="IBM Plex Sans" pitchFamily="34" charset="-122"/>
                <a:cs typeface="IBM Plex Sans" pitchFamily="34" charset="-120"/>
              </a:rPr>
              <a:t>Human</a:t>
            </a:r>
            <a:r>
              <a:rPr lang="en-US" sz="1300" dirty="0">
                <a:solidFill>
                  <a:srgbClr val="1A2633"/>
                </a:solidFill>
                <a:latin typeface="IBM Plex Sans" pitchFamily="34" charset="0"/>
                <a:ea typeface="IBM Plex Sans" pitchFamily="34" charset="-122"/>
                <a:cs typeface="IBM Plex Sans" pitchFamily="34" charset="-120"/>
              </a:rPr>
              <a:t> — confirm or override it</a:t>
            </a:r>
            <a:endParaRPr lang="en-US" sz="1300" dirty="0"/>
          </a:p>
        </p:txBody>
      </p:sp>
      <p:sp>
        <p:nvSpPr>
          <p:cNvPr id="9" name="Text 7"/>
          <p:cNvSpPr/>
          <p:nvPr/>
        </p:nvSpPr>
        <p:spPr>
          <a:xfrm>
            <a:off x="812782" y="3075781"/>
            <a:ext cx="457173" cy="279391"/>
          </a:xfrm>
          <a:custGeom>
            <a:avLst/>
            <a:gdLst/>
            <a:ahLst/>
            <a:cxnLst/>
            <a:rect l="l" t="t" r="r" b="b"/>
            <a:pathLst>
              <a:path w="457173" h="279391">
                <a:moveTo>
                  <a:pt x="139695" y="0"/>
                </a:moveTo>
                <a:lnTo>
                  <a:pt x="317477" y="0"/>
                </a:lnTo>
                <a:arcTo wR="139695" hR="139695" stAng="16200000" swAng="5400000"/>
                <a:lnTo>
                  <a:pt x="457173" y="139695"/>
                </a:lnTo>
                <a:arcTo wR="139695" hR="139695" stAng="0" swAng="5400000"/>
                <a:lnTo>
                  <a:pt x="139695" y="279391"/>
                </a:lnTo>
                <a:arcTo wR="139695" hR="139695" stAng="5400000" swAng="5400000"/>
                <a:lnTo>
                  <a:pt x="0" y="139695"/>
                </a:lnTo>
                <a:arcTo wR="139695" hR="139695" stAng="10800000" swAng="5400000"/>
                <a:close/>
              </a:path>
            </a:pathLst>
          </a:custGeom>
          <a:solidFill>
            <a:srgbClr val="E8843F"/>
          </a:solidFill>
          <a:ln/>
        </p:spPr>
        <p:txBody>
          <a:bodyPr wrap="square" lIns="0" tIns="0" rIns="0" bIns="0" rtlCol="0" anchor="t">
            <a:normAutofit/>
          </a:bodyPr>
          <a:lstStyle/>
          <a:p>
            <a:pPr marL="0" indent="0" algn="ctr">
              <a:lnSpc>
                <a:spcPts val="2196"/>
              </a:lnSpc>
              <a:buNone/>
            </a:pPr>
            <a:r>
              <a:rPr lang="en-US" sz="1200" b="1" dirty="0">
                <a:solidFill>
                  <a:srgbClr val="16212C"/>
                </a:solidFill>
                <a:latin typeface="IBM Plex Sans" pitchFamily="34" charset="0"/>
                <a:ea typeface="IBM Plex Sans" pitchFamily="34" charset="-122"/>
                <a:cs typeface="IBM Plex Sans" pitchFamily="34" charset="-120"/>
              </a:rPr>
              <a:t>04</a:t>
            </a:r>
            <a:endParaRPr lang="en-US" sz="1200" dirty="0"/>
          </a:p>
        </p:txBody>
      </p:sp>
      <p:sp>
        <p:nvSpPr>
          <p:cNvPr id="10" name="Text 8"/>
          <p:cNvSpPr/>
          <p:nvPr/>
        </p:nvSpPr>
        <p:spPr>
          <a:xfrm>
            <a:off x="1396955" y="3099904"/>
            <a:ext cx="3322602" cy="256535"/>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A2633"/>
                </a:solidFill>
                <a:latin typeface="IBM Plex Sans" pitchFamily="34" charset="0"/>
                <a:ea typeface="IBM Plex Sans" pitchFamily="34" charset="-122"/>
                <a:cs typeface="IBM Plex Sans" pitchFamily="34" charset="-120"/>
              </a:rPr>
              <a:t>Orchestrator</a:t>
            </a:r>
            <a:r>
              <a:rPr lang="en-US" sz="1300" dirty="0">
                <a:solidFill>
                  <a:srgbClr val="1A2633"/>
                </a:solidFill>
                <a:latin typeface="IBM Plex Sans" pitchFamily="34" charset="0"/>
                <a:ea typeface="IBM Plex Sans" pitchFamily="34" charset="-122"/>
                <a:cs typeface="IBM Plex Sans" pitchFamily="34" charset="-120"/>
              </a:rPr>
              <a:t> — plan, parallel research</a:t>
            </a:r>
            <a:endParaRPr lang="en-US" sz="1300" dirty="0"/>
          </a:p>
        </p:txBody>
      </p:sp>
      <p:sp>
        <p:nvSpPr>
          <p:cNvPr id="11" name="Text 9"/>
          <p:cNvSpPr/>
          <p:nvPr/>
        </p:nvSpPr>
        <p:spPr>
          <a:xfrm>
            <a:off x="812782" y="3482169"/>
            <a:ext cx="457173" cy="279391"/>
          </a:xfrm>
          <a:custGeom>
            <a:avLst/>
            <a:gdLst/>
            <a:ahLst/>
            <a:cxnLst/>
            <a:rect l="l" t="t" r="r" b="b"/>
            <a:pathLst>
              <a:path w="457173" h="279391">
                <a:moveTo>
                  <a:pt x="139695" y="0"/>
                </a:moveTo>
                <a:lnTo>
                  <a:pt x="317477" y="0"/>
                </a:lnTo>
                <a:arcTo wR="139695" hR="139695" stAng="16200000" swAng="5400000"/>
                <a:lnTo>
                  <a:pt x="457173" y="139695"/>
                </a:lnTo>
                <a:arcTo wR="139695" hR="139695" stAng="0" swAng="5400000"/>
                <a:lnTo>
                  <a:pt x="139695" y="279391"/>
                </a:lnTo>
                <a:arcTo wR="139695" hR="139695" stAng="5400000" swAng="5400000"/>
                <a:lnTo>
                  <a:pt x="0" y="139695"/>
                </a:lnTo>
                <a:arcTo wR="139695" hR="139695" stAng="10800000" swAng="5400000"/>
                <a:close/>
              </a:path>
            </a:pathLst>
          </a:custGeom>
          <a:solidFill>
            <a:srgbClr val="E8843F"/>
          </a:solidFill>
          <a:ln/>
        </p:spPr>
        <p:txBody>
          <a:bodyPr wrap="square" lIns="0" tIns="0" rIns="0" bIns="0" rtlCol="0" anchor="t">
            <a:normAutofit/>
          </a:bodyPr>
          <a:lstStyle/>
          <a:p>
            <a:pPr marL="0" indent="0" algn="ctr">
              <a:lnSpc>
                <a:spcPts val="2196"/>
              </a:lnSpc>
              <a:buNone/>
            </a:pPr>
            <a:r>
              <a:rPr lang="en-US" sz="1200" b="1" dirty="0">
                <a:solidFill>
                  <a:srgbClr val="16212C"/>
                </a:solidFill>
                <a:latin typeface="IBM Plex Sans" pitchFamily="34" charset="0"/>
                <a:ea typeface="IBM Plex Sans" pitchFamily="34" charset="-122"/>
                <a:cs typeface="IBM Plex Sans" pitchFamily="34" charset="-120"/>
              </a:rPr>
              <a:t>01</a:t>
            </a:r>
            <a:endParaRPr lang="en-US" sz="1200" dirty="0"/>
          </a:p>
        </p:txBody>
      </p:sp>
      <p:sp>
        <p:nvSpPr>
          <p:cNvPr id="12" name="Text 10"/>
          <p:cNvSpPr/>
          <p:nvPr/>
        </p:nvSpPr>
        <p:spPr>
          <a:xfrm>
            <a:off x="1396955" y="3506291"/>
            <a:ext cx="3322602" cy="256535"/>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A2633"/>
                </a:solidFill>
                <a:latin typeface="IBM Plex Sans" pitchFamily="34" charset="0"/>
                <a:ea typeface="IBM Plex Sans" pitchFamily="34" charset="-122"/>
                <a:cs typeface="IBM Plex Sans" pitchFamily="34" charset="-120"/>
              </a:rPr>
              <a:t>Chaining</a:t>
            </a:r>
            <a:r>
              <a:rPr lang="en-US" sz="1300" dirty="0">
                <a:solidFill>
                  <a:srgbClr val="1A2633"/>
                </a:solidFill>
                <a:latin typeface="IBM Plex Sans" pitchFamily="34" charset="0"/>
                <a:ea typeface="IBM Plex Sans" pitchFamily="34" charset="-122"/>
                <a:cs typeface="IBM Plex Sans" pitchFamily="34" charset="-120"/>
              </a:rPr>
              <a:t> — write from research</a:t>
            </a:r>
            <a:endParaRPr lang="en-US" sz="1300" dirty="0"/>
          </a:p>
        </p:txBody>
      </p:sp>
      <p:sp>
        <p:nvSpPr>
          <p:cNvPr id="13" name="Text 11"/>
          <p:cNvSpPr/>
          <p:nvPr/>
        </p:nvSpPr>
        <p:spPr>
          <a:xfrm>
            <a:off x="812782" y="3888556"/>
            <a:ext cx="457173" cy="279391"/>
          </a:xfrm>
          <a:custGeom>
            <a:avLst/>
            <a:gdLst/>
            <a:ahLst/>
            <a:cxnLst/>
            <a:rect l="l" t="t" r="r" b="b"/>
            <a:pathLst>
              <a:path w="457173" h="279391">
                <a:moveTo>
                  <a:pt x="139695" y="0"/>
                </a:moveTo>
                <a:lnTo>
                  <a:pt x="317477" y="0"/>
                </a:lnTo>
                <a:arcTo wR="139695" hR="139695" stAng="16200000" swAng="5400000"/>
                <a:lnTo>
                  <a:pt x="457173" y="139695"/>
                </a:lnTo>
                <a:arcTo wR="139695" hR="139695" stAng="0" swAng="5400000"/>
                <a:lnTo>
                  <a:pt x="139695" y="279391"/>
                </a:lnTo>
                <a:arcTo wR="139695" hR="139695" stAng="5400000" swAng="5400000"/>
                <a:lnTo>
                  <a:pt x="0" y="139695"/>
                </a:lnTo>
                <a:arcTo wR="139695" hR="139695" stAng="10800000" swAng="5400000"/>
                <a:close/>
              </a:path>
            </a:pathLst>
          </a:custGeom>
          <a:solidFill>
            <a:srgbClr val="E8843F"/>
          </a:solidFill>
          <a:ln/>
        </p:spPr>
        <p:txBody>
          <a:bodyPr wrap="square" lIns="0" tIns="0" rIns="0" bIns="0" rtlCol="0" anchor="t">
            <a:normAutofit/>
          </a:bodyPr>
          <a:lstStyle/>
          <a:p>
            <a:pPr marL="0" indent="0" algn="ctr">
              <a:lnSpc>
                <a:spcPts val="2196"/>
              </a:lnSpc>
              <a:buNone/>
            </a:pPr>
            <a:r>
              <a:rPr lang="en-US" sz="1200" b="1" dirty="0">
                <a:solidFill>
                  <a:srgbClr val="16212C"/>
                </a:solidFill>
                <a:latin typeface="IBM Plex Sans" pitchFamily="34" charset="0"/>
                <a:ea typeface="IBM Plex Sans" pitchFamily="34" charset="-122"/>
                <a:cs typeface="IBM Plex Sans" pitchFamily="34" charset="-120"/>
              </a:rPr>
              <a:t>05</a:t>
            </a:r>
            <a:endParaRPr lang="en-US" sz="1200" dirty="0"/>
          </a:p>
        </p:txBody>
      </p:sp>
      <p:sp>
        <p:nvSpPr>
          <p:cNvPr id="14" name="Text 12"/>
          <p:cNvSpPr/>
          <p:nvPr/>
        </p:nvSpPr>
        <p:spPr>
          <a:xfrm>
            <a:off x="1396955" y="3912691"/>
            <a:ext cx="3322602" cy="256535"/>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A2633"/>
                </a:solidFill>
                <a:latin typeface="IBM Plex Sans" pitchFamily="34" charset="0"/>
                <a:ea typeface="IBM Plex Sans" pitchFamily="34" charset="-122"/>
                <a:cs typeface="IBM Plex Sans" pitchFamily="34" charset="-120"/>
              </a:rPr>
              <a:t>Evaluator</a:t>
            </a:r>
            <a:r>
              <a:rPr lang="en-US" sz="1300" dirty="0">
                <a:solidFill>
                  <a:srgbClr val="1A2633"/>
                </a:solidFill>
                <a:latin typeface="IBM Plex Sans" pitchFamily="34" charset="0"/>
                <a:ea typeface="IBM Plex Sans" pitchFamily="34" charset="-122"/>
                <a:cs typeface="IBM Plex Sans" pitchFamily="34" charset="-120"/>
              </a:rPr>
              <a:t> — score, refine if &lt; 7.0</a:t>
            </a:r>
            <a:endParaRPr lang="en-US" sz="1300" dirty="0"/>
          </a:p>
        </p:txBody>
      </p:sp>
      <p:sp>
        <p:nvSpPr>
          <p:cNvPr id="15" name="Text 13"/>
          <p:cNvSpPr/>
          <p:nvPr/>
        </p:nvSpPr>
        <p:spPr>
          <a:xfrm>
            <a:off x="812782" y="4294944"/>
            <a:ext cx="457173" cy="279391"/>
          </a:xfrm>
          <a:custGeom>
            <a:avLst/>
            <a:gdLst/>
            <a:ahLst/>
            <a:cxnLst/>
            <a:rect l="l" t="t" r="r" b="b"/>
            <a:pathLst>
              <a:path w="457173" h="279391">
                <a:moveTo>
                  <a:pt x="139695" y="0"/>
                </a:moveTo>
                <a:lnTo>
                  <a:pt x="317477" y="0"/>
                </a:lnTo>
                <a:arcTo wR="139695" hR="139695" stAng="16200000" swAng="5400000"/>
                <a:lnTo>
                  <a:pt x="457173" y="139695"/>
                </a:lnTo>
                <a:arcTo wR="139695" hR="139695" stAng="0" swAng="5400000"/>
                <a:lnTo>
                  <a:pt x="139695" y="279391"/>
                </a:lnTo>
                <a:arcTo wR="139695" hR="139695" stAng="5400000" swAng="5400000"/>
                <a:lnTo>
                  <a:pt x="0" y="139695"/>
                </a:lnTo>
                <a:arcTo wR="139695" hR="139695" stAng="10800000" swAng="5400000"/>
                <a:close/>
              </a:path>
            </a:pathLst>
          </a:custGeom>
          <a:solidFill>
            <a:srgbClr val="E8843F"/>
          </a:solidFill>
          <a:ln/>
        </p:spPr>
        <p:txBody>
          <a:bodyPr wrap="square" lIns="0" tIns="0" rIns="0" bIns="0" rtlCol="0" anchor="t">
            <a:normAutofit/>
          </a:bodyPr>
          <a:lstStyle/>
          <a:p>
            <a:pPr marL="0" indent="0" algn="ctr">
              <a:lnSpc>
                <a:spcPts val="2196"/>
              </a:lnSpc>
              <a:buNone/>
            </a:pPr>
            <a:r>
              <a:rPr lang="en-US" sz="1200" b="1" dirty="0">
                <a:solidFill>
                  <a:srgbClr val="16212C"/>
                </a:solidFill>
                <a:latin typeface="IBM Plex Sans" pitchFamily="34" charset="0"/>
                <a:ea typeface="IBM Plex Sans" pitchFamily="34" charset="-122"/>
                <a:cs typeface="IBM Plex Sans" pitchFamily="34" charset="-120"/>
              </a:rPr>
              <a:t>03</a:t>
            </a:r>
            <a:endParaRPr lang="en-US" sz="1200" dirty="0"/>
          </a:p>
        </p:txBody>
      </p:sp>
      <p:sp>
        <p:nvSpPr>
          <p:cNvPr id="16" name="Text 14"/>
          <p:cNvSpPr/>
          <p:nvPr/>
        </p:nvSpPr>
        <p:spPr>
          <a:xfrm>
            <a:off x="1396955" y="4319079"/>
            <a:ext cx="3322602" cy="256535"/>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A2633"/>
                </a:solidFill>
                <a:latin typeface="IBM Plex Sans" pitchFamily="34" charset="0"/>
                <a:ea typeface="IBM Plex Sans" pitchFamily="34" charset="-122"/>
                <a:cs typeface="IBM Plex Sans" pitchFamily="34" charset="-120"/>
              </a:rPr>
              <a:t>Parallel</a:t>
            </a:r>
            <a:r>
              <a:rPr lang="en-US" sz="1300" dirty="0">
                <a:solidFill>
                  <a:srgbClr val="1A2633"/>
                </a:solidFill>
                <a:latin typeface="IBM Plex Sans" pitchFamily="34" charset="0"/>
                <a:ea typeface="IBM Plex Sans" pitchFamily="34" charset="-122"/>
                <a:cs typeface="IBM Plex Sans" pitchFamily="34" charset="-120"/>
              </a:rPr>
              <a:t> — social fan-out, SEO vote</a:t>
            </a:r>
            <a:endParaRPr lang="en-US" sz="1300" dirty="0"/>
          </a:p>
        </p:txBody>
      </p:sp>
      <p:sp>
        <p:nvSpPr>
          <p:cNvPr id="17" name="Text 15"/>
          <p:cNvSpPr/>
          <p:nvPr/>
        </p:nvSpPr>
        <p:spPr>
          <a:xfrm>
            <a:off x="812782" y="4701344"/>
            <a:ext cx="3924300" cy="487669"/>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D4A57"/>
                </a:solidFill>
                <a:latin typeface="IBM Plex Sans" pitchFamily="34" charset="0"/>
                <a:ea typeface="IBM Plex Sans" pitchFamily="34" charset="-122"/>
                <a:cs typeface="IBM Plex Sans" pitchFamily="34" charset="-120"/>
              </a:rPr>
              <a:t>Sync calls run via asyncio.to_thread, so the generator can keep yielding events.</a:t>
            </a:r>
            <a:endParaRPr lang="en-US" sz="1300" dirty="0"/>
          </a:p>
        </p:txBody>
      </p:sp>
      <p:sp>
        <p:nvSpPr>
          <p:cNvPr id="18" name="Shape 16"/>
          <p:cNvSpPr/>
          <p:nvPr/>
        </p:nvSpPr>
        <p:spPr>
          <a:xfrm>
            <a:off x="4927564" y="1673721"/>
            <a:ext cx="6451564" cy="3679753"/>
          </a:xfrm>
          <a:prstGeom prst="roundRect">
            <a:avLst>
              <a:gd name="adj" fmla="val 2761"/>
            </a:avLst>
          </a:prstGeom>
          <a:solidFill>
            <a:srgbClr val="16212C"/>
          </a:solidFill>
          <a:ln/>
        </p:spPr>
        <p:txBody>
          <a:bodyPr/>
          <a:lstStyle/>
          <a:p>
            <a:endParaRPr lang="en-CN"/>
          </a:p>
        </p:txBody>
      </p:sp>
      <p:sp>
        <p:nvSpPr>
          <p:cNvPr id="19" name="Text 17"/>
          <p:cNvSpPr/>
          <p:nvPr/>
        </p:nvSpPr>
        <p:spPr>
          <a:xfrm>
            <a:off x="5105364" y="1826121"/>
            <a:ext cx="6278842" cy="238693"/>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9AA9B8"/>
                </a:solidFill>
                <a:latin typeface="JetBrains Mono" pitchFamily="49" charset="0"/>
                <a:ea typeface="JetBrains Mono" pitchFamily="49" charset="-122"/>
                <a:cs typeface="JetBrains Mono" pitchFamily="49" charset="-120"/>
              </a:rPr>
              <a:t>content_writer/agent.py · run_stream</a:t>
            </a:r>
            <a:endParaRPr lang="en-US" sz="1200" dirty="0"/>
          </a:p>
        </p:txBody>
      </p:sp>
      <p:sp>
        <p:nvSpPr>
          <p:cNvPr id="20" name="Text 18"/>
          <p:cNvSpPr/>
          <p:nvPr/>
        </p:nvSpPr>
        <p:spPr>
          <a:xfrm>
            <a:off x="5105364" y="2115604"/>
            <a:ext cx="6278842" cy="231098"/>
          </a:xfrm>
          <a:prstGeom prst="rect">
            <a:avLst/>
          </a:prstGeom>
          <a:noFill/>
          <a:ln/>
        </p:spPr>
        <p:txBody>
          <a:bodyPr wrap="none" lIns="0" tIns="0" rIns="0" bIns="0" rtlCol="0" anchor="t">
            <a:normAutofit/>
          </a:bodyPr>
          <a:lstStyle/>
          <a:p>
            <a:pPr marL="0" indent="0" algn="l">
              <a:lnSpc>
                <a:spcPts val="1620"/>
              </a:lnSpc>
              <a:buNone/>
            </a:pPr>
            <a:r>
              <a:rPr lang="en-US" sz="1200" dirty="0">
                <a:solidFill>
                  <a:srgbClr val="7C8FA3"/>
                </a:solidFill>
                <a:latin typeface="JetBrains Mono" pitchFamily="49" charset="0"/>
                <a:ea typeface="JetBrains Mono" pitchFamily="49" charset="-122"/>
                <a:cs typeface="JetBrains Mono" pitchFamily="49" charset="-120"/>
              </a:rPr>
              <a:t>463</a:t>
            </a:r>
            <a:r>
              <a:rPr lang="en-US" sz="1200" dirty="0">
                <a:solidFill>
                  <a:srgbClr val="D6DDE5"/>
                </a:solidFill>
                <a:latin typeface="JetBrains Mono" pitchFamily="49" charset="0"/>
                <a:ea typeface="JetBrains Mono" pitchFamily="49" charset="-122"/>
                <a:cs typeface="JetBrains Mono" pitchFamily="49" charset="-120"/>
              </a:rPr>
              <a:t> yield ClassifyStartEvent()</a:t>
            </a:r>
            <a:endParaRPr lang="en-US" sz="1200" dirty="0"/>
          </a:p>
        </p:txBody>
      </p:sp>
      <p:sp>
        <p:nvSpPr>
          <p:cNvPr id="21" name="Text 19"/>
          <p:cNvSpPr/>
          <p:nvPr/>
        </p:nvSpPr>
        <p:spPr>
          <a:xfrm>
            <a:off x="4927564" y="2321309"/>
            <a:ext cx="6451564" cy="205698"/>
          </a:xfrm>
          <a:prstGeom prst="rect">
            <a:avLst/>
          </a:prstGeom>
          <a:solidFill>
            <a:srgbClr val="3A2B20"/>
          </a:solidFill>
          <a:ln/>
        </p:spPr>
        <p:txBody>
          <a:bodyPr wrap="none" lIns="177223" tIns="0" rIns="0" bIns="0" rtlCol="0" anchor="t">
            <a:normAutofit/>
          </a:bodyPr>
          <a:lstStyle/>
          <a:p>
            <a:pPr marL="0" indent="0" algn="l">
              <a:lnSpc>
                <a:spcPts val="1620"/>
              </a:lnSpc>
              <a:buNone/>
            </a:pPr>
            <a:r>
              <a:rPr lang="en-US" sz="1200" dirty="0">
                <a:solidFill>
                  <a:srgbClr val="7C8FA3"/>
                </a:solidFill>
                <a:latin typeface="JetBrains Mono" pitchFamily="49" charset="0"/>
                <a:ea typeface="JetBrains Mono" pitchFamily="49" charset="-122"/>
                <a:cs typeface="JetBrains Mono" pitchFamily="49" charset="-120"/>
              </a:rPr>
              <a:t>464</a:t>
            </a:r>
            <a:r>
              <a:rPr lang="en-US" sz="1200" dirty="0">
                <a:solidFill>
                  <a:srgbClr val="D6DDE5"/>
                </a:solidFill>
                <a:latin typeface="JetBrains Mono" pitchFamily="49" charset="0"/>
                <a:ea typeface="JetBrains Mono" pitchFamily="49" charset="-122"/>
                <a:cs typeface="JetBrains Mono" pitchFamily="49" charset="-120"/>
              </a:rPr>
              <a:t> classification = await to_thread(self._classify, …) </a:t>
            </a:r>
            <a:r>
              <a:rPr lang="en-US" sz="1200" b="1" dirty="0">
                <a:solidFill>
                  <a:srgbClr val="F2A46B"/>
                </a:solidFill>
                <a:latin typeface="JetBrains Mono" pitchFamily="49" charset="0"/>
                <a:ea typeface="JetBrains Mono" pitchFamily="49" charset="-122"/>
                <a:cs typeface="JetBrains Mono" pitchFamily="49" charset="-120"/>
              </a:rPr>
              <a:t>← 02</a:t>
            </a:r>
            <a:endParaRPr lang="en-US" sz="1200" dirty="0"/>
          </a:p>
        </p:txBody>
      </p:sp>
      <p:sp>
        <p:nvSpPr>
          <p:cNvPr id="22" name="Shape 20"/>
          <p:cNvSpPr/>
          <p:nvPr/>
        </p:nvSpPr>
        <p:spPr>
          <a:xfrm>
            <a:off x="4946614" y="2321309"/>
            <a:ext cx="0" cy="205698"/>
          </a:xfrm>
          <a:prstGeom prst="line">
            <a:avLst/>
          </a:prstGeom>
          <a:noFill/>
          <a:ln w="38100">
            <a:solidFill>
              <a:srgbClr val="E8843F"/>
            </a:solidFill>
            <a:prstDash val="solid"/>
          </a:ln>
        </p:spPr>
        <p:txBody>
          <a:bodyPr/>
          <a:lstStyle/>
          <a:p>
            <a:endParaRPr lang="en-CN"/>
          </a:p>
        </p:txBody>
      </p:sp>
      <p:sp>
        <p:nvSpPr>
          <p:cNvPr id="23" name="Text 21"/>
          <p:cNvSpPr/>
          <p:nvPr/>
        </p:nvSpPr>
        <p:spPr>
          <a:xfrm>
            <a:off x="4927564" y="2527002"/>
            <a:ext cx="6451564" cy="205698"/>
          </a:xfrm>
          <a:prstGeom prst="rect">
            <a:avLst/>
          </a:prstGeom>
          <a:solidFill>
            <a:srgbClr val="3A2B20"/>
          </a:solidFill>
          <a:ln/>
        </p:spPr>
        <p:txBody>
          <a:bodyPr wrap="none" lIns="177223" tIns="0" rIns="0" bIns="0" rtlCol="0" anchor="t">
            <a:normAutofit/>
          </a:bodyPr>
          <a:lstStyle/>
          <a:p>
            <a:pPr marL="0" indent="0" algn="l">
              <a:lnSpc>
                <a:spcPts val="1620"/>
              </a:lnSpc>
              <a:buNone/>
            </a:pPr>
            <a:r>
              <a:rPr lang="en-US" sz="1200" dirty="0">
                <a:solidFill>
                  <a:srgbClr val="7C8FA3"/>
                </a:solidFill>
                <a:latin typeface="JetBrains Mono" pitchFamily="49" charset="0"/>
                <a:ea typeface="JetBrains Mono" pitchFamily="49" charset="-122"/>
                <a:cs typeface="JetBrains Mono" pitchFamily="49" charset="-120"/>
              </a:rPr>
              <a:t>469</a:t>
            </a:r>
            <a:r>
              <a:rPr lang="en-US" sz="1200" dirty="0">
                <a:solidFill>
                  <a:srgbClr val="D6DDE5"/>
                </a:solidFill>
                <a:latin typeface="JetBrains Mono" pitchFamily="49" charset="0"/>
                <a:ea typeface="JetBrains Mono" pitchFamily="49" charset="-122"/>
                <a:cs typeface="JetBrains Mono" pitchFamily="49" charset="-120"/>
              </a:rPr>
              <a:t> approved, feedback = await to_thread(_checkpoint, </a:t>
            </a:r>
            <a:r>
              <a:rPr lang="en-US" sz="1200" b="1" dirty="0">
                <a:solidFill>
                  <a:srgbClr val="F2A46B"/>
                </a:solidFill>
                <a:latin typeface="JetBrains Mono" pitchFamily="49" charset="0"/>
                <a:ea typeface="JetBrains Mono" pitchFamily="49" charset="-122"/>
                <a:cs typeface="JetBrains Mono" pitchFamily="49" charset="-120"/>
              </a:rPr>
              <a:t>← 06</a:t>
            </a:r>
            <a:endParaRPr lang="en-US" sz="1200" dirty="0"/>
          </a:p>
        </p:txBody>
      </p:sp>
      <p:sp>
        <p:nvSpPr>
          <p:cNvPr id="24" name="Shape 22"/>
          <p:cNvSpPr/>
          <p:nvPr/>
        </p:nvSpPr>
        <p:spPr>
          <a:xfrm>
            <a:off x="4946614" y="2527002"/>
            <a:ext cx="0" cy="205698"/>
          </a:xfrm>
          <a:prstGeom prst="line">
            <a:avLst/>
          </a:prstGeom>
          <a:noFill/>
          <a:ln w="38100">
            <a:solidFill>
              <a:srgbClr val="E8843F"/>
            </a:solidFill>
            <a:prstDash val="solid"/>
          </a:ln>
        </p:spPr>
        <p:txBody>
          <a:bodyPr/>
          <a:lstStyle/>
          <a:p>
            <a:endParaRPr lang="en-CN"/>
          </a:p>
        </p:txBody>
      </p:sp>
      <p:sp>
        <p:nvSpPr>
          <p:cNvPr id="25" name="Text 23"/>
          <p:cNvSpPr/>
          <p:nvPr/>
        </p:nvSpPr>
        <p:spPr>
          <a:xfrm>
            <a:off x="4927564" y="2732708"/>
            <a:ext cx="6451564" cy="205698"/>
          </a:xfrm>
          <a:prstGeom prst="rect">
            <a:avLst/>
          </a:prstGeom>
          <a:solidFill>
            <a:srgbClr val="3A2B20"/>
          </a:solidFill>
          <a:ln/>
        </p:spPr>
        <p:txBody>
          <a:bodyPr wrap="none" lIns="177223" tIns="0" rIns="0" bIns="0" rtlCol="0" anchor="t">
            <a:normAutofit/>
          </a:bodyPr>
          <a:lstStyle/>
          <a:p>
            <a:pPr marL="0" indent="0" algn="l">
              <a:lnSpc>
                <a:spcPts val="1620"/>
              </a:lnSpc>
              <a:buNone/>
            </a:pPr>
            <a:r>
              <a:rPr lang="en-US" sz="1200" dirty="0">
                <a:solidFill>
                  <a:srgbClr val="7C8FA3"/>
                </a:solidFill>
                <a:latin typeface="JetBrains Mono" pitchFamily="49" charset="0"/>
                <a:ea typeface="JetBrains Mono" pitchFamily="49" charset="-122"/>
                <a:cs typeface="JetBrains Mono" pitchFamily="49" charset="-120"/>
              </a:rPr>
              <a:t>471</a:t>
            </a:r>
            <a:r>
              <a:rPr lang="en-US" sz="1200" dirty="0">
                <a:solidFill>
                  <a:srgbClr val="D6DDE5"/>
                </a:solidFill>
                <a:latin typeface="JetBrains Mono" pitchFamily="49" charset="0"/>
                <a:ea typeface="JetBrains Mono" pitchFamily="49" charset="-122"/>
                <a:cs typeface="JetBrains Mono" pitchFamily="49" charset="-120"/>
              </a:rPr>
              <a:t>   "classification", …)</a:t>
            </a:r>
            <a:endParaRPr lang="en-US" sz="1200" dirty="0"/>
          </a:p>
        </p:txBody>
      </p:sp>
      <p:sp>
        <p:nvSpPr>
          <p:cNvPr id="26" name="Shape 24"/>
          <p:cNvSpPr/>
          <p:nvPr/>
        </p:nvSpPr>
        <p:spPr>
          <a:xfrm>
            <a:off x="4946614" y="2732708"/>
            <a:ext cx="0" cy="205698"/>
          </a:xfrm>
          <a:prstGeom prst="line">
            <a:avLst/>
          </a:prstGeom>
          <a:noFill/>
          <a:ln w="38100">
            <a:solidFill>
              <a:srgbClr val="E8843F"/>
            </a:solidFill>
            <a:prstDash val="solid"/>
          </a:ln>
        </p:spPr>
        <p:txBody>
          <a:bodyPr/>
          <a:lstStyle/>
          <a:p>
            <a:endParaRPr lang="en-CN"/>
          </a:p>
        </p:txBody>
      </p:sp>
      <p:sp>
        <p:nvSpPr>
          <p:cNvPr id="27" name="Text 25"/>
          <p:cNvSpPr/>
          <p:nvPr/>
        </p:nvSpPr>
        <p:spPr>
          <a:xfrm>
            <a:off x="4927564" y="2938400"/>
            <a:ext cx="6451564" cy="205698"/>
          </a:xfrm>
          <a:prstGeom prst="rect">
            <a:avLst/>
          </a:prstGeom>
          <a:solidFill>
            <a:srgbClr val="3A2B20"/>
          </a:solidFill>
          <a:ln/>
        </p:spPr>
        <p:txBody>
          <a:bodyPr wrap="none" lIns="177223" tIns="0" rIns="0" bIns="0" rtlCol="0" anchor="t">
            <a:normAutofit/>
          </a:bodyPr>
          <a:lstStyle/>
          <a:p>
            <a:pPr marL="0" indent="0" algn="l">
              <a:lnSpc>
                <a:spcPts val="1620"/>
              </a:lnSpc>
              <a:buNone/>
            </a:pPr>
            <a:r>
              <a:rPr lang="en-US" sz="1200" dirty="0">
                <a:solidFill>
                  <a:srgbClr val="7C8FA3"/>
                </a:solidFill>
                <a:latin typeface="JetBrains Mono" pitchFamily="49" charset="0"/>
                <a:ea typeface="JetBrains Mono" pitchFamily="49" charset="-122"/>
                <a:cs typeface="JetBrains Mono" pitchFamily="49" charset="-120"/>
              </a:rPr>
              <a:t>486</a:t>
            </a:r>
            <a:r>
              <a:rPr lang="en-US" sz="1200" dirty="0">
                <a:solidFill>
                  <a:srgbClr val="D6DDE5"/>
                </a:solidFill>
                <a:latin typeface="JetBrains Mono" pitchFamily="49" charset="0"/>
                <a:ea typeface="JetBrains Mono" pitchFamily="49" charset="-122"/>
                <a:cs typeface="JetBrains Mono" pitchFamily="49" charset="-120"/>
              </a:rPr>
              <a:t> subtopics = await to_thread(self._plan, topic, …) </a:t>
            </a:r>
            <a:r>
              <a:rPr lang="en-US" sz="1200" b="1" dirty="0">
                <a:solidFill>
                  <a:srgbClr val="F2A46B"/>
                </a:solidFill>
                <a:latin typeface="JetBrains Mono" pitchFamily="49" charset="0"/>
                <a:ea typeface="JetBrains Mono" pitchFamily="49" charset="-122"/>
                <a:cs typeface="JetBrains Mono" pitchFamily="49" charset="-120"/>
              </a:rPr>
              <a:t>← 04</a:t>
            </a:r>
            <a:endParaRPr lang="en-US" sz="1200" dirty="0"/>
          </a:p>
        </p:txBody>
      </p:sp>
      <p:sp>
        <p:nvSpPr>
          <p:cNvPr id="28" name="Shape 26"/>
          <p:cNvSpPr/>
          <p:nvPr/>
        </p:nvSpPr>
        <p:spPr>
          <a:xfrm>
            <a:off x="4946614" y="2938400"/>
            <a:ext cx="0" cy="205698"/>
          </a:xfrm>
          <a:prstGeom prst="line">
            <a:avLst/>
          </a:prstGeom>
          <a:noFill/>
          <a:ln w="38100">
            <a:solidFill>
              <a:srgbClr val="E8843F"/>
            </a:solidFill>
            <a:prstDash val="solid"/>
          </a:ln>
        </p:spPr>
        <p:txBody>
          <a:bodyPr/>
          <a:lstStyle/>
          <a:p>
            <a:endParaRPr lang="en-CN"/>
          </a:p>
        </p:txBody>
      </p:sp>
      <p:sp>
        <p:nvSpPr>
          <p:cNvPr id="29" name="Text 27"/>
          <p:cNvSpPr/>
          <p:nvPr/>
        </p:nvSpPr>
        <p:spPr>
          <a:xfrm>
            <a:off x="4927564" y="3144106"/>
            <a:ext cx="6451564" cy="205698"/>
          </a:xfrm>
          <a:prstGeom prst="rect">
            <a:avLst/>
          </a:prstGeom>
          <a:solidFill>
            <a:srgbClr val="3A2B20"/>
          </a:solidFill>
          <a:ln/>
        </p:spPr>
        <p:txBody>
          <a:bodyPr wrap="none" lIns="177223" tIns="0" rIns="0" bIns="0" rtlCol="0" anchor="t">
            <a:normAutofit/>
          </a:bodyPr>
          <a:lstStyle/>
          <a:p>
            <a:pPr marL="0" indent="0" algn="l">
              <a:lnSpc>
                <a:spcPts val="1620"/>
              </a:lnSpc>
              <a:buNone/>
            </a:pPr>
            <a:r>
              <a:rPr lang="en-US" sz="1200" dirty="0">
                <a:solidFill>
                  <a:srgbClr val="7C8FA3"/>
                </a:solidFill>
                <a:latin typeface="JetBrains Mono" pitchFamily="49" charset="0"/>
                <a:ea typeface="JetBrains Mono" pitchFamily="49" charset="-122"/>
                <a:cs typeface="JetBrains Mono" pitchFamily="49" charset="-120"/>
              </a:rPr>
              <a:t>494</a:t>
            </a:r>
            <a:r>
              <a:rPr lang="en-US" sz="1200" dirty="0">
                <a:solidFill>
                  <a:srgbClr val="D6DDE5"/>
                </a:solidFill>
                <a:latin typeface="JetBrains Mono" pitchFamily="49" charset="0"/>
                <a:ea typeface="JetBrains Mono" pitchFamily="49" charset="-122"/>
                <a:cs typeface="JetBrains Mono" pitchFamily="49" charset="-120"/>
              </a:rPr>
              <a:t> def _research_parallel(): </a:t>
            </a:r>
            <a:r>
              <a:rPr lang="en-US" sz="1200" dirty="0">
                <a:solidFill>
                  <a:srgbClr val="8798AA"/>
                </a:solidFill>
                <a:latin typeface="JetBrains Mono" pitchFamily="49" charset="0"/>
                <a:ea typeface="JetBrains Mono" pitchFamily="49" charset="-122"/>
                <a:cs typeface="JetBrains Mono" pitchFamily="49" charset="-120"/>
              </a:rPr>
              <a:t># thread pool</a:t>
            </a:r>
            <a:endParaRPr lang="en-US" sz="1200" dirty="0"/>
          </a:p>
        </p:txBody>
      </p:sp>
      <p:sp>
        <p:nvSpPr>
          <p:cNvPr id="30" name="Shape 28"/>
          <p:cNvSpPr/>
          <p:nvPr/>
        </p:nvSpPr>
        <p:spPr>
          <a:xfrm>
            <a:off x="4946614" y="3144106"/>
            <a:ext cx="0" cy="205698"/>
          </a:xfrm>
          <a:prstGeom prst="line">
            <a:avLst/>
          </a:prstGeom>
          <a:noFill/>
          <a:ln w="38100">
            <a:solidFill>
              <a:srgbClr val="E8843F"/>
            </a:solidFill>
            <a:prstDash val="solid"/>
          </a:ln>
        </p:spPr>
        <p:txBody>
          <a:bodyPr/>
          <a:lstStyle/>
          <a:p>
            <a:endParaRPr lang="en-CN"/>
          </a:p>
        </p:txBody>
      </p:sp>
      <p:sp>
        <p:nvSpPr>
          <p:cNvPr id="31" name="Text 29"/>
          <p:cNvSpPr/>
          <p:nvPr/>
        </p:nvSpPr>
        <p:spPr>
          <a:xfrm>
            <a:off x="4927564" y="3349799"/>
            <a:ext cx="6451564" cy="205698"/>
          </a:xfrm>
          <a:prstGeom prst="rect">
            <a:avLst/>
          </a:prstGeom>
          <a:solidFill>
            <a:srgbClr val="3A2B20"/>
          </a:solidFill>
          <a:ln/>
        </p:spPr>
        <p:txBody>
          <a:bodyPr wrap="none" lIns="177223" tIns="0" rIns="0" bIns="0" rtlCol="0" anchor="t">
            <a:normAutofit/>
          </a:bodyPr>
          <a:lstStyle/>
          <a:p>
            <a:pPr marL="0" indent="0" algn="l">
              <a:lnSpc>
                <a:spcPts val="1620"/>
              </a:lnSpc>
              <a:buNone/>
            </a:pPr>
            <a:r>
              <a:rPr lang="en-US" sz="1200" dirty="0">
                <a:solidFill>
                  <a:srgbClr val="7C8FA3"/>
                </a:solidFill>
                <a:latin typeface="JetBrains Mono" pitchFamily="49" charset="0"/>
                <a:ea typeface="JetBrains Mono" pitchFamily="49" charset="-122"/>
                <a:cs typeface="JetBrains Mono" pitchFamily="49" charset="-120"/>
              </a:rPr>
              <a:t>508</a:t>
            </a:r>
            <a:r>
              <a:rPr lang="en-US" sz="1200" dirty="0">
                <a:solidFill>
                  <a:srgbClr val="D6DDE5"/>
                </a:solidFill>
                <a:latin typeface="JetBrains Mono" pitchFamily="49" charset="0"/>
                <a:ea typeface="JetBrains Mono" pitchFamily="49" charset="-122"/>
                <a:cs typeface="JetBrains Mono" pitchFamily="49" charset="-120"/>
              </a:rPr>
              <a:t> sections = await to_thread(_research_parallel)</a:t>
            </a:r>
            <a:endParaRPr lang="en-US" sz="1200" dirty="0"/>
          </a:p>
        </p:txBody>
      </p:sp>
      <p:sp>
        <p:nvSpPr>
          <p:cNvPr id="32" name="Shape 30"/>
          <p:cNvSpPr/>
          <p:nvPr/>
        </p:nvSpPr>
        <p:spPr>
          <a:xfrm>
            <a:off x="4946614" y="3349799"/>
            <a:ext cx="0" cy="205698"/>
          </a:xfrm>
          <a:prstGeom prst="line">
            <a:avLst/>
          </a:prstGeom>
          <a:noFill/>
          <a:ln w="38100">
            <a:solidFill>
              <a:srgbClr val="E8843F"/>
            </a:solidFill>
            <a:prstDash val="solid"/>
          </a:ln>
        </p:spPr>
        <p:txBody>
          <a:bodyPr/>
          <a:lstStyle/>
          <a:p>
            <a:endParaRPr lang="en-CN"/>
          </a:p>
        </p:txBody>
      </p:sp>
      <p:sp>
        <p:nvSpPr>
          <p:cNvPr id="33" name="Text 31"/>
          <p:cNvSpPr/>
          <p:nvPr/>
        </p:nvSpPr>
        <p:spPr>
          <a:xfrm>
            <a:off x="4927564" y="3555504"/>
            <a:ext cx="6451564" cy="205698"/>
          </a:xfrm>
          <a:prstGeom prst="rect">
            <a:avLst/>
          </a:prstGeom>
          <a:solidFill>
            <a:srgbClr val="3A2B20"/>
          </a:solidFill>
          <a:ln/>
        </p:spPr>
        <p:txBody>
          <a:bodyPr wrap="none" lIns="177223" tIns="0" rIns="0" bIns="0" rtlCol="0" anchor="t">
            <a:normAutofit/>
          </a:bodyPr>
          <a:lstStyle/>
          <a:p>
            <a:pPr marL="0" indent="0" algn="l">
              <a:lnSpc>
                <a:spcPts val="1620"/>
              </a:lnSpc>
              <a:buNone/>
            </a:pPr>
            <a:r>
              <a:rPr lang="en-US" sz="1200" dirty="0">
                <a:solidFill>
                  <a:srgbClr val="7C8FA3"/>
                </a:solidFill>
                <a:latin typeface="JetBrains Mono" pitchFamily="49" charset="0"/>
                <a:ea typeface="JetBrains Mono" pitchFamily="49" charset="-122"/>
                <a:cs typeface="JetBrains Mono" pitchFamily="49" charset="-120"/>
              </a:rPr>
              <a:t>523</a:t>
            </a:r>
            <a:r>
              <a:rPr lang="en-US" sz="1200" dirty="0">
                <a:solidFill>
                  <a:srgbClr val="D6DDE5"/>
                </a:solidFill>
                <a:latin typeface="JetBrains Mono" pitchFamily="49" charset="0"/>
                <a:ea typeface="JetBrains Mono" pitchFamily="49" charset="-122"/>
                <a:cs typeface="JetBrains Mono" pitchFamily="49" charset="-120"/>
              </a:rPr>
              <a:t> draft, srcs = await to_thread(self._write, …) </a:t>
            </a:r>
            <a:r>
              <a:rPr lang="en-US" sz="1200" b="1" dirty="0">
                <a:solidFill>
                  <a:srgbClr val="F2A46B"/>
                </a:solidFill>
                <a:latin typeface="JetBrains Mono" pitchFamily="49" charset="0"/>
                <a:ea typeface="JetBrains Mono" pitchFamily="49" charset="-122"/>
                <a:cs typeface="JetBrains Mono" pitchFamily="49" charset="-120"/>
              </a:rPr>
              <a:t>← 01</a:t>
            </a:r>
            <a:endParaRPr lang="en-US" sz="1200" dirty="0"/>
          </a:p>
        </p:txBody>
      </p:sp>
      <p:sp>
        <p:nvSpPr>
          <p:cNvPr id="34" name="Shape 32"/>
          <p:cNvSpPr/>
          <p:nvPr/>
        </p:nvSpPr>
        <p:spPr>
          <a:xfrm>
            <a:off x="4946614" y="3555504"/>
            <a:ext cx="0" cy="205698"/>
          </a:xfrm>
          <a:prstGeom prst="line">
            <a:avLst/>
          </a:prstGeom>
          <a:noFill/>
          <a:ln w="38100">
            <a:solidFill>
              <a:srgbClr val="E8843F"/>
            </a:solidFill>
            <a:prstDash val="solid"/>
          </a:ln>
        </p:spPr>
        <p:txBody>
          <a:bodyPr/>
          <a:lstStyle/>
          <a:p>
            <a:endParaRPr lang="en-CN"/>
          </a:p>
        </p:txBody>
      </p:sp>
      <p:sp>
        <p:nvSpPr>
          <p:cNvPr id="35" name="Text 33"/>
          <p:cNvSpPr/>
          <p:nvPr/>
        </p:nvSpPr>
        <p:spPr>
          <a:xfrm>
            <a:off x="4927564" y="3761197"/>
            <a:ext cx="6451564" cy="205698"/>
          </a:xfrm>
          <a:prstGeom prst="rect">
            <a:avLst/>
          </a:prstGeom>
          <a:solidFill>
            <a:srgbClr val="3A2B20"/>
          </a:solidFill>
          <a:ln/>
        </p:spPr>
        <p:txBody>
          <a:bodyPr wrap="none" lIns="177223" tIns="0" rIns="0" bIns="0" rtlCol="0" anchor="t">
            <a:normAutofit/>
          </a:bodyPr>
          <a:lstStyle/>
          <a:p>
            <a:pPr marL="0" indent="0" algn="l">
              <a:lnSpc>
                <a:spcPts val="1620"/>
              </a:lnSpc>
              <a:buNone/>
            </a:pPr>
            <a:r>
              <a:rPr lang="en-US" sz="1200" dirty="0">
                <a:solidFill>
                  <a:srgbClr val="7C8FA3"/>
                </a:solidFill>
                <a:latin typeface="JetBrains Mono" pitchFamily="49" charset="0"/>
                <a:ea typeface="JetBrains Mono" pitchFamily="49" charset="-122"/>
                <a:cs typeface="JetBrains Mono" pitchFamily="49" charset="-120"/>
              </a:rPr>
              <a:t>531</a:t>
            </a:r>
            <a:r>
              <a:rPr lang="en-US" sz="1200" dirty="0">
                <a:solidFill>
                  <a:srgbClr val="D6DDE5"/>
                </a:solidFill>
                <a:latin typeface="JetBrains Mono" pitchFamily="49" charset="0"/>
                <a:ea typeface="JetBrains Mono" pitchFamily="49" charset="-122"/>
                <a:cs typeface="JetBrains Mono" pitchFamily="49" charset="-120"/>
              </a:rPr>
              <a:t> evaluation = await to_thread(self._evaluate, …) </a:t>
            </a:r>
            <a:r>
              <a:rPr lang="en-US" sz="1200" b="1" dirty="0">
                <a:solidFill>
                  <a:srgbClr val="F2A46B"/>
                </a:solidFill>
                <a:latin typeface="JetBrains Mono" pitchFamily="49" charset="0"/>
                <a:ea typeface="JetBrains Mono" pitchFamily="49" charset="-122"/>
                <a:cs typeface="JetBrains Mono" pitchFamily="49" charset="-120"/>
              </a:rPr>
              <a:t>← 05</a:t>
            </a:r>
            <a:endParaRPr lang="en-US" sz="1200" dirty="0"/>
          </a:p>
        </p:txBody>
      </p:sp>
      <p:sp>
        <p:nvSpPr>
          <p:cNvPr id="36" name="Shape 34"/>
          <p:cNvSpPr/>
          <p:nvPr/>
        </p:nvSpPr>
        <p:spPr>
          <a:xfrm>
            <a:off x="4946614" y="3761197"/>
            <a:ext cx="0" cy="205698"/>
          </a:xfrm>
          <a:prstGeom prst="line">
            <a:avLst/>
          </a:prstGeom>
          <a:noFill/>
          <a:ln w="38100">
            <a:solidFill>
              <a:srgbClr val="E8843F"/>
            </a:solidFill>
            <a:prstDash val="solid"/>
          </a:ln>
        </p:spPr>
        <p:txBody>
          <a:bodyPr/>
          <a:lstStyle/>
          <a:p>
            <a:endParaRPr lang="en-CN"/>
          </a:p>
        </p:txBody>
      </p:sp>
      <p:sp>
        <p:nvSpPr>
          <p:cNvPr id="37" name="Text 35"/>
          <p:cNvSpPr/>
          <p:nvPr/>
        </p:nvSpPr>
        <p:spPr>
          <a:xfrm>
            <a:off x="4927564" y="3966890"/>
            <a:ext cx="6451564" cy="205698"/>
          </a:xfrm>
          <a:prstGeom prst="rect">
            <a:avLst/>
          </a:prstGeom>
          <a:solidFill>
            <a:srgbClr val="3A2B20"/>
          </a:solidFill>
          <a:ln/>
        </p:spPr>
        <p:txBody>
          <a:bodyPr wrap="none" lIns="177223" tIns="0" rIns="0" bIns="0" rtlCol="0" anchor="t">
            <a:normAutofit/>
          </a:bodyPr>
          <a:lstStyle/>
          <a:p>
            <a:pPr marL="0" indent="0" algn="l">
              <a:lnSpc>
                <a:spcPts val="1620"/>
              </a:lnSpc>
              <a:buNone/>
            </a:pPr>
            <a:r>
              <a:rPr lang="en-US" sz="1200" dirty="0">
                <a:solidFill>
                  <a:srgbClr val="7C8FA3"/>
                </a:solidFill>
                <a:latin typeface="JetBrains Mono" pitchFamily="49" charset="0"/>
                <a:ea typeface="JetBrains Mono" pitchFamily="49" charset="-122"/>
                <a:cs typeface="JetBrains Mono" pitchFamily="49" charset="-120"/>
              </a:rPr>
              <a:t>535</a:t>
            </a:r>
            <a:r>
              <a:rPr lang="en-US" sz="1200" dirty="0">
                <a:solidFill>
                  <a:srgbClr val="D6DDE5"/>
                </a:solidFill>
                <a:latin typeface="JetBrains Mono" pitchFamily="49" charset="0"/>
                <a:ea typeface="JetBrains Mono" pitchFamily="49" charset="-122"/>
                <a:cs typeface="JetBrains Mono" pitchFamily="49" charset="-120"/>
              </a:rPr>
              <a:t> if evaluation.avg_score &lt; score_threshold: </a:t>
            </a:r>
            <a:r>
              <a:rPr lang="en-US" sz="1200" dirty="0">
                <a:solidFill>
                  <a:srgbClr val="8798AA"/>
                </a:solidFill>
                <a:latin typeface="JetBrains Mono" pitchFamily="49" charset="0"/>
                <a:ea typeface="JetBrains Mono" pitchFamily="49" charset="-122"/>
                <a:cs typeface="JetBrains Mono" pitchFamily="49" charset="-120"/>
              </a:rPr>
              <a:t># refine</a:t>
            </a:r>
            <a:endParaRPr lang="en-US" sz="1200" dirty="0"/>
          </a:p>
        </p:txBody>
      </p:sp>
      <p:sp>
        <p:nvSpPr>
          <p:cNvPr id="38" name="Shape 36"/>
          <p:cNvSpPr/>
          <p:nvPr/>
        </p:nvSpPr>
        <p:spPr>
          <a:xfrm>
            <a:off x="4946614" y="3966890"/>
            <a:ext cx="0" cy="205698"/>
          </a:xfrm>
          <a:prstGeom prst="line">
            <a:avLst/>
          </a:prstGeom>
          <a:noFill/>
          <a:ln w="38100">
            <a:solidFill>
              <a:srgbClr val="E8843F"/>
            </a:solidFill>
            <a:prstDash val="solid"/>
          </a:ln>
        </p:spPr>
        <p:txBody>
          <a:bodyPr/>
          <a:lstStyle/>
          <a:p>
            <a:endParaRPr lang="en-CN"/>
          </a:p>
        </p:txBody>
      </p:sp>
      <p:sp>
        <p:nvSpPr>
          <p:cNvPr id="39" name="Text 37"/>
          <p:cNvSpPr/>
          <p:nvPr/>
        </p:nvSpPr>
        <p:spPr>
          <a:xfrm>
            <a:off x="4927564" y="4172595"/>
            <a:ext cx="6451564" cy="205698"/>
          </a:xfrm>
          <a:prstGeom prst="rect">
            <a:avLst/>
          </a:prstGeom>
          <a:solidFill>
            <a:srgbClr val="3A2B20"/>
          </a:solidFill>
          <a:ln/>
        </p:spPr>
        <p:txBody>
          <a:bodyPr wrap="none" lIns="177223" tIns="0" rIns="0" bIns="0" rtlCol="0" anchor="t">
            <a:normAutofit/>
          </a:bodyPr>
          <a:lstStyle/>
          <a:p>
            <a:pPr marL="0" indent="0" algn="l">
              <a:lnSpc>
                <a:spcPts val="1620"/>
              </a:lnSpc>
              <a:buNone/>
            </a:pPr>
            <a:r>
              <a:rPr lang="en-US" sz="1200" dirty="0">
                <a:solidFill>
                  <a:srgbClr val="7C8FA3"/>
                </a:solidFill>
                <a:latin typeface="JetBrains Mono" pitchFamily="49" charset="0"/>
                <a:ea typeface="JetBrains Mono" pitchFamily="49" charset="-122"/>
                <a:cs typeface="JetBrains Mono" pitchFamily="49" charset="-120"/>
              </a:rPr>
              <a:t>575</a:t>
            </a:r>
            <a:r>
              <a:rPr lang="en-US" sz="1200" dirty="0">
                <a:solidFill>
                  <a:srgbClr val="D6DDE5"/>
                </a:solidFill>
                <a:latin typeface="JetBrains Mono" pitchFamily="49" charset="0"/>
                <a:ea typeface="JetBrains Mono" pitchFamily="49" charset="-122"/>
                <a:cs typeface="JetBrains Mono" pitchFamily="49" charset="-120"/>
              </a:rPr>
              <a:t> approved, user_feedback = await to_thread( </a:t>
            </a:r>
            <a:r>
              <a:rPr lang="en-US" sz="1200" b="1" dirty="0">
                <a:solidFill>
                  <a:srgbClr val="F2A46B"/>
                </a:solidFill>
                <a:latin typeface="JetBrains Mono" pitchFamily="49" charset="0"/>
                <a:ea typeface="JetBrains Mono" pitchFamily="49" charset="-122"/>
                <a:cs typeface="JetBrains Mono" pitchFamily="49" charset="-120"/>
              </a:rPr>
              <a:t>← 06</a:t>
            </a:r>
            <a:endParaRPr lang="en-US" sz="1200" dirty="0"/>
          </a:p>
        </p:txBody>
      </p:sp>
      <p:sp>
        <p:nvSpPr>
          <p:cNvPr id="40" name="Shape 38"/>
          <p:cNvSpPr/>
          <p:nvPr/>
        </p:nvSpPr>
        <p:spPr>
          <a:xfrm>
            <a:off x="4946614" y="4172595"/>
            <a:ext cx="0" cy="205698"/>
          </a:xfrm>
          <a:prstGeom prst="line">
            <a:avLst/>
          </a:prstGeom>
          <a:noFill/>
          <a:ln w="38100">
            <a:solidFill>
              <a:srgbClr val="E8843F"/>
            </a:solidFill>
            <a:prstDash val="solid"/>
          </a:ln>
        </p:spPr>
        <p:txBody>
          <a:bodyPr/>
          <a:lstStyle/>
          <a:p>
            <a:endParaRPr lang="en-CN"/>
          </a:p>
        </p:txBody>
      </p:sp>
      <p:sp>
        <p:nvSpPr>
          <p:cNvPr id="41" name="Text 39"/>
          <p:cNvSpPr/>
          <p:nvPr/>
        </p:nvSpPr>
        <p:spPr>
          <a:xfrm>
            <a:off x="4927564" y="4378288"/>
            <a:ext cx="6451564" cy="205698"/>
          </a:xfrm>
          <a:prstGeom prst="rect">
            <a:avLst/>
          </a:prstGeom>
          <a:solidFill>
            <a:srgbClr val="3A2B20"/>
          </a:solidFill>
          <a:ln/>
        </p:spPr>
        <p:txBody>
          <a:bodyPr wrap="none" lIns="177223" tIns="0" rIns="0" bIns="0" rtlCol="0" anchor="t">
            <a:normAutofit/>
          </a:bodyPr>
          <a:lstStyle/>
          <a:p>
            <a:pPr marL="0" indent="0" algn="l">
              <a:lnSpc>
                <a:spcPts val="1620"/>
              </a:lnSpc>
              <a:buNone/>
            </a:pPr>
            <a:r>
              <a:rPr lang="en-US" sz="1200" dirty="0">
                <a:solidFill>
                  <a:srgbClr val="7C8FA3"/>
                </a:solidFill>
                <a:latin typeface="JetBrains Mono" pitchFamily="49" charset="0"/>
                <a:ea typeface="JetBrains Mono" pitchFamily="49" charset="-122"/>
                <a:cs typeface="JetBrains Mono" pitchFamily="49" charset="-120"/>
              </a:rPr>
              <a:t>577</a:t>
            </a:r>
            <a:r>
              <a:rPr lang="en-US" sz="1200" dirty="0">
                <a:solidFill>
                  <a:srgbClr val="D6DDE5"/>
                </a:solidFill>
                <a:latin typeface="JetBrains Mono" pitchFamily="49" charset="0"/>
                <a:ea typeface="JetBrains Mono" pitchFamily="49" charset="-122"/>
                <a:cs typeface="JetBrains Mono" pitchFamily="49" charset="-120"/>
              </a:rPr>
              <a:t>   _checkpoint, "final_review", …)</a:t>
            </a:r>
            <a:endParaRPr lang="en-US" sz="1200" dirty="0"/>
          </a:p>
        </p:txBody>
      </p:sp>
      <p:sp>
        <p:nvSpPr>
          <p:cNvPr id="42" name="Shape 40"/>
          <p:cNvSpPr/>
          <p:nvPr/>
        </p:nvSpPr>
        <p:spPr>
          <a:xfrm>
            <a:off x="4946614" y="4378288"/>
            <a:ext cx="0" cy="205698"/>
          </a:xfrm>
          <a:prstGeom prst="line">
            <a:avLst/>
          </a:prstGeom>
          <a:noFill/>
          <a:ln w="38100">
            <a:solidFill>
              <a:srgbClr val="E8843F"/>
            </a:solidFill>
            <a:prstDash val="solid"/>
          </a:ln>
        </p:spPr>
        <p:txBody>
          <a:bodyPr/>
          <a:lstStyle/>
          <a:p>
            <a:endParaRPr lang="en-CN"/>
          </a:p>
        </p:txBody>
      </p:sp>
      <p:sp>
        <p:nvSpPr>
          <p:cNvPr id="43" name="Text 41"/>
          <p:cNvSpPr/>
          <p:nvPr/>
        </p:nvSpPr>
        <p:spPr>
          <a:xfrm>
            <a:off x="5105364" y="4583993"/>
            <a:ext cx="6278842" cy="231098"/>
          </a:xfrm>
          <a:prstGeom prst="rect">
            <a:avLst/>
          </a:prstGeom>
          <a:noFill/>
          <a:ln/>
        </p:spPr>
        <p:txBody>
          <a:bodyPr wrap="none" lIns="0" tIns="0" rIns="0" bIns="0" rtlCol="0" anchor="t">
            <a:normAutofit/>
          </a:bodyPr>
          <a:lstStyle/>
          <a:p>
            <a:pPr marL="0" indent="0" algn="l">
              <a:lnSpc>
                <a:spcPts val="1620"/>
              </a:lnSpc>
              <a:buNone/>
            </a:pPr>
            <a:r>
              <a:rPr lang="en-US" sz="1200" dirty="0">
                <a:solidFill>
                  <a:srgbClr val="7C8FA3"/>
                </a:solidFill>
                <a:latin typeface="JetBrains Mono" pitchFamily="49" charset="0"/>
                <a:ea typeface="JetBrains Mono" pitchFamily="49" charset="-122"/>
                <a:cs typeface="JetBrains Mono" pitchFamily="49" charset="-120"/>
              </a:rPr>
              <a:t>643</a:t>
            </a:r>
            <a:r>
              <a:rPr lang="en-US" sz="1200" dirty="0">
                <a:solidFill>
                  <a:srgbClr val="D6DDE5"/>
                </a:solidFill>
                <a:latin typeface="JetBrains Mono" pitchFamily="49" charset="0"/>
                <a:ea typeface="JetBrains Mono" pitchFamily="49" charset="-122"/>
                <a:cs typeface="JetBrains Mono" pitchFamily="49" charset="-120"/>
              </a:rPr>
              <a:t> if human_approved:</a:t>
            </a:r>
            <a:endParaRPr lang="en-US" sz="1200" dirty="0"/>
          </a:p>
        </p:txBody>
      </p:sp>
      <p:sp>
        <p:nvSpPr>
          <p:cNvPr id="44" name="Text 42"/>
          <p:cNvSpPr/>
          <p:nvPr/>
        </p:nvSpPr>
        <p:spPr>
          <a:xfrm>
            <a:off x="4927564" y="4789686"/>
            <a:ext cx="6451564" cy="205698"/>
          </a:xfrm>
          <a:prstGeom prst="rect">
            <a:avLst/>
          </a:prstGeom>
          <a:solidFill>
            <a:srgbClr val="3A2B20"/>
          </a:solidFill>
          <a:ln/>
        </p:spPr>
        <p:txBody>
          <a:bodyPr wrap="none" lIns="177223" tIns="0" rIns="0" bIns="0" rtlCol="0" anchor="t">
            <a:normAutofit/>
          </a:bodyPr>
          <a:lstStyle/>
          <a:p>
            <a:pPr marL="0" indent="0" algn="l">
              <a:lnSpc>
                <a:spcPts val="1620"/>
              </a:lnSpc>
              <a:buNone/>
            </a:pPr>
            <a:r>
              <a:rPr lang="en-US" sz="1200" dirty="0">
                <a:solidFill>
                  <a:srgbClr val="7C8FA3"/>
                </a:solidFill>
                <a:latin typeface="JetBrains Mono" pitchFamily="49" charset="0"/>
                <a:ea typeface="JetBrains Mono" pitchFamily="49" charset="-122"/>
                <a:cs typeface="JetBrains Mono" pitchFamily="49" charset="-120"/>
              </a:rPr>
              <a:t>646</a:t>
            </a:r>
            <a:r>
              <a:rPr lang="en-US" sz="1200" dirty="0">
                <a:solidFill>
                  <a:srgbClr val="D6DDE5"/>
                </a:solidFill>
                <a:latin typeface="JetBrains Mono" pitchFamily="49" charset="0"/>
                <a:ea typeface="JetBrains Mono" pitchFamily="49" charset="-122"/>
                <a:cs typeface="JetBrains Mono" pitchFamily="49" charset="-120"/>
              </a:rPr>
              <a:t>   social = await to_thread(self._write_social, …) </a:t>
            </a:r>
            <a:r>
              <a:rPr lang="en-US" sz="1200" b="1" dirty="0">
                <a:solidFill>
                  <a:srgbClr val="F2A46B"/>
                </a:solidFill>
                <a:latin typeface="JetBrains Mono" pitchFamily="49" charset="0"/>
                <a:ea typeface="JetBrains Mono" pitchFamily="49" charset="-122"/>
                <a:cs typeface="JetBrains Mono" pitchFamily="49" charset="-120"/>
              </a:rPr>
              <a:t>← 03</a:t>
            </a:r>
            <a:endParaRPr lang="en-US" sz="1200" dirty="0"/>
          </a:p>
        </p:txBody>
      </p:sp>
      <p:sp>
        <p:nvSpPr>
          <p:cNvPr id="45" name="Shape 43"/>
          <p:cNvSpPr/>
          <p:nvPr/>
        </p:nvSpPr>
        <p:spPr>
          <a:xfrm>
            <a:off x="4946614" y="4789686"/>
            <a:ext cx="0" cy="205698"/>
          </a:xfrm>
          <a:prstGeom prst="line">
            <a:avLst/>
          </a:prstGeom>
          <a:noFill/>
          <a:ln w="38100">
            <a:solidFill>
              <a:srgbClr val="E8843F"/>
            </a:solidFill>
            <a:prstDash val="solid"/>
          </a:ln>
        </p:spPr>
        <p:txBody>
          <a:bodyPr/>
          <a:lstStyle/>
          <a:p>
            <a:endParaRPr lang="en-CN"/>
          </a:p>
        </p:txBody>
      </p:sp>
      <p:sp>
        <p:nvSpPr>
          <p:cNvPr id="46" name="Text 44"/>
          <p:cNvSpPr/>
          <p:nvPr/>
        </p:nvSpPr>
        <p:spPr>
          <a:xfrm>
            <a:off x="4927564" y="4995391"/>
            <a:ext cx="6451564" cy="205698"/>
          </a:xfrm>
          <a:prstGeom prst="rect">
            <a:avLst/>
          </a:prstGeom>
          <a:solidFill>
            <a:srgbClr val="3A2B20"/>
          </a:solidFill>
          <a:ln/>
        </p:spPr>
        <p:txBody>
          <a:bodyPr wrap="none" lIns="177223" tIns="0" rIns="0" bIns="0" rtlCol="0" anchor="t">
            <a:normAutofit/>
          </a:bodyPr>
          <a:lstStyle/>
          <a:p>
            <a:pPr marL="0" indent="0" algn="l">
              <a:lnSpc>
                <a:spcPts val="1620"/>
              </a:lnSpc>
              <a:buNone/>
            </a:pPr>
            <a:r>
              <a:rPr lang="en-US" sz="1200" dirty="0">
                <a:solidFill>
                  <a:srgbClr val="7C8FA3"/>
                </a:solidFill>
                <a:latin typeface="JetBrains Mono" pitchFamily="49" charset="0"/>
                <a:ea typeface="JetBrains Mono" pitchFamily="49" charset="-122"/>
                <a:cs typeface="JetBrains Mono" pitchFamily="49" charset="-120"/>
              </a:rPr>
              <a:t>655</a:t>
            </a:r>
            <a:r>
              <a:rPr lang="en-US" sz="1200" dirty="0">
                <a:solidFill>
                  <a:srgbClr val="D6DDE5"/>
                </a:solidFill>
                <a:latin typeface="JetBrains Mono" pitchFamily="49" charset="0"/>
                <a:ea typeface="JetBrains Mono" pitchFamily="49" charset="-122"/>
                <a:cs typeface="JetBrains Mono" pitchFamily="49" charset="-120"/>
              </a:rPr>
              <a:t>   seo = await to_thread(self._generate_seo, draft)</a:t>
            </a:r>
            <a:endParaRPr lang="en-US" sz="1200" dirty="0"/>
          </a:p>
        </p:txBody>
      </p:sp>
      <p:sp>
        <p:nvSpPr>
          <p:cNvPr id="47" name="Shape 45"/>
          <p:cNvSpPr/>
          <p:nvPr/>
        </p:nvSpPr>
        <p:spPr>
          <a:xfrm>
            <a:off x="4946614" y="4995391"/>
            <a:ext cx="0" cy="205698"/>
          </a:xfrm>
          <a:prstGeom prst="line">
            <a:avLst/>
          </a:prstGeom>
          <a:noFill/>
          <a:ln w="38100">
            <a:solidFill>
              <a:srgbClr val="E8843F"/>
            </a:solidFill>
            <a:prstDash val="solid"/>
          </a:ln>
        </p:spPr>
        <p:txBody>
          <a:bodyPr/>
          <a:lstStyle/>
          <a:p>
            <a:endParaRPr lang="en-CN"/>
          </a:p>
        </p:txBody>
      </p:sp>
      <p:sp>
        <p:nvSpPr>
          <p:cNvPr id="48" name="Text 46"/>
          <p:cNvSpPr/>
          <p:nvPr/>
        </p:nvSpPr>
        <p:spPr>
          <a:xfrm>
            <a:off x="812782" y="6238280"/>
            <a:ext cx="967994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7684"/>
                </a:solidFill>
                <a:latin typeface="IBM Plex Sans" pitchFamily="34" charset="0"/>
                <a:ea typeface="IBM Plex Sans" pitchFamily="34" charset="-122"/>
                <a:cs typeface="IBM Plex Sans" pitchFamily="34" charset="-120"/>
              </a:rPr>
              <a:t>07-content-writer/content_writer/agent.py L437–668 · asyncio.to_thread shown as to_thread; yields omitted</a:t>
            </a:r>
            <a:endParaRPr lang="en-US" sz="1200" dirty="0"/>
          </a:p>
        </p:txBody>
      </p:sp>
      <p:sp>
        <p:nvSpPr>
          <p:cNvPr id="49" name="Text 47"/>
          <p:cNvSpPr/>
          <p:nvPr/>
        </p:nvSpPr>
        <p:spPr>
          <a:xfrm>
            <a:off x="10312418" y="6238280"/>
            <a:ext cx="1066800" cy="238720"/>
          </a:xfrm>
          <a:prstGeom prst="rect">
            <a:avLst/>
          </a:prstGeom>
          <a:noFill/>
          <a:ln/>
        </p:spPr>
        <p:txBody>
          <a:bodyPr wrap="square" lIns="0" tIns="0" rIns="0" bIns="0" rtlCol="0" anchor="t">
            <a:normAutofit/>
          </a:bodyPr>
          <a:lstStyle/>
          <a:p>
            <a:pPr marL="0" indent="0" algn="r">
              <a:lnSpc>
                <a:spcPts val="1680"/>
              </a:lnSpc>
              <a:buNone/>
            </a:pPr>
            <a:r>
              <a:rPr lang="en-US" sz="1200" b="1" dirty="0">
                <a:solidFill>
                  <a:srgbClr val="6A7684"/>
                </a:solidFill>
                <a:latin typeface="IBM Plex Sans" pitchFamily="34" charset="0"/>
                <a:ea typeface="IBM Plex Sans" pitchFamily="34" charset="-122"/>
                <a:cs typeface="IBM Plex Sans" pitchFamily="34" charset="-120"/>
              </a:rPr>
              <a:t>23 / 27</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4F2EC"/>
        </a:solidFill>
        <a:effectLst/>
      </p:bgPr>
    </p:bg>
    <p:spTree>
      <p:nvGrpSpPr>
        <p:cNvPr id="1" name=""/>
        <p:cNvGrpSpPr/>
        <p:nvPr/>
      </p:nvGrpSpPr>
      <p:grpSpPr>
        <a:xfrm>
          <a:off x="0" y="0"/>
          <a:ext cx="0" cy="0"/>
          <a:chOff x="0" y="0"/>
          <a:chExt cx="0" cy="0"/>
        </a:xfrm>
      </p:grpSpPr>
      <p:sp>
        <p:nvSpPr>
          <p:cNvPr id="2" name="Text 0"/>
          <p:cNvSpPr/>
          <p:nvPr/>
        </p:nvSpPr>
        <p:spPr>
          <a:xfrm>
            <a:off x="812782" y="711163"/>
            <a:ext cx="10883429"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04E17"/>
                </a:solidFill>
                <a:latin typeface="IBM Plex Sans" pitchFamily="34" charset="0"/>
                <a:ea typeface="IBM Plex Sans" pitchFamily="34" charset="-122"/>
                <a:cs typeface="IBM Plex Sans" pitchFamily="34" charset="-120"/>
              </a:rPr>
              <a:t>07 · CONTENT WRITER · IN CODE</a:t>
            </a:r>
            <a:endParaRPr lang="en-US" sz="1200" dirty="0"/>
          </a:p>
        </p:txBody>
      </p:sp>
      <p:sp>
        <p:nvSpPr>
          <p:cNvPr id="3" name="Text 1"/>
          <p:cNvSpPr>
            <a:spLocks noGrp="1"/>
          </p:cNvSpPr>
          <p:nvPr>
            <p:ph type="title"/>
          </p:nvPr>
        </p:nvSpPr>
        <p:spPr>
          <a:xfrm>
            <a:off x="812782" y="1000658"/>
            <a:ext cx="10883429" cy="444464"/>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6212C"/>
                </a:solidFill>
                <a:latin typeface="IBM Plex Sans" pitchFamily="34" charset="0"/>
                <a:ea typeface="IBM Plex Sans" pitchFamily="34" charset="-122"/>
                <a:cs typeface="IBM Plex Sans" pitchFamily="34" charset="-120"/>
              </a:rPr>
              <a:t>Typed data and typed events, end to end</a:t>
            </a:r>
            <a:endParaRPr lang="en-US" sz="3000" dirty="0"/>
          </a:p>
        </p:txBody>
      </p:sp>
      <p:sp>
        <p:nvSpPr>
          <p:cNvPr id="4" name="Text 2"/>
          <p:cNvSpPr/>
          <p:nvPr/>
        </p:nvSpPr>
        <p:spPr>
          <a:xfrm>
            <a:off x="812782" y="1673721"/>
            <a:ext cx="304782" cy="304782"/>
          </a:xfrm>
          <a:custGeom>
            <a:avLst/>
            <a:gdLst/>
            <a:ahLst/>
            <a:cxnLst/>
            <a:rect l="l" t="t" r="r" b="b"/>
            <a:pathLst>
              <a:path w="304782" h="304782">
                <a:moveTo>
                  <a:pt x="152391" y="0"/>
                </a:moveTo>
                <a:lnTo>
                  <a:pt x="152391" y="0"/>
                </a:lnTo>
                <a:arcTo wR="152391" hR="152391" stAng="16200000" swAng="5400000"/>
                <a:lnTo>
                  <a:pt x="304782" y="152391"/>
                </a:lnTo>
                <a:arcTo wR="152391" hR="152391" stAng="0" swAng="5400000"/>
                <a:lnTo>
                  <a:pt x="152391" y="304782"/>
                </a:lnTo>
                <a:arcTo wR="152391" hR="152391" stAng="5400000" swAng="5400000"/>
                <a:lnTo>
                  <a:pt x="0" y="152391"/>
                </a:lnTo>
                <a:arcTo wR="152391" hR="152391" stAng="10800000" swAng="5400000"/>
                <a:close/>
              </a:path>
            </a:pathLst>
          </a:custGeom>
          <a:solidFill>
            <a:srgbClr val="E8843F"/>
          </a:solidFill>
          <a:ln/>
        </p:spPr>
        <p:txBody>
          <a:bodyPr wrap="square" lIns="0" tIns="0" rIns="0" bIns="0" rtlCol="0" anchor="t">
            <a:normAutofit/>
          </a:bodyPr>
          <a:lstStyle/>
          <a:p>
            <a:pPr marL="0" indent="0" algn="ctr">
              <a:lnSpc>
                <a:spcPts val="2405"/>
              </a:lnSpc>
              <a:buNone/>
            </a:pPr>
            <a:r>
              <a:rPr lang="en-US" sz="1300" b="1" dirty="0">
                <a:solidFill>
                  <a:srgbClr val="16212C"/>
                </a:solidFill>
                <a:latin typeface="IBM Plex Sans" pitchFamily="34" charset="0"/>
                <a:ea typeface="IBM Plex Sans" pitchFamily="34" charset="-122"/>
                <a:cs typeface="IBM Plex Sans" pitchFamily="34" charset="-120"/>
              </a:rPr>
              <a:t>1</a:t>
            </a:r>
            <a:endParaRPr lang="en-US" sz="1300" dirty="0"/>
          </a:p>
        </p:txBody>
      </p:sp>
      <p:sp>
        <p:nvSpPr>
          <p:cNvPr id="5" name="Text 3"/>
          <p:cNvSpPr/>
          <p:nvPr/>
        </p:nvSpPr>
        <p:spPr>
          <a:xfrm>
            <a:off x="1244564" y="1673721"/>
            <a:ext cx="3479564" cy="253964"/>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6212C"/>
                </a:solidFill>
                <a:latin typeface="IBM Plex Sans" pitchFamily="34" charset="0"/>
                <a:ea typeface="IBM Plex Sans" pitchFamily="34" charset="-122"/>
                <a:cs typeface="IBM Plex Sans" pitchFamily="34" charset="-120"/>
              </a:rPr>
              <a:t>Pydantic, not loose dicts</a:t>
            </a:r>
            <a:endParaRPr lang="en-US" sz="1500" dirty="0"/>
          </a:p>
        </p:txBody>
      </p:sp>
      <p:sp>
        <p:nvSpPr>
          <p:cNvPr id="6" name="Text 4"/>
          <p:cNvSpPr/>
          <p:nvPr/>
        </p:nvSpPr>
        <p:spPr>
          <a:xfrm>
            <a:off x="1244564" y="1940347"/>
            <a:ext cx="3479564" cy="487669"/>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D4A57"/>
                </a:solidFill>
                <a:latin typeface="IBM Plex Sans" pitchFamily="34" charset="0"/>
                <a:ea typeface="IBM Plex Sans" pitchFamily="34" charset="-122"/>
                <a:cs typeface="IBM Plex Sans" pitchFamily="34" charset="-120"/>
              </a:rPr>
              <a:t>Tool-call JSON is validated: a 12 for clarity fails loudly.</a:t>
            </a:r>
            <a:endParaRPr lang="en-US" sz="1300" dirty="0"/>
          </a:p>
        </p:txBody>
      </p:sp>
      <p:sp>
        <p:nvSpPr>
          <p:cNvPr id="7" name="Text 5"/>
          <p:cNvSpPr/>
          <p:nvPr/>
        </p:nvSpPr>
        <p:spPr>
          <a:xfrm>
            <a:off x="812782" y="2567682"/>
            <a:ext cx="304782" cy="304782"/>
          </a:xfrm>
          <a:custGeom>
            <a:avLst/>
            <a:gdLst/>
            <a:ahLst/>
            <a:cxnLst/>
            <a:rect l="l" t="t" r="r" b="b"/>
            <a:pathLst>
              <a:path w="304782" h="304782">
                <a:moveTo>
                  <a:pt x="152391" y="0"/>
                </a:moveTo>
                <a:lnTo>
                  <a:pt x="152391" y="0"/>
                </a:lnTo>
                <a:arcTo wR="152391" hR="152391" stAng="16200000" swAng="5400000"/>
                <a:lnTo>
                  <a:pt x="304782" y="152391"/>
                </a:lnTo>
                <a:arcTo wR="152391" hR="152391" stAng="0" swAng="5400000"/>
                <a:lnTo>
                  <a:pt x="152391" y="304782"/>
                </a:lnTo>
                <a:arcTo wR="152391" hR="152391" stAng="5400000" swAng="5400000"/>
                <a:lnTo>
                  <a:pt x="0" y="152391"/>
                </a:lnTo>
                <a:arcTo wR="152391" hR="152391" stAng="10800000" swAng="5400000"/>
                <a:close/>
              </a:path>
            </a:pathLst>
          </a:custGeom>
          <a:solidFill>
            <a:srgbClr val="E8843F"/>
          </a:solidFill>
          <a:ln/>
        </p:spPr>
        <p:txBody>
          <a:bodyPr wrap="square" lIns="0" tIns="0" rIns="0" bIns="0" rtlCol="0" anchor="t">
            <a:normAutofit/>
          </a:bodyPr>
          <a:lstStyle/>
          <a:p>
            <a:pPr marL="0" indent="0" algn="ctr">
              <a:lnSpc>
                <a:spcPts val="2405"/>
              </a:lnSpc>
              <a:buNone/>
            </a:pPr>
            <a:r>
              <a:rPr lang="en-US" sz="1300" b="1" dirty="0">
                <a:solidFill>
                  <a:srgbClr val="16212C"/>
                </a:solidFill>
                <a:latin typeface="IBM Plex Sans" pitchFamily="34" charset="0"/>
                <a:ea typeface="IBM Plex Sans" pitchFamily="34" charset="-122"/>
                <a:cs typeface="IBM Plex Sans" pitchFamily="34" charset="-120"/>
              </a:rPr>
              <a:t>2</a:t>
            </a:r>
            <a:endParaRPr lang="en-US" sz="1300" dirty="0"/>
          </a:p>
        </p:txBody>
      </p:sp>
      <p:sp>
        <p:nvSpPr>
          <p:cNvPr id="8" name="Text 6"/>
          <p:cNvSpPr/>
          <p:nvPr/>
        </p:nvSpPr>
        <p:spPr>
          <a:xfrm>
            <a:off x="1244564" y="2567682"/>
            <a:ext cx="3479564" cy="253964"/>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6212C"/>
                </a:solidFill>
                <a:latin typeface="IBM Plex Sans" pitchFamily="34" charset="0"/>
                <a:ea typeface="IBM Plex Sans" pitchFamily="34" charset="-122"/>
                <a:cs typeface="IBM Plex Sans" pitchFamily="34" charset="-120"/>
              </a:rPr>
              <a:t>Derived values on the model</a:t>
            </a:r>
            <a:endParaRPr lang="en-US" sz="1500" dirty="0"/>
          </a:p>
        </p:txBody>
      </p:sp>
      <p:sp>
        <p:nvSpPr>
          <p:cNvPr id="9" name="Text 7"/>
          <p:cNvSpPr/>
          <p:nvPr/>
        </p:nvSpPr>
        <p:spPr>
          <a:xfrm>
            <a:off x="1244564" y="2834308"/>
            <a:ext cx="3479564" cy="487669"/>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D4A57"/>
                </a:solidFill>
                <a:latin typeface="IBM Plex Sans" pitchFamily="34" charset="0"/>
                <a:ea typeface="IBM Plex Sans" pitchFamily="34" charset="-122"/>
                <a:cs typeface="IBM Plex Sans" pitchFamily="34" charset="-120"/>
              </a:rPr>
              <a:t>avg_score replaces tutorial 05's helper function.</a:t>
            </a:r>
            <a:endParaRPr lang="en-US" sz="1300" dirty="0"/>
          </a:p>
        </p:txBody>
      </p:sp>
      <p:sp>
        <p:nvSpPr>
          <p:cNvPr id="10" name="Text 8"/>
          <p:cNvSpPr/>
          <p:nvPr/>
        </p:nvSpPr>
        <p:spPr>
          <a:xfrm>
            <a:off x="812782" y="3461643"/>
            <a:ext cx="304782" cy="304782"/>
          </a:xfrm>
          <a:custGeom>
            <a:avLst/>
            <a:gdLst/>
            <a:ahLst/>
            <a:cxnLst/>
            <a:rect l="l" t="t" r="r" b="b"/>
            <a:pathLst>
              <a:path w="304782" h="304782">
                <a:moveTo>
                  <a:pt x="152391" y="0"/>
                </a:moveTo>
                <a:lnTo>
                  <a:pt x="152391" y="0"/>
                </a:lnTo>
                <a:arcTo wR="152391" hR="152391" stAng="16200000" swAng="5400000"/>
                <a:lnTo>
                  <a:pt x="304782" y="152391"/>
                </a:lnTo>
                <a:arcTo wR="152391" hR="152391" stAng="0" swAng="5400000"/>
                <a:lnTo>
                  <a:pt x="152391" y="304782"/>
                </a:lnTo>
                <a:arcTo wR="152391" hR="152391" stAng="5400000" swAng="5400000"/>
                <a:lnTo>
                  <a:pt x="0" y="152391"/>
                </a:lnTo>
                <a:arcTo wR="152391" hR="152391" stAng="10800000" swAng="5400000"/>
                <a:close/>
              </a:path>
            </a:pathLst>
          </a:custGeom>
          <a:solidFill>
            <a:srgbClr val="E8843F"/>
          </a:solidFill>
          <a:ln/>
        </p:spPr>
        <p:txBody>
          <a:bodyPr wrap="square" lIns="0" tIns="0" rIns="0" bIns="0" rtlCol="0" anchor="t">
            <a:normAutofit/>
          </a:bodyPr>
          <a:lstStyle/>
          <a:p>
            <a:pPr marL="0" indent="0" algn="ctr">
              <a:lnSpc>
                <a:spcPts val="2405"/>
              </a:lnSpc>
              <a:buNone/>
            </a:pPr>
            <a:r>
              <a:rPr lang="en-US" sz="1300" b="1" dirty="0">
                <a:solidFill>
                  <a:srgbClr val="16212C"/>
                </a:solidFill>
                <a:latin typeface="IBM Plex Sans" pitchFamily="34" charset="0"/>
                <a:ea typeface="IBM Plex Sans" pitchFamily="34" charset="-122"/>
                <a:cs typeface="IBM Plex Sans" pitchFamily="34" charset="-120"/>
              </a:rPr>
              <a:t>3</a:t>
            </a:r>
            <a:endParaRPr lang="en-US" sz="1300" dirty="0"/>
          </a:p>
        </p:txBody>
      </p:sp>
      <p:sp>
        <p:nvSpPr>
          <p:cNvPr id="11" name="Text 9"/>
          <p:cNvSpPr/>
          <p:nvPr/>
        </p:nvSpPr>
        <p:spPr>
          <a:xfrm>
            <a:off x="1244564" y="3461643"/>
            <a:ext cx="3479564" cy="253964"/>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6212C"/>
                </a:solidFill>
                <a:latin typeface="IBM Plex Sans" pitchFamily="34" charset="0"/>
                <a:ea typeface="IBM Plex Sans" pitchFamily="34" charset="-122"/>
                <a:cs typeface="IBM Plex Sans" pitchFamily="34" charset="-120"/>
              </a:rPr>
              <a:t>One class per event</a:t>
            </a:r>
            <a:endParaRPr lang="en-US" sz="1500" dirty="0"/>
          </a:p>
        </p:txBody>
      </p:sp>
      <p:sp>
        <p:nvSpPr>
          <p:cNvPr id="12" name="Text 10"/>
          <p:cNvSpPr/>
          <p:nvPr/>
        </p:nvSpPr>
        <p:spPr>
          <a:xfrm>
            <a:off x="1244564" y="3728269"/>
            <a:ext cx="3479564" cy="256535"/>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D4A57"/>
                </a:solidFill>
                <a:latin typeface="IBM Plex Sans" pitchFamily="34" charset="0"/>
                <a:ea typeface="IBM Plex Sans" pitchFamily="34" charset="-122"/>
                <a:cs typeface="IBM Plex Sans" pitchFamily="34" charset="-120"/>
              </a:rPr>
              <a:t>A Literal stage tag discriminates the union.</a:t>
            </a:r>
            <a:endParaRPr lang="en-US" sz="1300" dirty="0"/>
          </a:p>
        </p:txBody>
      </p:sp>
      <p:sp>
        <p:nvSpPr>
          <p:cNvPr id="13" name="Text 11"/>
          <p:cNvSpPr/>
          <p:nvPr/>
        </p:nvSpPr>
        <p:spPr>
          <a:xfrm>
            <a:off x="812782" y="4124474"/>
            <a:ext cx="304782" cy="304782"/>
          </a:xfrm>
          <a:custGeom>
            <a:avLst/>
            <a:gdLst/>
            <a:ahLst/>
            <a:cxnLst/>
            <a:rect l="l" t="t" r="r" b="b"/>
            <a:pathLst>
              <a:path w="304782" h="304782">
                <a:moveTo>
                  <a:pt x="152391" y="0"/>
                </a:moveTo>
                <a:lnTo>
                  <a:pt x="152391" y="0"/>
                </a:lnTo>
                <a:arcTo wR="152391" hR="152391" stAng="16200000" swAng="5400000"/>
                <a:lnTo>
                  <a:pt x="304782" y="152391"/>
                </a:lnTo>
                <a:arcTo wR="152391" hR="152391" stAng="0" swAng="5400000"/>
                <a:lnTo>
                  <a:pt x="152391" y="304782"/>
                </a:lnTo>
                <a:arcTo wR="152391" hR="152391" stAng="5400000" swAng="5400000"/>
                <a:lnTo>
                  <a:pt x="0" y="152391"/>
                </a:lnTo>
                <a:arcTo wR="152391" hR="152391" stAng="10800000" swAng="5400000"/>
                <a:close/>
              </a:path>
            </a:pathLst>
          </a:custGeom>
          <a:solidFill>
            <a:srgbClr val="E8843F"/>
          </a:solidFill>
          <a:ln/>
        </p:spPr>
        <p:txBody>
          <a:bodyPr wrap="square" lIns="0" tIns="0" rIns="0" bIns="0" rtlCol="0" anchor="t">
            <a:normAutofit/>
          </a:bodyPr>
          <a:lstStyle/>
          <a:p>
            <a:pPr marL="0" indent="0" algn="ctr">
              <a:lnSpc>
                <a:spcPts val="2405"/>
              </a:lnSpc>
              <a:buNone/>
            </a:pPr>
            <a:r>
              <a:rPr lang="en-US" sz="1300" b="1" dirty="0">
                <a:solidFill>
                  <a:srgbClr val="16212C"/>
                </a:solidFill>
                <a:latin typeface="IBM Plex Sans" pitchFamily="34" charset="0"/>
                <a:ea typeface="IBM Plex Sans" pitchFamily="34" charset="-122"/>
                <a:cs typeface="IBM Plex Sans" pitchFamily="34" charset="-120"/>
              </a:rPr>
              <a:t>4</a:t>
            </a:r>
            <a:endParaRPr lang="en-US" sz="1300" dirty="0"/>
          </a:p>
        </p:txBody>
      </p:sp>
      <p:sp>
        <p:nvSpPr>
          <p:cNvPr id="14" name="Text 12"/>
          <p:cNvSpPr/>
          <p:nvPr/>
        </p:nvSpPr>
        <p:spPr>
          <a:xfrm>
            <a:off x="1244564" y="4124474"/>
            <a:ext cx="3479564" cy="253964"/>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6212C"/>
                </a:solidFill>
                <a:latin typeface="IBM Plex Sans" pitchFamily="34" charset="0"/>
                <a:ea typeface="IBM Plex Sans" pitchFamily="34" charset="-122"/>
                <a:cs typeface="IBM Plex Sans" pitchFamily="34" charset="-120"/>
              </a:rPr>
              <a:t>UI pattern-matches</a:t>
            </a:r>
            <a:endParaRPr lang="en-US" sz="1500" dirty="0"/>
          </a:p>
        </p:txBody>
      </p:sp>
      <p:sp>
        <p:nvSpPr>
          <p:cNvPr id="15" name="Text 13"/>
          <p:cNvSpPr/>
          <p:nvPr/>
        </p:nvSpPr>
        <p:spPr>
          <a:xfrm>
            <a:off x="1244564" y="4391099"/>
            <a:ext cx="3479564" cy="487669"/>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D4A57"/>
                </a:solidFill>
                <a:latin typeface="IBM Plex Sans" pitchFamily="34" charset="0"/>
                <a:ea typeface="IBM Plex Sans" pitchFamily="34" charset="-122"/>
                <a:cs typeface="IBM Plex Sans" pitchFamily="34" charset="-120"/>
              </a:rPr>
              <a:t>The callback idea from slide 3, now type-safe.</a:t>
            </a:r>
            <a:endParaRPr lang="en-US" sz="1300" dirty="0"/>
          </a:p>
        </p:txBody>
      </p:sp>
      <p:sp>
        <p:nvSpPr>
          <p:cNvPr id="16" name="Shape 14"/>
          <p:cNvSpPr/>
          <p:nvPr/>
        </p:nvSpPr>
        <p:spPr>
          <a:xfrm>
            <a:off x="4927564" y="1673721"/>
            <a:ext cx="6451564" cy="3608631"/>
          </a:xfrm>
          <a:prstGeom prst="roundRect">
            <a:avLst>
              <a:gd name="adj" fmla="val 2815"/>
            </a:avLst>
          </a:prstGeom>
          <a:solidFill>
            <a:srgbClr val="16212C"/>
          </a:solidFill>
          <a:ln/>
        </p:spPr>
        <p:txBody>
          <a:bodyPr/>
          <a:lstStyle/>
          <a:p>
            <a:endParaRPr lang="en-CN"/>
          </a:p>
        </p:txBody>
      </p:sp>
      <p:sp>
        <p:nvSpPr>
          <p:cNvPr id="17" name="Text 15"/>
          <p:cNvSpPr/>
          <p:nvPr/>
        </p:nvSpPr>
        <p:spPr>
          <a:xfrm>
            <a:off x="5105364" y="1826121"/>
            <a:ext cx="6278842" cy="238702"/>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9AA9B8"/>
                </a:solidFill>
                <a:latin typeface="JetBrains Mono" pitchFamily="49" charset="0"/>
                <a:ea typeface="JetBrains Mono" pitchFamily="49" charset="-122"/>
                <a:cs typeface="JetBrains Mono" pitchFamily="49" charset="-120"/>
              </a:rPr>
              <a:t>content_writer/models.py</a:t>
            </a:r>
            <a:endParaRPr lang="en-US" sz="1200" dirty="0"/>
          </a:p>
        </p:txBody>
      </p:sp>
      <p:sp>
        <p:nvSpPr>
          <p:cNvPr id="18" name="Text 16"/>
          <p:cNvSpPr/>
          <p:nvPr/>
        </p:nvSpPr>
        <p:spPr>
          <a:xfrm>
            <a:off x="5105364" y="2090217"/>
            <a:ext cx="6278842" cy="231098"/>
          </a:xfrm>
          <a:prstGeom prst="rect">
            <a:avLst/>
          </a:prstGeom>
          <a:noFill/>
          <a:ln/>
        </p:spPr>
        <p:txBody>
          <a:bodyPr wrap="none" lIns="0" tIns="0" rIns="0" bIns="0" rtlCol="0" anchor="t">
            <a:normAutofit/>
          </a:bodyPr>
          <a:lstStyle/>
          <a:p>
            <a:pPr marL="0" indent="0" algn="l">
              <a:lnSpc>
                <a:spcPts val="1620"/>
              </a:lnSpc>
              <a:buNone/>
            </a:pPr>
            <a:r>
              <a:rPr lang="en-US" sz="1200" dirty="0">
                <a:solidFill>
                  <a:srgbClr val="7C8FA3"/>
                </a:solidFill>
                <a:latin typeface="JetBrains Mono" pitchFamily="49" charset="0"/>
                <a:ea typeface="JetBrains Mono" pitchFamily="49" charset="-122"/>
                <a:cs typeface="JetBrains Mono" pitchFamily="49" charset="-120"/>
              </a:rPr>
              <a:t>057</a:t>
            </a:r>
            <a:r>
              <a:rPr lang="en-US" sz="1200" dirty="0">
                <a:solidFill>
                  <a:srgbClr val="D6DDE5"/>
                </a:solidFill>
                <a:latin typeface="JetBrains Mono" pitchFamily="49" charset="0"/>
                <a:ea typeface="JetBrains Mono" pitchFamily="49" charset="-122"/>
                <a:cs typeface="JetBrains Mono" pitchFamily="49" charset="-120"/>
              </a:rPr>
              <a:t> class EvaluationResult(BaseModel):</a:t>
            </a:r>
            <a:endParaRPr lang="en-US" sz="1200" dirty="0"/>
          </a:p>
        </p:txBody>
      </p:sp>
      <p:sp>
        <p:nvSpPr>
          <p:cNvPr id="19" name="Text 17"/>
          <p:cNvSpPr/>
          <p:nvPr/>
        </p:nvSpPr>
        <p:spPr>
          <a:xfrm>
            <a:off x="4927564" y="2295922"/>
            <a:ext cx="6451564" cy="205698"/>
          </a:xfrm>
          <a:prstGeom prst="rect">
            <a:avLst/>
          </a:prstGeom>
          <a:solidFill>
            <a:srgbClr val="3A2B20"/>
          </a:solidFill>
          <a:ln/>
        </p:spPr>
        <p:txBody>
          <a:bodyPr wrap="none" lIns="177223" tIns="0" rIns="0" bIns="0" rtlCol="0" anchor="t">
            <a:normAutofit/>
          </a:bodyPr>
          <a:lstStyle/>
          <a:p>
            <a:pPr marL="0" indent="0" algn="l">
              <a:lnSpc>
                <a:spcPts val="1620"/>
              </a:lnSpc>
              <a:buNone/>
            </a:pPr>
            <a:r>
              <a:rPr lang="en-US" sz="1200" dirty="0">
                <a:solidFill>
                  <a:srgbClr val="7C8FA3"/>
                </a:solidFill>
                <a:latin typeface="JetBrains Mono" pitchFamily="49" charset="0"/>
                <a:ea typeface="JetBrains Mono" pitchFamily="49" charset="-122"/>
                <a:cs typeface="JetBrains Mono" pitchFamily="49" charset="-120"/>
              </a:rPr>
              <a:t>060</a:t>
            </a:r>
            <a:r>
              <a:rPr lang="en-US" sz="1200" dirty="0">
                <a:solidFill>
                  <a:srgbClr val="D6DDE5"/>
                </a:solidFill>
                <a:latin typeface="JetBrains Mono" pitchFamily="49" charset="0"/>
                <a:ea typeface="JetBrains Mono" pitchFamily="49" charset="-122"/>
                <a:cs typeface="JetBrains Mono" pitchFamily="49" charset="-120"/>
              </a:rPr>
              <a:t>   clarity: int = Field(ge=1, le=10) </a:t>
            </a:r>
            <a:r>
              <a:rPr lang="en-US" sz="1200" b="1" dirty="0">
                <a:solidFill>
                  <a:srgbClr val="F2A46B"/>
                </a:solidFill>
                <a:latin typeface="JetBrains Mono" pitchFamily="49" charset="0"/>
                <a:ea typeface="JetBrains Mono" pitchFamily="49" charset="-122"/>
                <a:cs typeface="JetBrains Mono" pitchFamily="49" charset="-120"/>
              </a:rPr>
              <a:t>← 1</a:t>
            </a:r>
            <a:endParaRPr lang="en-US" sz="1200" dirty="0"/>
          </a:p>
        </p:txBody>
      </p:sp>
      <p:sp>
        <p:nvSpPr>
          <p:cNvPr id="20" name="Shape 18"/>
          <p:cNvSpPr/>
          <p:nvPr/>
        </p:nvSpPr>
        <p:spPr>
          <a:xfrm>
            <a:off x="4946614" y="2295922"/>
            <a:ext cx="0" cy="205698"/>
          </a:xfrm>
          <a:prstGeom prst="line">
            <a:avLst/>
          </a:prstGeom>
          <a:noFill/>
          <a:ln w="38100">
            <a:solidFill>
              <a:srgbClr val="E8843F"/>
            </a:solidFill>
            <a:prstDash val="solid"/>
          </a:ln>
        </p:spPr>
        <p:txBody>
          <a:bodyPr/>
          <a:lstStyle/>
          <a:p>
            <a:endParaRPr lang="en-CN"/>
          </a:p>
        </p:txBody>
      </p:sp>
      <p:sp>
        <p:nvSpPr>
          <p:cNvPr id="21" name="Text 19"/>
          <p:cNvSpPr/>
          <p:nvPr/>
        </p:nvSpPr>
        <p:spPr>
          <a:xfrm>
            <a:off x="5105364" y="2501615"/>
            <a:ext cx="6278842" cy="231098"/>
          </a:xfrm>
          <a:prstGeom prst="rect">
            <a:avLst/>
          </a:prstGeom>
          <a:noFill/>
          <a:ln/>
        </p:spPr>
        <p:txBody>
          <a:bodyPr wrap="none" lIns="0" tIns="0" rIns="0" bIns="0" rtlCol="0" anchor="t">
            <a:normAutofit/>
          </a:bodyPr>
          <a:lstStyle/>
          <a:p>
            <a:pPr marL="0" indent="0" algn="l">
              <a:lnSpc>
                <a:spcPts val="1620"/>
              </a:lnSpc>
              <a:buNone/>
            </a:pPr>
            <a:r>
              <a:rPr lang="en-US" sz="1200" dirty="0">
                <a:solidFill>
                  <a:srgbClr val="7C8FA3"/>
                </a:solidFill>
                <a:latin typeface="JetBrains Mono" pitchFamily="49" charset="0"/>
                <a:ea typeface="JetBrains Mono" pitchFamily="49" charset="-122"/>
                <a:cs typeface="JetBrains Mono" pitchFamily="49" charset="-120"/>
              </a:rPr>
              <a:t>065</a:t>
            </a:r>
            <a:r>
              <a:rPr lang="en-US" sz="1200" dirty="0">
                <a:solidFill>
                  <a:srgbClr val="D6DDE5"/>
                </a:solidFill>
                <a:latin typeface="JetBrains Mono" pitchFamily="49" charset="0"/>
                <a:ea typeface="JetBrains Mono" pitchFamily="49" charset="-122"/>
                <a:cs typeface="JetBrains Mono" pitchFamily="49" charset="-120"/>
              </a:rPr>
              <a:t>   issues: list[str] = []</a:t>
            </a:r>
            <a:endParaRPr lang="en-US" sz="1200" dirty="0"/>
          </a:p>
        </p:txBody>
      </p:sp>
      <p:sp>
        <p:nvSpPr>
          <p:cNvPr id="22" name="Text 20"/>
          <p:cNvSpPr/>
          <p:nvPr/>
        </p:nvSpPr>
        <p:spPr>
          <a:xfrm>
            <a:off x="4927564" y="2707308"/>
            <a:ext cx="6451564" cy="205698"/>
          </a:xfrm>
          <a:prstGeom prst="rect">
            <a:avLst/>
          </a:prstGeom>
          <a:solidFill>
            <a:srgbClr val="3A2B20"/>
          </a:solidFill>
          <a:ln/>
        </p:spPr>
        <p:txBody>
          <a:bodyPr wrap="none" lIns="177223" tIns="0" rIns="0" bIns="0" rtlCol="0" anchor="t">
            <a:normAutofit/>
          </a:bodyPr>
          <a:lstStyle/>
          <a:p>
            <a:pPr marL="0" indent="0" algn="l">
              <a:lnSpc>
                <a:spcPts val="1620"/>
              </a:lnSpc>
              <a:buNone/>
            </a:pPr>
            <a:r>
              <a:rPr lang="en-US" sz="1200" dirty="0">
                <a:solidFill>
                  <a:srgbClr val="7C8FA3"/>
                </a:solidFill>
                <a:latin typeface="JetBrains Mono" pitchFamily="49" charset="0"/>
                <a:ea typeface="JetBrains Mono" pitchFamily="49" charset="-122"/>
                <a:cs typeface="JetBrains Mono" pitchFamily="49" charset="-120"/>
              </a:rPr>
              <a:t>068</a:t>
            </a:r>
            <a:r>
              <a:rPr lang="en-US" sz="1200" dirty="0">
                <a:solidFill>
                  <a:srgbClr val="D6DDE5"/>
                </a:solidFill>
                <a:latin typeface="JetBrains Mono" pitchFamily="49" charset="0"/>
                <a:ea typeface="JetBrains Mono" pitchFamily="49" charset="-122"/>
                <a:cs typeface="JetBrains Mono" pitchFamily="49" charset="-120"/>
              </a:rPr>
              <a:t>   @computed_field </a:t>
            </a:r>
            <a:r>
              <a:rPr lang="en-US" sz="1200" b="1" dirty="0">
                <a:solidFill>
                  <a:srgbClr val="F2A46B"/>
                </a:solidFill>
                <a:latin typeface="JetBrains Mono" pitchFamily="49" charset="0"/>
                <a:ea typeface="JetBrains Mono" pitchFamily="49" charset="-122"/>
                <a:cs typeface="JetBrains Mono" pitchFamily="49" charset="-120"/>
              </a:rPr>
              <a:t>← 2</a:t>
            </a:r>
            <a:endParaRPr lang="en-US" sz="1200" dirty="0"/>
          </a:p>
        </p:txBody>
      </p:sp>
      <p:sp>
        <p:nvSpPr>
          <p:cNvPr id="23" name="Shape 21"/>
          <p:cNvSpPr/>
          <p:nvPr/>
        </p:nvSpPr>
        <p:spPr>
          <a:xfrm>
            <a:off x="4946614" y="2707308"/>
            <a:ext cx="0" cy="205698"/>
          </a:xfrm>
          <a:prstGeom prst="line">
            <a:avLst/>
          </a:prstGeom>
          <a:noFill/>
          <a:ln w="38100">
            <a:solidFill>
              <a:srgbClr val="E8843F"/>
            </a:solidFill>
            <a:prstDash val="solid"/>
          </a:ln>
        </p:spPr>
        <p:txBody>
          <a:bodyPr/>
          <a:lstStyle/>
          <a:p>
            <a:endParaRPr lang="en-CN"/>
          </a:p>
        </p:txBody>
      </p:sp>
      <p:sp>
        <p:nvSpPr>
          <p:cNvPr id="24" name="Text 22"/>
          <p:cNvSpPr/>
          <p:nvPr/>
        </p:nvSpPr>
        <p:spPr>
          <a:xfrm>
            <a:off x="4927564" y="2913013"/>
            <a:ext cx="6451564" cy="205698"/>
          </a:xfrm>
          <a:prstGeom prst="rect">
            <a:avLst/>
          </a:prstGeom>
          <a:solidFill>
            <a:srgbClr val="3A2B20"/>
          </a:solidFill>
          <a:ln/>
        </p:spPr>
        <p:txBody>
          <a:bodyPr wrap="none" lIns="177223" tIns="0" rIns="0" bIns="0" rtlCol="0" anchor="t">
            <a:normAutofit/>
          </a:bodyPr>
          <a:lstStyle/>
          <a:p>
            <a:pPr marL="0" indent="0" algn="l">
              <a:lnSpc>
                <a:spcPts val="1620"/>
              </a:lnSpc>
              <a:buNone/>
            </a:pPr>
            <a:r>
              <a:rPr lang="en-US" sz="1200" dirty="0">
                <a:solidFill>
                  <a:srgbClr val="7C8FA3"/>
                </a:solidFill>
                <a:latin typeface="JetBrains Mono" pitchFamily="49" charset="0"/>
                <a:ea typeface="JetBrains Mono" pitchFamily="49" charset="-122"/>
                <a:cs typeface="JetBrains Mono" pitchFamily="49" charset="-120"/>
              </a:rPr>
              <a:t>070</a:t>
            </a:r>
            <a:r>
              <a:rPr lang="en-US" sz="1200" dirty="0">
                <a:solidFill>
                  <a:srgbClr val="D6DDE5"/>
                </a:solidFill>
                <a:latin typeface="JetBrains Mono" pitchFamily="49" charset="0"/>
                <a:ea typeface="JetBrains Mono" pitchFamily="49" charset="-122"/>
                <a:cs typeface="JetBrains Mono" pitchFamily="49" charset="-120"/>
              </a:rPr>
              <a:t>   def avg_score(self) -&gt; float: …/ 5</a:t>
            </a:r>
            <a:endParaRPr lang="en-US" sz="1200" dirty="0"/>
          </a:p>
        </p:txBody>
      </p:sp>
      <p:sp>
        <p:nvSpPr>
          <p:cNvPr id="25" name="Shape 23"/>
          <p:cNvSpPr/>
          <p:nvPr/>
        </p:nvSpPr>
        <p:spPr>
          <a:xfrm>
            <a:off x="4946614" y="2913013"/>
            <a:ext cx="0" cy="205698"/>
          </a:xfrm>
          <a:prstGeom prst="line">
            <a:avLst/>
          </a:prstGeom>
          <a:noFill/>
          <a:ln w="38100">
            <a:solidFill>
              <a:srgbClr val="E8843F"/>
            </a:solidFill>
            <a:prstDash val="solid"/>
          </a:ln>
        </p:spPr>
        <p:txBody>
          <a:bodyPr/>
          <a:lstStyle/>
          <a:p>
            <a:endParaRPr lang="en-CN"/>
          </a:p>
        </p:txBody>
      </p:sp>
      <p:sp>
        <p:nvSpPr>
          <p:cNvPr id="26" name="Text 24"/>
          <p:cNvSpPr/>
          <p:nvPr/>
        </p:nvSpPr>
        <p:spPr>
          <a:xfrm>
            <a:off x="5105364" y="3118706"/>
            <a:ext cx="6278842" cy="231098"/>
          </a:xfrm>
          <a:prstGeom prst="rect">
            <a:avLst/>
          </a:prstGeom>
          <a:noFill/>
          <a:ln/>
        </p:spPr>
        <p:txBody>
          <a:bodyPr wrap="none" lIns="0" tIns="0" rIns="0" bIns="0" rtlCol="0" anchor="t">
            <a:normAutofit/>
          </a:bodyPr>
          <a:lstStyle/>
          <a:p>
            <a:pPr marL="0" indent="0" algn="l">
              <a:lnSpc>
                <a:spcPts val="1620"/>
              </a:lnSpc>
              <a:buNone/>
            </a:pPr>
            <a:r>
              <a:rPr lang="en-US" sz="1200" dirty="0">
                <a:solidFill>
                  <a:srgbClr val="7C8FA3"/>
                </a:solidFill>
                <a:latin typeface="JetBrains Mono" pitchFamily="49" charset="0"/>
                <a:ea typeface="JetBrains Mono" pitchFamily="49" charset="-122"/>
                <a:cs typeface="JetBrains Mono" pitchFamily="49" charset="-120"/>
              </a:rPr>
              <a:t>121</a:t>
            </a:r>
            <a:r>
              <a:rPr lang="en-US" sz="1200" dirty="0">
                <a:solidFill>
                  <a:srgbClr val="D6DDE5"/>
                </a:solidFill>
                <a:latin typeface="JetBrains Mono" pitchFamily="49" charset="0"/>
                <a:ea typeface="JetBrains Mono" pitchFamily="49" charset="-122"/>
                <a:cs typeface="JetBrains Mono" pitchFamily="49" charset="-120"/>
              </a:rPr>
              <a:t> class ClassifyDoneEvent(BaseModel):</a:t>
            </a:r>
            <a:endParaRPr lang="en-US" sz="1200" dirty="0"/>
          </a:p>
        </p:txBody>
      </p:sp>
      <p:sp>
        <p:nvSpPr>
          <p:cNvPr id="27" name="Text 25"/>
          <p:cNvSpPr/>
          <p:nvPr/>
        </p:nvSpPr>
        <p:spPr>
          <a:xfrm>
            <a:off x="4927564" y="3324411"/>
            <a:ext cx="6451564" cy="205698"/>
          </a:xfrm>
          <a:prstGeom prst="rect">
            <a:avLst/>
          </a:prstGeom>
          <a:solidFill>
            <a:srgbClr val="3A2B20"/>
          </a:solidFill>
          <a:ln/>
        </p:spPr>
        <p:txBody>
          <a:bodyPr wrap="none" lIns="177223" tIns="0" rIns="0" bIns="0" rtlCol="0" anchor="t">
            <a:normAutofit/>
          </a:bodyPr>
          <a:lstStyle/>
          <a:p>
            <a:pPr marL="0" indent="0" algn="l">
              <a:lnSpc>
                <a:spcPts val="1620"/>
              </a:lnSpc>
              <a:buNone/>
            </a:pPr>
            <a:r>
              <a:rPr lang="en-US" sz="1200" dirty="0">
                <a:solidFill>
                  <a:srgbClr val="7C8FA3"/>
                </a:solidFill>
                <a:latin typeface="JetBrains Mono" pitchFamily="49" charset="0"/>
                <a:ea typeface="JetBrains Mono" pitchFamily="49" charset="-122"/>
                <a:cs typeface="JetBrains Mono" pitchFamily="49" charset="-120"/>
              </a:rPr>
              <a:t>124</a:t>
            </a:r>
            <a:r>
              <a:rPr lang="en-US" sz="1200" dirty="0">
                <a:solidFill>
                  <a:srgbClr val="D6DDE5"/>
                </a:solidFill>
                <a:latin typeface="JetBrains Mono" pitchFamily="49" charset="0"/>
                <a:ea typeface="JetBrains Mono" pitchFamily="49" charset="-122"/>
                <a:cs typeface="JetBrains Mono" pitchFamily="49" charset="-120"/>
              </a:rPr>
              <a:t>   stage: Literal["classify_done"] = "classify_done" </a:t>
            </a:r>
            <a:r>
              <a:rPr lang="en-US" sz="1200" b="1" dirty="0">
                <a:solidFill>
                  <a:srgbClr val="F2A46B"/>
                </a:solidFill>
                <a:latin typeface="JetBrains Mono" pitchFamily="49" charset="0"/>
                <a:ea typeface="JetBrains Mono" pitchFamily="49" charset="-122"/>
                <a:cs typeface="JetBrains Mono" pitchFamily="49" charset="-120"/>
              </a:rPr>
              <a:t>← 3</a:t>
            </a:r>
            <a:endParaRPr lang="en-US" sz="1200" dirty="0"/>
          </a:p>
        </p:txBody>
      </p:sp>
      <p:sp>
        <p:nvSpPr>
          <p:cNvPr id="28" name="Shape 26"/>
          <p:cNvSpPr/>
          <p:nvPr/>
        </p:nvSpPr>
        <p:spPr>
          <a:xfrm>
            <a:off x="4946614" y="3324411"/>
            <a:ext cx="0" cy="205698"/>
          </a:xfrm>
          <a:prstGeom prst="line">
            <a:avLst/>
          </a:prstGeom>
          <a:noFill/>
          <a:ln w="38100">
            <a:solidFill>
              <a:srgbClr val="E8843F"/>
            </a:solidFill>
            <a:prstDash val="solid"/>
          </a:ln>
        </p:spPr>
        <p:txBody>
          <a:bodyPr/>
          <a:lstStyle/>
          <a:p>
            <a:endParaRPr lang="en-CN"/>
          </a:p>
        </p:txBody>
      </p:sp>
      <p:sp>
        <p:nvSpPr>
          <p:cNvPr id="29" name="Text 27"/>
          <p:cNvSpPr/>
          <p:nvPr/>
        </p:nvSpPr>
        <p:spPr>
          <a:xfrm>
            <a:off x="5105364" y="3530104"/>
            <a:ext cx="6278842" cy="231098"/>
          </a:xfrm>
          <a:prstGeom prst="rect">
            <a:avLst/>
          </a:prstGeom>
          <a:noFill/>
          <a:ln/>
        </p:spPr>
        <p:txBody>
          <a:bodyPr wrap="none" lIns="0" tIns="0" rIns="0" bIns="0" rtlCol="0" anchor="t">
            <a:normAutofit/>
          </a:bodyPr>
          <a:lstStyle/>
          <a:p>
            <a:pPr marL="0" indent="0" algn="l">
              <a:lnSpc>
                <a:spcPts val="1620"/>
              </a:lnSpc>
              <a:buNone/>
            </a:pPr>
            <a:r>
              <a:rPr lang="en-US" sz="1200" dirty="0">
                <a:solidFill>
                  <a:srgbClr val="7C8FA3"/>
                </a:solidFill>
                <a:latin typeface="JetBrains Mono" pitchFamily="49" charset="0"/>
                <a:ea typeface="JetBrains Mono" pitchFamily="49" charset="-122"/>
                <a:cs typeface="JetBrains Mono" pitchFamily="49" charset="-120"/>
              </a:rPr>
              <a:t>125</a:t>
            </a:r>
            <a:r>
              <a:rPr lang="en-US" sz="1200" dirty="0">
                <a:solidFill>
                  <a:srgbClr val="D6DDE5"/>
                </a:solidFill>
                <a:latin typeface="JetBrains Mono" pitchFamily="49" charset="0"/>
                <a:ea typeface="JetBrains Mono" pitchFamily="49" charset="-122"/>
                <a:cs typeface="JetBrains Mono" pitchFamily="49" charset="-120"/>
              </a:rPr>
              <a:t>   classification: ClassificationResult</a:t>
            </a:r>
            <a:endParaRPr lang="en-US" sz="1200" dirty="0"/>
          </a:p>
        </p:txBody>
      </p:sp>
      <p:sp>
        <p:nvSpPr>
          <p:cNvPr id="30" name="Text 28"/>
          <p:cNvSpPr/>
          <p:nvPr/>
        </p:nvSpPr>
        <p:spPr>
          <a:xfrm>
            <a:off x="5105364" y="3735809"/>
            <a:ext cx="6278842" cy="231098"/>
          </a:xfrm>
          <a:prstGeom prst="rect">
            <a:avLst/>
          </a:prstGeom>
          <a:noFill/>
          <a:ln/>
        </p:spPr>
        <p:txBody>
          <a:bodyPr wrap="none" lIns="0" tIns="0" rIns="0" bIns="0" rtlCol="0" anchor="t">
            <a:normAutofit/>
          </a:bodyPr>
          <a:lstStyle/>
          <a:p>
            <a:pPr marL="0" indent="0" algn="l">
              <a:lnSpc>
                <a:spcPts val="1620"/>
              </a:lnSpc>
              <a:buNone/>
            </a:pPr>
            <a:r>
              <a:rPr lang="en-US" sz="1200" dirty="0">
                <a:solidFill>
                  <a:srgbClr val="7C8FA3"/>
                </a:solidFill>
                <a:latin typeface="JetBrains Mono" pitchFamily="49" charset="0"/>
                <a:ea typeface="JetBrains Mono" pitchFamily="49" charset="-122"/>
                <a:cs typeface="JetBrains Mono" pitchFamily="49" charset="-120"/>
              </a:rPr>
              <a:t>259</a:t>
            </a:r>
            <a:r>
              <a:rPr lang="en-US" sz="1200" dirty="0">
                <a:solidFill>
                  <a:srgbClr val="D6DDE5"/>
                </a:solidFill>
                <a:latin typeface="JetBrains Mono" pitchFamily="49" charset="0"/>
                <a:ea typeface="JetBrains Mono" pitchFamily="49" charset="-122"/>
                <a:cs typeface="JetBrains Mono" pitchFamily="49" charset="-120"/>
              </a:rPr>
              <a:t> AgentEvent = Union[ClassifyStartEvent, …]</a:t>
            </a:r>
            <a:endParaRPr lang="en-US" sz="1200" dirty="0"/>
          </a:p>
        </p:txBody>
      </p:sp>
      <p:sp>
        <p:nvSpPr>
          <p:cNvPr id="31" name="Text 29"/>
          <p:cNvSpPr/>
          <p:nvPr/>
        </p:nvSpPr>
        <p:spPr>
          <a:xfrm>
            <a:off x="5105364" y="4043102"/>
            <a:ext cx="6278842" cy="238666"/>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9AA9B8"/>
                </a:solidFill>
                <a:latin typeface="JetBrains Mono" pitchFamily="49" charset="0"/>
                <a:ea typeface="JetBrains Mono" pitchFamily="49" charset="-122"/>
                <a:cs typeface="JetBrains Mono" pitchFamily="49" charset="-120"/>
              </a:rPr>
              <a:t>01_content_writer.py · async_main</a:t>
            </a:r>
            <a:endParaRPr lang="en-US" sz="1200" dirty="0"/>
          </a:p>
        </p:txBody>
      </p:sp>
      <p:sp>
        <p:nvSpPr>
          <p:cNvPr id="32" name="Text 30"/>
          <p:cNvSpPr/>
          <p:nvPr/>
        </p:nvSpPr>
        <p:spPr>
          <a:xfrm>
            <a:off x="4927564" y="4307173"/>
            <a:ext cx="6451564" cy="205698"/>
          </a:xfrm>
          <a:prstGeom prst="rect">
            <a:avLst/>
          </a:prstGeom>
          <a:solidFill>
            <a:srgbClr val="3A2B20"/>
          </a:solidFill>
          <a:ln/>
        </p:spPr>
        <p:txBody>
          <a:bodyPr wrap="none" lIns="177223" tIns="0" rIns="0" bIns="0" rtlCol="0" anchor="t">
            <a:normAutofit/>
          </a:bodyPr>
          <a:lstStyle/>
          <a:p>
            <a:pPr marL="0" indent="0" algn="l">
              <a:lnSpc>
                <a:spcPts val="1620"/>
              </a:lnSpc>
              <a:buNone/>
            </a:pPr>
            <a:r>
              <a:rPr lang="en-US" sz="1200" dirty="0">
                <a:solidFill>
                  <a:srgbClr val="7C8FA3"/>
                </a:solidFill>
                <a:latin typeface="JetBrains Mono" pitchFamily="49" charset="0"/>
                <a:ea typeface="JetBrains Mono" pitchFamily="49" charset="-122"/>
                <a:cs typeface="JetBrains Mono" pitchFamily="49" charset="-120"/>
              </a:rPr>
              <a:t>193</a:t>
            </a:r>
            <a:r>
              <a:rPr lang="en-US" sz="1200" dirty="0">
                <a:solidFill>
                  <a:srgbClr val="D6DDE5"/>
                </a:solidFill>
                <a:latin typeface="JetBrains Mono" pitchFamily="49" charset="0"/>
                <a:ea typeface="JetBrains Mono" pitchFamily="49" charset="-122"/>
                <a:cs typeface="JetBrains Mono" pitchFamily="49" charset="-120"/>
              </a:rPr>
              <a:t> async for event in agent.run_stream(topic, …): </a:t>
            </a:r>
            <a:r>
              <a:rPr lang="en-US" sz="1200" b="1" dirty="0">
                <a:solidFill>
                  <a:srgbClr val="F2A46B"/>
                </a:solidFill>
                <a:latin typeface="JetBrains Mono" pitchFamily="49" charset="0"/>
                <a:ea typeface="JetBrains Mono" pitchFamily="49" charset="-122"/>
                <a:cs typeface="JetBrains Mono" pitchFamily="49" charset="-120"/>
              </a:rPr>
              <a:t>← 4</a:t>
            </a:r>
            <a:endParaRPr lang="en-US" sz="1200" dirty="0"/>
          </a:p>
        </p:txBody>
      </p:sp>
      <p:sp>
        <p:nvSpPr>
          <p:cNvPr id="33" name="Shape 31"/>
          <p:cNvSpPr/>
          <p:nvPr/>
        </p:nvSpPr>
        <p:spPr>
          <a:xfrm>
            <a:off x="4946614" y="4307173"/>
            <a:ext cx="0" cy="205698"/>
          </a:xfrm>
          <a:prstGeom prst="line">
            <a:avLst/>
          </a:prstGeom>
          <a:noFill/>
          <a:ln w="38100">
            <a:solidFill>
              <a:srgbClr val="E8843F"/>
            </a:solidFill>
            <a:prstDash val="solid"/>
          </a:ln>
        </p:spPr>
        <p:txBody>
          <a:bodyPr/>
          <a:lstStyle/>
          <a:p>
            <a:endParaRPr lang="en-CN"/>
          </a:p>
        </p:txBody>
      </p:sp>
      <p:sp>
        <p:nvSpPr>
          <p:cNvPr id="34" name="Text 32"/>
          <p:cNvSpPr/>
          <p:nvPr/>
        </p:nvSpPr>
        <p:spPr>
          <a:xfrm>
            <a:off x="4927564" y="4512866"/>
            <a:ext cx="6451564" cy="205698"/>
          </a:xfrm>
          <a:prstGeom prst="rect">
            <a:avLst/>
          </a:prstGeom>
          <a:solidFill>
            <a:srgbClr val="3A2B20"/>
          </a:solidFill>
          <a:ln/>
        </p:spPr>
        <p:txBody>
          <a:bodyPr wrap="none" lIns="177223" tIns="0" rIns="0" bIns="0" rtlCol="0" anchor="t">
            <a:normAutofit/>
          </a:bodyPr>
          <a:lstStyle/>
          <a:p>
            <a:pPr marL="0" indent="0" algn="l">
              <a:lnSpc>
                <a:spcPts val="1620"/>
              </a:lnSpc>
              <a:buNone/>
            </a:pPr>
            <a:r>
              <a:rPr lang="en-US" sz="1200" dirty="0">
                <a:solidFill>
                  <a:srgbClr val="7C8FA3"/>
                </a:solidFill>
                <a:latin typeface="JetBrains Mono" pitchFamily="49" charset="0"/>
                <a:ea typeface="JetBrains Mono" pitchFamily="49" charset="-122"/>
                <a:cs typeface="JetBrains Mono" pitchFamily="49" charset="-120"/>
              </a:rPr>
              <a:t>199</a:t>
            </a:r>
            <a:r>
              <a:rPr lang="en-US" sz="1200" dirty="0">
                <a:solidFill>
                  <a:srgbClr val="D6DDE5"/>
                </a:solidFill>
                <a:latin typeface="JetBrains Mono" pitchFamily="49" charset="0"/>
                <a:ea typeface="JetBrains Mono" pitchFamily="49" charset="-122"/>
                <a:cs typeface="JetBrains Mono" pitchFamily="49" charset="-120"/>
              </a:rPr>
              <a:t>   match event:</a:t>
            </a:r>
            <a:endParaRPr lang="en-US" sz="1200" dirty="0"/>
          </a:p>
        </p:txBody>
      </p:sp>
      <p:sp>
        <p:nvSpPr>
          <p:cNvPr id="35" name="Shape 33"/>
          <p:cNvSpPr/>
          <p:nvPr/>
        </p:nvSpPr>
        <p:spPr>
          <a:xfrm>
            <a:off x="4946614" y="4512866"/>
            <a:ext cx="0" cy="205698"/>
          </a:xfrm>
          <a:prstGeom prst="line">
            <a:avLst/>
          </a:prstGeom>
          <a:noFill/>
          <a:ln w="38100">
            <a:solidFill>
              <a:srgbClr val="E8843F"/>
            </a:solidFill>
            <a:prstDash val="solid"/>
          </a:ln>
        </p:spPr>
        <p:txBody>
          <a:bodyPr/>
          <a:lstStyle/>
          <a:p>
            <a:endParaRPr lang="en-CN"/>
          </a:p>
        </p:txBody>
      </p:sp>
      <p:sp>
        <p:nvSpPr>
          <p:cNvPr id="36" name="Text 34"/>
          <p:cNvSpPr/>
          <p:nvPr/>
        </p:nvSpPr>
        <p:spPr>
          <a:xfrm>
            <a:off x="5105364" y="4718571"/>
            <a:ext cx="6278842" cy="231098"/>
          </a:xfrm>
          <a:prstGeom prst="rect">
            <a:avLst/>
          </a:prstGeom>
          <a:noFill/>
          <a:ln/>
        </p:spPr>
        <p:txBody>
          <a:bodyPr wrap="none" lIns="0" tIns="0" rIns="0" bIns="0" rtlCol="0" anchor="t">
            <a:normAutofit/>
          </a:bodyPr>
          <a:lstStyle/>
          <a:p>
            <a:pPr marL="0" indent="0" algn="l">
              <a:lnSpc>
                <a:spcPts val="1620"/>
              </a:lnSpc>
              <a:buNone/>
            </a:pPr>
            <a:r>
              <a:rPr lang="en-US" sz="1200" dirty="0">
                <a:solidFill>
                  <a:srgbClr val="7C8FA3"/>
                </a:solidFill>
                <a:latin typeface="JetBrains Mono" pitchFamily="49" charset="0"/>
                <a:ea typeface="JetBrains Mono" pitchFamily="49" charset="-122"/>
                <a:cs typeface="JetBrains Mono" pitchFamily="49" charset="-120"/>
              </a:rPr>
              <a:t>204</a:t>
            </a:r>
            <a:r>
              <a:rPr lang="en-US" sz="1200" dirty="0">
                <a:solidFill>
                  <a:srgbClr val="D6DDE5"/>
                </a:solidFill>
                <a:latin typeface="JetBrains Mono" pitchFamily="49" charset="0"/>
                <a:ea typeface="JetBrains Mono" pitchFamily="49" charset="-122"/>
                <a:cs typeface="JetBrains Mono" pitchFamily="49" charset="-120"/>
              </a:rPr>
              <a:t>     case ClassifyDoneEvent(classification=c):</a:t>
            </a:r>
            <a:endParaRPr lang="en-US" sz="1200" dirty="0"/>
          </a:p>
        </p:txBody>
      </p:sp>
      <p:sp>
        <p:nvSpPr>
          <p:cNvPr id="37" name="Text 35"/>
          <p:cNvSpPr/>
          <p:nvPr/>
        </p:nvSpPr>
        <p:spPr>
          <a:xfrm>
            <a:off x="5105364" y="4924264"/>
            <a:ext cx="6278842" cy="231098"/>
          </a:xfrm>
          <a:prstGeom prst="rect">
            <a:avLst/>
          </a:prstGeom>
          <a:noFill/>
          <a:ln/>
        </p:spPr>
        <p:txBody>
          <a:bodyPr wrap="none" lIns="0" tIns="0" rIns="0" bIns="0" rtlCol="0" anchor="t">
            <a:normAutofit/>
          </a:bodyPr>
          <a:lstStyle/>
          <a:p>
            <a:pPr marL="0" indent="0" algn="l">
              <a:lnSpc>
                <a:spcPts val="1620"/>
              </a:lnSpc>
              <a:buNone/>
            </a:pPr>
            <a:r>
              <a:rPr lang="en-US" sz="1200" dirty="0">
                <a:solidFill>
                  <a:srgbClr val="7C8FA3"/>
                </a:solidFill>
                <a:latin typeface="JetBrains Mono" pitchFamily="49" charset="0"/>
                <a:ea typeface="JetBrains Mono" pitchFamily="49" charset="-122"/>
                <a:cs typeface="JetBrains Mono" pitchFamily="49" charset="-120"/>
              </a:rPr>
              <a:t>205</a:t>
            </a:r>
            <a:r>
              <a:rPr lang="en-US" sz="1200" dirty="0">
                <a:solidFill>
                  <a:srgbClr val="D6DDE5"/>
                </a:solidFill>
                <a:latin typeface="JetBrains Mono" pitchFamily="49" charset="0"/>
                <a:ea typeface="JetBrains Mono" pitchFamily="49" charset="-122"/>
                <a:cs typeface="JetBrains Mono" pitchFamily="49" charset="-120"/>
              </a:rPr>
              <a:t>       console.print(f"✓ {c.content_type.value}…")</a:t>
            </a:r>
            <a:endParaRPr lang="en-US" sz="1200" dirty="0"/>
          </a:p>
        </p:txBody>
      </p:sp>
      <p:sp>
        <p:nvSpPr>
          <p:cNvPr id="38" name="Text 36"/>
          <p:cNvSpPr/>
          <p:nvPr/>
        </p:nvSpPr>
        <p:spPr>
          <a:xfrm>
            <a:off x="812782" y="6238280"/>
            <a:ext cx="967994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7684"/>
                </a:solidFill>
                <a:latin typeface="IBM Plex Sans" pitchFamily="34" charset="0"/>
                <a:ea typeface="IBM Plex Sans" pitchFamily="34" charset="-122"/>
                <a:cs typeface="IBM Plex Sans" pitchFamily="34" charset="-120"/>
              </a:rPr>
              <a:t>07-content-writer · models.py L57–262 and 01_content_writer.py L193–205 · lines condensed</a:t>
            </a:r>
            <a:endParaRPr lang="en-US" sz="1200" dirty="0"/>
          </a:p>
        </p:txBody>
      </p:sp>
      <p:sp>
        <p:nvSpPr>
          <p:cNvPr id="39" name="Text 37"/>
          <p:cNvSpPr/>
          <p:nvPr/>
        </p:nvSpPr>
        <p:spPr>
          <a:xfrm>
            <a:off x="10312418" y="6238280"/>
            <a:ext cx="1066800" cy="238720"/>
          </a:xfrm>
          <a:prstGeom prst="rect">
            <a:avLst/>
          </a:prstGeom>
          <a:noFill/>
          <a:ln/>
        </p:spPr>
        <p:txBody>
          <a:bodyPr wrap="square" lIns="0" tIns="0" rIns="0" bIns="0" rtlCol="0" anchor="t">
            <a:normAutofit/>
          </a:bodyPr>
          <a:lstStyle/>
          <a:p>
            <a:pPr marL="0" indent="0" algn="r">
              <a:lnSpc>
                <a:spcPts val="1680"/>
              </a:lnSpc>
              <a:buNone/>
            </a:pPr>
            <a:r>
              <a:rPr lang="en-US" sz="1200" b="1" dirty="0">
                <a:solidFill>
                  <a:srgbClr val="6A7684"/>
                </a:solidFill>
                <a:latin typeface="IBM Plex Sans" pitchFamily="34" charset="0"/>
                <a:ea typeface="IBM Plex Sans" pitchFamily="34" charset="-122"/>
                <a:cs typeface="IBM Plex Sans" pitchFamily="34" charset="-120"/>
              </a:rPr>
              <a:t>24 / 27</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4F2EC"/>
        </a:solidFill>
        <a:effectLst/>
      </p:bgPr>
    </p:bg>
    <p:spTree>
      <p:nvGrpSpPr>
        <p:cNvPr id="1" name=""/>
        <p:cNvGrpSpPr/>
        <p:nvPr/>
      </p:nvGrpSpPr>
      <p:grpSpPr>
        <a:xfrm>
          <a:off x="0" y="0"/>
          <a:ext cx="0" cy="0"/>
          <a:chOff x="0" y="0"/>
          <a:chExt cx="0" cy="0"/>
        </a:xfrm>
      </p:grpSpPr>
      <p:sp>
        <p:nvSpPr>
          <p:cNvPr id="2" name="Text 0"/>
          <p:cNvSpPr/>
          <p:nvPr/>
        </p:nvSpPr>
        <p:spPr>
          <a:xfrm>
            <a:off x="812782" y="711163"/>
            <a:ext cx="10883429"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04E17"/>
                </a:solidFill>
                <a:latin typeface="IBM Plex Sans" pitchFamily="34" charset="0"/>
                <a:ea typeface="IBM Plex Sans" pitchFamily="34" charset="-122"/>
                <a:cs typeface="IBM Plex Sans" pitchFamily="34" charset="-120"/>
              </a:rPr>
              <a:t>07 · CONTENT WRITER · IN CODE</a:t>
            </a:r>
            <a:endParaRPr lang="en-US" sz="1200" dirty="0"/>
          </a:p>
        </p:txBody>
      </p:sp>
      <p:sp>
        <p:nvSpPr>
          <p:cNvPr id="3" name="Text 1"/>
          <p:cNvSpPr>
            <a:spLocks noGrp="1"/>
          </p:cNvSpPr>
          <p:nvPr>
            <p:ph type="title"/>
          </p:nvPr>
        </p:nvSpPr>
        <p:spPr>
          <a:xfrm>
            <a:off x="812782" y="1000658"/>
            <a:ext cx="10883429" cy="444464"/>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6212C"/>
                </a:solidFill>
                <a:latin typeface="IBM Plex Sans" pitchFamily="34" charset="0"/>
                <a:ea typeface="IBM Plex Sans" pitchFamily="34" charset="-122"/>
                <a:cs typeface="IBM Plex Sans" pitchFamily="34" charset="-120"/>
              </a:rPr>
              <a:t>Production concerns: rate limits and cost</a:t>
            </a:r>
            <a:endParaRPr lang="en-US" sz="3000" dirty="0"/>
          </a:p>
        </p:txBody>
      </p:sp>
      <p:sp>
        <p:nvSpPr>
          <p:cNvPr id="4" name="Text 2"/>
          <p:cNvSpPr/>
          <p:nvPr/>
        </p:nvSpPr>
        <p:spPr>
          <a:xfrm>
            <a:off x="812782" y="1673721"/>
            <a:ext cx="304782" cy="304782"/>
          </a:xfrm>
          <a:custGeom>
            <a:avLst/>
            <a:gdLst/>
            <a:ahLst/>
            <a:cxnLst/>
            <a:rect l="l" t="t" r="r" b="b"/>
            <a:pathLst>
              <a:path w="304782" h="304782">
                <a:moveTo>
                  <a:pt x="152391" y="0"/>
                </a:moveTo>
                <a:lnTo>
                  <a:pt x="152391" y="0"/>
                </a:lnTo>
                <a:arcTo wR="152391" hR="152391" stAng="16200000" swAng="5400000"/>
                <a:lnTo>
                  <a:pt x="304782" y="152391"/>
                </a:lnTo>
                <a:arcTo wR="152391" hR="152391" stAng="0" swAng="5400000"/>
                <a:lnTo>
                  <a:pt x="152391" y="304782"/>
                </a:lnTo>
                <a:arcTo wR="152391" hR="152391" stAng="5400000" swAng="5400000"/>
                <a:lnTo>
                  <a:pt x="0" y="152391"/>
                </a:lnTo>
                <a:arcTo wR="152391" hR="152391" stAng="10800000" swAng="5400000"/>
                <a:close/>
              </a:path>
            </a:pathLst>
          </a:custGeom>
          <a:solidFill>
            <a:srgbClr val="E8843F"/>
          </a:solidFill>
          <a:ln/>
        </p:spPr>
        <p:txBody>
          <a:bodyPr wrap="square" lIns="0" tIns="0" rIns="0" bIns="0" rtlCol="0" anchor="t">
            <a:normAutofit/>
          </a:bodyPr>
          <a:lstStyle/>
          <a:p>
            <a:pPr marL="0" indent="0" algn="ctr">
              <a:lnSpc>
                <a:spcPts val="2405"/>
              </a:lnSpc>
              <a:buNone/>
            </a:pPr>
            <a:r>
              <a:rPr lang="en-US" sz="1300" b="1" dirty="0">
                <a:solidFill>
                  <a:srgbClr val="16212C"/>
                </a:solidFill>
                <a:latin typeface="IBM Plex Sans" pitchFamily="34" charset="0"/>
                <a:ea typeface="IBM Plex Sans" pitchFamily="34" charset="-122"/>
                <a:cs typeface="IBM Plex Sans" pitchFamily="34" charset="-120"/>
              </a:rPr>
              <a:t>1</a:t>
            </a:r>
            <a:endParaRPr lang="en-US" sz="1300" dirty="0"/>
          </a:p>
        </p:txBody>
      </p:sp>
      <p:sp>
        <p:nvSpPr>
          <p:cNvPr id="5" name="Text 3"/>
          <p:cNvSpPr/>
          <p:nvPr/>
        </p:nvSpPr>
        <p:spPr>
          <a:xfrm>
            <a:off x="1244564" y="1673721"/>
            <a:ext cx="3479564" cy="253964"/>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6212C"/>
                </a:solidFill>
                <a:latin typeface="IBM Plex Sans" pitchFamily="34" charset="0"/>
                <a:ea typeface="IBM Plex Sans" pitchFamily="34" charset="-122"/>
                <a:cs typeface="IBM Plex Sans" pitchFamily="34" charset="-120"/>
              </a:rPr>
              <a:t>Retry only on 429s</a:t>
            </a:r>
            <a:endParaRPr lang="en-US" sz="1500" dirty="0"/>
          </a:p>
        </p:txBody>
      </p:sp>
      <p:sp>
        <p:nvSpPr>
          <p:cNvPr id="6" name="Text 4"/>
          <p:cNvSpPr/>
          <p:nvPr/>
        </p:nvSpPr>
        <p:spPr>
          <a:xfrm>
            <a:off x="1244564" y="1940347"/>
            <a:ext cx="3479564" cy="487669"/>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D4A57"/>
                </a:solidFill>
                <a:latin typeface="IBM Plex Sans" pitchFamily="34" charset="0"/>
                <a:ea typeface="IBM Plex Sans" pitchFamily="34" charset="-122"/>
                <a:cs typeface="IBM Plex Sans" pitchFamily="34" charset="-120"/>
              </a:rPr>
              <a:t>Parallel phases can burst past limits; other errors still surface.</a:t>
            </a:r>
            <a:endParaRPr lang="en-US" sz="1300" dirty="0"/>
          </a:p>
        </p:txBody>
      </p:sp>
      <p:sp>
        <p:nvSpPr>
          <p:cNvPr id="7" name="Text 5"/>
          <p:cNvSpPr/>
          <p:nvPr/>
        </p:nvSpPr>
        <p:spPr>
          <a:xfrm>
            <a:off x="812782" y="2567682"/>
            <a:ext cx="304782" cy="304782"/>
          </a:xfrm>
          <a:custGeom>
            <a:avLst/>
            <a:gdLst/>
            <a:ahLst/>
            <a:cxnLst/>
            <a:rect l="l" t="t" r="r" b="b"/>
            <a:pathLst>
              <a:path w="304782" h="304782">
                <a:moveTo>
                  <a:pt x="152391" y="0"/>
                </a:moveTo>
                <a:lnTo>
                  <a:pt x="152391" y="0"/>
                </a:lnTo>
                <a:arcTo wR="152391" hR="152391" stAng="16200000" swAng="5400000"/>
                <a:lnTo>
                  <a:pt x="304782" y="152391"/>
                </a:lnTo>
                <a:arcTo wR="152391" hR="152391" stAng="0" swAng="5400000"/>
                <a:lnTo>
                  <a:pt x="152391" y="304782"/>
                </a:lnTo>
                <a:arcTo wR="152391" hR="152391" stAng="5400000" swAng="5400000"/>
                <a:lnTo>
                  <a:pt x="0" y="152391"/>
                </a:lnTo>
                <a:arcTo wR="152391" hR="152391" stAng="10800000" swAng="5400000"/>
                <a:close/>
              </a:path>
            </a:pathLst>
          </a:custGeom>
          <a:solidFill>
            <a:srgbClr val="E8843F"/>
          </a:solidFill>
          <a:ln/>
        </p:spPr>
        <p:txBody>
          <a:bodyPr wrap="square" lIns="0" tIns="0" rIns="0" bIns="0" rtlCol="0" anchor="t">
            <a:normAutofit/>
          </a:bodyPr>
          <a:lstStyle/>
          <a:p>
            <a:pPr marL="0" indent="0" algn="ctr">
              <a:lnSpc>
                <a:spcPts val="2405"/>
              </a:lnSpc>
              <a:buNone/>
            </a:pPr>
            <a:r>
              <a:rPr lang="en-US" sz="1300" b="1" dirty="0">
                <a:solidFill>
                  <a:srgbClr val="16212C"/>
                </a:solidFill>
                <a:latin typeface="IBM Plex Sans" pitchFamily="34" charset="0"/>
                <a:ea typeface="IBM Plex Sans" pitchFamily="34" charset="-122"/>
                <a:cs typeface="IBM Plex Sans" pitchFamily="34" charset="-120"/>
              </a:rPr>
              <a:t>2</a:t>
            </a:r>
            <a:endParaRPr lang="en-US" sz="1300" dirty="0"/>
          </a:p>
        </p:txBody>
      </p:sp>
      <p:sp>
        <p:nvSpPr>
          <p:cNvPr id="8" name="Text 6"/>
          <p:cNvSpPr/>
          <p:nvPr/>
        </p:nvSpPr>
        <p:spPr>
          <a:xfrm>
            <a:off x="1244564" y="2567682"/>
            <a:ext cx="3479564" cy="253964"/>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6212C"/>
                </a:solidFill>
                <a:latin typeface="IBM Plex Sans" pitchFamily="34" charset="0"/>
                <a:ea typeface="IBM Plex Sans" pitchFamily="34" charset="-122"/>
                <a:cs typeface="IBM Plex Sans" pitchFamily="34" charset="-120"/>
              </a:rPr>
              <a:t>Exponential backoff</a:t>
            </a:r>
            <a:endParaRPr lang="en-US" sz="1500" dirty="0"/>
          </a:p>
        </p:txBody>
      </p:sp>
      <p:sp>
        <p:nvSpPr>
          <p:cNvPr id="9" name="Text 7"/>
          <p:cNvSpPr/>
          <p:nvPr/>
        </p:nvSpPr>
        <p:spPr>
          <a:xfrm>
            <a:off x="1244564" y="2834308"/>
            <a:ext cx="3479564" cy="256535"/>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D4A57"/>
                </a:solidFill>
                <a:latin typeface="IBM Plex Sans" pitchFamily="34" charset="0"/>
                <a:ea typeface="IBM Plex Sans" pitchFamily="34" charset="-122"/>
                <a:cs typeface="IBM Plex Sans" pitchFamily="34" charset="-120"/>
              </a:rPr>
              <a:t>30 s to 120 s waits, up to 6 attempts.</a:t>
            </a:r>
            <a:endParaRPr lang="en-US" sz="1300" dirty="0"/>
          </a:p>
        </p:txBody>
      </p:sp>
      <p:sp>
        <p:nvSpPr>
          <p:cNvPr id="10" name="Text 8"/>
          <p:cNvSpPr/>
          <p:nvPr/>
        </p:nvSpPr>
        <p:spPr>
          <a:xfrm>
            <a:off x="812782" y="3230513"/>
            <a:ext cx="304782" cy="304782"/>
          </a:xfrm>
          <a:custGeom>
            <a:avLst/>
            <a:gdLst/>
            <a:ahLst/>
            <a:cxnLst/>
            <a:rect l="l" t="t" r="r" b="b"/>
            <a:pathLst>
              <a:path w="304782" h="304782">
                <a:moveTo>
                  <a:pt x="152391" y="0"/>
                </a:moveTo>
                <a:lnTo>
                  <a:pt x="152391" y="0"/>
                </a:lnTo>
                <a:arcTo wR="152391" hR="152391" stAng="16200000" swAng="5400000"/>
                <a:lnTo>
                  <a:pt x="304782" y="152391"/>
                </a:lnTo>
                <a:arcTo wR="152391" hR="152391" stAng="0" swAng="5400000"/>
                <a:lnTo>
                  <a:pt x="152391" y="304782"/>
                </a:lnTo>
                <a:arcTo wR="152391" hR="152391" stAng="5400000" swAng="5400000"/>
                <a:lnTo>
                  <a:pt x="0" y="152391"/>
                </a:lnTo>
                <a:arcTo wR="152391" hR="152391" stAng="10800000" swAng="5400000"/>
                <a:close/>
              </a:path>
            </a:pathLst>
          </a:custGeom>
          <a:solidFill>
            <a:srgbClr val="E8843F"/>
          </a:solidFill>
          <a:ln/>
        </p:spPr>
        <p:txBody>
          <a:bodyPr wrap="square" lIns="0" tIns="0" rIns="0" bIns="0" rtlCol="0" anchor="t">
            <a:normAutofit/>
          </a:bodyPr>
          <a:lstStyle/>
          <a:p>
            <a:pPr marL="0" indent="0" algn="ctr">
              <a:lnSpc>
                <a:spcPts val="2405"/>
              </a:lnSpc>
              <a:buNone/>
            </a:pPr>
            <a:r>
              <a:rPr lang="en-US" sz="1300" b="1" dirty="0">
                <a:solidFill>
                  <a:srgbClr val="16212C"/>
                </a:solidFill>
                <a:latin typeface="IBM Plex Sans" pitchFamily="34" charset="0"/>
                <a:ea typeface="IBM Plex Sans" pitchFamily="34" charset="-122"/>
                <a:cs typeface="IBM Plex Sans" pitchFamily="34" charset="-120"/>
              </a:rPr>
              <a:t>3</a:t>
            </a:r>
            <a:endParaRPr lang="en-US" sz="1300" dirty="0"/>
          </a:p>
        </p:txBody>
      </p:sp>
      <p:sp>
        <p:nvSpPr>
          <p:cNvPr id="11" name="Text 9"/>
          <p:cNvSpPr/>
          <p:nvPr/>
        </p:nvSpPr>
        <p:spPr>
          <a:xfrm>
            <a:off x="1244564" y="3230513"/>
            <a:ext cx="3479564" cy="253964"/>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6212C"/>
                </a:solidFill>
                <a:latin typeface="IBM Plex Sans" pitchFamily="34" charset="0"/>
                <a:ea typeface="IBM Plex Sans" pitchFamily="34" charset="-122"/>
                <a:cs typeface="IBM Plex Sans" pitchFamily="34" charset="-120"/>
              </a:rPr>
              <a:t>Bound every search</a:t>
            </a:r>
            <a:endParaRPr lang="en-US" sz="1500" dirty="0"/>
          </a:p>
        </p:txBody>
      </p:sp>
      <p:sp>
        <p:nvSpPr>
          <p:cNvPr id="12" name="Text 10"/>
          <p:cNvSpPr/>
          <p:nvPr/>
        </p:nvSpPr>
        <p:spPr>
          <a:xfrm>
            <a:off x="1244564" y="3497138"/>
            <a:ext cx="3479564" cy="487669"/>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D4A57"/>
                </a:solidFill>
                <a:latin typeface="IBM Plex Sans" pitchFamily="34" charset="0"/>
                <a:ea typeface="IBM Plex Sans" pitchFamily="34" charset="-122"/>
                <a:cs typeface="IBM Plex Sans" pitchFamily="34" charset="-120"/>
              </a:rPr>
              <a:t>One search per worker; each injects ~25–35k tokens.</a:t>
            </a:r>
            <a:endParaRPr lang="en-US" sz="1300" dirty="0"/>
          </a:p>
        </p:txBody>
      </p:sp>
      <p:sp>
        <p:nvSpPr>
          <p:cNvPr id="13" name="Text 11"/>
          <p:cNvSpPr/>
          <p:nvPr/>
        </p:nvSpPr>
        <p:spPr>
          <a:xfrm>
            <a:off x="812782" y="4124474"/>
            <a:ext cx="304782" cy="304782"/>
          </a:xfrm>
          <a:custGeom>
            <a:avLst/>
            <a:gdLst/>
            <a:ahLst/>
            <a:cxnLst/>
            <a:rect l="l" t="t" r="r" b="b"/>
            <a:pathLst>
              <a:path w="304782" h="304782">
                <a:moveTo>
                  <a:pt x="152391" y="0"/>
                </a:moveTo>
                <a:lnTo>
                  <a:pt x="152391" y="0"/>
                </a:lnTo>
                <a:arcTo wR="152391" hR="152391" stAng="16200000" swAng="5400000"/>
                <a:lnTo>
                  <a:pt x="304782" y="152391"/>
                </a:lnTo>
                <a:arcTo wR="152391" hR="152391" stAng="0" swAng="5400000"/>
                <a:lnTo>
                  <a:pt x="152391" y="304782"/>
                </a:lnTo>
                <a:arcTo wR="152391" hR="152391" stAng="5400000" swAng="5400000"/>
                <a:lnTo>
                  <a:pt x="0" y="152391"/>
                </a:lnTo>
                <a:arcTo wR="152391" hR="152391" stAng="10800000" swAng="5400000"/>
                <a:close/>
              </a:path>
            </a:pathLst>
          </a:custGeom>
          <a:solidFill>
            <a:srgbClr val="E8843F"/>
          </a:solidFill>
          <a:ln/>
        </p:spPr>
        <p:txBody>
          <a:bodyPr wrap="square" lIns="0" tIns="0" rIns="0" bIns="0" rtlCol="0" anchor="t">
            <a:normAutofit/>
          </a:bodyPr>
          <a:lstStyle/>
          <a:p>
            <a:pPr marL="0" indent="0" algn="ctr">
              <a:lnSpc>
                <a:spcPts val="2405"/>
              </a:lnSpc>
              <a:buNone/>
            </a:pPr>
            <a:r>
              <a:rPr lang="en-US" sz="1300" b="1" dirty="0">
                <a:solidFill>
                  <a:srgbClr val="16212C"/>
                </a:solidFill>
                <a:latin typeface="IBM Plex Sans" pitchFamily="34" charset="0"/>
                <a:ea typeface="IBM Plex Sans" pitchFamily="34" charset="-122"/>
                <a:cs typeface="IBM Plex Sans" pitchFamily="34" charset="-120"/>
              </a:rPr>
              <a:t>4</a:t>
            </a:r>
            <a:endParaRPr lang="en-US" sz="1300" dirty="0"/>
          </a:p>
        </p:txBody>
      </p:sp>
      <p:sp>
        <p:nvSpPr>
          <p:cNvPr id="14" name="Text 12"/>
          <p:cNvSpPr/>
          <p:nvPr/>
        </p:nvSpPr>
        <p:spPr>
          <a:xfrm>
            <a:off x="1244564" y="4124474"/>
            <a:ext cx="3479564" cy="253964"/>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6212C"/>
                </a:solidFill>
                <a:latin typeface="IBM Plex Sans" pitchFamily="34" charset="0"/>
                <a:ea typeface="IBM Plex Sans" pitchFamily="34" charset="-122"/>
                <a:cs typeface="IBM Plex Sans" pitchFamily="34" charset="-120"/>
              </a:rPr>
              <a:t>Truncate where it's cheap</a:t>
            </a:r>
            <a:endParaRPr lang="en-US" sz="1500" dirty="0"/>
          </a:p>
        </p:txBody>
      </p:sp>
      <p:sp>
        <p:nvSpPr>
          <p:cNvPr id="15" name="Text 13"/>
          <p:cNvSpPr/>
          <p:nvPr/>
        </p:nvSpPr>
        <p:spPr>
          <a:xfrm>
            <a:off x="1244564" y="4391099"/>
            <a:ext cx="3479564" cy="487669"/>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D4A57"/>
                </a:solidFill>
                <a:latin typeface="IBM Plex Sans" pitchFamily="34" charset="0"/>
                <a:ea typeface="IBM Plex Sans" pitchFamily="34" charset="-122"/>
                <a:cs typeface="IBM Plex Sans" pitchFamily="34" charset="-120"/>
              </a:rPr>
              <a:t>Haiku side-tasks see 2000/500 chars; Sonnet sees it all.</a:t>
            </a:r>
            <a:endParaRPr lang="en-US" sz="1300" dirty="0"/>
          </a:p>
        </p:txBody>
      </p:sp>
      <p:sp>
        <p:nvSpPr>
          <p:cNvPr id="16" name="Shape 14"/>
          <p:cNvSpPr/>
          <p:nvPr/>
        </p:nvSpPr>
        <p:spPr>
          <a:xfrm>
            <a:off x="4927564" y="1673721"/>
            <a:ext cx="6451564" cy="3562900"/>
          </a:xfrm>
          <a:prstGeom prst="roundRect">
            <a:avLst>
              <a:gd name="adj" fmla="val 2852"/>
            </a:avLst>
          </a:prstGeom>
          <a:solidFill>
            <a:srgbClr val="16212C"/>
          </a:solidFill>
          <a:ln/>
        </p:spPr>
        <p:txBody>
          <a:bodyPr/>
          <a:lstStyle/>
          <a:p>
            <a:endParaRPr lang="en-CN"/>
          </a:p>
        </p:txBody>
      </p:sp>
      <p:sp>
        <p:nvSpPr>
          <p:cNvPr id="17" name="Text 15"/>
          <p:cNvSpPr/>
          <p:nvPr/>
        </p:nvSpPr>
        <p:spPr>
          <a:xfrm>
            <a:off x="5105364" y="1826121"/>
            <a:ext cx="6278842" cy="238702"/>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9AA9B8"/>
                </a:solidFill>
                <a:latin typeface="JetBrains Mono" pitchFamily="49" charset="0"/>
                <a:ea typeface="JetBrains Mono" pitchFamily="49" charset="-122"/>
                <a:cs typeface="JetBrains Mono" pitchFamily="49" charset="-120"/>
              </a:rPr>
              <a:t>content_writer/agent.py</a:t>
            </a:r>
            <a:endParaRPr lang="en-US" sz="1200" dirty="0"/>
          </a:p>
        </p:txBody>
      </p:sp>
      <p:sp>
        <p:nvSpPr>
          <p:cNvPr id="18" name="Text 16"/>
          <p:cNvSpPr/>
          <p:nvPr/>
        </p:nvSpPr>
        <p:spPr>
          <a:xfrm>
            <a:off x="5105364" y="2090217"/>
            <a:ext cx="6278842" cy="231098"/>
          </a:xfrm>
          <a:prstGeom prst="rect">
            <a:avLst/>
          </a:prstGeom>
          <a:noFill/>
          <a:ln/>
        </p:spPr>
        <p:txBody>
          <a:bodyPr wrap="none" lIns="0" tIns="0" rIns="0" bIns="0" rtlCol="0" anchor="t">
            <a:normAutofit/>
          </a:bodyPr>
          <a:lstStyle/>
          <a:p>
            <a:pPr marL="0" indent="0" algn="l">
              <a:lnSpc>
                <a:spcPts val="1620"/>
              </a:lnSpc>
              <a:buNone/>
            </a:pPr>
            <a:r>
              <a:rPr lang="en-US" sz="1200" dirty="0">
                <a:solidFill>
                  <a:srgbClr val="7C8FA3"/>
                </a:solidFill>
                <a:latin typeface="JetBrains Mono" pitchFamily="49" charset="0"/>
                <a:ea typeface="JetBrains Mono" pitchFamily="49" charset="-122"/>
                <a:cs typeface="JetBrains Mono" pitchFamily="49" charset="-120"/>
              </a:rPr>
              <a:t>104</a:t>
            </a:r>
            <a:r>
              <a:rPr lang="en-US" sz="1200" dirty="0">
                <a:solidFill>
                  <a:srgbClr val="D6DDE5"/>
                </a:solidFill>
                <a:latin typeface="JetBrains Mono" pitchFamily="49" charset="0"/>
                <a:ea typeface="JetBrains Mono" pitchFamily="49" charset="-122"/>
                <a:cs typeface="JetBrains Mono" pitchFamily="49" charset="-120"/>
              </a:rPr>
              <a:t> @retry(</a:t>
            </a:r>
            <a:endParaRPr lang="en-US" sz="1200" dirty="0"/>
          </a:p>
        </p:txBody>
      </p:sp>
      <p:sp>
        <p:nvSpPr>
          <p:cNvPr id="19" name="Text 17"/>
          <p:cNvSpPr/>
          <p:nvPr/>
        </p:nvSpPr>
        <p:spPr>
          <a:xfrm>
            <a:off x="4927564" y="2295922"/>
            <a:ext cx="6451564" cy="205698"/>
          </a:xfrm>
          <a:prstGeom prst="rect">
            <a:avLst/>
          </a:prstGeom>
          <a:solidFill>
            <a:srgbClr val="3A2B20"/>
          </a:solidFill>
          <a:ln/>
        </p:spPr>
        <p:txBody>
          <a:bodyPr wrap="none" lIns="177223" tIns="0" rIns="0" bIns="0" rtlCol="0" anchor="t">
            <a:normAutofit/>
          </a:bodyPr>
          <a:lstStyle/>
          <a:p>
            <a:pPr marL="0" indent="0" algn="l">
              <a:lnSpc>
                <a:spcPts val="1620"/>
              </a:lnSpc>
              <a:buNone/>
            </a:pPr>
            <a:r>
              <a:rPr lang="en-US" sz="1200" dirty="0">
                <a:solidFill>
                  <a:srgbClr val="7C8FA3"/>
                </a:solidFill>
                <a:latin typeface="JetBrains Mono" pitchFamily="49" charset="0"/>
                <a:ea typeface="JetBrains Mono" pitchFamily="49" charset="-122"/>
                <a:cs typeface="JetBrains Mono" pitchFamily="49" charset="-120"/>
              </a:rPr>
              <a:t>105</a:t>
            </a:r>
            <a:r>
              <a:rPr lang="en-US" sz="1200" dirty="0">
                <a:solidFill>
                  <a:srgbClr val="D6DDE5"/>
                </a:solidFill>
                <a:latin typeface="JetBrains Mono" pitchFamily="49" charset="0"/>
                <a:ea typeface="JetBrains Mono" pitchFamily="49" charset="-122"/>
                <a:cs typeface="JetBrains Mono" pitchFamily="49" charset="-120"/>
              </a:rPr>
              <a:t>   retry=retry_if_exception_type(RateLimitError), </a:t>
            </a:r>
            <a:r>
              <a:rPr lang="en-US" sz="1200" b="1" dirty="0">
                <a:solidFill>
                  <a:srgbClr val="F2A46B"/>
                </a:solidFill>
                <a:latin typeface="JetBrains Mono" pitchFamily="49" charset="0"/>
                <a:ea typeface="JetBrains Mono" pitchFamily="49" charset="-122"/>
                <a:cs typeface="JetBrains Mono" pitchFamily="49" charset="-120"/>
              </a:rPr>
              <a:t>← 1</a:t>
            </a:r>
            <a:endParaRPr lang="en-US" sz="1200" dirty="0"/>
          </a:p>
        </p:txBody>
      </p:sp>
      <p:sp>
        <p:nvSpPr>
          <p:cNvPr id="20" name="Shape 18"/>
          <p:cNvSpPr/>
          <p:nvPr/>
        </p:nvSpPr>
        <p:spPr>
          <a:xfrm>
            <a:off x="4946614" y="2295922"/>
            <a:ext cx="0" cy="205698"/>
          </a:xfrm>
          <a:prstGeom prst="line">
            <a:avLst/>
          </a:prstGeom>
          <a:noFill/>
          <a:ln w="38100">
            <a:solidFill>
              <a:srgbClr val="E8843F"/>
            </a:solidFill>
            <a:prstDash val="solid"/>
          </a:ln>
        </p:spPr>
        <p:txBody>
          <a:bodyPr/>
          <a:lstStyle/>
          <a:p>
            <a:endParaRPr lang="en-CN"/>
          </a:p>
        </p:txBody>
      </p:sp>
      <p:sp>
        <p:nvSpPr>
          <p:cNvPr id="21" name="Text 19"/>
          <p:cNvSpPr/>
          <p:nvPr/>
        </p:nvSpPr>
        <p:spPr>
          <a:xfrm>
            <a:off x="4927564" y="2501615"/>
            <a:ext cx="6451564" cy="205698"/>
          </a:xfrm>
          <a:prstGeom prst="rect">
            <a:avLst/>
          </a:prstGeom>
          <a:solidFill>
            <a:srgbClr val="3A2B20"/>
          </a:solidFill>
          <a:ln/>
        </p:spPr>
        <p:txBody>
          <a:bodyPr wrap="none" lIns="177223" tIns="0" rIns="0" bIns="0" rtlCol="0" anchor="t">
            <a:normAutofit/>
          </a:bodyPr>
          <a:lstStyle/>
          <a:p>
            <a:pPr marL="0" indent="0" algn="l">
              <a:lnSpc>
                <a:spcPts val="1620"/>
              </a:lnSpc>
              <a:buNone/>
            </a:pPr>
            <a:r>
              <a:rPr lang="en-US" sz="1200" dirty="0">
                <a:solidFill>
                  <a:srgbClr val="7C8FA3"/>
                </a:solidFill>
                <a:latin typeface="JetBrains Mono" pitchFamily="49" charset="0"/>
                <a:ea typeface="JetBrains Mono" pitchFamily="49" charset="-122"/>
                <a:cs typeface="JetBrains Mono" pitchFamily="49" charset="-120"/>
              </a:rPr>
              <a:t>106</a:t>
            </a:r>
            <a:r>
              <a:rPr lang="en-US" sz="1200" dirty="0">
                <a:solidFill>
                  <a:srgbClr val="D6DDE5"/>
                </a:solidFill>
                <a:latin typeface="JetBrains Mono" pitchFamily="49" charset="0"/>
                <a:ea typeface="JetBrains Mono" pitchFamily="49" charset="-122"/>
                <a:cs typeface="JetBrains Mono" pitchFamily="49" charset="-120"/>
              </a:rPr>
              <a:t>   wait=wait_exponential(multiplier=2, min=30, max=120), </a:t>
            </a:r>
            <a:r>
              <a:rPr lang="en-US" sz="1200" b="1" dirty="0">
                <a:solidFill>
                  <a:srgbClr val="F2A46B"/>
                </a:solidFill>
                <a:latin typeface="JetBrains Mono" pitchFamily="49" charset="0"/>
                <a:ea typeface="JetBrains Mono" pitchFamily="49" charset="-122"/>
                <a:cs typeface="JetBrains Mono" pitchFamily="49" charset="-120"/>
              </a:rPr>
              <a:t>← 2</a:t>
            </a:r>
            <a:endParaRPr lang="en-US" sz="1200" dirty="0"/>
          </a:p>
        </p:txBody>
      </p:sp>
      <p:sp>
        <p:nvSpPr>
          <p:cNvPr id="22" name="Shape 20"/>
          <p:cNvSpPr/>
          <p:nvPr/>
        </p:nvSpPr>
        <p:spPr>
          <a:xfrm>
            <a:off x="4946614" y="2501615"/>
            <a:ext cx="0" cy="205698"/>
          </a:xfrm>
          <a:prstGeom prst="line">
            <a:avLst/>
          </a:prstGeom>
          <a:noFill/>
          <a:ln w="38100">
            <a:solidFill>
              <a:srgbClr val="E8843F"/>
            </a:solidFill>
            <a:prstDash val="solid"/>
          </a:ln>
        </p:spPr>
        <p:txBody>
          <a:bodyPr/>
          <a:lstStyle/>
          <a:p>
            <a:endParaRPr lang="en-CN"/>
          </a:p>
        </p:txBody>
      </p:sp>
      <p:sp>
        <p:nvSpPr>
          <p:cNvPr id="23" name="Text 21"/>
          <p:cNvSpPr/>
          <p:nvPr/>
        </p:nvSpPr>
        <p:spPr>
          <a:xfrm>
            <a:off x="4927564" y="2707308"/>
            <a:ext cx="6451564" cy="205698"/>
          </a:xfrm>
          <a:prstGeom prst="rect">
            <a:avLst/>
          </a:prstGeom>
          <a:solidFill>
            <a:srgbClr val="3A2B20"/>
          </a:solidFill>
          <a:ln/>
        </p:spPr>
        <p:txBody>
          <a:bodyPr wrap="none" lIns="177223" tIns="0" rIns="0" bIns="0" rtlCol="0" anchor="t">
            <a:normAutofit/>
          </a:bodyPr>
          <a:lstStyle/>
          <a:p>
            <a:pPr marL="0" indent="0" algn="l">
              <a:lnSpc>
                <a:spcPts val="1620"/>
              </a:lnSpc>
              <a:buNone/>
            </a:pPr>
            <a:r>
              <a:rPr lang="en-US" sz="1200" dirty="0">
                <a:solidFill>
                  <a:srgbClr val="7C8FA3"/>
                </a:solidFill>
                <a:latin typeface="JetBrains Mono" pitchFamily="49" charset="0"/>
                <a:ea typeface="JetBrains Mono" pitchFamily="49" charset="-122"/>
                <a:cs typeface="JetBrains Mono" pitchFamily="49" charset="-120"/>
              </a:rPr>
              <a:t>107</a:t>
            </a:r>
            <a:r>
              <a:rPr lang="en-US" sz="1200" dirty="0">
                <a:solidFill>
                  <a:srgbClr val="D6DDE5"/>
                </a:solidFill>
                <a:latin typeface="JetBrains Mono" pitchFamily="49" charset="0"/>
                <a:ea typeface="JetBrains Mono" pitchFamily="49" charset="-122"/>
                <a:cs typeface="JetBrains Mono" pitchFamily="49" charset="-120"/>
              </a:rPr>
              <a:t>   stop=stop_after_attempt(6),</a:t>
            </a:r>
            <a:endParaRPr lang="en-US" sz="1200" dirty="0"/>
          </a:p>
        </p:txBody>
      </p:sp>
      <p:sp>
        <p:nvSpPr>
          <p:cNvPr id="24" name="Shape 22"/>
          <p:cNvSpPr/>
          <p:nvPr/>
        </p:nvSpPr>
        <p:spPr>
          <a:xfrm>
            <a:off x="4946614" y="2707308"/>
            <a:ext cx="0" cy="205698"/>
          </a:xfrm>
          <a:prstGeom prst="line">
            <a:avLst/>
          </a:prstGeom>
          <a:noFill/>
          <a:ln w="38100">
            <a:solidFill>
              <a:srgbClr val="E8843F"/>
            </a:solidFill>
            <a:prstDash val="solid"/>
          </a:ln>
        </p:spPr>
        <p:txBody>
          <a:bodyPr/>
          <a:lstStyle/>
          <a:p>
            <a:endParaRPr lang="en-CN"/>
          </a:p>
        </p:txBody>
      </p:sp>
      <p:sp>
        <p:nvSpPr>
          <p:cNvPr id="25" name="Text 23"/>
          <p:cNvSpPr/>
          <p:nvPr/>
        </p:nvSpPr>
        <p:spPr>
          <a:xfrm>
            <a:off x="5105364" y="2913013"/>
            <a:ext cx="6278842" cy="231098"/>
          </a:xfrm>
          <a:prstGeom prst="rect">
            <a:avLst/>
          </a:prstGeom>
          <a:noFill/>
          <a:ln/>
        </p:spPr>
        <p:txBody>
          <a:bodyPr wrap="none" lIns="0" tIns="0" rIns="0" bIns="0" rtlCol="0" anchor="t">
            <a:normAutofit/>
          </a:bodyPr>
          <a:lstStyle/>
          <a:p>
            <a:pPr marL="0" indent="0" algn="l">
              <a:lnSpc>
                <a:spcPts val="1620"/>
              </a:lnSpc>
              <a:buNone/>
            </a:pPr>
            <a:r>
              <a:rPr lang="en-US" sz="1200" dirty="0">
                <a:solidFill>
                  <a:srgbClr val="7C8FA3"/>
                </a:solidFill>
                <a:latin typeface="JetBrains Mono" pitchFamily="49" charset="0"/>
                <a:ea typeface="JetBrains Mono" pitchFamily="49" charset="-122"/>
                <a:cs typeface="JetBrains Mono" pitchFamily="49" charset="-120"/>
              </a:rPr>
              <a:t>108</a:t>
            </a:r>
            <a:r>
              <a:rPr lang="en-US" sz="1200" dirty="0">
                <a:solidFill>
                  <a:srgbClr val="D6DDE5"/>
                </a:solidFill>
                <a:latin typeface="JetBrains Mono" pitchFamily="49" charset="0"/>
                <a:ea typeface="JetBrains Mono" pitchFamily="49" charset="-122"/>
                <a:cs typeface="JetBrains Mono" pitchFamily="49" charset="-120"/>
              </a:rPr>
              <a:t>   before_sleep=before_sleep_log(logger, log_level=20))</a:t>
            </a:r>
            <a:endParaRPr lang="en-US" sz="1200" dirty="0"/>
          </a:p>
        </p:txBody>
      </p:sp>
      <p:sp>
        <p:nvSpPr>
          <p:cNvPr id="26" name="Text 24"/>
          <p:cNvSpPr/>
          <p:nvPr/>
        </p:nvSpPr>
        <p:spPr>
          <a:xfrm>
            <a:off x="5105364" y="3118706"/>
            <a:ext cx="6278842" cy="231098"/>
          </a:xfrm>
          <a:prstGeom prst="rect">
            <a:avLst/>
          </a:prstGeom>
          <a:noFill/>
          <a:ln/>
        </p:spPr>
        <p:txBody>
          <a:bodyPr wrap="none" lIns="0" tIns="0" rIns="0" bIns="0" rtlCol="0" anchor="t">
            <a:normAutofit/>
          </a:bodyPr>
          <a:lstStyle/>
          <a:p>
            <a:pPr marL="0" indent="0" algn="l">
              <a:lnSpc>
                <a:spcPts val="1620"/>
              </a:lnSpc>
              <a:buNone/>
            </a:pPr>
            <a:r>
              <a:rPr lang="en-US" sz="1200" dirty="0">
                <a:solidFill>
                  <a:srgbClr val="7C8FA3"/>
                </a:solidFill>
                <a:latin typeface="JetBrains Mono" pitchFamily="49" charset="0"/>
                <a:ea typeface="JetBrains Mono" pitchFamily="49" charset="-122"/>
                <a:cs typeface="JetBrains Mono" pitchFamily="49" charset="-120"/>
              </a:rPr>
              <a:t>110</a:t>
            </a:r>
            <a:r>
              <a:rPr lang="en-US" sz="1200" dirty="0">
                <a:solidFill>
                  <a:srgbClr val="D6DDE5"/>
                </a:solidFill>
                <a:latin typeface="JetBrains Mono" pitchFamily="49" charset="0"/>
                <a:ea typeface="JetBrains Mono" pitchFamily="49" charset="-122"/>
                <a:cs typeface="JetBrains Mono" pitchFamily="49" charset="-120"/>
              </a:rPr>
              <a:t> def _call_api(self, **kwargs):</a:t>
            </a:r>
            <a:endParaRPr lang="en-US" sz="1200" dirty="0"/>
          </a:p>
        </p:txBody>
      </p:sp>
      <p:sp>
        <p:nvSpPr>
          <p:cNvPr id="27" name="Text 25"/>
          <p:cNvSpPr/>
          <p:nvPr/>
        </p:nvSpPr>
        <p:spPr>
          <a:xfrm>
            <a:off x="5105364" y="3324411"/>
            <a:ext cx="6278842" cy="231098"/>
          </a:xfrm>
          <a:prstGeom prst="rect">
            <a:avLst/>
          </a:prstGeom>
          <a:noFill/>
          <a:ln/>
        </p:spPr>
        <p:txBody>
          <a:bodyPr wrap="none" lIns="0" tIns="0" rIns="0" bIns="0" rtlCol="0" anchor="t">
            <a:normAutofit/>
          </a:bodyPr>
          <a:lstStyle/>
          <a:p>
            <a:pPr marL="0" indent="0" algn="l">
              <a:lnSpc>
                <a:spcPts val="1620"/>
              </a:lnSpc>
              <a:buNone/>
            </a:pPr>
            <a:r>
              <a:rPr lang="en-US" sz="1200" dirty="0">
                <a:solidFill>
                  <a:srgbClr val="7C8FA3"/>
                </a:solidFill>
                <a:latin typeface="JetBrains Mono" pitchFamily="49" charset="0"/>
                <a:ea typeface="JetBrains Mono" pitchFamily="49" charset="-122"/>
                <a:cs typeface="JetBrains Mono" pitchFamily="49" charset="-120"/>
              </a:rPr>
              <a:t>112</a:t>
            </a:r>
            <a:r>
              <a:rPr lang="en-US" sz="1200" dirty="0">
                <a:solidFill>
                  <a:srgbClr val="D6DDE5"/>
                </a:solidFill>
                <a:latin typeface="JetBrains Mono" pitchFamily="49" charset="0"/>
                <a:ea typeface="JetBrains Mono" pitchFamily="49" charset="-122"/>
                <a:cs typeface="JetBrains Mono" pitchFamily="49" charset="-120"/>
              </a:rPr>
              <a:t>   return self.client.messages.create(**kwargs)</a:t>
            </a:r>
            <a:endParaRPr lang="en-US" sz="1200" dirty="0"/>
          </a:p>
        </p:txBody>
      </p:sp>
      <p:sp>
        <p:nvSpPr>
          <p:cNvPr id="28" name="Text 26"/>
          <p:cNvSpPr/>
          <p:nvPr/>
        </p:nvSpPr>
        <p:spPr>
          <a:xfrm>
            <a:off x="5105364" y="3631704"/>
            <a:ext cx="6278842" cy="238666"/>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9AA9B8"/>
                </a:solidFill>
                <a:latin typeface="JetBrains Mono" pitchFamily="49" charset="0"/>
                <a:ea typeface="JetBrains Mono" pitchFamily="49" charset="-122"/>
                <a:cs typeface="JetBrains Mono" pitchFamily="49" charset="-120"/>
              </a:rPr>
              <a:t>content_writer/tools.py</a:t>
            </a:r>
            <a:endParaRPr lang="en-US" sz="1200" dirty="0"/>
          </a:p>
        </p:txBody>
      </p:sp>
      <p:sp>
        <p:nvSpPr>
          <p:cNvPr id="29" name="Text 27"/>
          <p:cNvSpPr/>
          <p:nvPr/>
        </p:nvSpPr>
        <p:spPr>
          <a:xfrm>
            <a:off x="5105364" y="3895775"/>
            <a:ext cx="6278842" cy="231098"/>
          </a:xfrm>
          <a:prstGeom prst="rect">
            <a:avLst/>
          </a:prstGeom>
          <a:noFill/>
          <a:ln/>
        </p:spPr>
        <p:txBody>
          <a:bodyPr wrap="none" lIns="0" tIns="0" rIns="0" bIns="0" rtlCol="0" anchor="t">
            <a:normAutofit/>
          </a:bodyPr>
          <a:lstStyle/>
          <a:p>
            <a:pPr marL="0" indent="0" algn="l">
              <a:lnSpc>
                <a:spcPts val="1620"/>
              </a:lnSpc>
              <a:buNone/>
            </a:pPr>
            <a:r>
              <a:rPr lang="en-US" sz="1200" dirty="0">
                <a:solidFill>
                  <a:srgbClr val="7C8FA3"/>
                </a:solidFill>
                <a:latin typeface="JetBrains Mono" pitchFamily="49" charset="0"/>
                <a:ea typeface="JetBrains Mono" pitchFamily="49" charset="-122"/>
                <a:cs typeface="JetBrains Mono" pitchFamily="49" charset="-120"/>
              </a:rPr>
              <a:t>019</a:t>
            </a:r>
            <a:r>
              <a:rPr lang="en-US" sz="1200" dirty="0">
                <a:solidFill>
                  <a:srgbClr val="D6DDE5"/>
                </a:solidFill>
                <a:latin typeface="JetBrains Mono" pitchFamily="49" charset="0"/>
                <a:ea typeface="JetBrains Mono" pitchFamily="49" charset="-122"/>
                <a:cs typeface="JetBrains Mono" pitchFamily="49" charset="-120"/>
              </a:rPr>
              <a:t> </a:t>
            </a:r>
            <a:r>
              <a:rPr lang="en-US" sz="1200" dirty="0">
                <a:solidFill>
                  <a:srgbClr val="8798AA"/>
                </a:solidFill>
                <a:latin typeface="JetBrains Mono" pitchFamily="49" charset="0"/>
                <a:ea typeface="JetBrains Mono" pitchFamily="49" charset="-122"/>
                <a:cs typeface="JetBrains Mono" pitchFamily="49" charset="-120"/>
              </a:rPr>
              <a:t># max_uses controls searches per phase</a:t>
            </a:r>
            <a:endParaRPr lang="en-US" sz="1200" dirty="0"/>
          </a:p>
        </p:txBody>
      </p:sp>
      <p:sp>
        <p:nvSpPr>
          <p:cNvPr id="30" name="Text 28"/>
          <p:cNvSpPr/>
          <p:nvPr/>
        </p:nvSpPr>
        <p:spPr>
          <a:xfrm>
            <a:off x="4927564" y="4101467"/>
            <a:ext cx="6451564" cy="205698"/>
          </a:xfrm>
          <a:prstGeom prst="rect">
            <a:avLst/>
          </a:prstGeom>
          <a:solidFill>
            <a:srgbClr val="3A2B20"/>
          </a:solidFill>
          <a:ln/>
        </p:spPr>
        <p:txBody>
          <a:bodyPr wrap="none" lIns="177223" tIns="0" rIns="0" bIns="0" rtlCol="0" anchor="t">
            <a:normAutofit/>
          </a:bodyPr>
          <a:lstStyle/>
          <a:p>
            <a:pPr marL="0" indent="0" algn="l">
              <a:lnSpc>
                <a:spcPts val="1620"/>
              </a:lnSpc>
              <a:buNone/>
            </a:pPr>
            <a:r>
              <a:rPr lang="en-US" sz="1200" dirty="0">
                <a:solidFill>
                  <a:srgbClr val="7C8FA3"/>
                </a:solidFill>
                <a:latin typeface="JetBrains Mono" pitchFamily="49" charset="0"/>
                <a:ea typeface="JetBrains Mono" pitchFamily="49" charset="-122"/>
                <a:cs typeface="JetBrains Mono" pitchFamily="49" charset="-120"/>
              </a:rPr>
              <a:t>023</a:t>
            </a:r>
            <a:r>
              <a:rPr lang="en-US" sz="1200" dirty="0">
                <a:solidFill>
                  <a:srgbClr val="D6DDE5"/>
                </a:solidFill>
                <a:latin typeface="JetBrains Mono" pitchFamily="49" charset="0"/>
                <a:ea typeface="JetBrains Mono" pitchFamily="49" charset="-122"/>
                <a:cs typeface="JetBrains Mono" pitchFamily="49" charset="-120"/>
              </a:rPr>
              <a:t>   "max_uses": 1, </a:t>
            </a:r>
            <a:r>
              <a:rPr lang="en-US" sz="1200" b="1" dirty="0">
                <a:solidFill>
                  <a:srgbClr val="F2A46B"/>
                </a:solidFill>
                <a:latin typeface="JetBrains Mono" pitchFamily="49" charset="0"/>
                <a:ea typeface="JetBrains Mono" pitchFamily="49" charset="-122"/>
                <a:cs typeface="JetBrains Mono" pitchFamily="49" charset="-120"/>
              </a:rPr>
              <a:t>← 3</a:t>
            </a:r>
            <a:endParaRPr lang="en-US" sz="1200" dirty="0"/>
          </a:p>
        </p:txBody>
      </p:sp>
      <p:sp>
        <p:nvSpPr>
          <p:cNvPr id="31" name="Shape 29"/>
          <p:cNvSpPr/>
          <p:nvPr/>
        </p:nvSpPr>
        <p:spPr>
          <a:xfrm>
            <a:off x="4946614" y="4101467"/>
            <a:ext cx="0" cy="205698"/>
          </a:xfrm>
          <a:prstGeom prst="line">
            <a:avLst/>
          </a:prstGeom>
          <a:noFill/>
          <a:ln w="38100">
            <a:solidFill>
              <a:srgbClr val="E8843F"/>
            </a:solidFill>
            <a:prstDash val="solid"/>
          </a:ln>
        </p:spPr>
        <p:txBody>
          <a:bodyPr/>
          <a:lstStyle/>
          <a:p>
            <a:endParaRPr lang="en-CN"/>
          </a:p>
        </p:txBody>
      </p:sp>
      <p:sp>
        <p:nvSpPr>
          <p:cNvPr id="32" name="Text 30"/>
          <p:cNvSpPr/>
          <p:nvPr/>
        </p:nvSpPr>
        <p:spPr>
          <a:xfrm>
            <a:off x="5105364" y="4408773"/>
            <a:ext cx="6278842" cy="238666"/>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9AA9B8"/>
                </a:solidFill>
                <a:latin typeface="JetBrains Mono" pitchFamily="49" charset="0"/>
                <a:ea typeface="JetBrains Mono" pitchFamily="49" charset="-122"/>
                <a:cs typeface="JetBrains Mono" pitchFamily="49" charset="-120"/>
              </a:rPr>
              <a:t>content_writer/agent.py</a:t>
            </a:r>
            <a:endParaRPr lang="en-US" sz="1200" dirty="0"/>
          </a:p>
        </p:txBody>
      </p:sp>
      <p:sp>
        <p:nvSpPr>
          <p:cNvPr id="33" name="Text 31"/>
          <p:cNvSpPr/>
          <p:nvPr/>
        </p:nvSpPr>
        <p:spPr>
          <a:xfrm>
            <a:off x="4927564" y="4672831"/>
            <a:ext cx="6451564" cy="205698"/>
          </a:xfrm>
          <a:prstGeom prst="rect">
            <a:avLst/>
          </a:prstGeom>
          <a:solidFill>
            <a:srgbClr val="3A2B20"/>
          </a:solidFill>
          <a:ln/>
        </p:spPr>
        <p:txBody>
          <a:bodyPr wrap="none" lIns="177223" tIns="0" rIns="0" bIns="0" rtlCol="0" anchor="t">
            <a:normAutofit/>
          </a:bodyPr>
          <a:lstStyle/>
          <a:p>
            <a:pPr marL="0" indent="0" algn="l">
              <a:lnSpc>
                <a:spcPts val="1620"/>
              </a:lnSpc>
              <a:buNone/>
            </a:pPr>
            <a:r>
              <a:rPr lang="en-US" sz="1200" dirty="0">
                <a:solidFill>
                  <a:srgbClr val="7C8FA3"/>
                </a:solidFill>
                <a:latin typeface="JetBrains Mono" pitchFamily="49" charset="0"/>
                <a:ea typeface="JetBrains Mono" pitchFamily="49" charset="-122"/>
                <a:cs typeface="JetBrains Mono" pitchFamily="49" charset="-120"/>
              </a:rPr>
              <a:t>348</a:t>
            </a:r>
            <a:r>
              <a:rPr lang="en-US" sz="1200" dirty="0">
                <a:solidFill>
                  <a:srgbClr val="D6DDE5"/>
                </a:solidFill>
                <a:latin typeface="JetBrains Mono" pitchFamily="49" charset="0"/>
                <a:ea typeface="JetBrains Mono" pitchFamily="49" charset="-122"/>
                <a:cs typeface="JetBrains Mono" pitchFamily="49" charset="-120"/>
              </a:rPr>
              <a:t>   f"Create a LinkedIn post…{article[:2000]}" </a:t>
            </a:r>
            <a:r>
              <a:rPr lang="en-US" sz="1200" b="1" dirty="0">
                <a:solidFill>
                  <a:srgbClr val="F2A46B"/>
                </a:solidFill>
                <a:latin typeface="JetBrains Mono" pitchFamily="49" charset="0"/>
                <a:ea typeface="JetBrains Mono" pitchFamily="49" charset="-122"/>
                <a:cs typeface="JetBrains Mono" pitchFamily="49" charset="-120"/>
              </a:rPr>
              <a:t>← 4</a:t>
            </a:r>
            <a:endParaRPr lang="en-US" sz="1200" dirty="0"/>
          </a:p>
        </p:txBody>
      </p:sp>
      <p:sp>
        <p:nvSpPr>
          <p:cNvPr id="34" name="Shape 32"/>
          <p:cNvSpPr/>
          <p:nvPr/>
        </p:nvSpPr>
        <p:spPr>
          <a:xfrm>
            <a:off x="4946614" y="4672831"/>
            <a:ext cx="0" cy="205698"/>
          </a:xfrm>
          <a:prstGeom prst="line">
            <a:avLst/>
          </a:prstGeom>
          <a:noFill/>
          <a:ln w="38100">
            <a:solidFill>
              <a:srgbClr val="E8843F"/>
            </a:solidFill>
            <a:prstDash val="solid"/>
          </a:ln>
        </p:spPr>
        <p:txBody>
          <a:bodyPr/>
          <a:lstStyle/>
          <a:p>
            <a:endParaRPr lang="en-CN"/>
          </a:p>
        </p:txBody>
      </p:sp>
      <p:sp>
        <p:nvSpPr>
          <p:cNvPr id="35" name="Text 33"/>
          <p:cNvSpPr/>
          <p:nvPr/>
        </p:nvSpPr>
        <p:spPr>
          <a:xfrm>
            <a:off x="4927564" y="4878536"/>
            <a:ext cx="6451564" cy="205698"/>
          </a:xfrm>
          <a:prstGeom prst="rect">
            <a:avLst/>
          </a:prstGeom>
          <a:solidFill>
            <a:srgbClr val="3A2B20"/>
          </a:solidFill>
          <a:ln/>
        </p:spPr>
        <p:txBody>
          <a:bodyPr wrap="none" lIns="177223" tIns="0" rIns="0" bIns="0" rtlCol="0" anchor="t">
            <a:normAutofit/>
          </a:bodyPr>
          <a:lstStyle/>
          <a:p>
            <a:pPr marL="0" indent="0" algn="l">
              <a:lnSpc>
                <a:spcPts val="1620"/>
              </a:lnSpc>
              <a:buNone/>
            </a:pPr>
            <a:r>
              <a:rPr lang="en-US" sz="1200" dirty="0">
                <a:solidFill>
                  <a:srgbClr val="7C8FA3"/>
                </a:solidFill>
                <a:latin typeface="JetBrains Mono" pitchFamily="49" charset="0"/>
                <a:ea typeface="JetBrains Mono" pitchFamily="49" charset="-122"/>
                <a:cs typeface="JetBrains Mono" pitchFamily="49" charset="-120"/>
              </a:rPr>
              <a:t>394</a:t>
            </a:r>
            <a:r>
              <a:rPr lang="en-US" sz="1200" dirty="0">
                <a:solidFill>
                  <a:srgbClr val="D6DDE5"/>
                </a:solidFill>
                <a:latin typeface="JetBrains Mono" pitchFamily="49" charset="0"/>
                <a:ea typeface="JetBrains Mono" pitchFamily="49" charset="-122"/>
                <a:cs typeface="JetBrains Mono" pitchFamily="49" charset="-120"/>
              </a:rPr>
              <a:t>   f"Generate an SEO title for:…{article[:500]}"</a:t>
            </a:r>
            <a:endParaRPr lang="en-US" sz="1200" dirty="0"/>
          </a:p>
        </p:txBody>
      </p:sp>
      <p:sp>
        <p:nvSpPr>
          <p:cNvPr id="36" name="Shape 34"/>
          <p:cNvSpPr/>
          <p:nvPr/>
        </p:nvSpPr>
        <p:spPr>
          <a:xfrm>
            <a:off x="4946614" y="4878536"/>
            <a:ext cx="0" cy="205698"/>
          </a:xfrm>
          <a:prstGeom prst="line">
            <a:avLst/>
          </a:prstGeom>
          <a:noFill/>
          <a:ln w="38100">
            <a:solidFill>
              <a:srgbClr val="E8843F"/>
            </a:solidFill>
            <a:prstDash val="solid"/>
          </a:ln>
        </p:spPr>
        <p:txBody>
          <a:bodyPr/>
          <a:lstStyle/>
          <a:p>
            <a:endParaRPr lang="en-CN"/>
          </a:p>
        </p:txBody>
      </p:sp>
      <p:sp>
        <p:nvSpPr>
          <p:cNvPr id="37" name="Text 35"/>
          <p:cNvSpPr/>
          <p:nvPr/>
        </p:nvSpPr>
        <p:spPr>
          <a:xfrm>
            <a:off x="812782" y="6238280"/>
            <a:ext cx="967994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7684"/>
                </a:solidFill>
                <a:latin typeface="IBM Plex Sans" pitchFamily="34" charset="0"/>
                <a:ea typeface="IBM Plex Sans" pitchFamily="34" charset="-122"/>
                <a:cs typeface="IBM Plex Sans" pitchFamily="34" charset="-120"/>
              </a:rPr>
              <a:t>07-content-writer/content_writer · agent.py, tools.py · lines condensed</a:t>
            </a:r>
            <a:endParaRPr lang="en-US" sz="1200" dirty="0"/>
          </a:p>
        </p:txBody>
      </p:sp>
      <p:sp>
        <p:nvSpPr>
          <p:cNvPr id="38" name="Text 36"/>
          <p:cNvSpPr/>
          <p:nvPr/>
        </p:nvSpPr>
        <p:spPr>
          <a:xfrm>
            <a:off x="10312418" y="6238280"/>
            <a:ext cx="1066800" cy="238720"/>
          </a:xfrm>
          <a:prstGeom prst="rect">
            <a:avLst/>
          </a:prstGeom>
          <a:noFill/>
          <a:ln/>
        </p:spPr>
        <p:txBody>
          <a:bodyPr wrap="square" lIns="0" tIns="0" rIns="0" bIns="0" rtlCol="0" anchor="t">
            <a:normAutofit/>
          </a:bodyPr>
          <a:lstStyle/>
          <a:p>
            <a:pPr marL="0" indent="0" algn="r">
              <a:lnSpc>
                <a:spcPts val="1680"/>
              </a:lnSpc>
              <a:buNone/>
            </a:pPr>
            <a:r>
              <a:rPr lang="en-US" sz="1200" b="1" dirty="0">
                <a:solidFill>
                  <a:srgbClr val="6A7684"/>
                </a:solidFill>
                <a:latin typeface="IBM Plex Sans" pitchFamily="34" charset="0"/>
                <a:ea typeface="IBM Plex Sans" pitchFamily="34" charset="-122"/>
                <a:cs typeface="IBM Plex Sans" pitchFamily="34" charset="-120"/>
              </a:rPr>
              <a:t>25 / 27</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E8843F"/>
        </a:solidFill>
        <a:effectLst/>
      </p:bgPr>
    </p:bg>
    <p:spTree>
      <p:nvGrpSpPr>
        <p:cNvPr id="1" name=""/>
        <p:cNvGrpSpPr/>
        <p:nvPr/>
      </p:nvGrpSpPr>
      <p:grpSpPr>
        <a:xfrm>
          <a:off x="0" y="0"/>
          <a:ext cx="0" cy="0"/>
          <a:chOff x="0" y="0"/>
          <a:chExt cx="0" cy="0"/>
        </a:xfrm>
      </p:grpSpPr>
      <p:sp>
        <p:nvSpPr>
          <p:cNvPr id="2" name="Text 0"/>
          <p:cNvSpPr/>
          <p:nvPr/>
        </p:nvSpPr>
        <p:spPr>
          <a:xfrm>
            <a:off x="812782" y="711163"/>
            <a:ext cx="10883429"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16212C"/>
                </a:solidFill>
                <a:latin typeface="IBM Plex Sans" pitchFamily="34" charset="0"/>
                <a:ea typeface="IBM Plex Sans" pitchFamily="34" charset="-122"/>
                <a:cs typeface="IBM Plex Sans" pitchFamily="34" charset="-120"/>
              </a:rPr>
              <a:t>CHOOSING A PATTERN</a:t>
            </a:r>
            <a:endParaRPr lang="en-US" sz="1200" dirty="0"/>
          </a:p>
        </p:txBody>
      </p:sp>
      <p:sp>
        <p:nvSpPr>
          <p:cNvPr id="3" name="Text 1"/>
          <p:cNvSpPr>
            <a:spLocks noGrp="1"/>
          </p:cNvSpPr>
          <p:nvPr>
            <p:ph type="title"/>
          </p:nvPr>
        </p:nvSpPr>
        <p:spPr>
          <a:xfrm>
            <a:off x="812782" y="1000658"/>
            <a:ext cx="10883429" cy="444464"/>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6212C"/>
                </a:solidFill>
                <a:latin typeface="IBM Plex Sans" pitchFamily="34" charset="0"/>
                <a:ea typeface="IBM Plex Sans" pitchFamily="34" charset="-122"/>
                <a:cs typeface="IBM Plex Sans" pitchFamily="34" charset="-120"/>
              </a:rPr>
              <a:t>Start simple; climb only when the problem asks</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4327" y="1685267"/>
          <a:ext cx="10554889" cy="2693516"/>
        </p:xfrm>
        <a:graphic>
          <a:graphicData uri="http://schemas.openxmlformats.org/drawingml/2006/table">
            <a:tbl>
              <a:tblPr/>
              <a:tblGrid>
                <a:gridCol w="3799760">
                  <a:extLst>
                    <a:ext uri="{9D8B030D-6E8A-4147-A177-3AD203B41FA5}">
                      <a16:colId xmlns:a16="http://schemas.microsoft.com/office/drawing/2014/main" val="20000"/>
                    </a:ext>
                  </a:extLst>
                </a:gridCol>
                <a:gridCol w="2744271">
                  <a:extLst>
                    <a:ext uri="{9D8B030D-6E8A-4147-A177-3AD203B41FA5}">
                      <a16:colId xmlns:a16="http://schemas.microsoft.com/office/drawing/2014/main" val="20001"/>
                    </a:ext>
                  </a:extLst>
                </a:gridCol>
                <a:gridCol w="4010858">
                  <a:extLst>
                    <a:ext uri="{9D8B030D-6E8A-4147-A177-3AD203B41FA5}">
                      <a16:colId xmlns:a16="http://schemas.microsoft.com/office/drawing/2014/main" val="20002"/>
                    </a:ext>
                  </a:extLst>
                </a:gridCol>
              </a:tblGrid>
              <a:tr h="384788">
                <a:tc>
                  <a:txBody>
                    <a:bodyPr/>
                    <a:lstStyle/>
                    <a:p>
                      <a:pPr marL="0" indent="0">
                        <a:lnSpc>
                          <a:spcPts val="1960"/>
                        </a:lnSpc>
                        <a:buNone/>
                      </a:pPr>
                      <a:r>
                        <a:rPr lang="en-US" sz="1400" b="1" dirty="0">
                          <a:solidFill>
                            <a:srgbClr val="F4F2EC"/>
                          </a:solidFill>
                          <a:latin typeface="IBM Plex Sans" pitchFamily="34" charset="0"/>
                          <a:ea typeface="IBM Plex Sans" pitchFamily="34" charset="-122"/>
                          <a:cs typeface="IBM Plex Sans" pitchFamily="34" charset="-120"/>
                        </a:rPr>
                        <a:t>If your problem has…</a:t>
                      </a:r>
                      <a:endParaRPr lang="en-US" sz="1400" dirty="0">
                        <a:latin typeface="IBM Plex Sans" charset="0"/>
                        <a:ea typeface="IBM Plex Sans" charset="0"/>
                        <a:cs typeface="IBM Plex Sans" charset="0"/>
                      </a:endParaRPr>
                    </a:p>
                  </a:txBody>
                  <a:tcPr marL="62230" marR="62230" marT="62230" marB="62230">
                    <a:lnL w="12700" cap="flat" cmpd="sng" algn="ctr">
                      <a:solidFill>
                        <a:srgbClr val="B96B35"/>
                      </a:solidFill>
                      <a:prstDash val="solid"/>
                      <a:round/>
                      <a:headEnd type="none" w="med" len="med"/>
                      <a:tailEnd type="none" w="med" len="med"/>
                    </a:lnL>
                    <a:lnR w="12700" cap="flat" cmpd="sng" algn="ctr">
                      <a:solidFill>
                        <a:srgbClr val="161E27"/>
                      </a:solidFill>
                      <a:prstDash val="solid"/>
                      <a:round/>
                      <a:headEnd type="none" w="med" len="med"/>
                      <a:tailEnd type="none" w="med" len="med"/>
                    </a:lnR>
                    <a:lnT w="12700" cap="flat" cmpd="sng" algn="ctr">
                      <a:solidFill>
                        <a:srgbClr val="B96B35"/>
                      </a:solidFill>
                      <a:prstDash val="solid"/>
                      <a:round/>
                      <a:headEnd type="none" w="med" len="med"/>
                      <a:tailEnd type="none" w="med" len="med"/>
                    </a:lnT>
                    <a:lnB w="12700" cap="flat" cmpd="sng" algn="ctr">
                      <a:solidFill>
                        <a:srgbClr val="161E27"/>
                      </a:solidFill>
                      <a:prstDash val="solid"/>
                      <a:round/>
                      <a:headEnd type="none" w="med" len="med"/>
                      <a:tailEnd type="none" w="med" len="med"/>
                    </a:lnB>
                    <a:solidFill>
                      <a:srgbClr val="16212C"/>
                    </a:solidFill>
                  </a:tcPr>
                </a:tc>
                <a:tc>
                  <a:txBody>
                    <a:bodyPr/>
                    <a:lstStyle/>
                    <a:p>
                      <a:pPr marL="0" indent="0">
                        <a:lnSpc>
                          <a:spcPts val="1960"/>
                        </a:lnSpc>
                        <a:buNone/>
                      </a:pPr>
                      <a:r>
                        <a:rPr lang="en-US" sz="1400" b="1" dirty="0">
                          <a:solidFill>
                            <a:srgbClr val="F4F2EC"/>
                          </a:solidFill>
                          <a:latin typeface="IBM Plex Sans" pitchFamily="34" charset="0"/>
                          <a:ea typeface="IBM Plex Sans" pitchFamily="34" charset="-122"/>
                          <a:cs typeface="IBM Plex Sans" pitchFamily="34" charset="-120"/>
                        </a:rPr>
                        <a:t>Reach for</a:t>
                      </a:r>
                      <a:endParaRPr lang="en-US" sz="1400" dirty="0">
                        <a:latin typeface="IBM Plex Sans" charset="0"/>
                        <a:ea typeface="IBM Plex Sans" charset="0"/>
                        <a:cs typeface="IBM Plex Sans" charset="0"/>
                      </a:endParaRPr>
                    </a:p>
                  </a:txBody>
                  <a:tcPr marL="62230" marR="62230" marT="62230" marB="62230">
                    <a:lnL w="12700" cap="flat" cmpd="sng" algn="ctr">
                      <a:solidFill>
                        <a:srgbClr val="161E27"/>
                      </a:solidFill>
                      <a:prstDash val="solid"/>
                      <a:round/>
                      <a:headEnd type="none" w="med" len="med"/>
                      <a:tailEnd type="none" w="med" len="med"/>
                    </a:lnL>
                    <a:lnR w="12700" cap="flat" cmpd="sng" algn="ctr">
                      <a:solidFill>
                        <a:srgbClr val="161E27"/>
                      </a:solidFill>
                      <a:prstDash val="solid"/>
                      <a:round/>
                      <a:headEnd type="none" w="med" len="med"/>
                      <a:tailEnd type="none" w="med" len="med"/>
                    </a:lnR>
                    <a:lnT w="12700" cap="flat" cmpd="sng" algn="ctr">
                      <a:solidFill>
                        <a:srgbClr val="B96B35"/>
                      </a:solidFill>
                      <a:prstDash val="solid"/>
                      <a:round/>
                      <a:headEnd type="none" w="med" len="med"/>
                      <a:tailEnd type="none" w="med" len="med"/>
                    </a:lnT>
                    <a:lnB w="12700" cap="flat" cmpd="sng" algn="ctr">
                      <a:solidFill>
                        <a:srgbClr val="161E27"/>
                      </a:solidFill>
                      <a:prstDash val="solid"/>
                      <a:round/>
                      <a:headEnd type="none" w="med" len="med"/>
                      <a:tailEnd type="none" w="med" len="med"/>
                    </a:lnB>
                    <a:solidFill>
                      <a:srgbClr val="16212C"/>
                    </a:solidFill>
                  </a:tcPr>
                </a:tc>
                <a:tc>
                  <a:txBody>
                    <a:bodyPr/>
                    <a:lstStyle/>
                    <a:p>
                      <a:pPr marL="0" indent="0">
                        <a:lnSpc>
                          <a:spcPts val="1960"/>
                        </a:lnSpc>
                        <a:buNone/>
                      </a:pPr>
                      <a:r>
                        <a:rPr lang="en-US" sz="1400" b="1" dirty="0">
                          <a:solidFill>
                            <a:srgbClr val="F4F2EC"/>
                          </a:solidFill>
                          <a:latin typeface="IBM Plex Sans" pitchFamily="34" charset="0"/>
                          <a:ea typeface="IBM Plex Sans" pitchFamily="34" charset="-122"/>
                          <a:cs typeface="IBM Plex Sans" pitchFamily="34" charset="-120"/>
                        </a:rPr>
                        <a:t>Mechanism in the code</a:t>
                      </a:r>
                      <a:endParaRPr lang="en-US" sz="1400" dirty="0">
                        <a:latin typeface="IBM Plex Sans" charset="0"/>
                        <a:ea typeface="IBM Plex Sans" charset="0"/>
                        <a:cs typeface="IBM Plex Sans" charset="0"/>
                      </a:endParaRPr>
                    </a:p>
                  </a:txBody>
                  <a:tcPr marL="62230" marR="62230" marT="62230" marB="62230">
                    <a:lnL w="12700" cap="flat" cmpd="sng" algn="ctr">
                      <a:solidFill>
                        <a:srgbClr val="161E27"/>
                      </a:solidFill>
                      <a:prstDash val="solid"/>
                      <a:round/>
                      <a:headEnd type="none" w="med" len="med"/>
                      <a:tailEnd type="none" w="med" len="med"/>
                    </a:lnL>
                    <a:lnR w="12700" cap="flat" cmpd="sng" algn="ctr">
                      <a:solidFill>
                        <a:srgbClr val="161E27"/>
                      </a:solidFill>
                      <a:prstDash val="solid"/>
                      <a:round/>
                      <a:headEnd type="none" w="med" len="med"/>
                      <a:tailEnd type="none" w="med" len="med"/>
                    </a:lnR>
                    <a:lnT w="12700" cap="flat" cmpd="sng" algn="ctr">
                      <a:solidFill>
                        <a:srgbClr val="B96B35"/>
                      </a:solidFill>
                      <a:prstDash val="solid"/>
                      <a:round/>
                      <a:headEnd type="none" w="med" len="med"/>
                      <a:tailEnd type="none" w="med" len="med"/>
                    </a:lnT>
                    <a:lnB w="12700" cap="flat" cmpd="sng" algn="ctr">
                      <a:solidFill>
                        <a:srgbClr val="161E27"/>
                      </a:solidFill>
                      <a:prstDash val="solid"/>
                      <a:round/>
                      <a:headEnd type="none" w="med" len="med"/>
                      <a:tailEnd type="none" w="med" len="med"/>
                    </a:lnB>
                    <a:solidFill>
                      <a:srgbClr val="16212C"/>
                    </a:solidFill>
                  </a:tcPr>
                </a:tc>
                <a:extLst>
                  <a:ext uri="{0D108BD9-81ED-4DB2-BD59-A6C34878D82A}">
                    <a16:rowId xmlns:a16="http://schemas.microsoft.com/office/drawing/2014/main" val="10000"/>
                  </a:ext>
                </a:extLst>
              </a:tr>
              <a:tr h="384788">
                <a:tc>
                  <a:txBody>
                    <a:bodyPr/>
                    <a:lstStyle/>
                    <a:p>
                      <a:pPr marL="0" indent="0">
                        <a:lnSpc>
                          <a:spcPts val="1960"/>
                        </a:lnSpc>
                        <a:buNone/>
                      </a:pPr>
                      <a:r>
                        <a:rPr lang="en-US" sz="1400" dirty="0">
                          <a:solidFill>
                            <a:srgbClr val="16212C"/>
                          </a:solidFill>
                          <a:latin typeface="IBM Plex Sans" pitchFamily="34" charset="0"/>
                          <a:ea typeface="IBM Plex Sans" pitchFamily="34" charset="-122"/>
                          <a:cs typeface="IBM Plex Sans" pitchFamily="34" charset="-120"/>
                        </a:rPr>
                        <a:t>Steps needing different setups</a:t>
                      </a:r>
                      <a:endParaRPr lang="en-US" sz="1400" dirty="0">
                        <a:latin typeface="IBM Plex Sans" charset="0"/>
                        <a:ea typeface="IBM Plex Sans" charset="0"/>
                        <a:cs typeface="IBM Plex Sans" charset="0"/>
                      </a:endParaRPr>
                    </a:p>
                  </a:txBody>
                  <a:tcPr marL="62230" marR="62230" marT="62230" marB="62230">
                    <a:lnL w="12700" cap="flat" cmpd="sng" algn="ctr">
                      <a:solidFill>
                        <a:srgbClr val="B96B35"/>
                      </a:solidFill>
                      <a:prstDash val="solid"/>
                      <a:round/>
                      <a:headEnd type="none" w="med" len="med"/>
                      <a:tailEnd type="none" w="med" len="med"/>
                    </a:lnL>
                    <a:lnR w="12700" cap="flat" cmpd="sng" algn="ctr">
                      <a:solidFill>
                        <a:srgbClr val="B96B35"/>
                      </a:solidFill>
                      <a:prstDash val="solid"/>
                      <a:round/>
                      <a:headEnd type="none" w="med" len="med"/>
                      <a:tailEnd type="none" w="med" len="med"/>
                    </a:lnR>
                    <a:lnT w="12700" cap="flat" cmpd="sng" algn="ctr">
                      <a:solidFill>
                        <a:srgbClr val="161E27"/>
                      </a:solidFill>
                      <a:prstDash val="solid"/>
                      <a:round/>
                      <a:headEnd type="none" w="med" len="med"/>
                      <a:tailEnd type="none" w="med" len="med"/>
                    </a:lnT>
                    <a:lnB w="12700" cap="flat" cmpd="sng" algn="ctr">
                      <a:solidFill>
                        <a:srgbClr val="B96B35"/>
                      </a:solidFill>
                      <a:prstDash val="solid"/>
                      <a:round/>
                      <a:headEnd type="none" w="med" len="med"/>
                      <a:tailEnd type="none" w="med" len="med"/>
                    </a:lnB>
                  </a:tcPr>
                </a:tc>
                <a:tc>
                  <a:txBody>
                    <a:bodyPr/>
                    <a:lstStyle/>
                    <a:p>
                      <a:pPr marL="0" indent="0">
                        <a:lnSpc>
                          <a:spcPts val="1960"/>
                        </a:lnSpc>
                        <a:buNone/>
                      </a:pPr>
                      <a:r>
                        <a:rPr lang="en-US" sz="1400" dirty="0">
                          <a:solidFill>
                            <a:srgbClr val="16212C"/>
                          </a:solidFill>
                          <a:latin typeface="IBM Plex Sans" pitchFamily="34" charset="0"/>
                          <a:ea typeface="IBM Plex Sans" pitchFamily="34" charset="-122"/>
                          <a:cs typeface="IBM Plex Sans" pitchFamily="34" charset="-120"/>
                        </a:rPr>
                        <a:t>Prompt chaining</a:t>
                      </a:r>
                      <a:endParaRPr lang="en-US" sz="1400" dirty="0">
                        <a:latin typeface="IBM Plex Sans" charset="0"/>
                        <a:ea typeface="IBM Plex Sans" charset="0"/>
                        <a:cs typeface="IBM Plex Sans" charset="0"/>
                      </a:endParaRPr>
                    </a:p>
                  </a:txBody>
                  <a:tcPr marL="62230" marR="62230" marT="62230" marB="62230">
                    <a:lnL w="12700" cap="flat" cmpd="sng" algn="ctr">
                      <a:solidFill>
                        <a:srgbClr val="B96B35"/>
                      </a:solidFill>
                      <a:prstDash val="solid"/>
                      <a:round/>
                      <a:headEnd type="none" w="med" len="med"/>
                      <a:tailEnd type="none" w="med" len="med"/>
                    </a:lnL>
                    <a:lnR w="12700" cap="flat" cmpd="sng" algn="ctr">
                      <a:solidFill>
                        <a:srgbClr val="B96B35"/>
                      </a:solidFill>
                      <a:prstDash val="solid"/>
                      <a:round/>
                      <a:headEnd type="none" w="med" len="med"/>
                      <a:tailEnd type="none" w="med" len="med"/>
                    </a:lnR>
                    <a:lnT w="12700" cap="flat" cmpd="sng" algn="ctr">
                      <a:solidFill>
                        <a:srgbClr val="161E27"/>
                      </a:solidFill>
                      <a:prstDash val="solid"/>
                      <a:round/>
                      <a:headEnd type="none" w="med" len="med"/>
                      <a:tailEnd type="none" w="med" len="med"/>
                    </a:lnT>
                    <a:lnB w="12700" cap="flat" cmpd="sng" algn="ctr">
                      <a:solidFill>
                        <a:srgbClr val="B96B35"/>
                      </a:solidFill>
                      <a:prstDash val="solid"/>
                      <a:round/>
                      <a:headEnd type="none" w="med" len="med"/>
                      <a:tailEnd type="none" w="med" len="med"/>
                    </a:lnB>
                  </a:tcPr>
                </a:tc>
                <a:tc>
                  <a:txBody>
                    <a:bodyPr/>
                    <a:lstStyle/>
                    <a:p>
                      <a:pPr marL="0" indent="0">
                        <a:lnSpc>
                          <a:spcPts val="1960"/>
                        </a:lnSpc>
                        <a:buNone/>
                      </a:pPr>
                      <a:r>
                        <a:rPr lang="en-US" sz="1400" dirty="0">
                          <a:solidFill>
                            <a:srgbClr val="16212C"/>
                          </a:solidFill>
                          <a:latin typeface="IBM Plex Sans" pitchFamily="34" charset="0"/>
                          <a:ea typeface="IBM Plex Sans" pitchFamily="34" charset="-122"/>
                          <a:cs typeface="IBM Plex Sans" pitchFamily="34" charset="-120"/>
                        </a:rPr>
                        <a:t>output → next input, gates</a:t>
                      </a:r>
                      <a:endParaRPr lang="en-US" sz="1400" dirty="0">
                        <a:latin typeface="IBM Plex Sans" charset="0"/>
                        <a:ea typeface="IBM Plex Sans" charset="0"/>
                        <a:cs typeface="IBM Plex Sans" charset="0"/>
                      </a:endParaRPr>
                    </a:p>
                  </a:txBody>
                  <a:tcPr marL="62230" marR="62230" marT="62230" marB="62230">
                    <a:lnL w="12700" cap="flat" cmpd="sng" algn="ctr">
                      <a:solidFill>
                        <a:srgbClr val="B96B35"/>
                      </a:solidFill>
                      <a:prstDash val="solid"/>
                      <a:round/>
                      <a:headEnd type="none" w="med" len="med"/>
                      <a:tailEnd type="none" w="med" len="med"/>
                    </a:lnL>
                    <a:lnR w="12700" cap="flat" cmpd="sng" algn="ctr">
                      <a:solidFill>
                        <a:srgbClr val="B96B35"/>
                      </a:solidFill>
                      <a:prstDash val="solid"/>
                      <a:round/>
                      <a:headEnd type="none" w="med" len="med"/>
                      <a:tailEnd type="none" w="med" len="med"/>
                    </a:lnR>
                    <a:lnT w="12700" cap="flat" cmpd="sng" algn="ctr">
                      <a:solidFill>
                        <a:srgbClr val="161E27"/>
                      </a:solidFill>
                      <a:prstDash val="solid"/>
                      <a:round/>
                      <a:headEnd type="none" w="med" len="med"/>
                      <a:tailEnd type="none" w="med" len="med"/>
                    </a:lnT>
                    <a:lnB w="12700" cap="flat" cmpd="sng" algn="ctr">
                      <a:solidFill>
                        <a:srgbClr val="B96B35"/>
                      </a:solidFill>
                      <a:prstDash val="solid"/>
                      <a:round/>
                      <a:headEnd type="none" w="med" len="med"/>
                      <a:tailEnd type="none" w="med" len="med"/>
                    </a:lnB>
                  </a:tcPr>
                </a:tc>
                <a:extLst>
                  <a:ext uri="{0D108BD9-81ED-4DB2-BD59-A6C34878D82A}">
                    <a16:rowId xmlns:a16="http://schemas.microsoft.com/office/drawing/2014/main" val="10001"/>
                  </a:ext>
                </a:extLst>
              </a:tr>
              <a:tr h="384788">
                <a:tc>
                  <a:txBody>
                    <a:bodyPr/>
                    <a:lstStyle/>
                    <a:p>
                      <a:pPr marL="0" indent="0">
                        <a:lnSpc>
                          <a:spcPts val="1960"/>
                        </a:lnSpc>
                        <a:buNone/>
                      </a:pPr>
                      <a:r>
                        <a:rPr lang="en-US" sz="1400" dirty="0">
                          <a:solidFill>
                            <a:srgbClr val="16212C"/>
                          </a:solidFill>
                          <a:latin typeface="IBM Plex Sans" pitchFamily="34" charset="0"/>
                          <a:ea typeface="IBM Plex Sans" pitchFamily="34" charset="-122"/>
                          <a:cs typeface="IBM Plex Sans" pitchFamily="34" charset="-120"/>
                        </a:rPr>
                        <a:t>Structurally different inputs</a:t>
                      </a:r>
                      <a:endParaRPr lang="en-US" sz="1400" dirty="0">
                        <a:latin typeface="IBM Plex Sans" charset="0"/>
                        <a:ea typeface="IBM Plex Sans" charset="0"/>
                        <a:cs typeface="IBM Plex Sans" charset="0"/>
                      </a:endParaRPr>
                    </a:p>
                  </a:txBody>
                  <a:tcPr marL="62230" marR="62230" marT="62230" marB="62230">
                    <a:lnL w="12700" cap="flat" cmpd="sng" algn="ctr">
                      <a:solidFill>
                        <a:srgbClr val="B96B35"/>
                      </a:solidFill>
                      <a:prstDash val="solid"/>
                      <a:round/>
                      <a:headEnd type="none" w="med" len="med"/>
                      <a:tailEnd type="none" w="med" len="med"/>
                    </a:lnL>
                    <a:lnR w="12700" cap="flat" cmpd="sng" algn="ctr">
                      <a:solidFill>
                        <a:srgbClr val="B96B35"/>
                      </a:solidFill>
                      <a:prstDash val="solid"/>
                      <a:round/>
                      <a:headEnd type="none" w="med" len="med"/>
                      <a:tailEnd type="none" w="med" len="med"/>
                    </a:lnR>
                    <a:lnT w="12700" cap="flat" cmpd="sng" algn="ctr">
                      <a:solidFill>
                        <a:srgbClr val="B96B35"/>
                      </a:solidFill>
                      <a:prstDash val="solid"/>
                      <a:round/>
                      <a:headEnd type="none" w="med" len="med"/>
                      <a:tailEnd type="none" w="med" len="med"/>
                    </a:lnT>
                    <a:lnB w="12700" cap="flat" cmpd="sng" algn="ctr">
                      <a:solidFill>
                        <a:srgbClr val="B96B35"/>
                      </a:solidFill>
                      <a:prstDash val="solid"/>
                      <a:round/>
                      <a:headEnd type="none" w="med" len="med"/>
                      <a:tailEnd type="none" w="med" len="med"/>
                    </a:lnB>
                  </a:tcPr>
                </a:tc>
                <a:tc>
                  <a:txBody>
                    <a:bodyPr/>
                    <a:lstStyle/>
                    <a:p>
                      <a:pPr marL="0" indent="0">
                        <a:lnSpc>
                          <a:spcPts val="1960"/>
                        </a:lnSpc>
                        <a:buNone/>
                      </a:pPr>
                      <a:r>
                        <a:rPr lang="en-US" sz="1400" dirty="0">
                          <a:solidFill>
                            <a:srgbClr val="16212C"/>
                          </a:solidFill>
                          <a:latin typeface="IBM Plex Sans" pitchFamily="34" charset="0"/>
                          <a:ea typeface="IBM Plex Sans" pitchFamily="34" charset="-122"/>
                          <a:cs typeface="IBM Plex Sans" pitchFamily="34" charset="-120"/>
                        </a:rPr>
                        <a:t>Routing</a:t>
                      </a:r>
                      <a:endParaRPr lang="en-US" sz="1400" dirty="0">
                        <a:latin typeface="IBM Plex Sans" charset="0"/>
                        <a:ea typeface="IBM Plex Sans" charset="0"/>
                        <a:cs typeface="IBM Plex Sans" charset="0"/>
                      </a:endParaRPr>
                    </a:p>
                  </a:txBody>
                  <a:tcPr marL="62230" marR="62230" marT="62230" marB="62230">
                    <a:lnL w="12700" cap="flat" cmpd="sng" algn="ctr">
                      <a:solidFill>
                        <a:srgbClr val="B96B35"/>
                      </a:solidFill>
                      <a:prstDash val="solid"/>
                      <a:round/>
                      <a:headEnd type="none" w="med" len="med"/>
                      <a:tailEnd type="none" w="med" len="med"/>
                    </a:lnL>
                    <a:lnR w="12700" cap="flat" cmpd="sng" algn="ctr">
                      <a:solidFill>
                        <a:srgbClr val="B96B35"/>
                      </a:solidFill>
                      <a:prstDash val="solid"/>
                      <a:round/>
                      <a:headEnd type="none" w="med" len="med"/>
                      <a:tailEnd type="none" w="med" len="med"/>
                    </a:lnR>
                    <a:lnT w="12700" cap="flat" cmpd="sng" algn="ctr">
                      <a:solidFill>
                        <a:srgbClr val="B96B35"/>
                      </a:solidFill>
                      <a:prstDash val="solid"/>
                      <a:round/>
                      <a:headEnd type="none" w="med" len="med"/>
                      <a:tailEnd type="none" w="med" len="med"/>
                    </a:lnT>
                    <a:lnB w="12700" cap="flat" cmpd="sng" algn="ctr">
                      <a:solidFill>
                        <a:srgbClr val="B96B35"/>
                      </a:solidFill>
                      <a:prstDash val="solid"/>
                      <a:round/>
                      <a:headEnd type="none" w="med" len="med"/>
                      <a:tailEnd type="none" w="med" len="med"/>
                    </a:lnB>
                  </a:tcPr>
                </a:tc>
                <a:tc>
                  <a:txBody>
                    <a:bodyPr/>
                    <a:lstStyle/>
                    <a:p>
                      <a:pPr marL="0" indent="0">
                        <a:lnSpc>
                          <a:spcPts val="1960"/>
                        </a:lnSpc>
                        <a:buNone/>
                      </a:pPr>
                      <a:r>
                        <a:rPr lang="en-US" sz="1400" dirty="0">
                          <a:solidFill>
                            <a:srgbClr val="16212C"/>
                          </a:solidFill>
                          <a:latin typeface="IBM Plex Sans" pitchFamily="34" charset="0"/>
                          <a:ea typeface="IBM Plex Sans" pitchFamily="34" charset="-122"/>
                          <a:cs typeface="IBM Plex Sans" pitchFamily="34" charset="-120"/>
                        </a:rPr>
                        <a:t>forced tool_choice + dict</a:t>
                      </a:r>
                      <a:endParaRPr lang="en-US" sz="1400" dirty="0">
                        <a:latin typeface="IBM Plex Sans" charset="0"/>
                        <a:ea typeface="IBM Plex Sans" charset="0"/>
                        <a:cs typeface="IBM Plex Sans" charset="0"/>
                      </a:endParaRPr>
                    </a:p>
                  </a:txBody>
                  <a:tcPr marL="62230" marR="62230" marT="62230" marB="62230">
                    <a:lnL w="12700" cap="flat" cmpd="sng" algn="ctr">
                      <a:solidFill>
                        <a:srgbClr val="B96B35"/>
                      </a:solidFill>
                      <a:prstDash val="solid"/>
                      <a:round/>
                      <a:headEnd type="none" w="med" len="med"/>
                      <a:tailEnd type="none" w="med" len="med"/>
                    </a:lnL>
                    <a:lnR w="12700" cap="flat" cmpd="sng" algn="ctr">
                      <a:solidFill>
                        <a:srgbClr val="B96B35"/>
                      </a:solidFill>
                      <a:prstDash val="solid"/>
                      <a:round/>
                      <a:headEnd type="none" w="med" len="med"/>
                      <a:tailEnd type="none" w="med" len="med"/>
                    </a:lnR>
                    <a:lnT w="12700" cap="flat" cmpd="sng" algn="ctr">
                      <a:solidFill>
                        <a:srgbClr val="B96B35"/>
                      </a:solidFill>
                      <a:prstDash val="solid"/>
                      <a:round/>
                      <a:headEnd type="none" w="med" len="med"/>
                      <a:tailEnd type="none" w="med" len="med"/>
                    </a:lnT>
                    <a:lnB w="12700" cap="flat" cmpd="sng" algn="ctr">
                      <a:solidFill>
                        <a:srgbClr val="B96B35"/>
                      </a:solidFill>
                      <a:prstDash val="solid"/>
                      <a:round/>
                      <a:headEnd type="none" w="med" len="med"/>
                      <a:tailEnd type="none" w="med" len="med"/>
                    </a:lnB>
                  </a:tcPr>
                </a:tc>
                <a:extLst>
                  <a:ext uri="{0D108BD9-81ED-4DB2-BD59-A6C34878D82A}">
                    <a16:rowId xmlns:a16="http://schemas.microsoft.com/office/drawing/2014/main" val="10002"/>
                  </a:ext>
                </a:extLst>
              </a:tr>
              <a:tr h="384788">
                <a:tc>
                  <a:txBody>
                    <a:bodyPr/>
                    <a:lstStyle/>
                    <a:p>
                      <a:pPr marL="0" indent="0">
                        <a:lnSpc>
                          <a:spcPts val="1960"/>
                        </a:lnSpc>
                        <a:buNone/>
                      </a:pPr>
                      <a:r>
                        <a:rPr lang="en-US" sz="1400" dirty="0">
                          <a:solidFill>
                            <a:srgbClr val="16212C"/>
                          </a:solidFill>
                          <a:latin typeface="IBM Plex Sans" pitchFamily="34" charset="0"/>
                          <a:ea typeface="IBM Plex Sans" pitchFamily="34" charset="-122"/>
                          <a:cs typeface="IBM Plex Sans" pitchFamily="34" charset="-120"/>
                        </a:rPr>
                        <a:t>Independent subtasks</a:t>
                      </a:r>
                      <a:endParaRPr lang="en-US" sz="1400" dirty="0">
                        <a:latin typeface="IBM Plex Sans" charset="0"/>
                        <a:ea typeface="IBM Plex Sans" charset="0"/>
                        <a:cs typeface="IBM Plex Sans" charset="0"/>
                      </a:endParaRPr>
                    </a:p>
                  </a:txBody>
                  <a:tcPr marL="62230" marR="62230" marT="62230" marB="62230">
                    <a:lnL w="12700" cap="flat" cmpd="sng" algn="ctr">
                      <a:solidFill>
                        <a:srgbClr val="B96B35"/>
                      </a:solidFill>
                      <a:prstDash val="solid"/>
                      <a:round/>
                      <a:headEnd type="none" w="med" len="med"/>
                      <a:tailEnd type="none" w="med" len="med"/>
                    </a:lnL>
                    <a:lnR w="12700" cap="flat" cmpd="sng" algn="ctr">
                      <a:solidFill>
                        <a:srgbClr val="B96B35"/>
                      </a:solidFill>
                      <a:prstDash val="solid"/>
                      <a:round/>
                      <a:headEnd type="none" w="med" len="med"/>
                      <a:tailEnd type="none" w="med" len="med"/>
                    </a:lnR>
                    <a:lnT w="12700" cap="flat" cmpd="sng" algn="ctr">
                      <a:solidFill>
                        <a:srgbClr val="B96B35"/>
                      </a:solidFill>
                      <a:prstDash val="solid"/>
                      <a:round/>
                      <a:headEnd type="none" w="med" len="med"/>
                      <a:tailEnd type="none" w="med" len="med"/>
                    </a:lnT>
                    <a:lnB w="12700" cap="flat" cmpd="sng" algn="ctr">
                      <a:solidFill>
                        <a:srgbClr val="B96B35"/>
                      </a:solidFill>
                      <a:prstDash val="solid"/>
                      <a:round/>
                      <a:headEnd type="none" w="med" len="med"/>
                      <a:tailEnd type="none" w="med" len="med"/>
                    </a:lnB>
                  </a:tcPr>
                </a:tc>
                <a:tc>
                  <a:txBody>
                    <a:bodyPr/>
                    <a:lstStyle/>
                    <a:p>
                      <a:pPr marL="0" indent="0">
                        <a:lnSpc>
                          <a:spcPts val="1960"/>
                        </a:lnSpc>
                        <a:buNone/>
                      </a:pPr>
                      <a:r>
                        <a:rPr lang="en-US" sz="1400" dirty="0">
                          <a:solidFill>
                            <a:srgbClr val="16212C"/>
                          </a:solidFill>
                          <a:latin typeface="IBM Plex Sans" pitchFamily="34" charset="0"/>
                          <a:ea typeface="IBM Plex Sans" pitchFamily="34" charset="-122"/>
                          <a:cs typeface="IBM Plex Sans" pitchFamily="34" charset="-120"/>
                        </a:rPr>
                        <a:t>Parallelization</a:t>
                      </a:r>
                      <a:endParaRPr lang="en-US" sz="1400" dirty="0">
                        <a:latin typeface="IBM Plex Sans" charset="0"/>
                        <a:ea typeface="IBM Plex Sans" charset="0"/>
                        <a:cs typeface="IBM Plex Sans" charset="0"/>
                      </a:endParaRPr>
                    </a:p>
                  </a:txBody>
                  <a:tcPr marL="62230" marR="62230" marT="62230" marB="62230">
                    <a:lnL w="12700" cap="flat" cmpd="sng" algn="ctr">
                      <a:solidFill>
                        <a:srgbClr val="B96B35"/>
                      </a:solidFill>
                      <a:prstDash val="solid"/>
                      <a:round/>
                      <a:headEnd type="none" w="med" len="med"/>
                      <a:tailEnd type="none" w="med" len="med"/>
                    </a:lnL>
                    <a:lnR w="12700" cap="flat" cmpd="sng" algn="ctr">
                      <a:solidFill>
                        <a:srgbClr val="B96B35"/>
                      </a:solidFill>
                      <a:prstDash val="solid"/>
                      <a:round/>
                      <a:headEnd type="none" w="med" len="med"/>
                      <a:tailEnd type="none" w="med" len="med"/>
                    </a:lnR>
                    <a:lnT w="12700" cap="flat" cmpd="sng" algn="ctr">
                      <a:solidFill>
                        <a:srgbClr val="B96B35"/>
                      </a:solidFill>
                      <a:prstDash val="solid"/>
                      <a:round/>
                      <a:headEnd type="none" w="med" len="med"/>
                      <a:tailEnd type="none" w="med" len="med"/>
                    </a:lnT>
                    <a:lnB w="12700" cap="flat" cmpd="sng" algn="ctr">
                      <a:solidFill>
                        <a:srgbClr val="B96B35"/>
                      </a:solidFill>
                      <a:prstDash val="solid"/>
                      <a:round/>
                      <a:headEnd type="none" w="med" len="med"/>
                      <a:tailEnd type="none" w="med" len="med"/>
                    </a:lnB>
                  </a:tcPr>
                </a:tc>
                <a:tc>
                  <a:txBody>
                    <a:bodyPr/>
                    <a:lstStyle/>
                    <a:p>
                      <a:pPr marL="0" indent="0">
                        <a:lnSpc>
                          <a:spcPts val="1960"/>
                        </a:lnSpc>
                        <a:buNone/>
                      </a:pPr>
                      <a:r>
                        <a:rPr lang="en-US" sz="1400" dirty="0">
                          <a:solidFill>
                            <a:srgbClr val="16212C"/>
                          </a:solidFill>
                          <a:latin typeface="IBM Plex Sans" pitchFamily="34" charset="0"/>
                          <a:ea typeface="IBM Plex Sans" pitchFamily="34" charset="-122"/>
                          <a:cs typeface="IBM Plex Sans" pitchFamily="34" charset="-120"/>
                        </a:rPr>
                        <a:t>thread pool + as_completed</a:t>
                      </a:r>
                      <a:endParaRPr lang="en-US" sz="1400" dirty="0">
                        <a:latin typeface="IBM Plex Sans" charset="0"/>
                        <a:ea typeface="IBM Plex Sans" charset="0"/>
                        <a:cs typeface="IBM Plex Sans" charset="0"/>
                      </a:endParaRPr>
                    </a:p>
                  </a:txBody>
                  <a:tcPr marL="62230" marR="62230" marT="62230" marB="62230">
                    <a:lnL w="12700" cap="flat" cmpd="sng" algn="ctr">
                      <a:solidFill>
                        <a:srgbClr val="B96B35"/>
                      </a:solidFill>
                      <a:prstDash val="solid"/>
                      <a:round/>
                      <a:headEnd type="none" w="med" len="med"/>
                      <a:tailEnd type="none" w="med" len="med"/>
                    </a:lnL>
                    <a:lnR w="12700" cap="flat" cmpd="sng" algn="ctr">
                      <a:solidFill>
                        <a:srgbClr val="B96B35"/>
                      </a:solidFill>
                      <a:prstDash val="solid"/>
                      <a:round/>
                      <a:headEnd type="none" w="med" len="med"/>
                      <a:tailEnd type="none" w="med" len="med"/>
                    </a:lnR>
                    <a:lnT w="12700" cap="flat" cmpd="sng" algn="ctr">
                      <a:solidFill>
                        <a:srgbClr val="B96B35"/>
                      </a:solidFill>
                      <a:prstDash val="solid"/>
                      <a:round/>
                      <a:headEnd type="none" w="med" len="med"/>
                      <a:tailEnd type="none" w="med" len="med"/>
                    </a:lnT>
                    <a:lnB w="12700" cap="flat" cmpd="sng" algn="ctr">
                      <a:solidFill>
                        <a:srgbClr val="B96B35"/>
                      </a:solidFill>
                      <a:prstDash val="solid"/>
                      <a:round/>
                      <a:headEnd type="none" w="med" len="med"/>
                      <a:tailEnd type="none" w="med" len="med"/>
                    </a:lnB>
                  </a:tcPr>
                </a:tc>
                <a:extLst>
                  <a:ext uri="{0D108BD9-81ED-4DB2-BD59-A6C34878D82A}">
                    <a16:rowId xmlns:a16="http://schemas.microsoft.com/office/drawing/2014/main" val="10003"/>
                  </a:ext>
                </a:extLst>
              </a:tr>
              <a:tr h="384788">
                <a:tc>
                  <a:txBody>
                    <a:bodyPr/>
                    <a:lstStyle/>
                    <a:p>
                      <a:pPr marL="0" indent="0">
                        <a:lnSpc>
                          <a:spcPts val="1960"/>
                        </a:lnSpc>
                        <a:buNone/>
                      </a:pPr>
                      <a:r>
                        <a:rPr lang="en-US" sz="1400" dirty="0">
                          <a:solidFill>
                            <a:srgbClr val="16212C"/>
                          </a:solidFill>
                          <a:latin typeface="IBM Plex Sans" pitchFamily="34" charset="0"/>
                          <a:ea typeface="IBM Plex Sans" pitchFamily="34" charset="-122"/>
                          <a:cs typeface="IBM Plex Sans" pitchFamily="34" charset="-120"/>
                        </a:rPr>
                        <a:t>A split known only at runtime</a:t>
                      </a:r>
                      <a:endParaRPr lang="en-US" sz="1400" dirty="0">
                        <a:latin typeface="IBM Plex Sans" charset="0"/>
                        <a:ea typeface="IBM Plex Sans" charset="0"/>
                        <a:cs typeface="IBM Plex Sans" charset="0"/>
                      </a:endParaRPr>
                    </a:p>
                  </a:txBody>
                  <a:tcPr marL="62230" marR="62230" marT="62230" marB="62230">
                    <a:lnL w="12700" cap="flat" cmpd="sng" algn="ctr">
                      <a:solidFill>
                        <a:srgbClr val="B96B35"/>
                      </a:solidFill>
                      <a:prstDash val="solid"/>
                      <a:round/>
                      <a:headEnd type="none" w="med" len="med"/>
                      <a:tailEnd type="none" w="med" len="med"/>
                    </a:lnL>
                    <a:lnR w="12700" cap="flat" cmpd="sng" algn="ctr">
                      <a:solidFill>
                        <a:srgbClr val="B96B35"/>
                      </a:solidFill>
                      <a:prstDash val="solid"/>
                      <a:round/>
                      <a:headEnd type="none" w="med" len="med"/>
                      <a:tailEnd type="none" w="med" len="med"/>
                    </a:lnR>
                    <a:lnT w="12700" cap="flat" cmpd="sng" algn="ctr">
                      <a:solidFill>
                        <a:srgbClr val="B96B35"/>
                      </a:solidFill>
                      <a:prstDash val="solid"/>
                      <a:round/>
                      <a:headEnd type="none" w="med" len="med"/>
                      <a:tailEnd type="none" w="med" len="med"/>
                    </a:lnT>
                    <a:lnB w="12700" cap="flat" cmpd="sng" algn="ctr">
                      <a:solidFill>
                        <a:srgbClr val="B96B35"/>
                      </a:solidFill>
                      <a:prstDash val="solid"/>
                      <a:round/>
                      <a:headEnd type="none" w="med" len="med"/>
                      <a:tailEnd type="none" w="med" len="med"/>
                    </a:lnB>
                  </a:tcPr>
                </a:tc>
                <a:tc>
                  <a:txBody>
                    <a:bodyPr/>
                    <a:lstStyle/>
                    <a:p>
                      <a:pPr marL="0" indent="0">
                        <a:lnSpc>
                          <a:spcPts val="1960"/>
                        </a:lnSpc>
                        <a:buNone/>
                      </a:pPr>
                      <a:r>
                        <a:rPr lang="en-US" sz="1400" dirty="0">
                          <a:solidFill>
                            <a:srgbClr val="16212C"/>
                          </a:solidFill>
                          <a:latin typeface="IBM Plex Sans" pitchFamily="34" charset="0"/>
                          <a:ea typeface="IBM Plex Sans" pitchFamily="34" charset="-122"/>
                          <a:cs typeface="IBM Plex Sans" pitchFamily="34" charset="-120"/>
                        </a:rPr>
                        <a:t>Orchestrator-workers</a:t>
                      </a:r>
                      <a:endParaRPr lang="en-US" sz="1400" dirty="0">
                        <a:latin typeface="IBM Plex Sans" charset="0"/>
                        <a:ea typeface="IBM Plex Sans" charset="0"/>
                        <a:cs typeface="IBM Plex Sans" charset="0"/>
                      </a:endParaRPr>
                    </a:p>
                  </a:txBody>
                  <a:tcPr marL="62230" marR="62230" marT="62230" marB="62230">
                    <a:lnL w="12700" cap="flat" cmpd="sng" algn="ctr">
                      <a:solidFill>
                        <a:srgbClr val="B96B35"/>
                      </a:solidFill>
                      <a:prstDash val="solid"/>
                      <a:round/>
                      <a:headEnd type="none" w="med" len="med"/>
                      <a:tailEnd type="none" w="med" len="med"/>
                    </a:lnL>
                    <a:lnR w="12700" cap="flat" cmpd="sng" algn="ctr">
                      <a:solidFill>
                        <a:srgbClr val="B96B35"/>
                      </a:solidFill>
                      <a:prstDash val="solid"/>
                      <a:round/>
                      <a:headEnd type="none" w="med" len="med"/>
                      <a:tailEnd type="none" w="med" len="med"/>
                    </a:lnR>
                    <a:lnT w="12700" cap="flat" cmpd="sng" algn="ctr">
                      <a:solidFill>
                        <a:srgbClr val="B96B35"/>
                      </a:solidFill>
                      <a:prstDash val="solid"/>
                      <a:round/>
                      <a:headEnd type="none" w="med" len="med"/>
                      <a:tailEnd type="none" w="med" len="med"/>
                    </a:lnT>
                    <a:lnB w="12700" cap="flat" cmpd="sng" algn="ctr">
                      <a:solidFill>
                        <a:srgbClr val="B96B35"/>
                      </a:solidFill>
                      <a:prstDash val="solid"/>
                      <a:round/>
                      <a:headEnd type="none" w="med" len="med"/>
                      <a:tailEnd type="none" w="med" len="med"/>
                    </a:lnB>
                  </a:tcPr>
                </a:tc>
                <a:tc>
                  <a:txBody>
                    <a:bodyPr/>
                    <a:lstStyle/>
                    <a:p>
                      <a:pPr marL="0" indent="0">
                        <a:lnSpc>
                          <a:spcPts val="1960"/>
                        </a:lnSpc>
                        <a:buNone/>
                      </a:pPr>
                      <a:r>
                        <a:rPr lang="en-US" sz="1400" dirty="0">
                          <a:solidFill>
                            <a:srgbClr val="16212C"/>
                          </a:solidFill>
                          <a:latin typeface="IBM Plex Sans" pitchFamily="34" charset="0"/>
                          <a:ea typeface="IBM Plex Sans" pitchFamily="34" charset="-122"/>
                          <a:cs typeface="IBM Plex Sans" pitchFamily="34" charset="-120"/>
                        </a:rPr>
                        <a:t>plan as structured output</a:t>
                      </a:r>
                      <a:endParaRPr lang="en-US" sz="1400" dirty="0">
                        <a:latin typeface="IBM Plex Sans" charset="0"/>
                        <a:ea typeface="IBM Plex Sans" charset="0"/>
                        <a:cs typeface="IBM Plex Sans" charset="0"/>
                      </a:endParaRPr>
                    </a:p>
                  </a:txBody>
                  <a:tcPr marL="62230" marR="62230" marT="62230" marB="62230">
                    <a:lnL w="12700" cap="flat" cmpd="sng" algn="ctr">
                      <a:solidFill>
                        <a:srgbClr val="B96B35"/>
                      </a:solidFill>
                      <a:prstDash val="solid"/>
                      <a:round/>
                      <a:headEnd type="none" w="med" len="med"/>
                      <a:tailEnd type="none" w="med" len="med"/>
                    </a:lnL>
                    <a:lnR w="12700" cap="flat" cmpd="sng" algn="ctr">
                      <a:solidFill>
                        <a:srgbClr val="B96B35"/>
                      </a:solidFill>
                      <a:prstDash val="solid"/>
                      <a:round/>
                      <a:headEnd type="none" w="med" len="med"/>
                      <a:tailEnd type="none" w="med" len="med"/>
                    </a:lnR>
                    <a:lnT w="12700" cap="flat" cmpd="sng" algn="ctr">
                      <a:solidFill>
                        <a:srgbClr val="B96B35"/>
                      </a:solidFill>
                      <a:prstDash val="solid"/>
                      <a:round/>
                      <a:headEnd type="none" w="med" len="med"/>
                      <a:tailEnd type="none" w="med" len="med"/>
                    </a:lnT>
                    <a:lnB w="12700" cap="flat" cmpd="sng" algn="ctr">
                      <a:solidFill>
                        <a:srgbClr val="B96B35"/>
                      </a:solidFill>
                      <a:prstDash val="solid"/>
                      <a:round/>
                      <a:headEnd type="none" w="med" len="med"/>
                      <a:tailEnd type="none" w="med" len="med"/>
                    </a:lnB>
                  </a:tcPr>
                </a:tc>
                <a:extLst>
                  <a:ext uri="{0D108BD9-81ED-4DB2-BD59-A6C34878D82A}">
                    <a16:rowId xmlns:a16="http://schemas.microsoft.com/office/drawing/2014/main" val="10004"/>
                  </a:ext>
                </a:extLst>
              </a:tr>
              <a:tr h="384788">
                <a:tc>
                  <a:txBody>
                    <a:bodyPr/>
                    <a:lstStyle/>
                    <a:p>
                      <a:pPr marL="0" indent="0">
                        <a:lnSpc>
                          <a:spcPts val="1960"/>
                        </a:lnSpc>
                        <a:buNone/>
                      </a:pPr>
                      <a:r>
                        <a:rPr lang="en-US" sz="1400" dirty="0">
                          <a:solidFill>
                            <a:srgbClr val="16212C"/>
                          </a:solidFill>
                          <a:latin typeface="IBM Plex Sans" pitchFamily="34" charset="0"/>
                          <a:ea typeface="IBM Plex Sans" pitchFamily="34" charset="-122"/>
                          <a:cs typeface="IBM Plex Sans" pitchFamily="34" charset="-120"/>
                        </a:rPr>
                        <a:t>Clear quality criteria</a:t>
                      </a:r>
                      <a:endParaRPr lang="en-US" sz="1400" dirty="0">
                        <a:latin typeface="IBM Plex Sans" charset="0"/>
                        <a:ea typeface="IBM Plex Sans" charset="0"/>
                        <a:cs typeface="IBM Plex Sans" charset="0"/>
                      </a:endParaRPr>
                    </a:p>
                  </a:txBody>
                  <a:tcPr marL="62230" marR="62230" marT="62230" marB="62230">
                    <a:lnL w="12700" cap="flat" cmpd="sng" algn="ctr">
                      <a:solidFill>
                        <a:srgbClr val="B96B35"/>
                      </a:solidFill>
                      <a:prstDash val="solid"/>
                      <a:round/>
                      <a:headEnd type="none" w="med" len="med"/>
                      <a:tailEnd type="none" w="med" len="med"/>
                    </a:lnL>
                    <a:lnR w="12700" cap="flat" cmpd="sng" algn="ctr">
                      <a:solidFill>
                        <a:srgbClr val="B96B35"/>
                      </a:solidFill>
                      <a:prstDash val="solid"/>
                      <a:round/>
                      <a:headEnd type="none" w="med" len="med"/>
                      <a:tailEnd type="none" w="med" len="med"/>
                    </a:lnR>
                    <a:lnT w="12700" cap="flat" cmpd="sng" algn="ctr">
                      <a:solidFill>
                        <a:srgbClr val="B96B35"/>
                      </a:solidFill>
                      <a:prstDash val="solid"/>
                      <a:round/>
                      <a:headEnd type="none" w="med" len="med"/>
                      <a:tailEnd type="none" w="med" len="med"/>
                    </a:lnT>
                    <a:lnB w="12700" cap="flat" cmpd="sng" algn="ctr">
                      <a:solidFill>
                        <a:srgbClr val="B96B35"/>
                      </a:solidFill>
                      <a:prstDash val="solid"/>
                      <a:round/>
                      <a:headEnd type="none" w="med" len="med"/>
                      <a:tailEnd type="none" w="med" len="med"/>
                    </a:lnB>
                  </a:tcPr>
                </a:tc>
                <a:tc>
                  <a:txBody>
                    <a:bodyPr/>
                    <a:lstStyle/>
                    <a:p>
                      <a:pPr marL="0" indent="0">
                        <a:lnSpc>
                          <a:spcPts val="1960"/>
                        </a:lnSpc>
                        <a:buNone/>
                      </a:pPr>
                      <a:r>
                        <a:rPr lang="en-US" sz="1400" dirty="0">
                          <a:solidFill>
                            <a:srgbClr val="16212C"/>
                          </a:solidFill>
                          <a:latin typeface="IBM Plex Sans" pitchFamily="34" charset="0"/>
                          <a:ea typeface="IBM Plex Sans" pitchFamily="34" charset="-122"/>
                          <a:cs typeface="IBM Plex Sans" pitchFamily="34" charset="-120"/>
                        </a:rPr>
                        <a:t>Evaluator-optimizer</a:t>
                      </a:r>
                      <a:endParaRPr lang="en-US" sz="1400" dirty="0">
                        <a:latin typeface="IBM Plex Sans" charset="0"/>
                        <a:ea typeface="IBM Plex Sans" charset="0"/>
                        <a:cs typeface="IBM Plex Sans" charset="0"/>
                      </a:endParaRPr>
                    </a:p>
                  </a:txBody>
                  <a:tcPr marL="62230" marR="62230" marT="62230" marB="62230">
                    <a:lnL w="12700" cap="flat" cmpd="sng" algn="ctr">
                      <a:solidFill>
                        <a:srgbClr val="B96B35"/>
                      </a:solidFill>
                      <a:prstDash val="solid"/>
                      <a:round/>
                      <a:headEnd type="none" w="med" len="med"/>
                      <a:tailEnd type="none" w="med" len="med"/>
                    </a:lnL>
                    <a:lnR w="12700" cap="flat" cmpd="sng" algn="ctr">
                      <a:solidFill>
                        <a:srgbClr val="B96B35"/>
                      </a:solidFill>
                      <a:prstDash val="solid"/>
                      <a:round/>
                      <a:headEnd type="none" w="med" len="med"/>
                      <a:tailEnd type="none" w="med" len="med"/>
                    </a:lnR>
                    <a:lnT w="12700" cap="flat" cmpd="sng" algn="ctr">
                      <a:solidFill>
                        <a:srgbClr val="B96B35"/>
                      </a:solidFill>
                      <a:prstDash val="solid"/>
                      <a:round/>
                      <a:headEnd type="none" w="med" len="med"/>
                      <a:tailEnd type="none" w="med" len="med"/>
                    </a:lnT>
                    <a:lnB w="12700" cap="flat" cmpd="sng" algn="ctr">
                      <a:solidFill>
                        <a:srgbClr val="B96B35"/>
                      </a:solidFill>
                      <a:prstDash val="solid"/>
                      <a:round/>
                      <a:headEnd type="none" w="med" len="med"/>
                      <a:tailEnd type="none" w="med" len="med"/>
                    </a:lnB>
                  </a:tcPr>
                </a:tc>
                <a:tc>
                  <a:txBody>
                    <a:bodyPr/>
                    <a:lstStyle/>
                    <a:p>
                      <a:pPr marL="0" indent="0">
                        <a:lnSpc>
                          <a:spcPts val="1960"/>
                        </a:lnSpc>
                        <a:buNone/>
                      </a:pPr>
                      <a:r>
                        <a:rPr lang="en-US" sz="1400" dirty="0">
                          <a:solidFill>
                            <a:srgbClr val="16212C"/>
                          </a:solidFill>
                          <a:latin typeface="IBM Plex Sans" pitchFamily="34" charset="0"/>
                          <a:ea typeface="IBM Plex Sans" pitchFamily="34" charset="-122"/>
                          <a:cs typeface="IBM Plex Sans" pitchFamily="34" charset="-120"/>
                        </a:rPr>
                        <a:t>rubric, threshold, hard cap</a:t>
                      </a:r>
                      <a:endParaRPr lang="en-US" sz="1400" dirty="0">
                        <a:latin typeface="IBM Plex Sans" charset="0"/>
                        <a:ea typeface="IBM Plex Sans" charset="0"/>
                        <a:cs typeface="IBM Plex Sans" charset="0"/>
                      </a:endParaRPr>
                    </a:p>
                  </a:txBody>
                  <a:tcPr marL="62230" marR="62230" marT="62230" marB="62230">
                    <a:lnL w="12700" cap="flat" cmpd="sng" algn="ctr">
                      <a:solidFill>
                        <a:srgbClr val="B96B35"/>
                      </a:solidFill>
                      <a:prstDash val="solid"/>
                      <a:round/>
                      <a:headEnd type="none" w="med" len="med"/>
                      <a:tailEnd type="none" w="med" len="med"/>
                    </a:lnL>
                    <a:lnR w="12700" cap="flat" cmpd="sng" algn="ctr">
                      <a:solidFill>
                        <a:srgbClr val="B96B35"/>
                      </a:solidFill>
                      <a:prstDash val="solid"/>
                      <a:round/>
                      <a:headEnd type="none" w="med" len="med"/>
                      <a:tailEnd type="none" w="med" len="med"/>
                    </a:lnR>
                    <a:lnT w="12700" cap="flat" cmpd="sng" algn="ctr">
                      <a:solidFill>
                        <a:srgbClr val="B96B35"/>
                      </a:solidFill>
                      <a:prstDash val="solid"/>
                      <a:round/>
                      <a:headEnd type="none" w="med" len="med"/>
                      <a:tailEnd type="none" w="med" len="med"/>
                    </a:lnT>
                    <a:lnB w="12700" cap="flat" cmpd="sng" algn="ctr">
                      <a:solidFill>
                        <a:srgbClr val="B96B35"/>
                      </a:solidFill>
                      <a:prstDash val="solid"/>
                      <a:round/>
                      <a:headEnd type="none" w="med" len="med"/>
                      <a:tailEnd type="none" w="med" len="med"/>
                    </a:lnB>
                  </a:tcPr>
                </a:tc>
                <a:extLst>
                  <a:ext uri="{0D108BD9-81ED-4DB2-BD59-A6C34878D82A}">
                    <a16:rowId xmlns:a16="http://schemas.microsoft.com/office/drawing/2014/main" val="10005"/>
                  </a:ext>
                </a:extLst>
              </a:tr>
              <a:tr h="384788">
                <a:tc>
                  <a:txBody>
                    <a:bodyPr/>
                    <a:lstStyle/>
                    <a:p>
                      <a:pPr marL="0" indent="0">
                        <a:lnSpc>
                          <a:spcPts val="1960"/>
                        </a:lnSpc>
                        <a:buNone/>
                      </a:pPr>
                      <a:r>
                        <a:rPr lang="en-US" sz="1400" dirty="0">
                          <a:solidFill>
                            <a:srgbClr val="16212C"/>
                          </a:solidFill>
                          <a:latin typeface="IBM Plex Sans" pitchFamily="34" charset="0"/>
                          <a:ea typeface="IBM Plex Sans" pitchFamily="34" charset="-122"/>
                          <a:cs typeface="IBM Plex Sans" pitchFamily="34" charset="-120"/>
                        </a:rPr>
                        <a:t>Costly mistakes</a:t>
                      </a:r>
                      <a:endParaRPr lang="en-US" sz="1400" dirty="0">
                        <a:latin typeface="IBM Plex Sans" charset="0"/>
                        <a:ea typeface="IBM Plex Sans" charset="0"/>
                        <a:cs typeface="IBM Plex Sans" charset="0"/>
                      </a:endParaRPr>
                    </a:p>
                  </a:txBody>
                  <a:tcPr marL="62230" marR="62230" marT="62230" marB="62230">
                    <a:lnL w="12700" cap="flat" cmpd="sng" algn="ctr">
                      <a:solidFill>
                        <a:srgbClr val="B96B35"/>
                      </a:solidFill>
                      <a:prstDash val="solid"/>
                      <a:round/>
                      <a:headEnd type="none" w="med" len="med"/>
                      <a:tailEnd type="none" w="med" len="med"/>
                    </a:lnL>
                    <a:lnR w="12700" cap="flat" cmpd="sng" algn="ctr">
                      <a:solidFill>
                        <a:srgbClr val="B96B35"/>
                      </a:solidFill>
                      <a:prstDash val="solid"/>
                      <a:round/>
                      <a:headEnd type="none" w="med" len="med"/>
                      <a:tailEnd type="none" w="med" len="med"/>
                    </a:lnR>
                    <a:lnT w="12700" cap="flat" cmpd="sng" algn="ctr">
                      <a:solidFill>
                        <a:srgbClr val="B96B35"/>
                      </a:solidFill>
                      <a:prstDash val="solid"/>
                      <a:round/>
                      <a:headEnd type="none" w="med" len="med"/>
                      <a:tailEnd type="none" w="med" len="med"/>
                    </a:lnT>
                    <a:lnB w="12700" cap="flat" cmpd="sng" algn="ctr">
                      <a:solidFill>
                        <a:srgbClr val="B96B35"/>
                      </a:solidFill>
                      <a:prstDash val="solid"/>
                      <a:round/>
                      <a:headEnd type="none" w="med" len="med"/>
                      <a:tailEnd type="none" w="med" len="med"/>
                    </a:lnB>
                  </a:tcPr>
                </a:tc>
                <a:tc>
                  <a:txBody>
                    <a:bodyPr/>
                    <a:lstStyle/>
                    <a:p>
                      <a:pPr marL="0" indent="0">
                        <a:lnSpc>
                          <a:spcPts val="1960"/>
                        </a:lnSpc>
                        <a:buNone/>
                      </a:pPr>
                      <a:r>
                        <a:rPr lang="en-US" sz="1400" dirty="0">
                          <a:solidFill>
                            <a:srgbClr val="16212C"/>
                          </a:solidFill>
                          <a:latin typeface="IBM Plex Sans" pitchFamily="34" charset="0"/>
                          <a:ea typeface="IBM Plex Sans" pitchFamily="34" charset="-122"/>
                          <a:cs typeface="IBM Plex Sans" pitchFamily="34" charset="-120"/>
                        </a:rPr>
                        <a:t>Human-in-the-loop</a:t>
                      </a:r>
                      <a:endParaRPr lang="en-US" sz="1400" dirty="0">
                        <a:latin typeface="IBM Plex Sans" charset="0"/>
                        <a:ea typeface="IBM Plex Sans" charset="0"/>
                        <a:cs typeface="IBM Plex Sans" charset="0"/>
                      </a:endParaRPr>
                    </a:p>
                  </a:txBody>
                  <a:tcPr marL="62230" marR="62230" marT="62230" marB="62230">
                    <a:lnL w="12700" cap="flat" cmpd="sng" algn="ctr">
                      <a:solidFill>
                        <a:srgbClr val="B96B35"/>
                      </a:solidFill>
                      <a:prstDash val="solid"/>
                      <a:round/>
                      <a:headEnd type="none" w="med" len="med"/>
                      <a:tailEnd type="none" w="med" len="med"/>
                    </a:lnL>
                    <a:lnR w="12700" cap="flat" cmpd="sng" algn="ctr">
                      <a:solidFill>
                        <a:srgbClr val="B96B35"/>
                      </a:solidFill>
                      <a:prstDash val="solid"/>
                      <a:round/>
                      <a:headEnd type="none" w="med" len="med"/>
                      <a:tailEnd type="none" w="med" len="med"/>
                    </a:lnR>
                    <a:lnT w="12700" cap="flat" cmpd="sng" algn="ctr">
                      <a:solidFill>
                        <a:srgbClr val="B96B35"/>
                      </a:solidFill>
                      <a:prstDash val="solid"/>
                      <a:round/>
                      <a:headEnd type="none" w="med" len="med"/>
                      <a:tailEnd type="none" w="med" len="med"/>
                    </a:lnT>
                    <a:lnB w="12700" cap="flat" cmpd="sng" algn="ctr">
                      <a:solidFill>
                        <a:srgbClr val="B96B35"/>
                      </a:solidFill>
                      <a:prstDash val="solid"/>
                      <a:round/>
                      <a:headEnd type="none" w="med" len="med"/>
                      <a:tailEnd type="none" w="med" len="med"/>
                    </a:lnB>
                  </a:tcPr>
                </a:tc>
                <a:tc>
                  <a:txBody>
                    <a:bodyPr/>
                    <a:lstStyle/>
                    <a:p>
                      <a:pPr marL="0" indent="0">
                        <a:lnSpc>
                          <a:spcPts val="1960"/>
                        </a:lnSpc>
                        <a:buNone/>
                      </a:pPr>
                      <a:r>
                        <a:rPr lang="en-US" sz="1400" dirty="0">
                          <a:solidFill>
                            <a:srgbClr val="16212C"/>
                          </a:solidFill>
                          <a:latin typeface="IBM Plex Sans" pitchFamily="34" charset="0"/>
                          <a:ea typeface="IBM Plex Sans" pitchFamily="34" charset="-122"/>
                          <a:cs typeface="IBM Plex Sans" pitchFamily="34" charset="-120"/>
                        </a:rPr>
                        <a:t>injectable checkpoint fn</a:t>
                      </a:r>
                      <a:endParaRPr lang="en-US" sz="1400" dirty="0">
                        <a:latin typeface="IBM Plex Sans" charset="0"/>
                        <a:ea typeface="IBM Plex Sans" charset="0"/>
                        <a:cs typeface="IBM Plex Sans" charset="0"/>
                      </a:endParaRPr>
                    </a:p>
                  </a:txBody>
                  <a:tcPr marL="62230" marR="62230" marT="62230" marB="62230">
                    <a:lnL w="12700" cap="flat" cmpd="sng" algn="ctr">
                      <a:solidFill>
                        <a:srgbClr val="B96B35"/>
                      </a:solidFill>
                      <a:prstDash val="solid"/>
                      <a:round/>
                      <a:headEnd type="none" w="med" len="med"/>
                      <a:tailEnd type="none" w="med" len="med"/>
                    </a:lnL>
                    <a:lnR w="12700" cap="flat" cmpd="sng" algn="ctr">
                      <a:solidFill>
                        <a:srgbClr val="B96B35"/>
                      </a:solidFill>
                      <a:prstDash val="solid"/>
                      <a:round/>
                      <a:headEnd type="none" w="med" len="med"/>
                      <a:tailEnd type="none" w="med" len="med"/>
                    </a:lnR>
                    <a:lnT w="12700" cap="flat" cmpd="sng" algn="ctr">
                      <a:solidFill>
                        <a:srgbClr val="B96B35"/>
                      </a:solidFill>
                      <a:prstDash val="solid"/>
                      <a:round/>
                      <a:headEnd type="none" w="med" len="med"/>
                      <a:tailEnd type="none" w="med" len="med"/>
                    </a:lnT>
                    <a:lnB w="12700" cap="flat" cmpd="sng" algn="ctr">
                      <a:solidFill>
                        <a:srgbClr val="B96B35"/>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5" name="Text 2"/>
          <p:cNvSpPr/>
          <p:nvPr/>
        </p:nvSpPr>
        <p:spPr>
          <a:xfrm>
            <a:off x="812782" y="6238280"/>
            <a:ext cx="967994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6212C"/>
                </a:solidFill>
                <a:latin typeface="IBM Plex Sans" pitchFamily="34" charset="0"/>
                <a:ea typeface="IBM Plex Sans" pitchFamily="34" charset="-122"/>
                <a:cs typeface="IBM Plex Sans" pitchFamily="34" charset="-120"/>
              </a:rPr>
              <a:t>Synthesized from the chapter README and each tutorial's "Important Considerations"</a:t>
            </a:r>
            <a:endParaRPr lang="en-US" sz="1200" dirty="0"/>
          </a:p>
        </p:txBody>
      </p:sp>
      <p:sp>
        <p:nvSpPr>
          <p:cNvPr id="6" name="Text 3"/>
          <p:cNvSpPr/>
          <p:nvPr/>
        </p:nvSpPr>
        <p:spPr>
          <a:xfrm>
            <a:off x="10312418" y="6238280"/>
            <a:ext cx="1066800" cy="238720"/>
          </a:xfrm>
          <a:prstGeom prst="rect">
            <a:avLst/>
          </a:prstGeom>
          <a:noFill/>
          <a:ln/>
        </p:spPr>
        <p:txBody>
          <a:bodyPr wrap="square" lIns="0" tIns="0" rIns="0" bIns="0" rtlCol="0" anchor="t">
            <a:normAutofit/>
          </a:bodyPr>
          <a:lstStyle/>
          <a:p>
            <a:pPr marL="0" indent="0" algn="r">
              <a:lnSpc>
                <a:spcPts val="1680"/>
              </a:lnSpc>
              <a:buNone/>
            </a:pPr>
            <a:r>
              <a:rPr lang="en-US" sz="1200" b="1" dirty="0">
                <a:solidFill>
                  <a:srgbClr val="16212C"/>
                </a:solidFill>
                <a:latin typeface="IBM Plex Sans" pitchFamily="34" charset="0"/>
                <a:ea typeface="IBM Plex Sans" pitchFamily="34" charset="-122"/>
                <a:cs typeface="IBM Plex Sans" pitchFamily="34" charset="-120"/>
              </a:rPr>
              <a:t>26 / 27</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16212C"/>
        </a:solidFill>
        <a:effectLst/>
      </p:bgPr>
    </p:bg>
    <p:spTree>
      <p:nvGrpSpPr>
        <p:cNvPr id="1" name=""/>
        <p:cNvGrpSpPr/>
        <p:nvPr/>
      </p:nvGrpSpPr>
      <p:grpSpPr>
        <a:xfrm>
          <a:off x="0" y="0"/>
          <a:ext cx="0" cy="0"/>
          <a:chOff x="0" y="0"/>
          <a:chExt cx="0" cy="0"/>
        </a:xfrm>
      </p:grpSpPr>
      <p:sp>
        <p:nvSpPr>
          <p:cNvPr id="2" name="Text 0"/>
          <p:cNvSpPr/>
          <p:nvPr/>
        </p:nvSpPr>
        <p:spPr>
          <a:xfrm>
            <a:off x="812782" y="711175"/>
            <a:ext cx="10883429"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F2A46B"/>
                </a:solidFill>
                <a:latin typeface="IBM Plex Sans" pitchFamily="34" charset="0"/>
                <a:ea typeface="IBM Plex Sans" pitchFamily="34" charset="-122"/>
                <a:cs typeface="IBM Plex Sans" pitchFamily="34" charset="-120"/>
              </a:rPr>
              <a:t>TAKEAWAYS</a:t>
            </a:r>
            <a:endParaRPr lang="en-US" sz="1200" dirty="0"/>
          </a:p>
        </p:txBody>
      </p:sp>
      <p:sp>
        <p:nvSpPr>
          <p:cNvPr id="3" name="Text 1"/>
          <p:cNvSpPr>
            <a:spLocks noGrp="1"/>
          </p:cNvSpPr>
          <p:nvPr>
            <p:ph type="title"/>
          </p:nvPr>
        </p:nvSpPr>
        <p:spPr>
          <a:xfrm>
            <a:off x="812782" y="1000671"/>
            <a:ext cx="10883429" cy="444464"/>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F4F2EC"/>
                </a:solidFill>
                <a:latin typeface="IBM Plex Sans" pitchFamily="34" charset="0"/>
                <a:ea typeface="IBM Plex Sans" pitchFamily="34" charset="-122"/>
                <a:cs typeface="IBM Plex Sans" pitchFamily="34" charset="-120"/>
              </a:rPr>
              <a:t>Three habits running through all seven scripts</a:t>
            </a:r>
            <a:endParaRPr lang="en-US" sz="3000" dirty="0"/>
          </a:p>
        </p:txBody>
      </p:sp>
      <p:sp>
        <p:nvSpPr>
          <p:cNvPr id="4" name="Shape 2"/>
          <p:cNvSpPr/>
          <p:nvPr/>
        </p:nvSpPr>
        <p:spPr>
          <a:xfrm>
            <a:off x="812782" y="1724521"/>
            <a:ext cx="3386697" cy="1538387"/>
          </a:xfrm>
          <a:prstGeom prst="roundRect">
            <a:avLst>
              <a:gd name="adj" fmla="val 5779"/>
            </a:avLst>
          </a:prstGeom>
          <a:solidFill>
            <a:srgbClr val="1E2B38"/>
          </a:solidFill>
          <a:ln/>
        </p:spPr>
        <p:txBody>
          <a:bodyPr/>
          <a:lstStyle/>
          <a:p>
            <a:endParaRPr lang="en-CN"/>
          </a:p>
        </p:txBody>
      </p:sp>
      <p:sp>
        <p:nvSpPr>
          <p:cNvPr id="5" name="Shape 3"/>
          <p:cNvSpPr/>
          <p:nvPr/>
        </p:nvSpPr>
        <p:spPr>
          <a:xfrm>
            <a:off x="812782" y="1724521"/>
            <a:ext cx="3386697" cy="1538387"/>
          </a:xfrm>
          <a:custGeom>
            <a:avLst/>
            <a:gdLst/>
            <a:ahLst/>
            <a:cxnLst/>
            <a:rect l="l" t="t" r="r" b="b"/>
            <a:pathLst>
              <a:path w="3386697" h="1538387">
                <a:moveTo>
                  <a:pt x="0" y="88900"/>
                </a:moveTo>
                <a:lnTo>
                  <a:pt x="0" y="88900"/>
                </a:lnTo>
                <a:arcTo wR="88900" hR="88900" stAng="10800000" swAng="5400000"/>
                <a:lnTo>
                  <a:pt x="3297797" y="0"/>
                </a:lnTo>
                <a:arcTo wR="88900" hR="88900" stAng="16200000" swAng="5400000"/>
                <a:lnTo>
                  <a:pt x="3386697" y="88900"/>
                </a:lnTo>
                <a:arcTo wR="88900" hR="50800" stAng="0" swAng="-5400000"/>
                <a:lnTo>
                  <a:pt x="88900" y="38100"/>
                </a:lnTo>
                <a:arcTo wR="88900" hR="50800" stAng="16200000" swAng="-5400000"/>
                <a:close/>
              </a:path>
            </a:pathLst>
          </a:custGeom>
          <a:solidFill>
            <a:srgbClr val="E8843F"/>
          </a:solidFill>
          <a:ln/>
        </p:spPr>
        <p:txBody>
          <a:bodyPr/>
          <a:lstStyle/>
          <a:p>
            <a:endParaRPr lang="en-CN"/>
          </a:p>
        </p:txBody>
      </p:sp>
      <p:sp>
        <p:nvSpPr>
          <p:cNvPr id="6" name="Text 4"/>
          <p:cNvSpPr/>
          <p:nvPr/>
        </p:nvSpPr>
        <p:spPr>
          <a:xfrm>
            <a:off x="1015955" y="1965213"/>
            <a:ext cx="3069761" cy="284451"/>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F4F2EC"/>
                </a:solidFill>
                <a:latin typeface="IBM Plex Sans" pitchFamily="34" charset="0"/>
                <a:ea typeface="IBM Plex Sans" pitchFamily="34" charset="-122"/>
                <a:cs typeface="IBM Plex Sans" pitchFamily="34" charset="-120"/>
              </a:rPr>
              <a:t>Force structure</a:t>
            </a:r>
            <a:endParaRPr lang="en-US" sz="1700" dirty="0"/>
          </a:p>
        </p:txBody>
      </p:sp>
      <p:sp>
        <p:nvSpPr>
          <p:cNvPr id="7" name="Text 5"/>
          <p:cNvSpPr/>
          <p:nvPr/>
        </p:nvSpPr>
        <p:spPr>
          <a:xfrm>
            <a:off x="1015955" y="2313161"/>
            <a:ext cx="3069761" cy="771976"/>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D6DDE5"/>
                </a:solidFill>
                <a:latin typeface="IBM Plex Sans" pitchFamily="34" charset="0"/>
                <a:ea typeface="IBM Plex Sans" pitchFamily="34" charset="-122"/>
                <a:cs typeface="IBM Plex Sans" pitchFamily="34" charset="-120"/>
              </a:rPr>
              <a:t>tool_choice turns labels, plans, scores and votes into JSON you can trust.</a:t>
            </a:r>
            <a:endParaRPr lang="en-US" sz="1400" dirty="0"/>
          </a:p>
        </p:txBody>
      </p:sp>
      <p:sp>
        <p:nvSpPr>
          <p:cNvPr id="8" name="Shape 6"/>
          <p:cNvSpPr/>
          <p:nvPr/>
        </p:nvSpPr>
        <p:spPr>
          <a:xfrm>
            <a:off x="4402651" y="1724521"/>
            <a:ext cx="3386697" cy="1538387"/>
          </a:xfrm>
          <a:prstGeom prst="roundRect">
            <a:avLst>
              <a:gd name="adj" fmla="val 5779"/>
            </a:avLst>
          </a:prstGeom>
          <a:solidFill>
            <a:srgbClr val="1E2B38"/>
          </a:solidFill>
          <a:ln/>
        </p:spPr>
        <p:txBody>
          <a:bodyPr/>
          <a:lstStyle/>
          <a:p>
            <a:endParaRPr lang="en-CN"/>
          </a:p>
        </p:txBody>
      </p:sp>
      <p:sp>
        <p:nvSpPr>
          <p:cNvPr id="9" name="Shape 7"/>
          <p:cNvSpPr/>
          <p:nvPr/>
        </p:nvSpPr>
        <p:spPr>
          <a:xfrm>
            <a:off x="4402651" y="1724521"/>
            <a:ext cx="3386697" cy="1538387"/>
          </a:xfrm>
          <a:custGeom>
            <a:avLst/>
            <a:gdLst/>
            <a:ahLst/>
            <a:cxnLst/>
            <a:rect l="l" t="t" r="r" b="b"/>
            <a:pathLst>
              <a:path w="3386697" h="1538387">
                <a:moveTo>
                  <a:pt x="0" y="88900"/>
                </a:moveTo>
                <a:lnTo>
                  <a:pt x="0" y="88900"/>
                </a:lnTo>
                <a:arcTo wR="88900" hR="88900" stAng="10800000" swAng="5400000"/>
                <a:lnTo>
                  <a:pt x="3297797" y="0"/>
                </a:lnTo>
                <a:arcTo wR="88900" hR="88900" stAng="16200000" swAng="5400000"/>
                <a:lnTo>
                  <a:pt x="3386697" y="88900"/>
                </a:lnTo>
                <a:arcTo wR="88900" hR="50800" stAng="0" swAng="-5400000"/>
                <a:lnTo>
                  <a:pt x="88900" y="38100"/>
                </a:lnTo>
                <a:arcTo wR="88900" hR="50800" stAng="16200000" swAng="-5400000"/>
                <a:close/>
              </a:path>
            </a:pathLst>
          </a:custGeom>
          <a:solidFill>
            <a:srgbClr val="E8843F"/>
          </a:solidFill>
          <a:ln/>
        </p:spPr>
        <p:txBody>
          <a:bodyPr/>
          <a:lstStyle/>
          <a:p>
            <a:endParaRPr lang="en-CN"/>
          </a:p>
        </p:txBody>
      </p:sp>
      <p:sp>
        <p:nvSpPr>
          <p:cNvPr id="10" name="Text 8"/>
          <p:cNvSpPr/>
          <p:nvPr/>
        </p:nvSpPr>
        <p:spPr>
          <a:xfrm>
            <a:off x="4605824" y="1965213"/>
            <a:ext cx="3069761" cy="284451"/>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F4F2EC"/>
                </a:solidFill>
                <a:latin typeface="IBM Plex Sans" pitchFamily="34" charset="0"/>
                <a:ea typeface="IBM Plex Sans" pitchFamily="34" charset="-122"/>
                <a:cs typeface="IBM Plex Sans" pitchFamily="34" charset="-120"/>
              </a:rPr>
              <a:t>Bound the cost</a:t>
            </a:r>
            <a:endParaRPr lang="en-US" sz="1700" dirty="0"/>
          </a:p>
        </p:txBody>
      </p:sp>
      <p:sp>
        <p:nvSpPr>
          <p:cNvPr id="11" name="Text 9"/>
          <p:cNvSpPr/>
          <p:nvPr/>
        </p:nvSpPr>
        <p:spPr>
          <a:xfrm>
            <a:off x="4605824" y="2313161"/>
            <a:ext cx="3069761" cy="52311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D6DDE5"/>
                </a:solidFill>
                <a:latin typeface="IBM Plex Sans" pitchFamily="34" charset="0"/>
                <a:ea typeface="IBM Plex Sans" pitchFamily="34" charset="-122"/>
                <a:cs typeface="IBM Plex Sans" pitchFamily="34" charset="-120"/>
              </a:rPr>
              <a:t>Right-size models, cap loops and searches, truncate side inputs.</a:t>
            </a:r>
            <a:endParaRPr lang="en-US" sz="1400" dirty="0"/>
          </a:p>
        </p:txBody>
      </p:sp>
      <p:sp>
        <p:nvSpPr>
          <p:cNvPr id="12" name="Shape 10"/>
          <p:cNvSpPr/>
          <p:nvPr/>
        </p:nvSpPr>
        <p:spPr>
          <a:xfrm>
            <a:off x="7992521" y="1724521"/>
            <a:ext cx="3386697" cy="1538387"/>
          </a:xfrm>
          <a:prstGeom prst="roundRect">
            <a:avLst>
              <a:gd name="adj" fmla="val 5779"/>
            </a:avLst>
          </a:prstGeom>
          <a:solidFill>
            <a:srgbClr val="1E2B38"/>
          </a:solidFill>
          <a:ln/>
        </p:spPr>
        <p:txBody>
          <a:bodyPr/>
          <a:lstStyle/>
          <a:p>
            <a:endParaRPr lang="en-CN"/>
          </a:p>
        </p:txBody>
      </p:sp>
      <p:sp>
        <p:nvSpPr>
          <p:cNvPr id="13" name="Shape 11"/>
          <p:cNvSpPr/>
          <p:nvPr/>
        </p:nvSpPr>
        <p:spPr>
          <a:xfrm>
            <a:off x="7992521" y="1724521"/>
            <a:ext cx="3386697" cy="1538387"/>
          </a:xfrm>
          <a:custGeom>
            <a:avLst/>
            <a:gdLst/>
            <a:ahLst/>
            <a:cxnLst/>
            <a:rect l="l" t="t" r="r" b="b"/>
            <a:pathLst>
              <a:path w="3386697" h="1538387">
                <a:moveTo>
                  <a:pt x="0" y="88900"/>
                </a:moveTo>
                <a:lnTo>
                  <a:pt x="0" y="88900"/>
                </a:lnTo>
                <a:arcTo wR="88900" hR="88900" stAng="10800000" swAng="5400000"/>
                <a:lnTo>
                  <a:pt x="3297797" y="0"/>
                </a:lnTo>
                <a:arcTo wR="88900" hR="88900" stAng="16200000" swAng="5400000"/>
                <a:lnTo>
                  <a:pt x="3386697" y="88900"/>
                </a:lnTo>
                <a:arcTo wR="88900" hR="50800" stAng="0" swAng="-5400000"/>
                <a:lnTo>
                  <a:pt x="88900" y="38100"/>
                </a:lnTo>
                <a:arcTo wR="88900" hR="50800" stAng="16200000" swAng="-5400000"/>
                <a:close/>
              </a:path>
            </a:pathLst>
          </a:custGeom>
          <a:solidFill>
            <a:srgbClr val="E8843F"/>
          </a:solidFill>
          <a:ln/>
        </p:spPr>
        <p:txBody>
          <a:bodyPr/>
          <a:lstStyle/>
          <a:p>
            <a:endParaRPr lang="en-CN"/>
          </a:p>
        </p:txBody>
      </p:sp>
      <p:sp>
        <p:nvSpPr>
          <p:cNvPr id="14" name="Text 12"/>
          <p:cNvSpPr/>
          <p:nvPr/>
        </p:nvSpPr>
        <p:spPr>
          <a:xfrm>
            <a:off x="8195694" y="1965213"/>
            <a:ext cx="3069761" cy="284451"/>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F4F2EC"/>
                </a:solidFill>
                <a:latin typeface="IBM Plex Sans" pitchFamily="34" charset="0"/>
                <a:ea typeface="IBM Plex Sans" pitchFamily="34" charset="-122"/>
                <a:cs typeface="IBM Plex Sans" pitchFamily="34" charset="-120"/>
              </a:rPr>
              <a:t>Decouple the UI</a:t>
            </a:r>
            <a:endParaRPr lang="en-US" sz="1700" dirty="0"/>
          </a:p>
        </p:txBody>
      </p:sp>
      <p:sp>
        <p:nvSpPr>
          <p:cNvPr id="15" name="Text 13"/>
          <p:cNvSpPr/>
          <p:nvPr/>
        </p:nvSpPr>
        <p:spPr>
          <a:xfrm>
            <a:off x="8195694" y="2313161"/>
            <a:ext cx="3069761" cy="52311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D6DDE5"/>
                </a:solidFill>
                <a:latin typeface="IBM Plex Sans" pitchFamily="34" charset="0"/>
                <a:ea typeface="IBM Plex Sans" pitchFamily="34" charset="-122"/>
                <a:cs typeface="IBM Plex Sans" pitchFamily="34" charset="-120"/>
              </a:rPr>
              <a:t>Callbacks, then typed events: the agent never prints.</a:t>
            </a:r>
            <a:endParaRPr lang="en-US" sz="1400" dirty="0"/>
          </a:p>
        </p:txBody>
      </p:sp>
      <p:sp>
        <p:nvSpPr>
          <p:cNvPr id="16" name="Text 14"/>
          <p:cNvSpPr/>
          <p:nvPr/>
        </p:nvSpPr>
        <p:spPr>
          <a:xfrm>
            <a:off x="812782" y="5021597"/>
            <a:ext cx="3730315" cy="256535"/>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9AA9B8"/>
                </a:solidFill>
                <a:latin typeface="IBM Plex Sans" pitchFamily="34" charset="0"/>
                <a:ea typeface="IBM Plex Sans" pitchFamily="34" charset="-122"/>
                <a:cs typeface="IBM Plex Sans" pitchFamily="34" charset="-120"/>
              </a:rPr>
              <a:t>Further reading</a:t>
            </a:r>
            <a:endParaRPr lang="en-US" sz="1300" dirty="0"/>
          </a:p>
        </p:txBody>
      </p:sp>
      <p:sp>
        <p:nvSpPr>
          <p:cNvPr id="17" name="Text 15"/>
          <p:cNvSpPr/>
          <p:nvPr/>
        </p:nvSpPr>
        <p:spPr>
          <a:xfrm>
            <a:off x="812782" y="5316240"/>
            <a:ext cx="3730315" cy="256535"/>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D6DDE5"/>
                </a:solidFill>
                <a:latin typeface="IBM Plex Sans" pitchFamily="34" charset="0"/>
                <a:ea typeface="IBM Plex Sans" pitchFamily="34" charset="-122"/>
                <a:cs typeface="IBM Plex Sans" pitchFamily="34" charset="-120"/>
              </a:rPr>
              <a:t>Building Effective Agents — Anthropic</a:t>
            </a:r>
            <a:endParaRPr lang="en-US" sz="1300" dirty="0"/>
          </a:p>
        </p:txBody>
      </p:sp>
      <p:sp>
        <p:nvSpPr>
          <p:cNvPr id="18" name="Text 16"/>
          <p:cNvSpPr/>
          <p:nvPr/>
        </p:nvSpPr>
        <p:spPr>
          <a:xfrm>
            <a:off x="812782" y="5610870"/>
            <a:ext cx="4345998" cy="256535"/>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D6DDE5"/>
                </a:solidFill>
                <a:latin typeface="IBM Plex Sans" pitchFamily="34" charset="0"/>
                <a:ea typeface="IBM Plex Sans" pitchFamily="34" charset="-122"/>
                <a:cs typeface="IBM Plex Sans" pitchFamily="34" charset="-120"/>
              </a:rPr>
              <a:t>Agentic Design Patterns — Andrew Ng, The Batch</a:t>
            </a:r>
            <a:endParaRPr lang="en-US" sz="1300" dirty="0"/>
          </a:p>
        </p:txBody>
      </p:sp>
      <p:sp>
        <p:nvSpPr>
          <p:cNvPr id="19" name="Text 17"/>
          <p:cNvSpPr/>
          <p:nvPr/>
        </p:nvSpPr>
        <p:spPr>
          <a:xfrm>
            <a:off x="7618358" y="4988595"/>
            <a:ext cx="3760860" cy="878817"/>
          </a:xfrm>
          <a:prstGeom prst="rect">
            <a:avLst/>
          </a:prstGeom>
          <a:noFill/>
          <a:ln/>
        </p:spPr>
        <p:txBody>
          <a:bodyPr wrap="square" lIns="0" tIns="0" rIns="0" bIns="0" rtlCol="0" anchor="t">
            <a:normAutofit/>
          </a:bodyPr>
          <a:lstStyle/>
          <a:p>
            <a:pPr marL="0" indent="0" algn="r">
              <a:lnSpc>
                <a:spcPts val="6720"/>
              </a:lnSpc>
              <a:buNone/>
            </a:pPr>
            <a:r>
              <a:rPr lang="en-US" sz="4800" b="1" dirty="0">
                <a:solidFill>
                  <a:srgbClr val="F2A46B"/>
                </a:solidFill>
                <a:latin typeface="IBM Plex Sans" pitchFamily="34" charset="0"/>
                <a:ea typeface="IBM Plex Sans" pitchFamily="34" charset="-122"/>
                <a:cs typeface="IBM Plex Sans" pitchFamily="34" charset="-120"/>
              </a:rPr>
              <a:t>Questions?</a:t>
            </a:r>
            <a:endParaRPr lang="en-US" sz="4800" dirty="0"/>
          </a:p>
        </p:txBody>
      </p:sp>
      <p:sp>
        <p:nvSpPr>
          <p:cNvPr id="20" name="Text 18"/>
          <p:cNvSpPr/>
          <p:nvPr/>
        </p:nvSpPr>
        <p:spPr>
          <a:xfrm>
            <a:off x="812782" y="6238292"/>
            <a:ext cx="967994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9AA9B8"/>
                </a:solidFill>
                <a:latin typeface="IBM Plex Sans" pitchFamily="34" charset="0"/>
                <a:ea typeface="IBM Plex Sans" pitchFamily="34" charset="-122"/>
                <a:cs typeface="IBM Plex Sans" pitchFamily="34" charset="-120"/>
              </a:rPr>
              <a:t>github.com/agenticloops-ai/agentic-ai-engineering/tree/main/02-effective-agents</a:t>
            </a:r>
            <a:endParaRPr lang="en-US" sz="1200" dirty="0"/>
          </a:p>
        </p:txBody>
      </p:sp>
      <p:sp>
        <p:nvSpPr>
          <p:cNvPr id="21" name="Text 19"/>
          <p:cNvSpPr/>
          <p:nvPr/>
        </p:nvSpPr>
        <p:spPr>
          <a:xfrm>
            <a:off x="10312418" y="6238292"/>
            <a:ext cx="1066800" cy="238720"/>
          </a:xfrm>
          <a:prstGeom prst="rect">
            <a:avLst/>
          </a:prstGeom>
          <a:noFill/>
          <a:ln/>
        </p:spPr>
        <p:txBody>
          <a:bodyPr wrap="square" lIns="0" tIns="0" rIns="0" bIns="0" rtlCol="0" anchor="t">
            <a:normAutofit/>
          </a:bodyPr>
          <a:lstStyle/>
          <a:p>
            <a:pPr marL="0" indent="0" algn="r">
              <a:lnSpc>
                <a:spcPts val="1680"/>
              </a:lnSpc>
              <a:buNone/>
            </a:pPr>
            <a:r>
              <a:rPr lang="en-US" sz="1200" b="1" dirty="0">
                <a:solidFill>
                  <a:srgbClr val="9AA9B8"/>
                </a:solidFill>
                <a:latin typeface="IBM Plex Sans" pitchFamily="34" charset="0"/>
                <a:ea typeface="IBM Plex Sans" pitchFamily="34" charset="-122"/>
                <a:cs typeface="IBM Plex Sans" pitchFamily="34" charset="-120"/>
              </a:rPr>
              <a:t>27 / 27</a:t>
            </a:r>
            <a:endParaRPr lang="en-US" sz="1200" dirty="0"/>
          </a:p>
        </p:txBody>
      </p:sp>
    </p:spTree>
  </p:cSld>
  <p:clrMapOvr>
    <a:masterClrMapping/>
  </p:clrMapOvr>
</p:sld>
</file>

<file path=ppt/theme/theme1.xml><?xml version="1.0" encoding="utf-8"?>
<a:theme xmlns:a="http://schemas.openxmlformats.org/drawingml/2006/main" name="Effective Agents Patterns">
  <a:themeElements>
    <a:clrScheme name="Effective Agents Patterns">
      <a:dk1>
        <a:srgbClr val="16212C"/>
      </a:dk1>
      <a:lt1>
        <a:srgbClr val="F4F2EC"/>
      </a:lt1>
      <a:dk2>
        <a:srgbClr val="4E555C"/>
      </a:dk2>
      <a:lt2>
        <a:srgbClr val="DEDDD9"/>
      </a:lt2>
      <a:accent1>
        <a:srgbClr val="E8843F"/>
      </a:accent1>
      <a:accent2>
        <a:srgbClr val="F2A46B"/>
      </a:accent2>
      <a:accent3>
        <a:srgbClr val="B04E17"/>
      </a:accent3>
      <a:accent4>
        <a:srgbClr val="7C8FA3"/>
      </a:accent4>
      <a:accent5>
        <a:srgbClr val="F2C6A4"/>
      </a:accent5>
      <a:accent6>
        <a:srgbClr val="D6DDE5"/>
      </a:accent6>
      <a:hlink>
        <a:srgbClr val="0563C1"/>
      </a:hlink>
      <a:folHlink>
        <a:srgbClr val="954F72"/>
      </a:folHlink>
    </a:clrScheme>
    <a:fontScheme name="Effective Agents Patterns">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JetBrains Mon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TotalTime>
  <Words>7543</Words>
  <Application>Microsoft Macintosh PowerPoint</Application>
  <PresentationFormat>Widescreen</PresentationFormat>
  <Paragraphs>820</Paragraphs>
  <Slides>27</Slides>
  <Notes>27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27</vt:i4>
      </vt:variant>
    </vt:vector>
  </HeadingPairs>
  <TitlesOfParts>
    <vt:vector size="31" baseType="lpstr">
      <vt:lpstr>JetBrains Mono</vt:lpstr>
      <vt:lpstr>Arial</vt:lpstr>
      <vt:lpstr>IBM Plex Sans</vt:lpstr>
      <vt:lpstr>Effective Agents Patterns</vt:lpstr>
      <vt:lpstr>Effective Agents Patterns</vt:lpstr>
      <vt:lpstr>Each tutorial adds exactly one idea</vt:lpstr>
      <vt:lpstr>Every script shares one skeleton</vt:lpstr>
      <vt:lpstr>A fixed assembly line: each output feeds the next</vt:lpstr>
      <vt:lpstr>run() is the chain, read top to bottom</vt:lpstr>
      <vt:lpstr>Each step gets its own model and tools</vt:lpstr>
      <vt:lpstr>Classify first, then run the chain built for it</vt:lpstr>
      <vt:lpstr>A forced tool call is a typed classifier</vt:lpstr>
      <vt:lpstr>The router is a dict; every route is a chain</vt:lpstr>
      <vt:lpstr>Fan out independent work, fan in the results</vt:lpstr>
      <vt:lpstr>Fan-out is a thread pool over a dict</vt:lpstr>
      <vt:lpstr>Voting: vary temperature, let a judge pick</vt:lpstr>
      <vt:lpstr>Now the LLM decides how to split the work</vt:lpstr>
      <vt:lpstr>The plan is structured output, too</vt:lpstr>
      <vt:lpstr>Plan → parallel workers → synthesize</vt:lpstr>
      <vt:lpstr>One model writes, another grades, repeat</vt:lpstr>
      <vt:lpstr>A rubric in the prompt, scores in a schema</vt:lpstr>
      <vt:lpstr>A bounded loop with a clear exit</vt:lpstr>
      <vt:lpstr>Pause where a human adds the most leverage</vt:lpstr>
      <vt:lpstr>The human is just a function you pass in</vt:lpstr>
      <vt:lpstr>Keystrokes in, a (bool, str) tuple out</vt:lpstr>
      <vt:lpstr>Every pipeline phase is a pattern you've seen</vt:lpstr>
      <vt:lpstr>run_stream(): six patterns, one generator</vt:lpstr>
      <vt:lpstr>Typed data and typed events, end to end</vt:lpstr>
      <vt:lpstr>Production concerns: rate limits and cost</vt:lpstr>
      <vt:lpstr>Start simple; climb only when the problem asks</vt:lpstr>
      <vt:lpstr>Three habits running through all seven scripts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Effective Agents Patterns</dc:title>
  <dc:subject/>
  <dc:creator/>
  <cp:lastModifiedBy>晓薇 欧</cp:lastModifiedBy>
  <cp:revision>3</cp:revision>
  <dcterms:created xsi:type="dcterms:W3CDTF">2026-10-05T22:20:14Z</dcterms:created>
  <dcterms:modified xsi:type="dcterms:W3CDTF">2026-10-05T22:29:46Z</dcterms:modified>
</cp:coreProperties>
</file>